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63" r:id="rId45"/>
    <p:sldId id="364" r:id="rId46"/>
    <p:sldId id="365" r:id="rId47"/>
    <p:sldId id="366" r:id="rId48"/>
    <p:sldId id="367" r:id="rId49"/>
    <p:sldId id="368" r:id="rId50"/>
    <p:sldId id="369" r:id="rId51"/>
    <p:sldId id="370" r:id="rId52"/>
    <p:sldId id="371" r:id="rId53"/>
    <p:sldId id="372" r:id="rId54"/>
    <p:sldId id="373" r:id="rId55"/>
    <p:sldId id="374" r:id="rId56"/>
    <p:sldId id="375" r:id="rId57"/>
    <p:sldId id="376" r:id="rId58"/>
    <p:sldId id="377" r:id="rId59"/>
    <p:sldId id="378" r:id="rId60"/>
    <p:sldId id="379" r:id="rId61"/>
    <p:sldId id="380" r:id="rId62"/>
    <p:sldId id="381" r:id="rId63"/>
    <p:sldId id="382" r:id="rId64"/>
    <p:sldId id="383" r:id="rId65"/>
    <p:sldId id="384" r:id="rId66"/>
    <p:sldId id="385" r:id="rId67"/>
    <p:sldId id="386" r:id="rId68"/>
    <p:sldId id="387" r:id="rId69"/>
    <p:sldId id="388" r:id="rId70"/>
    <p:sldId id="389" r:id="rId71"/>
    <p:sldId id="390" r:id="rId72"/>
    <p:sldId id="391" r:id="rId73"/>
    <p:sldId id="392" r:id="rId74"/>
    <p:sldId id="393" r:id="rId75"/>
    <p:sldId id="394" r:id="rId76"/>
    <p:sldId id="395" r:id="rId77"/>
    <p:sldId id="396" r:id="rId78"/>
    <p:sldId id="397" r:id="rId79"/>
    <p:sldId id="398" r:id="rId80"/>
    <p:sldId id="399" r:id="rId81"/>
    <p:sldId id="400" r:id="rId82"/>
    <p:sldId id="401" r:id="rId83"/>
    <p:sldId id="402" r:id="rId84"/>
    <p:sldId id="403" r:id="rId85"/>
    <p:sldId id="404" r:id="rId86"/>
    <p:sldId id="405" r:id="rId87"/>
    <p:sldId id="406" r:id="rId88"/>
    <p:sldId id="407" r:id="rId89"/>
    <p:sldId id="408" r:id="rId90"/>
    <p:sldId id="409" r:id="rId91"/>
    <p:sldId id="410" r:id="rId92"/>
    <p:sldId id="411" r:id="rId93"/>
    <p:sldId id="412" r:id="rId94"/>
    <p:sldId id="413" r:id="rId95"/>
    <p:sldId id="414" r:id="rId96"/>
    <p:sldId id="415" r:id="rId97"/>
    <p:sldId id="416" r:id="rId98"/>
    <p:sldId id="417" r:id="rId99"/>
    <p:sldId id="418" r:id="rId100"/>
    <p:sldId id="419" r:id="rId101"/>
    <p:sldId id="420" r:id="rId102"/>
    <p:sldId id="421" r:id="rId103"/>
    <p:sldId id="422" r:id="rId104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-1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53265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95959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95959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53265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95959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95959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53265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940" y="2537583"/>
            <a:ext cx="2934970" cy="3531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95959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575432" y="2385183"/>
            <a:ext cx="3608070" cy="3639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95959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95959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53265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95959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95959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7711" y="501848"/>
            <a:ext cx="766318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53265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7398" y="1190359"/>
            <a:ext cx="7402830" cy="4640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95959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40" y="6521925"/>
            <a:ext cx="4008120" cy="354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595959"/>
                </a:solidFill>
                <a:latin typeface="Times New Roman"/>
                <a:cs typeface="Times New Roman"/>
              </a:defRPr>
            </a:lvl1pPr>
          </a:lstStyle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image" Target="../media/image1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51.png"/><Relationship Id="rId21" Type="http://schemas.openxmlformats.org/officeDocument/2006/relationships/image" Target="../media/image69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21" Type="http://schemas.openxmlformats.org/officeDocument/2006/relationships/image" Target="../media/image95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image" Target="../media/image76.png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2" Type="http://schemas.openxmlformats.org/officeDocument/2006/relationships/image" Target="../media/image106.png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png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39" Type="http://schemas.openxmlformats.org/officeDocument/2006/relationships/image" Target="../media/image166.png"/><Relationship Id="rId21" Type="http://schemas.openxmlformats.org/officeDocument/2006/relationships/image" Target="../media/image148.png"/><Relationship Id="rId34" Type="http://schemas.openxmlformats.org/officeDocument/2006/relationships/image" Target="../media/image161.png"/><Relationship Id="rId42" Type="http://schemas.openxmlformats.org/officeDocument/2006/relationships/image" Target="../media/image169.png"/><Relationship Id="rId47" Type="http://schemas.openxmlformats.org/officeDocument/2006/relationships/image" Target="../media/image174.png"/><Relationship Id="rId50" Type="http://schemas.openxmlformats.org/officeDocument/2006/relationships/image" Target="../media/image177.png"/><Relationship Id="rId55" Type="http://schemas.openxmlformats.org/officeDocument/2006/relationships/image" Target="../media/image182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33" Type="http://schemas.openxmlformats.org/officeDocument/2006/relationships/image" Target="../media/image160.png"/><Relationship Id="rId38" Type="http://schemas.openxmlformats.org/officeDocument/2006/relationships/image" Target="../media/image165.png"/><Relationship Id="rId46" Type="http://schemas.openxmlformats.org/officeDocument/2006/relationships/image" Target="../media/image173.png"/><Relationship Id="rId2" Type="http://schemas.openxmlformats.org/officeDocument/2006/relationships/image" Target="../media/image129.png"/><Relationship Id="rId16" Type="http://schemas.openxmlformats.org/officeDocument/2006/relationships/image" Target="../media/image143.png"/><Relationship Id="rId20" Type="http://schemas.openxmlformats.org/officeDocument/2006/relationships/image" Target="../media/image147.png"/><Relationship Id="rId29" Type="http://schemas.openxmlformats.org/officeDocument/2006/relationships/image" Target="../media/image156.png"/><Relationship Id="rId41" Type="http://schemas.openxmlformats.org/officeDocument/2006/relationships/image" Target="../media/image168.png"/><Relationship Id="rId54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24" Type="http://schemas.openxmlformats.org/officeDocument/2006/relationships/image" Target="../media/image151.png"/><Relationship Id="rId32" Type="http://schemas.openxmlformats.org/officeDocument/2006/relationships/image" Target="../media/image159.png"/><Relationship Id="rId37" Type="http://schemas.openxmlformats.org/officeDocument/2006/relationships/image" Target="../media/image164.png"/><Relationship Id="rId40" Type="http://schemas.openxmlformats.org/officeDocument/2006/relationships/image" Target="../media/image167.png"/><Relationship Id="rId45" Type="http://schemas.openxmlformats.org/officeDocument/2006/relationships/image" Target="../media/image172.png"/><Relationship Id="rId53" Type="http://schemas.openxmlformats.org/officeDocument/2006/relationships/image" Target="../media/image180.png"/><Relationship Id="rId58" Type="http://schemas.openxmlformats.org/officeDocument/2006/relationships/image" Target="../media/image185.png"/><Relationship Id="rId5" Type="http://schemas.openxmlformats.org/officeDocument/2006/relationships/image" Target="../media/image132.png"/><Relationship Id="rId15" Type="http://schemas.openxmlformats.org/officeDocument/2006/relationships/image" Target="../media/image142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36" Type="http://schemas.openxmlformats.org/officeDocument/2006/relationships/image" Target="../media/image163.png"/><Relationship Id="rId49" Type="http://schemas.openxmlformats.org/officeDocument/2006/relationships/image" Target="../media/image176.png"/><Relationship Id="rId57" Type="http://schemas.openxmlformats.org/officeDocument/2006/relationships/image" Target="../media/image184.png"/><Relationship Id="rId10" Type="http://schemas.openxmlformats.org/officeDocument/2006/relationships/image" Target="../media/image137.png"/><Relationship Id="rId19" Type="http://schemas.openxmlformats.org/officeDocument/2006/relationships/image" Target="../media/image146.png"/><Relationship Id="rId31" Type="http://schemas.openxmlformats.org/officeDocument/2006/relationships/image" Target="../media/image158.png"/><Relationship Id="rId44" Type="http://schemas.openxmlformats.org/officeDocument/2006/relationships/image" Target="../media/image171.png"/><Relationship Id="rId52" Type="http://schemas.openxmlformats.org/officeDocument/2006/relationships/image" Target="../media/image179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7.png"/><Relationship Id="rId35" Type="http://schemas.openxmlformats.org/officeDocument/2006/relationships/image" Target="../media/image162.png"/><Relationship Id="rId43" Type="http://schemas.openxmlformats.org/officeDocument/2006/relationships/image" Target="../media/image170.png"/><Relationship Id="rId48" Type="http://schemas.openxmlformats.org/officeDocument/2006/relationships/image" Target="../media/image175.png"/><Relationship Id="rId56" Type="http://schemas.openxmlformats.org/officeDocument/2006/relationships/image" Target="../media/image183.png"/><Relationship Id="rId8" Type="http://schemas.openxmlformats.org/officeDocument/2006/relationships/image" Target="../media/image135.png"/><Relationship Id="rId51" Type="http://schemas.openxmlformats.org/officeDocument/2006/relationships/image" Target="../media/image178.png"/><Relationship Id="rId3" Type="http://schemas.openxmlformats.org/officeDocument/2006/relationships/image" Target="../media/image13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197.png"/><Relationship Id="rId18" Type="http://schemas.openxmlformats.org/officeDocument/2006/relationships/image" Target="../media/image202.png"/><Relationship Id="rId26" Type="http://schemas.openxmlformats.org/officeDocument/2006/relationships/image" Target="../media/image210.png"/><Relationship Id="rId3" Type="http://schemas.openxmlformats.org/officeDocument/2006/relationships/image" Target="../media/image187.png"/><Relationship Id="rId21" Type="http://schemas.openxmlformats.org/officeDocument/2006/relationships/image" Target="../media/image205.png"/><Relationship Id="rId34" Type="http://schemas.openxmlformats.org/officeDocument/2006/relationships/image" Target="../media/image218.png"/><Relationship Id="rId7" Type="http://schemas.openxmlformats.org/officeDocument/2006/relationships/image" Target="../media/image191.png"/><Relationship Id="rId12" Type="http://schemas.openxmlformats.org/officeDocument/2006/relationships/image" Target="../media/image196.png"/><Relationship Id="rId17" Type="http://schemas.openxmlformats.org/officeDocument/2006/relationships/image" Target="../media/image201.png"/><Relationship Id="rId25" Type="http://schemas.openxmlformats.org/officeDocument/2006/relationships/image" Target="../media/image209.png"/><Relationship Id="rId33" Type="http://schemas.openxmlformats.org/officeDocument/2006/relationships/image" Target="../media/image217.png"/><Relationship Id="rId2" Type="http://schemas.openxmlformats.org/officeDocument/2006/relationships/image" Target="../media/image186.png"/><Relationship Id="rId16" Type="http://schemas.openxmlformats.org/officeDocument/2006/relationships/image" Target="../media/image200.png"/><Relationship Id="rId20" Type="http://schemas.openxmlformats.org/officeDocument/2006/relationships/image" Target="../media/image204.png"/><Relationship Id="rId29" Type="http://schemas.openxmlformats.org/officeDocument/2006/relationships/image" Target="../media/image2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0.png"/><Relationship Id="rId11" Type="http://schemas.openxmlformats.org/officeDocument/2006/relationships/image" Target="../media/image195.png"/><Relationship Id="rId24" Type="http://schemas.openxmlformats.org/officeDocument/2006/relationships/image" Target="../media/image208.png"/><Relationship Id="rId32" Type="http://schemas.openxmlformats.org/officeDocument/2006/relationships/image" Target="../media/image216.png"/><Relationship Id="rId5" Type="http://schemas.openxmlformats.org/officeDocument/2006/relationships/image" Target="../media/image189.png"/><Relationship Id="rId15" Type="http://schemas.openxmlformats.org/officeDocument/2006/relationships/image" Target="../media/image199.png"/><Relationship Id="rId23" Type="http://schemas.openxmlformats.org/officeDocument/2006/relationships/image" Target="../media/image207.png"/><Relationship Id="rId28" Type="http://schemas.openxmlformats.org/officeDocument/2006/relationships/image" Target="../media/image212.png"/><Relationship Id="rId36" Type="http://schemas.openxmlformats.org/officeDocument/2006/relationships/image" Target="../media/image220.png"/><Relationship Id="rId10" Type="http://schemas.openxmlformats.org/officeDocument/2006/relationships/image" Target="../media/image194.png"/><Relationship Id="rId19" Type="http://schemas.openxmlformats.org/officeDocument/2006/relationships/image" Target="../media/image203.png"/><Relationship Id="rId31" Type="http://schemas.openxmlformats.org/officeDocument/2006/relationships/image" Target="../media/image215.png"/><Relationship Id="rId4" Type="http://schemas.openxmlformats.org/officeDocument/2006/relationships/image" Target="../media/image188.png"/><Relationship Id="rId9" Type="http://schemas.openxmlformats.org/officeDocument/2006/relationships/image" Target="../media/image193.png"/><Relationship Id="rId14" Type="http://schemas.openxmlformats.org/officeDocument/2006/relationships/image" Target="../media/image198.png"/><Relationship Id="rId22" Type="http://schemas.openxmlformats.org/officeDocument/2006/relationships/image" Target="../media/image206.png"/><Relationship Id="rId27" Type="http://schemas.openxmlformats.org/officeDocument/2006/relationships/image" Target="../media/image211.png"/><Relationship Id="rId30" Type="http://schemas.openxmlformats.org/officeDocument/2006/relationships/image" Target="../media/image214.png"/><Relationship Id="rId35" Type="http://schemas.openxmlformats.org/officeDocument/2006/relationships/image" Target="../media/image2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13" Type="http://schemas.openxmlformats.org/officeDocument/2006/relationships/image" Target="../media/image236.png"/><Relationship Id="rId3" Type="http://schemas.openxmlformats.org/officeDocument/2006/relationships/image" Target="../media/image226.png"/><Relationship Id="rId7" Type="http://schemas.openxmlformats.org/officeDocument/2006/relationships/image" Target="../media/image230.png"/><Relationship Id="rId12" Type="http://schemas.openxmlformats.org/officeDocument/2006/relationships/image" Target="../media/image235.png"/><Relationship Id="rId17" Type="http://schemas.openxmlformats.org/officeDocument/2006/relationships/image" Target="../media/image240.png"/><Relationship Id="rId2" Type="http://schemas.openxmlformats.org/officeDocument/2006/relationships/image" Target="../media/image225.png"/><Relationship Id="rId16" Type="http://schemas.openxmlformats.org/officeDocument/2006/relationships/image" Target="../media/image23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9.png"/><Relationship Id="rId11" Type="http://schemas.openxmlformats.org/officeDocument/2006/relationships/image" Target="../media/image234.png"/><Relationship Id="rId5" Type="http://schemas.openxmlformats.org/officeDocument/2006/relationships/image" Target="../media/image228.png"/><Relationship Id="rId15" Type="http://schemas.openxmlformats.org/officeDocument/2006/relationships/image" Target="../media/image238.png"/><Relationship Id="rId10" Type="http://schemas.openxmlformats.org/officeDocument/2006/relationships/image" Target="../media/image233.png"/><Relationship Id="rId4" Type="http://schemas.openxmlformats.org/officeDocument/2006/relationships/image" Target="../media/image227.png"/><Relationship Id="rId9" Type="http://schemas.openxmlformats.org/officeDocument/2006/relationships/image" Target="../media/image232.png"/><Relationship Id="rId14" Type="http://schemas.openxmlformats.org/officeDocument/2006/relationships/image" Target="../media/image2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255.png"/><Relationship Id="rId18" Type="http://schemas.openxmlformats.org/officeDocument/2006/relationships/image" Target="../media/image260.png"/><Relationship Id="rId3" Type="http://schemas.openxmlformats.org/officeDocument/2006/relationships/image" Target="../media/image245.png"/><Relationship Id="rId7" Type="http://schemas.openxmlformats.org/officeDocument/2006/relationships/image" Target="../media/image249.png"/><Relationship Id="rId12" Type="http://schemas.openxmlformats.org/officeDocument/2006/relationships/image" Target="../media/image254.png"/><Relationship Id="rId17" Type="http://schemas.openxmlformats.org/officeDocument/2006/relationships/image" Target="../media/image259.png"/><Relationship Id="rId2" Type="http://schemas.openxmlformats.org/officeDocument/2006/relationships/image" Target="../media/image244.png"/><Relationship Id="rId16" Type="http://schemas.openxmlformats.org/officeDocument/2006/relationships/image" Target="../media/image2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8.png"/><Relationship Id="rId11" Type="http://schemas.openxmlformats.org/officeDocument/2006/relationships/image" Target="../media/image253.png"/><Relationship Id="rId5" Type="http://schemas.openxmlformats.org/officeDocument/2006/relationships/image" Target="../media/image247.png"/><Relationship Id="rId15" Type="http://schemas.openxmlformats.org/officeDocument/2006/relationships/image" Target="../media/image257.png"/><Relationship Id="rId10" Type="http://schemas.openxmlformats.org/officeDocument/2006/relationships/image" Target="../media/image252.png"/><Relationship Id="rId19" Type="http://schemas.openxmlformats.org/officeDocument/2006/relationships/image" Target="../media/image261.png"/><Relationship Id="rId4" Type="http://schemas.openxmlformats.org/officeDocument/2006/relationships/image" Target="../media/image246.png"/><Relationship Id="rId9" Type="http://schemas.openxmlformats.org/officeDocument/2006/relationships/image" Target="../media/image251.png"/><Relationship Id="rId14" Type="http://schemas.openxmlformats.org/officeDocument/2006/relationships/image" Target="../media/image25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0.png"/><Relationship Id="rId5" Type="http://schemas.openxmlformats.org/officeDocument/2006/relationships/image" Target="../media/image269.png"/><Relationship Id="rId4" Type="http://schemas.openxmlformats.org/officeDocument/2006/relationships/image" Target="../media/image26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png"/><Relationship Id="rId3" Type="http://schemas.openxmlformats.org/officeDocument/2006/relationships/image" Target="../media/image274.png"/><Relationship Id="rId7" Type="http://schemas.openxmlformats.org/officeDocument/2006/relationships/image" Target="../media/image278.png"/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7.png"/><Relationship Id="rId5" Type="http://schemas.openxmlformats.org/officeDocument/2006/relationships/image" Target="../media/image276.png"/><Relationship Id="rId4" Type="http://schemas.openxmlformats.org/officeDocument/2006/relationships/image" Target="../media/image27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4.jp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5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13" Type="http://schemas.openxmlformats.org/officeDocument/2006/relationships/image" Target="../media/image297.png"/><Relationship Id="rId3" Type="http://schemas.openxmlformats.org/officeDocument/2006/relationships/image" Target="../media/image287.png"/><Relationship Id="rId7" Type="http://schemas.openxmlformats.org/officeDocument/2006/relationships/image" Target="../media/image291.png"/><Relationship Id="rId12" Type="http://schemas.openxmlformats.org/officeDocument/2006/relationships/image" Target="../media/image296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295.png"/><Relationship Id="rId5" Type="http://schemas.openxmlformats.org/officeDocument/2006/relationships/image" Target="../media/image289.png"/><Relationship Id="rId10" Type="http://schemas.openxmlformats.org/officeDocument/2006/relationships/image" Target="../media/image294.png"/><Relationship Id="rId4" Type="http://schemas.openxmlformats.org/officeDocument/2006/relationships/image" Target="../media/image288.png"/><Relationship Id="rId9" Type="http://schemas.openxmlformats.org/officeDocument/2006/relationships/image" Target="../media/image293.png"/><Relationship Id="rId14" Type="http://schemas.openxmlformats.org/officeDocument/2006/relationships/image" Target="../media/image298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3" Type="http://schemas.openxmlformats.org/officeDocument/2006/relationships/image" Target="../media/image300.png"/><Relationship Id="rId7" Type="http://schemas.openxmlformats.org/officeDocument/2006/relationships/image" Target="../media/image304.png"/><Relationship Id="rId2" Type="http://schemas.openxmlformats.org/officeDocument/2006/relationships/image" Target="../media/image2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3.png"/><Relationship Id="rId5" Type="http://schemas.openxmlformats.org/officeDocument/2006/relationships/image" Target="../media/image302.png"/><Relationship Id="rId4" Type="http://schemas.openxmlformats.org/officeDocument/2006/relationships/image" Target="../media/image30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png"/><Relationship Id="rId2" Type="http://schemas.openxmlformats.org/officeDocument/2006/relationships/image" Target="../media/image30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7" Type="http://schemas.openxmlformats.org/officeDocument/2006/relationships/image" Target="../media/image315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4.png"/><Relationship Id="rId5" Type="http://schemas.openxmlformats.org/officeDocument/2006/relationships/image" Target="../media/image313.png"/><Relationship Id="rId4" Type="http://schemas.openxmlformats.org/officeDocument/2006/relationships/image" Target="../media/image312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9.png"/><Relationship Id="rId2" Type="http://schemas.openxmlformats.org/officeDocument/2006/relationships/image" Target="../media/image318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image" Target="../media/image32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335.png"/><Relationship Id="rId18" Type="http://schemas.openxmlformats.org/officeDocument/2006/relationships/image" Target="../media/image340.png"/><Relationship Id="rId3" Type="http://schemas.openxmlformats.org/officeDocument/2006/relationships/image" Target="../media/image325.png"/><Relationship Id="rId7" Type="http://schemas.openxmlformats.org/officeDocument/2006/relationships/image" Target="../media/image329.png"/><Relationship Id="rId12" Type="http://schemas.openxmlformats.org/officeDocument/2006/relationships/image" Target="../media/image334.png"/><Relationship Id="rId17" Type="http://schemas.openxmlformats.org/officeDocument/2006/relationships/image" Target="../media/image339.png"/><Relationship Id="rId2" Type="http://schemas.openxmlformats.org/officeDocument/2006/relationships/image" Target="../media/image324.png"/><Relationship Id="rId16" Type="http://schemas.openxmlformats.org/officeDocument/2006/relationships/image" Target="../media/image3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8.png"/><Relationship Id="rId11" Type="http://schemas.openxmlformats.org/officeDocument/2006/relationships/image" Target="../media/image333.png"/><Relationship Id="rId5" Type="http://schemas.openxmlformats.org/officeDocument/2006/relationships/image" Target="../media/image327.png"/><Relationship Id="rId15" Type="http://schemas.openxmlformats.org/officeDocument/2006/relationships/image" Target="../media/image337.png"/><Relationship Id="rId10" Type="http://schemas.openxmlformats.org/officeDocument/2006/relationships/image" Target="../media/image332.png"/><Relationship Id="rId4" Type="http://schemas.openxmlformats.org/officeDocument/2006/relationships/image" Target="../media/image326.png"/><Relationship Id="rId9" Type="http://schemas.openxmlformats.org/officeDocument/2006/relationships/image" Target="../media/image331.png"/><Relationship Id="rId14" Type="http://schemas.openxmlformats.org/officeDocument/2006/relationships/image" Target="../media/image336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2.png"/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3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4.jp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png"/><Relationship Id="rId13" Type="http://schemas.openxmlformats.org/officeDocument/2006/relationships/image" Target="../media/image356.png"/><Relationship Id="rId3" Type="http://schemas.openxmlformats.org/officeDocument/2006/relationships/image" Target="../media/image346.png"/><Relationship Id="rId7" Type="http://schemas.openxmlformats.org/officeDocument/2006/relationships/image" Target="../media/image350.png"/><Relationship Id="rId12" Type="http://schemas.openxmlformats.org/officeDocument/2006/relationships/image" Target="../media/image355.png"/><Relationship Id="rId2" Type="http://schemas.openxmlformats.org/officeDocument/2006/relationships/image" Target="../media/image345.png"/><Relationship Id="rId16" Type="http://schemas.openxmlformats.org/officeDocument/2006/relationships/image" Target="../media/image3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9.png"/><Relationship Id="rId11" Type="http://schemas.openxmlformats.org/officeDocument/2006/relationships/image" Target="../media/image354.png"/><Relationship Id="rId5" Type="http://schemas.openxmlformats.org/officeDocument/2006/relationships/image" Target="../media/image348.png"/><Relationship Id="rId15" Type="http://schemas.openxmlformats.org/officeDocument/2006/relationships/image" Target="../media/image358.png"/><Relationship Id="rId10" Type="http://schemas.openxmlformats.org/officeDocument/2006/relationships/image" Target="../media/image353.png"/><Relationship Id="rId4" Type="http://schemas.openxmlformats.org/officeDocument/2006/relationships/image" Target="../media/image347.png"/><Relationship Id="rId9" Type="http://schemas.openxmlformats.org/officeDocument/2006/relationships/image" Target="../media/image352.png"/><Relationship Id="rId14" Type="http://schemas.openxmlformats.org/officeDocument/2006/relationships/image" Target="../media/image35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jp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3.jp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png"/><Relationship Id="rId13" Type="http://schemas.openxmlformats.org/officeDocument/2006/relationships/image" Target="../media/image376.png"/><Relationship Id="rId18" Type="http://schemas.openxmlformats.org/officeDocument/2006/relationships/image" Target="../media/image381.png"/><Relationship Id="rId26" Type="http://schemas.openxmlformats.org/officeDocument/2006/relationships/image" Target="../media/image389.png"/><Relationship Id="rId3" Type="http://schemas.openxmlformats.org/officeDocument/2006/relationships/image" Target="../media/image366.png"/><Relationship Id="rId21" Type="http://schemas.openxmlformats.org/officeDocument/2006/relationships/image" Target="../media/image384.png"/><Relationship Id="rId7" Type="http://schemas.openxmlformats.org/officeDocument/2006/relationships/image" Target="../media/image370.png"/><Relationship Id="rId12" Type="http://schemas.openxmlformats.org/officeDocument/2006/relationships/image" Target="../media/image375.png"/><Relationship Id="rId17" Type="http://schemas.openxmlformats.org/officeDocument/2006/relationships/image" Target="../media/image380.png"/><Relationship Id="rId25" Type="http://schemas.openxmlformats.org/officeDocument/2006/relationships/image" Target="../media/image388.png"/><Relationship Id="rId2" Type="http://schemas.openxmlformats.org/officeDocument/2006/relationships/image" Target="../media/image365.png"/><Relationship Id="rId16" Type="http://schemas.openxmlformats.org/officeDocument/2006/relationships/image" Target="../media/image379.png"/><Relationship Id="rId20" Type="http://schemas.openxmlformats.org/officeDocument/2006/relationships/image" Target="../media/image38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9.png"/><Relationship Id="rId11" Type="http://schemas.openxmlformats.org/officeDocument/2006/relationships/image" Target="../media/image374.png"/><Relationship Id="rId24" Type="http://schemas.openxmlformats.org/officeDocument/2006/relationships/image" Target="../media/image387.png"/><Relationship Id="rId5" Type="http://schemas.openxmlformats.org/officeDocument/2006/relationships/image" Target="../media/image368.png"/><Relationship Id="rId15" Type="http://schemas.openxmlformats.org/officeDocument/2006/relationships/image" Target="../media/image378.png"/><Relationship Id="rId23" Type="http://schemas.openxmlformats.org/officeDocument/2006/relationships/image" Target="../media/image386.png"/><Relationship Id="rId10" Type="http://schemas.openxmlformats.org/officeDocument/2006/relationships/image" Target="../media/image373.png"/><Relationship Id="rId19" Type="http://schemas.openxmlformats.org/officeDocument/2006/relationships/image" Target="../media/image382.png"/><Relationship Id="rId4" Type="http://schemas.openxmlformats.org/officeDocument/2006/relationships/image" Target="../media/image367.png"/><Relationship Id="rId9" Type="http://schemas.openxmlformats.org/officeDocument/2006/relationships/image" Target="../media/image372.png"/><Relationship Id="rId14" Type="http://schemas.openxmlformats.org/officeDocument/2006/relationships/image" Target="../media/image377.png"/><Relationship Id="rId22" Type="http://schemas.openxmlformats.org/officeDocument/2006/relationships/image" Target="../media/image385.png"/><Relationship Id="rId27" Type="http://schemas.openxmlformats.org/officeDocument/2006/relationships/image" Target="../media/image390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3.png"/><Relationship Id="rId2" Type="http://schemas.openxmlformats.org/officeDocument/2006/relationships/image" Target="../media/image39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3" Type="http://schemas.openxmlformats.org/officeDocument/2006/relationships/image" Target="../media/image395.png"/><Relationship Id="rId7" Type="http://schemas.openxmlformats.org/officeDocument/2006/relationships/image" Target="../media/image399.png"/><Relationship Id="rId12" Type="http://schemas.openxmlformats.org/officeDocument/2006/relationships/image" Target="../media/image404.png"/><Relationship Id="rId2" Type="http://schemas.openxmlformats.org/officeDocument/2006/relationships/image" Target="../media/image3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8.png"/><Relationship Id="rId11" Type="http://schemas.openxmlformats.org/officeDocument/2006/relationships/image" Target="../media/image403.png"/><Relationship Id="rId5" Type="http://schemas.openxmlformats.org/officeDocument/2006/relationships/image" Target="../media/image397.png"/><Relationship Id="rId10" Type="http://schemas.openxmlformats.org/officeDocument/2006/relationships/image" Target="../media/image402.png"/><Relationship Id="rId4" Type="http://schemas.openxmlformats.org/officeDocument/2006/relationships/image" Target="../media/image396.png"/><Relationship Id="rId9" Type="http://schemas.openxmlformats.org/officeDocument/2006/relationships/image" Target="../media/image40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png"/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82570" y="228600"/>
            <a:ext cx="4236085" cy="4188460"/>
          </a:xfrm>
          <a:custGeom>
            <a:avLst/>
            <a:gdLst/>
            <a:ahLst/>
            <a:cxnLst/>
            <a:rect l="l" t="t" r="r" b="b"/>
            <a:pathLst>
              <a:path w="4236085" h="4188460">
                <a:moveTo>
                  <a:pt x="4235470" y="0"/>
                </a:moveTo>
                <a:lnTo>
                  <a:pt x="0" y="0"/>
                </a:lnTo>
                <a:lnTo>
                  <a:pt x="0" y="4187951"/>
                </a:lnTo>
                <a:lnTo>
                  <a:pt x="4235470" y="4187951"/>
                </a:lnTo>
                <a:lnTo>
                  <a:pt x="4235470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12186" y="139440"/>
            <a:ext cx="41655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5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3691" y="964691"/>
            <a:ext cx="3755390" cy="5398135"/>
            <a:chOff x="583691" y="964691"/>
            <a:chExt cx="3755390" cy="539813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691" y="3590543"/>
              <a:ext cx="3755136" cy="27721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691" y="964691"/>
              <a:ext cx="3755136" cy="27736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075" y="989075"/>
              <a:ext cx="3653028" cy="2670048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4624456" y="22860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1"/>
                </a:lnTo>
                <a:lnTo>
                  <a:pt x="2057399" y="2039111"/>
                </a:lnTo>
                <a:lnTo>
                  <a:pt x="2057399" y="0"/>
                </a:lnTo>
                <a:close/>
              </a:path>
            </a:pathLst>
          </a:custGeom>
          <a:solidFill>
            <a:srgbClr val="A2A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02495" y="22860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1"/>
                </a:lnTo>
                <a:lnTo>
                  <a:pt x="2057399" y="2039111"/>
                </a:lnTo>
                <a:lnTo>
                  <a:pt x="205739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4456" y="237744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1"/>
                </a:lnTo>
                <a:lnTo>
                  <a:pt x="2057399" y="2039111"/>
                </a:lnTo>
                <a:lnTo>
                  <a:pt x="2057399" y="0"/>
                </a:lnTo>
                <a:close/>
              </a:path>
            </a:pathLst>
          </a:custGeom>
          <a:solidFill>
            <a:srgbClr val="9898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02495" y="237744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1"/>
                </a:lnTo>
                <a:lnTo>
                  <a:pt x="2057399" y="2039111"/>
                </a:lnTo>
                <a:lnTo>
                  <a:pt x="2057399" y="0"/>
                </a:lnTo>
                <a:close/>
              </a:path>
            </a:pathLst>
          </a:custGeom>
          <a:solidFill>
            <a:srgbClr val="320E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54832" y="4648020"/>
            <a:ext cx="4020185" cy="2138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53467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653265"/>
                </a:solidFill>
                <a:latin typeface="Rockwell"/>
                <a:cs typeface="Rockwell"/>
              </a:rPr>
              <a:t>William</a:t>
            </a:r>
            <a:r>
              <a:rPr sz="2500" spc="-45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653265"/>
                </a:solidFill>
                <a:latin typeface="Rockwell"/>
                <a:cs typeface="Rockwell"/>
              </a:rPr>
              <a:t>Stallings</a:t>
            </a:r>
            <a:r>
              <a:rPr sz="2500" spc="-1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653265"/>
                </a:solidFill>
                <a:latin typeface="Rockwell"/>
                <a:cs typeface="Rockwell"/>
              </a:rPr>
              <a:t>Computer</a:t>
            </a:r>
            <a:r>
              <a:rPr sz="2500" spc="-10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653265"/>
                </a:solidFill>
                <a:latin typeface="Rockwell"/>
                <a:cs typeface="Rockwell"/>
              </a:rPr>
              <a:t>Organization</a:t>
            </a:r>
            <a:r>
              <a:rPr sz="2500" spc="-1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653265"/>
                </a:solidFill>
                <a:latin typeface="Rockwell"/>
                <a:cs typeface="Rockwell"/>
              </a:rPr>
              <a:t>and</a:t>
            </a:r>
            <a:r>
              <a:rPr sz="2500" spc="-55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653265"/>
                </a:solidFill>
                <a:latin typeface="Rockwell"/>
                <a:cs typeface="Rockwell"/>
              </a:rPr>
              <a:t>Architecture</a:t>
            </a:r>
            <a:endParaRPr sz="2500" dirty="0">
              <a:latin typeface="Rockwell"/>
              <a:cs typeface="Rockwell"/>
            </a:endParaRPr>
          </a:p>
          <a:p>
            <a:pPr marL="38100">
              <a:lnSpc>
                <a:spcPct val="100000"/>
              </a:lnSpc>
            </a:pPr>
            <a:r>
              <a:rPr sz="2500" dirty="0">
                <a:solidFill>
                  <a:srgbClr val="653265"/>
                </a:solidFill>
                <a:latin typeface="Rockwell"/>
                <a:cs typeface="Rockwell"/>
              </a:rPr>
              <a:t>10</a:t>
            </a:r>
            <a:r>
              <a:rPr sz="2475" baseline="25252" dirty="0">
                <a:solidFill>
                  <a:srgbClr val="653265"/>
                </a:solidFill>
                <a:latin typeface="Rockwell"/>
                <a:cs typeface="Rockwell"/>
              </a:rPr>
              <a:t>th</a:t>
            </a:r>
            <a:r>
              <a:rPr sz="2475" spc="277" baseline="25252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spc="-10" dirty="0" smtClean="0">
                <a:solidFill>
                  <a:srgbClr val="653265"/>
                </a:solidFill>
                <a:latin typeface="Rockwell"/>
                <a:cs typeface="Rockwell"/>
              </a:rPr>
              <a:t>Edition</a:t>
            </a:r>
            <a:r>
              <a:rPr lang="en-US" sz="2500" spc="-10" dirty="0" smtClean="0">
                <a:solidFill>
                  <a:srgbClr val="653265"/>
                </a:solidFill>
                <a:latin typeface="Rockwell"/>
                <a:cs typeface="Rockwell"/>
              </a:rPr>
              <a:t> (</a:t>
            </a:r>
            <a:r>
              <a:rPr lang="en-US" sz="2500" spc="-10" dirty="0" err="1" smtClean="0">
                <a:solidFill>
                  <a:srgbClr val="653265"/>
                </a:solidFill>
                <a:latin typeface="Rockwell"/>
                <a:cs typeface="Rockwell"/>
              </a:rPr>
              <a:t>Chp</a:t>
            </a:r>
            <a:r>
              <a:rPr lang="en-US" sz="2500" spc="-10" dirty="0" smtClean="0">
                <a:solidFill>
                  <a:srgbClr val="653265"/>
                </a:solidFill>
                <a:latin typeface="Rockwell"/>
                <a:cs typeface="Rockwell"/>
              </a:rPr>
              <a:t> 3 &amp; 4</a:t>
            </a:r>
            <a:endParaRPr sz="2500" dirty="0">
              <a:latin typeface="Rockwell"/>
              <a:cs typeface="Rockwell"/>
            </a:endParaRPr>
          </a:p>
          <a:p>
            <a:pPr marR="30480" algn="r">
              <a:lnSpc>
                <a:spcPct val="100000"/>
              </a:lnSpc>
              <a:spcBef>
                <a:spcPts val="1995"/>
              </a:spcBef>
            </a:pP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1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2016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Pearson</a:t>
            </a:r>
            <a:r>
              <a:rPr sz="11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Education,</a:t>
            </a:r>
            <a:r>
              <a:rPr sz="11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Inc.,</a:t>
            </a:r>
            <a:r>
              <a:rPr sz="11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Hoboken,</a:t>
            </a:r>
            <a:endParaRPr sz="1100" dirty="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NJ.</a:t>
            </a:r>
            <a:r>
              <a:rPr sz="11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r>
              <a:rPr sz="11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rights</a:t>
            </a:r>
            <a:r>
              <a:rPr sz="11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reserved.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76" y="432816"/>
            <a:ext cx="5541264" cy="101193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7711" y="551124"/>
            <a:ext cx="5550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79120" algn="l"/>
              </a:tabLst>
            </a:pPr>
            <a:r>
              <a:rPr sz="5400" b="1" spc="-75" baseline="42438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baseline="42438" dirty="0">
                <a:solidFill>
                  <a:srgbClr val="B86FB8"/>
                </a:solidFill>
                <a:latin typeface="Times New Roman"/>
                <a:cs typeface="Times New Roman"/>
              </a:rPr>
              <a:t>	</a:t>
            </a:r>
            <a:r>
              <a:rPr sz="3600" dirty="0"/>
              <a:t>Computer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spc="-10" dirty="0"/>
              <a:t>Components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7398" y="1700526"/>
            <a:ext cx="7329805" cy="4589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495300" indent="-228600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Contemporary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computer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designs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based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concepts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developed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John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von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Neumann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at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Institute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Advanced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Studies,</a:t>
            </a:r>
            <a:r>
              <a:rPr sz="2000" spc="-1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Princeton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Referred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595959"/>
                </a:solidFill>
                <a:latin typeface="Rockwell"/>
                <a:cs typeface="Rockwell"/>
              </a:rPr>
              <a:t>von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595959"/>
                </a:solidFill>
                <a:latin typeface="Rockwell"/>
                <a:cs typeface="Rockwell"/>
              </a:rPr>
              <a:t>Neumann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595959"/>
                </a:solidFill>
                <a:latin typeface="Rockwell"/>
                <a:cs typeface="Rockwell"/>
              </a:rPr>
              <a:t>architecture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based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on</a:t>
            </a:r>
            <a:endParaRPr sz="2000">
              <a:latin typeface="Rockwell"/>
              <a:cs typeface="Rockwell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three</a:t>
            </a:r>
            <a:r>
              <a:rPr sz="2000" spc="-1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key</a:t>
            </a:r>
            <a:r>
              <a:rPr sz="2000" spc="-1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concepts:</a:t>
            </a:r>
            <a:endParaRPr sz="20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1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instructions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stored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single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595959"/>
                </a:solidFill>
                <a:latin typeface="Rockwell"/>
                <a:cs typeface="Rockwell"/>
              </a:rPr>
              <a:t>read-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write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800">
              <a:latin typeface="Rockwell"/>
              <a:cs typeface="Rockwell"/>
            </a:endParaRPr>
          </a:p>
          <a:p>
            <a:pPr marL="469900" marR="41275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contents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addressable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location,</a:t>
            </a:r>
            <a:r>
              <a:rPr sz="1800" spc="-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without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regard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type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contained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there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Execution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occurs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sequential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fashion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(unless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explicitly</a:t>
            </a:r>
            <a:endParaRPr sz="1800">
              <a:latin typeface="Rockwell"/>
              <a:cs typeface="Rockwell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modified)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one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next</a:t>
            </a:r>
            <a:endParaRPr sz="18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98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i="1" spc="-10" dirty="0">
                <a:solidFill>
                  <a:srgbClr val="595959"/>
                </a:solidFill>
                <a:latin typeface="Rockwell"/>
                <a:cs typeface="Rockwell"/>
              </a:rPr>
              <a:t>Hardwired</a:t>
            </a:r>
            <a:r>
              <a:rPr sz="20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595959"/>
                </a:solidFill>
                <a:latin typeface="Rockwell"/>
                <a:cs typeface="Rockwell"/>
              </a:rPr>
              <a:t>program</a:t>
            </a:r>
            <a:endParaRPr sz="2000">
              <a:latin typeface="Rockwell"/>
              <a:cs typeface="Rockwell"/>
            </a:endParaRPr>
          </a:p>
          <a:p>
            <a:pPr marL="469900" marR="5080" lvl="1" indent="-228600">
              <a:lnSpc>
                <a:spcPct val="100000"/>
              </a:lnSpc>
              <a:spcBef>
                <a:spcPts val="61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result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process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ckwell"/>
                <a:cs typeface="Rockwell"/>
              </a:rPr>
              <a:t>connecting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ckwell"/>
                <a:cs typeface="Rockwell"/>
              </a:rPr>
              <a:t>various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Rockwell"/>
                <a:cs typeface="Rockwell"/>
              </a:rPr>
              <a:t>components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desired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configuration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82570" y="228537"/>
            <a:ext cx="3451225" cy="4165600"/>
          </a:xfrm>
          <a:custGeom>
            <a:avLst/>
            <a:gdLst/>
            <a:ahLst/>
            <a:cxnLst/>
            <a:rect l="l" t="t" r="r" b="b"/>
            <a:pathLst>
              <a:path w="3451225" h="4165600">
                <a:moveTo>
                  <a:pt x="0" y="4165321"/>
                </a:moveTo>
                <a:lnTo>
                  <a:pt x="3451219" y="4165321"/>
                </a:lnTo>
                <a:lnTo>
                  <a:pt x="3451219" y="0"/>
                </a:lnTo>
                <a:lnTo>
                  <a:pt x="0" y="0"/>
                </a:lnTo>
                <a:lnTo>
                  <a:pt x="0" y="4165321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2186" y="139440"/>
            <a:ext cx="41655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06065" y="515123"/>
            <a:ext cx="33401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spc="65" dirty="0">
                <a:latin typeface="Arial"/>
                <a:cs typeface="Arial"/>
              </a:rPr>
              <a:t>Data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32403" y="124341"/>
            <a:ext cx="1264920" cy="906780"/>
            <a:chOff x="5932403" y="124341"/>
            <a:chExt cx="1264920" cy="906780"/>
          </a:xfrm>
        </p:grpSpPr>
        <p:sp>
          <p:nvSpPr>
            <p:cNvPr id="11" name="object 11"/>
            <p:cNvSpPr/>
            <p:nvPr/>
          </p:nvSpPr>
          <p:spPr>
            <a:xfrm>
              <a:off x="5941954" y="228813"/>
              <a:ext cx="1132205" cy="792480"/>
            </a:xfrm>
            <a:custGeom>
              <a:avLst/>
              <a:gdLst/>
              <a:ahLst/>
              <a:cxnLst/>
              <a:rect l="l" t="t" r="r" b="b"/>
              <a:pathLst>
                <a:path w="1132204" h="792480">
                  <a:moveTo>
                    <a:pt x="1132088" y="0"/>
                  </a:moveTo>
                  <a:lnTo>
                    <a:pt x="0" y="0"/>
                  </a:lnTo>
                  <a:lnTo>
                    <a:pt x="0" y="792175"/>
                  </a:lnTo>
                  <a:lnTo>
                    <a:pt x="1132088" y="792175"/>
                  </a:lnTo>
                  <a:lnTo>
                    <a:pt x="1132088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41928" y="228817"/>
              <a:ext cx="1132205" cy="792480"/>
            </a:xfrm>
            <a:custGeom>
              <a:avLst/>
              <a:gdLst/>
              <a:ahLst/>
              <a:cxnLst/>
              <a:rect l="l" t="t" r="r" b="b"/>
              <a:pathLst>
                <a:path w="1132204" h="792480">
                  <a:moveTo>
                    <a:pt x="0" y="792164"/>
                  </a:moveTo>
                  <a:lnTo>
                    <a:pt x="1132101" y="792164"/>
                  </a:lnTo>
                  <a:lnTo>
                    <a:pt x="1132101" y="0"/>
                  </a:lnTo>
                  <a:lnTo>
                    <a:pt x="0" y="0"/>
                  </a:lnTo>
                  <a:lnTo>
                    <a:pt x="0" y="792164"/>
                  </a:lnTo>
                  <a:close/>
                </a:path>
              </a:pathLst>
            </a:custGeom>
            <a:ln w="18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41954" y="133868"/>
              <a:ext cx="1245870" cy="887730"/>
            </a:xfrm>
            <a:custGeom>
              <a:avLst/>
              <a:gdLst/>
              <a:ahLst/>
              <a:cxnLst/>
              <a:rect l="l" t="t" r="r" b="b"/>
              <a:pathLst>
                <a:path w="1245870" h="887730">
                  <a:moveTo>
                    <a:pt x="1245351" y="0"/>
                  </a:moveTo>
                  <a:lnTo>
                    <a:pt x="113385" y="0"/>
                  </a:lnTo>
                  <a:lnTo>
                    <a:pt x="0" y="94945"/>
                  </a:lnTo>
                  <a:lnTo>
                    <a:pt x="1132088" y="94945"/>
                  </a:lnTo>
                  <a:lnTo>
                    <a:pt x="1132088" y="887120"/>
                  </a:lnTo>
                  <a:lnTo>
                    <a:pt x="1245351" y="792144"/>
                  </a:lnTo>
                  <a:lnTo>
                    <a:pt x="1245351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41928" y="133866"/>
              <a:ext cx="1245870" cy="887730"/>
            </a:xfrm>
            <a:custGeom>
              <a:avLst/>
              <a:gdLst/>
              <a:ahLst/>
              <a:cxnLst/>
              <a:rect l="l" t="t" r="r" b="b"/>
              <a:pathLst>
                <a:path w="1245870" h="887730">
                  <a:moveTo>
                    <a:pt x="113408" y="0"/>
                  </a:moveTo>
                  <a:lnTo>
                    <a:pt x="1245345" y="0"/>
                  </a:lnTo>
                  <a:lnTo>
                    <a:pt x="1245345" y="792164"/>
                  </a:lnTo>
                  <a:lnTo>
                    <a:pt x="1132101" y="887115"/>
                  </a:lnTo>
                  <a:lnTo>
                    <a:pt x="1132101" y="94950"/>
                  </a:lnTo>
                  <a:lnTo>
                    <a:pt x="0" y="94950"/>
                  </a:lnTo>
                  <a:lnTo>
                    <a:pt x="113408" y="0"/>
                  </a:lnTo>
                  <a:close/>
                </a:path>
              </a:pathLst>
            </a:custGeom>
            <a:ln w="18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74042" y="133868"/>
              <a:ext cx="113664" cy="95250"/>
            </a:xfrm>
            <a:custGeom>
              <a:avLst/>
              <a:gdLst/>
              <a:ahLst/>
              <a:cxnLst/>
              <a:rect l="l" t="t" r="r" b="b"/>
              <a:pathLst>
                <a:path w="113665" h="95250">
                  <a:moveTo>
                    <a:pt x="113263" y="0"/>
                  </a:moveTo>
                  <a:lnTo>
                    <a:pt x="0" y="94945"/>
                  </a:lnTo>
                  <a:lnTo>
                    <a:pt x="113263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74029" y="133866"/>
              <a:ext cx="113664" cy="95250"/>
            </a:xfrm>
            <a:custGeom>
              <a:avLst/>
              <a:gdLst/>
              <a:ahLst/>
              <a:cxnLst/>
              <a:rect l="l" t="t" r="r" b="b"/>
              <a:pathLst>
                <a:path w="113665" h="95250">
                  <a:moveTo>
                    <a:pt x="0" y="94950"/>
                  </a:moveTo>
                  <a:lnTo>
                    <a:pt x="0" y="94950"/>
                  </a:lnTo>
                  <a:lnTo>
                    <a:pt x="113243" y="0"/>
                  </a:lnTo>
                </a:path>
              </a:pathLst>
            </a:custGeom>
            <a:ln w="18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51222" y="311038"/>
            <a:ext cx="1123315" cy="617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4945" marR="180340" algn="ctr">
              <a:lnSpc>
                <a:spcPct val="102200"/>
              </a:lnSpc>
              <a:spcBef>
                <a:spcPts val="90"/>
              </a:spcBef>
            </a:pPr>
            <a:r>
              <a:rPr sz="950" b="1" spc="10" dirty="0">
                <a:latin typeface="Arial"/>
                <a:cs typeface="Arial"/>
              </a:rPr>
              <a:t>Sequence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b="1" spc="-25" dirty="0">
                <a:latin typeface="Arial"/>
                <a:cs typeface="Arial"/>
              </a:rPr>
              <a:t>of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b="1" spc="55" dirty="0">
                <a:latin typeface="Arial"/>
                <a:cs typeface="Arial"/>
              </a:rPr>
              <a:t>arithmetic</a:t>
            </a:r>
            <a:r>
              <a:rPr sz="950" spc="55" dirty="0">
                <a:latin typeface="Times New Roman"/>
                <a:cs typeface="Times New Roman"/>
              </a:rPr>
              <a:t> </a:t>
            </a:r>
            <a:r>
              <a:rPr sz="950" b="1" spc="75" dirty="0">
                <a:latin typeface="Arial"/>
                <a:cs typeface="Arial"/>
              </a:rPr>
              <a:t>and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Arial"/>
                <a:cs typeface="Arial"/>
              </a:rPr>
              <a:t>logic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b="1" spc="40" dirty="0">
                <a:latin typeface="Arial"/>
                <a:cs typeface="Arial"/>
              </a:rPr>
              <a:t>functions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062320" y="580004"/>
            <a:ext cx="2904490" cy="86360"/>
            <a:chOff x="5062320" y="580004"/>
            <a:chExt cx="2904490" cy="86360"/>
          </a:xfrm>
        </p:grpSpPr>
        <p:sp>
          <p:nvSpPr>
            <p:cNvPr id="22" name="object 22"/>
            <p:cNvSpPr/>
            <p:nvPr/>
          </p:nvSpPr>
          <p:spPr>
            <a:xfrm>
              <a:off x="5062320" y="623007"/>
              <a:ext cx="798195" cy="0"/>
            </a:xfrm>
            <a:custGeom>
              <a:avLst/>
              <a:gdLst/>
              <a:ahLst/>
              <a:cxnLst/>
              <a:rect l="l" t="t" r="r" b="b"/>
              <a:pathLst>
                <a:path w="798195">
                  <a:moveTo>
                    <a:pt x="0" y="0"/>
                  </a:moveTo>
                  <a:lnTo>
                    <a:pt x="0" y="0"/>
                  </a:lnTo>
                  <a:lnTo>
                    <a:pt x="797772" y="0"/>
                  </a:lnTo>
                </a:path>
              </a:pathLst>
            </a:custGeom>
            <a:ln w="17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20948" y="580004"/>
              <a:ext cx="121920" cy="86360"/>
            </a:xfrm>
            <a:custGeom>
              <a:avLst/>
              <a:gdLst/>
              <a:ahLst/>
              <a:cxnLst/>
              <a:rect l="l" t="t" r="r" b="b"/>
              <a:pathLst>
                <a:path w="121920" h="86359">
                  <a:moveTo>
                    <a:pt x="0" y="0"/>
                  </a:moveTo>
                  <a:lnTo>
                    <a:pt x="22097" y="43007"/>
                  </a:lnTo>
                  <a:lnTo>
                    <a:pt x="0" y="85831"/>
                  </a:lnTo>
                  <a:lnTo>
                    <a:pt x="121859" y="43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22070" y="623007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0" y="0"/>
                  </a:lnTo>
                  <a:lnTo>
                    <a:pt x="761692" y="0"/>
                  </a:lnTo>
                </a:path>
              </a:pathLst>
            </a:custGeom>
            <a:ln w="17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845368" y="580004"/>
              <a:ext cx="121285" cy="86360"/>
            </a:xfrm>
            <a:custGeom>
              <a:avLst/>
              <a:gdLst/>
              <a:ahLst/>
              <a:cxnLst/>
              <a:rect l="l" t="t" r="r" b="b"/>
              <a:pathLst>
                <a:path w="121284" h="86359">
                  <a:moveTo>
                    <a:pt x="0" y="0"/>
                  </a:moveTo>
                  <a:lnTo>
                    <a:pt x="21244" y="43007"/>
                  </a:lnTo>
                  <a:lnTo>
                    <a:pt x="0" y="85831"/>
                  </a:lnTo>
                  <a:lnTo>
                    <a:pt x="121127" y="43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008826" y="515123"/>
            <a:ext cx="50355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spc="-10" dirty="0">
                <a:latin typeface="Arial"/>
                <a:cs typeface="Arial"/>
              </a:rPr>
              <a:t>Results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20846" y="1178026"/>
            <a:ext cx="1650364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b="1" spc="50" dirty="0">
                <a:latin typeface="Arial"/>
                <a:cs typeface="Arial"/>
              </a:rPr>
              <a:t>(a)</a:t>
            </a:r>
            <a:r>
              <a:rPr sz="800" spc="50" dirty="0">
                <a:latin typeface="Times New Roman"/>
                <a:cs typeface="Times New Roman"/>
              </a:rPr>
              <a:t> </a:t>
            </a:r>
            <a:r>
              <a:rPr sz="800" b="1" spc="65" dirty="0">
                <a:latin typeface="Arial"/>
                <a:cs typeface="Arial"/>
              </a:rPr>
              <a:t>Programming</a:t>
            </a:r>
            <a:r>
              <a:rPr sz="800" spc="-65" dirty="0">
                <a:latin typeface="Times New Roman"/>
                <a:cs typeface="Times New Roman"/>
              </a:rPr>
              <a:t> </a:t>
            </a:r>
            <a:r>
              <a:rPr sz="800" b="1" spc="80" dirty="0">
                <a:latin typeface="Arial"/>
                <a:cs typeface="Arial"/>
              </a:rPr>
              <a:t>in</a:t>
            </a:r>
            <a:r>
              <a:rPr sz="800" spc="-5" dirty="0">
                <a:latin typeface="Times New Roman"/>
                <a:cs typeface="Times New Roman"/>
              </a:rPr>
              <a:t> </a:t>
            </a:r>
            <a:r>
              <a:rPr sz="800" b="1" spc="60" dirty="0">
                <a:latin typeface="Arial"/>
                <a:cs typeface="Arial"/>
              </a:rPr>
              <a:t>hardware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4904" y="1438655"/>
            <a:ext cx="3413760" cy="2109470"/>
            <a:chOff x="374904" y="1438655"/>
            <a:chExt cx="3413760" cy="21094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7136" y="1438655"/>
              <a:ext cx="2752343" cy="10119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904" y="1987295"/>
              <a:ext cx="3413760" cy="10119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676" y="2535936"/>
              <a:ext cx="3139440" cy="10119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45978" y="1557345"/>
            <a:ext cx="272415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  <a:latin typeface="Rockwell"/>
                <a:cs typeface="Rockwell"/>
              </a:rPr>
              <a:t>Hardware</a:t>
            </a:r>
            <a:r>
              <a:rPr sz="3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FF"/>
                </a:solidFill>
                <a:latin typeface="Rockwell"/>
                <a:cs typeface="Rockwell"/>
              </a:rPr>
              <a:t>and</a:t>
            </a:r>
            <a:r>
              <a:rPr sz="3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spc="-35" dirty="0">
                <a:solidFill>
                  <a:srgbClr val="FFFFFF"/>
                </a:solidFill>
                <a:latin typeface="Rockwell"/>
                <a:cs typeface="Rockwell"/>
              </a:rPr>
              <a:t>Software</a:t>
            </a:r>
            <a:r>
              <a:rPr sz="3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Rockwell"/>
                <a:cs typeface="Rockwell"/>
              </a:rPr>
              <a:t>Approaches</a:t>
            </a:r>
            <a:endParaRPr sz="3600">
              <a:latin typeface="Rockwell"/>
              <a:cs typeface="Rockwel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8757" y="2105320"/>
            <a:ext cx="72961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spc="45" dirty="0">
                <a:latin typeface="Arial"/>
                <a:cs typeface="Arial"/>
              </a:rPr>
              <a:t>Instruction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88077" y="2253315"/>
            <a:ext cx="38989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spc="-10" dirty="0">
                <a:latin typeface="Arial"/>
                <a:cs typeface="Arial"/>
              </a:rPr>
              <a:t>codes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053430" y="2264054"/>
            <a:ext cx="2143760" cy="1647189"/>
            <a:chOff x="5053430" y="2264054"/>
            <a:chExt cx="2143760" cy="1647189"/>
          </a:xfrm>
        </p:grpSpPr>
        <p:sp>
          <p:nvSpPr>
            <p:cNvPr id="29" name="object 29"/>
            <p:cNvSpPr/>
            <p:nvPr/>
          </p:nvSpPr>
          <p:spPr>
            <a:xfrm>
              <a:off x="5062320" y="2307045"/>
              <a:ext cx="798195" cy="0"/>
            </a:xfrm>
            <a:custGeom>
              <a:avLst/>
              <a:gdLst/>
              <a:ahLst/>
              <a:cxnLst/>
              <a:rect l="l" t="t" r="r" b="b"/>
              <a:pathLst>
                <a:path w="798195">
                  <a:moveTo>
                    <a:pt x="0" y="0"/>
                  </a:moveTo>
                  <a:lnTo>
                    <a:pt x="0" y="0"/>
                  </a:lnTo>
                  <a:lnTo>
                    <a:pt x="797772" y="0"/>
                  </a:lnTo>
                </a:path>
              </a:pathLst>
            </a:custGeom>
            <a:ln w="17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20948" y="2264054"/>
              <a:ext cx="121920" cy="86360"/>
            </a:xfrm>
            <a:custGeom>
              <a:avLst/>
              <a:gdLst/>
              <a:ahLst/>
              <a:cxnLst/>
              <a:rect l="l" t="t" r="r" b="b"/>
              <a:pathLst>
                <a:path w="121920" h="86360">
                  <a:moveTo>
                    <a:pt x="0" y="0"/>
                  </a:moveTo>
                  <a:lnTo>
                    <a:pt x="22097" y="42976"/>
                  </a:lnTo>
                  <a:lnTo>
                    <a:pt x="0" y="85801"/>
                  </a:lnTo>
                  <a:lnTo>
                    <a:pt x="121859" y="429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41953" y="3268096"/>
              <a:ext cx="1132205" cy="633730"/>
            </a:xfrm>
            <a:custGeom>
              <a:avLst/>
              <a:gdLst/>
              <a:ahLst/>
              <a:cxnLst/>
              <a:rect l="l" t="t" r="r" b="b"/>
              <a:pathLst>
                <a:path w="1132204" h="633729">
                  <a:moveTo>
                    <a:pt x="1132088" y="0"/>
                  </a:moveTo>
                  <a:lnTo>
                    <a:pt x="0" y="0"/>
                  </a:lnTo>
                  <a:lnTo>
                    <a:pt x="0" y="633724"/>
                  </a:lnTo>
                  <a:lnTo>
                    <a:pt x="1132088" y="633724"/>
                  </a:lnTo>
                  <a:lnTo>
                    <a:pt x="1132088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41927" y="3268101"/>
              <a:ext cx="1132205" cy="633730"/>
            </a:xfrm>
            <a:custGeom>
              <a:avLst/>
              <a:gdLst/>
              <a:ahLst/>
              <a:cxnLst/>
              <a:rect l="l" t="t" r="r" b="b"/>
              <a:pathLst>
                <a:path w="1132204" h="633729">
                  <a:moveTo>
                    <a:pt x="0" y="633709"/>
                  </a:moveTo>
                  <a:lnTo>
                    <a:pt x="1132101" y="633709"/>
                  </a:lnTo>
                  <a:lnTo>
                    <a:pt x="1132101" y="0"/>
                  </a:lnTo>
                  <a:lnTo>
                    <a:pt x="0" y="0"/>
                  </a:lnTo>
                  <a:lnTo>
                    <a:pt x="0" y="633709"/>
                  </a:lnTo>
                  <a:close/>
                </a:path>
              </a:pathLst>
            </a:custGeom>
            <a:ln w="180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41953" y="3172968"/>
              <a:ext cx="1245870" cy="728980"/>
            </a:xfrm>
            <a:custGeom>
              <a:avLst/>
              <a:gdLst/>
              <a:ahLst/>
              <a:cxnLst/>
              <a:rect l="l" t="t" r="r" b="b"/>
              <a:pathLst>
                <a:path w="1245870" h="728979">
                  <a:moveTo>
                    <a:pt x="1245351" y="0"/>
                  </a:moveTo>
                  <a:lnTo>
                    <a:pt x="113385" y="0"/>
                  </a:lnTo>
                  <a:lnTo>
                    <a:pt x="0" y="95128"/>
                  </a:lnTo>
                  <a:lnTo>
                    <a:pt x="1132088" y="95128"/>
                  </a:lnTo>
                  <a:lnTo>
                    <a:pt x="1132088" y="728852"/>
                  </a:lnTo>
                  <a:lnTo>
                    <a:pt x="1245351" y="633709"/>
                  </a:lnTo>
                  <a:lnTo>
                    <a:pt x="1245351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41927" y="3172956"/>
              <a:ext cx="1245870" cy="728980"/>
            </a:xfrm>
            <a:custGeom>
              <a:avLst/>
              <a:gdLst/>
              <a:ahLst/>
              <a:cxnLst/>
              <a:rect l="l" t="t" r="r" b="b"/>
              <a:pathLst>
                <a:path w="1245870" h="728979">
                  <a:moveTo>
                    <a:pt x="113408" y="0"/>
                  </a:moveTo>
                  <a:lnTo>
                    <a:pt x="1245345" y="0"/>
                  </a:lnTo>
                  <a:lnTo>
                    <a:pt x="1245345" y="633709"/>
                  </a:lnTo>
                  <a:lnTo>
                    <a:pt x="1132101" y="728855"/>
                  </a:lnTo>
                  <a:lnTo>
                    <a:pt x="1132101" y="95145"/>
                  </a:lnTo>
                  <a:lnTo>
                    <a:pt x="0" y="95145"/>
                  </a:lnTo>
                  <a:lnTo>
                    <a:pt x="113408" y="0"/>
                  </a:lnTo>
                  <a:close/>
                </a:path>
              </a:pathLst>
            </a:custGeom>
            <a:ln w="180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74041" y="3172968"/>
              <a:ext cx="113664" cy="95250"/>
            </a:xfrm>
            <a:custGeom>
              <a:avLst/>
              <a:gdLst/>
              <a:ahLst/>
              <a:cxnLst/>
              <a:rect l="l" t="t" r="r" b="b"/>
              <a:pathLst>
                <a:path w="113665" h="95250">
                  <a:moveTo>
                    <a:pt x="113263" y="0"/>
                  </a:moveTo>
                  <a:lnTo>
                    <a:pt x="0" y="95128"/>
                  </a:lnTo>
                  <a:lnTo>
                    <a:pt x="113263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74029" y="3172956"/>
              <a:ext cx="113664" cy="95250"/>
            </a:xfrm>
            <a:custGeom>
              <a:avLst/>
              <a:gdLst/>
              <a:ahLst/>
              <a:cxnLst/>
              <a:rect l="l" t="t" r="r" b="b"/>
              <a:pathLst>
                <a:path w="113665" h="95250">
                  <a:moveTo>
                    <a:pt x="0" y="95145"/>
                  </a:moveTo>
                  <a:lnTo>
                    <a:pt x="0" y="95145"/>
                  </a:lnTo>
                  <a:lnTo>
                    <a:pt x="113243" y="0"/>
                  </a:lnTo>
                </a:path>
              </a:pathLst>
            </a:custGeom>
            <a:ln w="186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932720" y="1981222"/>
            <a:ext cx="1264285" cy="589280"/>
            <a:chOff x="5932720" y="1981222"/>
            <a:chExt cx="1264285" cy="589280"/>
          </a:xfrm>
        </p:grpSpPr>
        <p:sp>
          <p:nvSpPr>
            <p:cNvPr id="39" name="object 39"/>
            <p:cNvSpPr/>
            <p:nvPr/>
          </p:nvSpPr>
          <p:spPr>
            <a:xfrm>
              <a:off x="5941954" y="1990770"/>
              <a:ext cx="1245870" cy="570865"/>
            </a:xfrm>
            <a:custGeom>
              <a:avLst/>
              <a:gdLst/>
              <a:ahLst/>
              <a:cxnLst/>
              <a:rect l="l" t="t" r="r" b="b"/>
              <a:pathLst>
                <a:path w="1245870" h="570864">
                  <a:moveTo>
                    <a:pt x="1245351" y="0"/>
                  </a:moveTo>
                  <a:lnTo>
                    <a:pt x="113385" y="0"/>
                  </a:lnTo>
                  <a:lnTo>
                    <a:pt x="0" y="94945"/>
                  </a:lnTo>
                  <a:lnTo>
                    <a:pt x="1132088" y="94945"/>
                  </a:lnTo>
                  <a:lnTo>
                    <a:pt x="1132088" y="570372"/>
                  </a:lnTo>
                  <a:lnTo>
                    <a:pt x="1245351" y="475152"/>
                  </a:lnTo>
                  <a:lnTo>
                    <a:pt x="1245351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941927" y="1990747"/>
              <a:ext cx="1245870" cy="570865"/>
            </a:xfrm>
            <a:custGeom>
              <a:avLst/>
              <a:gdLst/>
              <a:ahLst/>
              <a:cxnLst/>
              <a:rect l="l" t="t" r="r" b="b"/>
              <a:pathLst>
                <a:path w="1245870" h="570864">
                  <a:moveTo>
                    <a:pt x="113408" y="0"/>
                  </a:moveTo>
                  <a:lnTo>
                    <a:pt x="1245345" y="0"/>
                  </a:lnTo>
                  <a:lnTo>
                    <a:pt x="1245345" y="475170"/>
                  </a:lnTo>
                  <a:lnTo>
                    <a:pt x="1132101" y="570399"/>
                  </a:lnTo>
                  <a:lnTo>
                    <a:pt x="1132101" y="94978"/>
                  </a:lnTo>
                  <a:lnTo>
                    <a:pt x="0" y="94978"/>
                  </a:lnTo>
                  <a:lnTo>
                    <a:pt x="113408" y="0"/>
                  </a:lnTo>
                  <a:close/>
                </a:path>
              </a:pathLst>
            </a:custGeom>
            <a:ln w="178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74042" y="1990770"/>
              <a:ext cx="113664" cy="95250"/>
            </a:xfrm>
            <a:custGeom>
              <a:avLst/>
              <a:gdLst/>
              <a:ahLst/>
              <a:cxnLst/>
              <a:rect l="l" t="t" r="r" b="b"/>
              <a:pathLst>
                <a:path w="113665" h="95250">
                  <a:moveTo>
                    <a:pt x="113263" y="0"/>
                  </a:moveTo>
                  <a:lnTo>
                    <a:pt x="0" y="94945"/>
                  </a:lnTo>
                  <a:lnTo>
                    <a:pt x="113263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74029" y="1990747"/>
              <a:ext cx="113664" cy="95250"/>
            </a:xfrm>
            <a:custGeom>
              <a:avLst/>
              <a:gdLst/>
              <a:ahLst/>
              <a:cxnLst/>
              <a:rect l="l" t="t" r="r" b="b"/>
              <a:pathLst>
                <a:path w="113665" h="95250">
                  <a:moveTo>
                    <a:pt x="0" y="94978"/>
                  </a:moveTo>
                  <a:lnTo>
                    <a:pt x="0" y="94978"/>
                  </a:lnTo>
                  <a:lnTo>
                    <a:pt x="113243" y="0"/>
                  </a:lnTo>
                </a:path>
              </a:pathLst>
            </a:custGeom>
            <a:ln w="18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616435" y="2700787"/>
            <a:ext cx="511809" cy="3206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085" marR="5080" indent="-33020">
              <a:lnSpc>
                <a:spcPct val="102099"/>
              </a:lnSpc>
              <a:spcBef>
                <a:spcPts val="90"/>
              </a:spcBef>
            </a:pPr>
            <a:r>
              <a:rPr sz="950" b="1" spc="50" dirty="0">
                <a:latin typeface="Arial"/>
                <a:cs typeface="Arial"/>
              </a:rPr>
              <a:t>Control</a:t>
            </a:r>
            <a:r>
              <a:rPr sz="950" spc="50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Arial"/>
                <a:cs typeface="Arial"/>
              </a:rPr>
              <a:t>signals</a:t>
            </a:r>
            <a:endParaRPr sz="9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06839" y="3475004"/>
            <a:ext cx="33401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spc="65" dirty="0">
                <a:latin typeface="Arial"/>
                <a:cs typeface="Arial"/>
              </a:rPr>
              <a:t>Data</a:t>
            </a:r>
            <a:endParaRPr sz="9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51054" y="3271181"/>
            <a:ext cx="1123315" cy="616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0979" marR="28575" indent="-203835">
              <a:lnSpc>
                <a:spcPct val="102099"/>
              </a:lnSpc>
              <a:spcBef>
                <a:spcPts val="90"/>
              </a:spcBef>
            </a:pPr>
            <a:r>
              <a:rPr sz="950" b="1" spc="55" dirty="0">
                <a:latin typeface="Arial"/>
                <a:cs typeface="Arial"/>
              </a:rPr>
              <a:t>General-</a:t>
            </a:r>
            <a:r>
              <a:rPr sz="950" b="1" spc="35" dirty="0">
                <a:latin typeface="Arial"/>
                <a:cs typeface="Arial"/>
              </a:rPr>
              <a:t>purpose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b="1" spc="55" dirty="0">
                <a:latin typeface="Arial"/>
                <a:cs typeface="Arial"/>
              </a:rPr>
              <a:t>arithmetic</a:t>
            </a:r>
            <a:r>
              <a:rPr sz="950" spc="55" dirty="0">
                <a:latin typeface="Times New Roman"/>
                <a:cs typeface="Times New Roman"/>
              </a:rPr>
              <a:t> </a:t>
            </a:r>
            <a:r>
              <a:rPr sz="950" b="1" spc="75" dirty="0">
                <a:latin typeface="Arial"/>
                <a:cs typeface="Arial"/>
              </a:rPr>
              <a:t>and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Arial"/>
                <a:cs typeface="Arial"/>
              </a:rPr>
              <a:t>logic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b="1" spc="40" dirty="0">
                <a:latin typeface="Arial"/>
                <a:cs typeface="Arial"/>
              </a:rPr>
              <a:t>functions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062320" y="2561143"/>
            <a:ext cx="2904490" cy="1064895"/>
            <a:chOff x="5062320" y="2561143"/>
            <a:chExt cx="2904490" cy="1064895"/>
          </a:xfrm>
        </p:grpSpPr>
        <p:sp>
          <p:nvSpPr>
            <p:cNvPr id="49" name="object 49"/>
            <p:cNvSpPr/>
            <p:nvPr/>
          </p:nvSpPr>
          <p:spPr>
            <a:xfrm>
              <a:off x="5062320" y="3582897"/>
              <a:ext cx="798195" cy="0"/>
            </a:xfrm>
            <a:custGeom>
              <a:avLst/>
              <a:gdLst/>
              <a:ahLst/>
              <a:cxnLst/>
              <a:rect l="l" t="t" r="r" b="b"/>
              <a:pathLst>
                <a:path w="798195">
                  <a:moveTo>
                    <a:pt x="0" y="0"/>
                  </a:moveTo>
                  <a:lnTo>
                    <a:pt x="0" y="0"/>
                  </a:lnTo>
                  <a:lnTo>
                    <a:pt x="797772" y="0"/>
                  </a:lnTo>
                </a:path>
              </a:pathLst>
            </a:custGeom>
            <a:ln w="17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820948" y="3540069"/>
              <a:ext cx="121920" cy="86360"/>
            </a:xfrm>
            <a:custGeom>
              <a:avLst/>
              <a:gdLst/>
              <a:ahLst/>
              <a:cxnLst/>
              <a:rect l="l" t="t" r="r" b="b"/>
              <a:pathLst>
                <a:path w="121920" h="86360">
                  <a:moveTo>
                    <a:pt x="0" y="0"/>
                  </a:moveTo>
                  <a:lnTo>
                    <a:pt x="22097" y="42824"/>
                  </a:lnTo>
                  <a:lnTo>
                    <a:pt x="0" y="85831"/>
                  </a:lnTo>
                  <a:lnTo>
                    <a:pt x="121859" y="42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22070" y="3582897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0" y="0"/>
                  </a:lnTo>
                  <a:lnTo>
                    <a:pt x="761692" y="0"/>
                  </a:lnTo>
                </a:path>
              </a:pathLst>
            </a:custGeom>
            <a:ln w="17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845368" y="3540069"/>
              <a:ext cx="121285" cy="86360"/>
            </a:xfrm>
            <a:custGeom>
              <a:avLst/>
              <a:gdLst/>
              <a:ahLst/>
              <a:cxnLst/>
              <a:rect l="l" t="t" r="r" b="b"/>
              <a:pathLst>
                <a:path w="121284" h="86360">
                  <a:moveTo>
                    <a:pt x="0" y="0"/>
                  </a:moveTo>
                  <a:lnTo>
                    <a:pt x="21244" y="42824"/>
                  </a:lnTo>
                  <a:lnTo>
                    <a:pt x="0" y="85831"/>
                  </a:lnTo>
                  <a:lnTo>
                    <a:pt x="121127" y="42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507978" y="2561143"/>
              <a:ext cx="0" cy="570230"/>
            </a:xfrm>
            <a:custGeom>
              <a:avLst/>
              <a:gdLst/>
              <a:ahLst/>
              <a:cxnLst/>
              <a:rect l="l" t="t" r="r" b="b"/>
              <a:pathLst>
                <a:path h="570230">
                  <a:moveTo>
                    <a:pt x="0" y="0"/>
                  </a:moveTo>
                  <a:lnTo>
                    <a:pt x="0" y="569708"/>
                  </a:lnTo>
                </a:path>
              </a:pathLst>
            </a:custGeom>
            <a:ln w="628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431066" y="3081954"/>
              <a:ext cx="154305" cy="153035"/>
            </a:xfrm>
            <a:custGeom>
              <a:avLst/>
              <a:gdLst/>
              <a:ahLst/>
              <a:cxnLst/>
              <a:rect l="l" t="t" r="r" b="b"/>
              <a:pathLst>
                <a:path w="154304" h="153035">
                  <a:moveTo>
                    <a:pt x="154076" y="0"/>
                  </a:moveTo>
                  <a:lnTo>
                    <a:pt x="76931" y="27096"/>
                  </a:lnTo>
                  <a:lnTo>
                    <a:pt x="0" y="0"/>
                  </a:lnTo>
                  <a:lnTo>
                    <a:pt x="76931" y="152582"/>
                  </a:lnTo>
                  <a:lnTo>
                    <a:pt x="1540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941928" y="2085726"/>
            <a:ext cx="1132205" cy="475615"/>
          </a:xfrm>
          <a:prstGeom prst="rect">
            <a:avLst/>
          </a:prstGeom>
          <a:solidFill>
            <a:srgbClr val="CBEBCC"/>
          </a:solidFill>
          <a:ln w="17901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209550" marR="214629" indent="-4445">
              <a:lnSpc>
                <a:spcPct val="102200"/>
              </a:lnSpc>
              <a:spcBef>
                <a:spcPts val="470"/>
              </a:spcBef>
            </a:pPr>
            <a:r>
              <a:rPr sz="950" b="1" spc="45" dirty="0">
                <a:latin typeface="Arial"/>
                <a:cs typeface="Arial"/>
              </a:rPr>
              <a:t>Instruction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b="1" spc="40" dirty="0">
                <a:latin typeface="Arial"/>
                <a:cs typeface="Arial"/>
              </a:rPr>
              <a:t>interpreter</a:t>
            </a:r>
            <a:endParaRPr sz="9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008856" y="3475003"/>
            <a:ext cx="50355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spc="-10" dirty="0">
                <a:latin typeface="Arial"/>
                <a:cs typeface="Arial"/>
              </a:rPr>
              <a:t>Results</a:t>
            </a:r>
            <a:endParaRPr sz="9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748488" y="4137902"/>
            <a:ext cx="1595120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b="1" spc="60" dirty="0">
                <a:latin typeface="Arial"/>
                <a:cs typeface="Arial"/>
              </a:rPr>
              <a:t>(b)</a:t>
            </a:r>
            <a:r>
              <a:rPr sz="800" spc="45" dirty="0">
                <a:latin typeface="Times New Roman"/>
                <a:cs typeface="Times New Roman"/>
              </a:rPr>
              <a:t> </a:t>
            </a:r>
            <a:r>
              <a:rPr sz="800" b="1" spc="65" dirty="0">
                <a:latin typeface="Arial"/>
                <a:cs typeface="Arial"/>
              </a:rPr>
              <a:t>Programming</a:t>
            </a:r>
            <a:r>
              <a:rPr sz="800" spc="-65" dirty="0">
                <a:latin typeface="Times New Roman"/>
                <a:cs typeface="Times New Roman"/>
              </a:rPr>
              <a:t> </a:t>
            </a:r>
            <a:r>
              <a:rPr sz="800" b="1" spc="80" dirty="0">
                <a:latin typeface="Arial"/>
                <a:cs typeface="Arial"/>
              </a:rPr>
              <a:t>in</a:t>
            </a:r>
            <a:r>
              <a:rPr sz="800" spc="-10" dirty="0">
                <a:latin typeface="Times New Roman"/>
                <a:cs typeface="Times New Roman"/>
              </a:rPr>
              <a:t> </a:t>
            </a:r>
            <a:r>
              <a:rPr sz="800" b="1" spc="35" dirty="0">
                <a:latin typeface="Arial"/>
                <a:cs typeface="Arial"/>
              </a:rPr>
              <a:t>software</a:t>
            </a:r>
            <a:endParaRPr sz="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633021" y="5077187"/>
            <a:ext cx="3834129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0"/>
              </a:lnSpc>
            </a:pPr>
            <a:r>
              <a:rPr sz="1250" b="1" spc="80" dirty="0">
                <a:latin typeface="Arial"/>
                <a:cs typeface="Arial"/>
              </a:rPr>
              <a:t>Figure</a:t>
            </a:r>
            <a:r>
              <a:rPr sz="1250" spc="-105" dirty="0">
                <a:latin typeface="Times New Roman"/>
                <a:cs typeface="Times New Roman"/>
              </a:rPr>
              <a:t> </a:t>
            </a:r>
            <a:r>
              <a:rPr sz="1250" b="1" spc="55" dirty="0">
                <a:latin typeface="Arial"/>
                <a:cs typeface="Arial"/>
              </a:rPr>
              <a:t>3.1</a:t>
            </a:r>
            <a:r>
              <a:rPr sz="1250" spc="-15" dirty="0">
                <a:latin typeface="Times New Roman"/>
                <a:cs typeface="Times New Roman"/>
              </a:rPr>
              <a:t> </a:t>
            </a:r>
            <a:r>
              <a:rPr sz="1250" b="1" spc="110" dirty="0">
                <a:latin typeface="Arial"/>
                <a:cs typeface="Arial"/>
              </a:rPr>
              <a:t>Hardware</a:t>
            </a:r>
            <a:r>
              <a:rPr sz="1250" spc="-105" dirty="0">
                <a:latin typeface="Times New Roman"/>
                <a:cs typeface="Times New Roman"/>
              </a:rPr>
              <a:t> </a:t>
            </a:r>
            <a:r>
              <a:rPr sz="1250" b="1" spc="80" dirty="0">
                <a:latin typeface="Arial"/>
                <a:cs typeface="Arial"/>
              </a:rPr>
              <a:t>and</a:t>
            </a:r>
            <a:r>
              <a:rPr sz="1250" spc="-10" dirty="0">
                <a:latin typeface="Times New Roman"/>
                <a:cs typeface="Times New Roman"/>
              </a:rPr>
              <a:t> </a:t>
            </a:r>
            <a:r>
              <a:rPr sz="1250" b="1" spc="60" dirty="0">
                <a:latin typeface="Arial"/>
                <a:cs typeface="Arial"/>
              </a:rPr>
              <a:t>Software</a:t>
            </a:r>
            <a:r>
              <a:rPr sz="1250" spc="-105" dirty="0">
                <a:latin typeface="Times New Roman"/>
                <a:cs typeface="Times New Roman"/>
              </a:rPr>
              <a:t> </a:t>
            </a:r>
            <a:r>
              <a:rPr sz="1250" b="1" spc="45" dirty="0">
                <a:latin typeface="Arial"/>
                <a:cs typeface="Arial"/>
              </a:rPr>
              <a:t>Approaches</a:t>
            </a:r>
            <a:endParaRPr sz="12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17419" y="4393858"/>
            <a:ext cx="9027160" cy="2247265"/>
          </a:xfrm>
          <a:custGeom>
            <a:avLst/>
            <a:gdLst/>
            <a:ahLst/>
            <a:cxnLst/>
            <a:rect l="l" t="t" r="r" b="b"/>
            <a:pathLst>
              <a:path w="9027160" h="2247265">
                <a:moveTo>
                  <a:pt x="9026580" y="0"/>
                </a:moveTo>
                <a:lnTo>
                  <a:pt x="0" y="0"/>
                </a:lnTo>
                <a:lnTo>
                  <a:pt x="0" y="2246756"/>
                </a:lnTo>
                <a:lnTo>
                  <a:pt x="9026580" y="2246756"/>
                </a:lnTo>
                <a:lnTo>
                  <a:pt x="90265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96088" y="4418836"/>
            <a:ext cx="8867775" cy="2331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207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Suppose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construct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general-purpose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configuration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arithmetic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logic </a:t>
            </a:r>
            <a:r>
              <a:rPr sz="2000" dirty="0">
                <a:latin typeface="Times New Roman"/>
                <a:cs typeface="Times New Roman"/>
              </a:rPr>
              <a:t>functions.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various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original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customized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hardware,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accepts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(Figure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3.1a).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general-</a:t>
            </a:r>
            <a:r>
              <a:rPr sz="2000" spc="-10" dirty="0">
                <a:latin typeface="Times New Roman"/>
                <a:cs typeface="Times New Roman"/>
              </a:rPr>
              <a:t>purpose </a:t>
            </a:r>
            <a:r>
              <a:rPr sz="2000" dirty="0">
                <a:latin typeface="Times New Roman"/>
                <a:cs typeface="Times New Roman"/>
              </a:rPr>
              <a:t>hardware,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accepts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results.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Thus, </a:t>
            </a:r>
            <a:r>
              <a:rPr sz="2000" dirty="0">
                <a:latin typeface="Times New Roman"/>
                <a:cs typeface="Times New Roman"/>
              </a:rPr>
              <a:t>instead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rewiring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programmer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merely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needs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new set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signals.</a:t>
            </a:r>
            <a:endParaRPr sz="2000">
              <a:latin typeface="Times New Roman"/>
              <a:cs typeface="Times New Roman"/>
            </a:endParaRPr>
          </a:p>
          <a:p>
            <a:pPr marL="5123815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1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2016</a:t>
            </a:r>
            <a:r>
              <a:rPr sz="11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Pearson</a:t>
            </a:r>
            <a:r>
              <a:rPr sz="11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Education,</a:t>
            </a:r>
            <a:r>
              <a:rPr sz="11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Inc.,</a:t>
            </a:r>
            <a:r>
              <a:rPr sz="11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Hoboken, NJ.</a:t>
            </a:r>
            <a:r>
              <a:rPr sz="11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r>
              <a:rPr sz="11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rights</a:t>
            </a:r>
            <a:r>
              <a:rPr sz="11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reserved.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192023" y="330708"/>
            <a:ext cx="6438900" cy="756285"/>
            <a:chOff x="192023" y="330708"/>
            <a:chExt cx="6438900" cy="75628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59" y="333756"/>
              <a:ext cx="6379464" cy="6934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023" y="330708"/>
              <a:ext cx="1850136" cy="7559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5468" y="373380"/>
              <a:ext cx="6251448" cy="563879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23164" y="429508"/>
            <a:ext cx="1308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Rockwell"/>
                <a:cs typeface="Rockwell"/>
              </a:rPr>
              <a:t>Software</a:t>
            </a:r>
            <a:endParaRPr sz="2400">
              <a:latin typeface="Rockwell"/>
              <a:cs typeface="Rockwel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6802495" y="22860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1"/>
                </a:lnTo>
                <a:lnTo>
                  <a:pt x="2057399" y="2039111"/>
                </a:lnTo>
                <a:lnTo>
                  <a:pt x="2057399" y="0"/>
                </a:lnTo>
                <a:close/>
              </a:path>
            </a:pathLst>
          </a:custGeom>
          <a:solidFill>
            <a:srgbClr val="98986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92023" y="2357627"/>
            <a:ext cx="6438900" cy="756285"/>
            <a:chOff x="192023" y="2357627"/>
            <a:chExt cx="6438900" cy="75628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459" y="2360675"/>
              <a:ext cx="6379464" cy="69342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2023" y="2357627"/>
              <a:ext cx="3496055" cy="75590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5468" y="2400299"/>
              <a:ext cx="6251448" cy="56387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23164" y="889147"/>
            <a:ext cx="5948045" cy="35560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63525" indent="-171450">
              <a:lnSpc>
                <a:spcPct val="100000"/>
              </a:lnSpc>
              <a:spcBef>
                <a:spcPts val="280"/>
              </a:spcBef>
              <a:buChar char="•"/>
              <a:tabLst>
                <a:tab pos="263525" algn="l"/>
              </a:tabLst>
            </a:pPr>
            <a:r>
              <a:rPr sz="1900" dirty="0">
                <a:latin typeface="Rockwell"/>
                <a:cs typeface="Rockwell"/>
              </a:rPr>
              <a:t>A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sequence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of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codes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or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instructions</a:t>
            </a:r>
            <a:endParaRPr sz="1900">
              <a:latin typeface="Rockwell"/>
              <a:cs typeface="Rockwell"/>
            </a:endParaRPr>
          </a:p>
          <a:p>
            <a:pPr marL="263525" indent="-171450">
              <a:lnSpc>
                <a:spcPts val="2145"/>
              </a:lnSpc>
              <a:spcBef>
                <a:spcPts val="180"/>
              </a:spcBef>
              <a:buChar char="•"/>
              <a:tabLst>
                <a:tab pos="263525" algn="l"/>
              </a:tabLst>
            </a:pPr>
            <a:r>
              <a:rPr sz="1900" dirty="0">
                <a:latin typeface="Rockwell"/>
                <a:cs typeface="Rockwell"/>
              </a:rPr>
              <a:t>Part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of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the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Rockwell"/>
                <a:cs typeface="Rockwell"/>
              </a:rPr>
              <a:t>hardware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interprets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each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instruction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Rockwell"/>
                <a:cs typeface="Rockwell"/>
              </a:rPr>
              <a:t>and</a:t>
            </a:r>
            <a:endParaRPr sz="1900">
              <a:latin typeface="Rockwell"/>
              <a:cs typeface="Rockwell"/>
            </a:endParaRPr>
          </a:p>
          <a:p>
            <a:pPr marL="264160">
              <a:lnSpc>
                <a:spcPts val="2145"/>
              </a:lnSpc>
            </a:pPr>
            <a:r>
              <a:rPr sz="1900" spc="-10" dirty="0">
                <a:latin typeface="Rockwell"/>
                <a:cs typeface="Rockwell"/>
              </a:rPr>
              <a:t>generates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control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signals</a:t>
            </a:r>
            <a:endParaRPr sz="1900">
              <a:latin typeface="Rockwell"/>
              <a:cs typeface="Rockwell"/>
            </a:endParaRPr>
          </a:p>
          <a:p>
            <a:pPr marL="262890" marR="511809" indent="-171450">
              <a:lnSpc>
                <a:spcPts val="2000"/>
              </a:lnSpc>
              <a:spcBef>
                <a:spcPts val="480"/>
              </a:spcBef>
              <a:buChar char="•"/>
              <a:tabLst>
                <a:tab pos="264160" algn="l"/>
              </a:tabLst>
            </a:pPr>
            <a:r>
              <a:rPr sz="1900" spc="-10" dirty="0">
                <a:latin typeface="Rockwell"/>
                <a:cs typeface="Rockwell"/>
              </a:rPr>
              <a:t>Provide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a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new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sequence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of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codes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for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each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Rockwell"/>
                <a:cs typeface="Rockwell"/>
              </a:rPr>
              <a:t>new</a:t>
            </a:r>
            <a:r>
              <a:rPr sz="1900" spc="-25" dirty="0">
                <a:latin typeface="Times New Roman"/>
                <a:cs typeface="Times New Roman"/>
              </a:rPr>
              <a:t> 	</a:t>
            </a:r>
            <a:r>
              <a:rPr sz="1900" spc="-10" dirty="0">
                <a:latin typeface="Rockwell"/>
                <a:cs typeface="Rockwell"/>
              </a:rPr>
              <a:t>program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instead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of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rewiring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the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hardware</a:t>
            </a:r>
            <a:endParaRPr sz="1900">
              <a:latin typeface="Rockwell"/>
              <a:cs typeface="Rockwel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2400" b="1" dirty="0">
                <a:solidFill>
                  <a:srgbClr val="FFFFFF"/>
                </a:solidFill>
                <a:latin typeface="Rockwell"/>
                <a:cs typeface="Rockwell"/>
              </a:rPr>
              <a:t>Major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Rockwell"/>
                <a:cs typeface="Rockwell"/>
              </a:rPr>
              <a:t>components:</a:t>
            </a:r>
            <a:endParaRPr sz="2400">
              <a:latin typeface="Rockwell"/>
              <a:cs typeface="Rockwell"/>
            </a:endParaRPr>
          </a:p>
          <a:p>
            <a:pPr marL="263525" indent="-171450">
              <a:lnSpc>
                <a:spcPct val="100000"/>
              </a:lnSpc>
              <a:spcBef>
                <a:spcPts val="919"/>
              </a:spcBef>
              <a:buChar char="•"/>
              <a:tabLst>
                <a:tab pos="263525" algn="l"/>
              </a:tabLst>
            </a:pPr>
            <a:r>
              <a:rPr sz="1900" spc="-25" dirty="0">
                <a:latin typeface="Rockwell"/>
                <a:cs typeface="Rockwell"/>
              </a:rPr>
              <a:t>CPU</a:t>
            </a:r>
            <a:endParaRPr sz="1900">
              <a:latin typeface="Rockwell"/>
              <a:cs typeface="Rockwell"/>
            </a:endParaRPr>
          </a:p>
          <a:p>
            <a:pPr marL="434340" lvl="1" indent="-170180">
              <a:lnSpc>
                <a:spcPct val="100000"/>
              </a:lnSpc>
              <a:spcBef>
                <a:spcPts val="185"/>
              </a:spcBef>
              <a:buChar char="•"/>
              <a:tabLst>
                <a:tab pos="434340" algn="l"/>
              </a:tabLst>
            </a:pPr>
            <a:r>
              <a:rPr sz="1900" dirty="0">
                <a:latin typeface="Rockwell"/>
                <a:cs typeface="Rockwell"/>
              </a:rPr>
              <a:t>Instruction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interpreter</a:t>
            </a:r>
            <a:endParaRPr sz="1900">
              <a:latin typeface="Rockwell"/>
              <a:cs typeface="Rockwell"/>
            </a:endParaRPr>
          </a:p>
          <a:p>
            <a:pPr marL="434975" marR="179070" lvl="1" indent="-170815">
              <a:lnSpc>
                <a:spcPts val="2020"/>
              </a:lnSpc>
              <a:spcBef>
                <a:spcPts val="450"/>
              </a:spcBef>
              <a:buChar char="•"/>
              <a:tabLst>
                <a:tab pos="434975" algn="l"/>
              </a:tabLst>
            </a:pPr>
            <a:r>
              <a:rPr sz="1900" dirty="0">
                <a:latin typeface="Rockwell"/>
                <a:cs typeface="Rockwell"/>
              </a:rPr>
              <a:t>Module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of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Rockwell"/>
                <a:cs typeface="Rockwell"/>
              </a:rPr>
              <a:t>general-</a:t>
            </a:r>
            <a:r>
              <a:rPr sz="1900" dirty="0">
                <a:latin typeface="Rockwell"/>
                <a:cs typeface="Rockwell"/>
              </a:rPr>
              <a:t>purpose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arithmetic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and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logic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functions</a:t>
            </a:r>
            <a:endParaRPr sz="1900">
              <a:latin typeface="Rockwell"/>
              <a:cs typeface="Rockwell"/>
            </a:endParaRPr>
          </a:p>
          <a:p>
            <a:pPr marL="263525" indent="-171450">
              <a:lnSpc>
                <a:spcPct val="100000"/>
              </a:lnSpc>
              <a:spcBef>
                <a:spcPts val="140"/>
              </a:spcBef>
              <a:buChar char="•"/>
              <a:tabLst>
                <a:tab pos="263525" algn="l"/>
              </a:tabLst>
            </a:pPr>
            <a:r>
              <a:rPr sz="1900" dirty="0">
                <a:latin typeface="Rockwell"/>
                <a:cs typeface="Rockwell"/>
              </a:rPr>
              <a:t>I/O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Components</a:t>
            </a:r>
            <a:endParaRPr sz="1900">
              <a:latin typeface="Rockwell"/>
              <a:cs typeface="Rockwel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22592" y="937260"/>
            <a:ext cx="1600200" cy="67970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802495" y="228600"/>
            <a:ext cx="2057400" cy="203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2400">
              <a:latin typeface="Times New Roman"/>
              <a:cs typeface="Times New Roman"/>
            </a:endParaRPr>
          </a:p>
          <a:p>
            <a:pPr marL="410845">
              <a:lnSpc>
                <a:spcPct val="100000"/>
              </a:lnSpc>
            </a:pPr>
            <a:r>
              <a:rPr sz="2400" spc="-10" dirty="0">
                <a:solidFill>
                  <a:srgbClr val="320E42"/>
                </a:solidFill>
                <a:latin typeface="Rockwell"/>
                <a:cs typeface="Rockwell"/>
              </a:rPr>
              <a:t>Software</a:t>
            </a:r>
            <a:endParaRPr sz="240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23888" y="2377440"/>
            <a:ext cx="2199640" cy="2039620"/>
            <a:chOff x="6723888" y="2377440"/>
            <a:chExt cx="2199640" cy="2039620"/>
          </a:xfrm>
        </p:grpSpPr>
        <p:sp>
          <p:nvSpPr>
            <p:cNvPr id="4" name="object 4"/>
            <p:cNvSpPr/>
            <p:nvPr/>
          </p:nvSpPr>
          <p:spPr>
            <a:xfrm>
              <a:off x="6802495" y="2377440"/>
              <a:ext cx="2057400" cy="2039620"/>
            </a:xfrm>
            <a:custGeom>
              <a:avLst/>
              <a:gdLst/>
              <a:ahLst/>
              <a:cxnLst/>
              <a:rect l="l" t="t" r="r" b="b"/>
              <a:pathLst>
                <a:path w="2057400" h="2039620">
                  <a:moveTo>
                    <a:pt x="2057399" y="0"/>
                  </a:moveTo>
                  <a:lnTo>
                    <a:pt x="0" y="0"/>
                  </a:lnTo>
                  <a:lnTo>
                    <a:pt x="0" y="2039111"/>
                  </a:lnTo>
                  <a:lnTo>
                    <a:pt x="2057399" y="2039111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3780" y="2857500"/>
              <a:ext cx="954024" cy="6797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23888" y="3223260"/>
              <a:ext cx="2199131" cy="67970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802495" y="2377440"/>
            <a:ext cx="2057400" cy="2039620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20"/>
              </a:spcBef>
            </a:pPr>
            <a:endParaRPr sz="2400">
              <a:latin typeface="Times New Roman"/>
              <a:cs typeface="Times New Roman"/>
            </a:endParaRPr>
          </a:p>
          <a:p>
            <a:pPr marL="111760" marR="144780" indent="659765">
              <a:lnSpc>
                <a:spcPct val="100000"/>
              </a:lnSpc>
            </a:pPr>
            <a:r>
              <a:rPr sz="2400" spc="-25" dirty="0">
                <a:solidFill>
                  <a:srgbClr val="FFFFFF"/>
                </a:solidFill>
                <a:latin typeface="Rockwell"/>
                <a:cs typeface="Rockwell"/>
              </a:rPr>
              <a:t>I/O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Rockwell"/>
                <a:cs typeface="Rockwell"/>
              </a:rPr>
              <a:t>Components</a:t>
            </a:r>
            <a:endParaRPr sz="2400">
              <a:latin typeface="Rockwell"/>
              <a:cs typeface="Rockwel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650" y="4610479"/>
            <a:ext cx="19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4382" y="4724400"/>
            <a:ext cx="429018" cy="38099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74934" y="4421256"/>
            <a:ext cx="5493385" cy="178181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270"/>
              </a:spcBef>
              <a:buChar char="•"/>
              <a:tabLst>
                <a:tab pos="182880" algn="l"/>
              </a:tabLst>
            </a:pPr>
            <a:r>
              <a:rPr sz="1900" dirty="0">
                <a:latin typeface="Rockwell"/>
                <a:cs typeface="Rockwell"/>
              </a:rPr>
              <a:t>Input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module</a:t>
            </a:r>
            <a:endParaRPr sz="1900">
              <a:latin typeface="Rockwell"/>
              <a:cs typeface="Rockwell"/>
            </a:endParaRPr>
          </a:p>
          <a:p>
            <a:pPr marL="354330" marR="5080" lvl="1" indent="-171450">
              <a:lnSpc>
                <a:spcPct val="88200"/>
              </a:lnSpc>
              <a:spcBef>
                <a:spcPts val="434"/>
              </a:spcBef>
              <a:buChar char="•"/>
              <a:tabLst>
                <a:tab pos="355600" algn="l"/>
              </a:tabLst>
            </a:pPr>
            <a:r>
              <a:rPr sz="1900" dirty="0">
                <a:latin typeface="Rockwell"/>
                <a:cs typeface="Rockwell"/>
              </a:rPr>
              <a:t>Contains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basic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components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for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accepting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Rockwell"/>
                <a:cs typeface="Rockwell"/>
              </a:rPr>
              <a:t>data</a:t>
            </a:r>
            <a:r>
              <a:rPr sz="1900" spc="-20" dirty="0">
                <a:latin typeface="Times New Roman"/>
                <a:cs typeface="Times New Roman"/>
              </a:rPr>
              <a:t> 	</a:t>
            </a:r>
            <a:r>
              <a:rPr sz="1900" dirty="0">
                <a:latin typeface="Rockwell"/>
                <a:cs typeface="Rockwell"/>
              </a:rPr>
              <a:t>and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instructions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and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converting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them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into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Rockwell"/>
                <a:cs typeface="Rockwell"/>
              </a:rPr>
              <a:t>an</a:t>
            </a:r>
            <a:r>
              <a:rPr sz="1900" spc="-25" dirty="0">
                <a:latin typeface="Times New Roman"/>
                <a:cs typeface="Times New Roman"/>
              </a:rPr>
              <a:t> 	</a:t>
            </a:r>
            <a:r>
              <a:rPr sz="1900" dirty="0">
                <a:latin typeface="Rockwell"/>
                <a:cs typeface="Rockwell"/>
              </a:rPr>
              <a:t>internal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form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of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signals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usable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by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system</a:t>
            </a:r>
            <a:endParaRPr sz="1900">
              <a:latin typeface="Rockwell"/>
              <a:cs typeface="Rockwell"/>
            </a:endParaRPr>
          </a:p>
          <a:p>
            <a:pPr marL="182880" indent="-170180">
              <a:lnSpc>
                <a:spcPct val="100000"/>
              </a:lnSpc>
              <a:spcBef>
                <a:spcPts val="170"/>
              </a:spcBef>
              <a:buChar char="•"/>
              <a:tabLst>
                <a:tab pos="182880" algn="l"/>
              </a:tabLst>
            </a:pPr>
            <a:r>
              <a:rPr sz="1900" dirty="0">
                <a:latin typeface="Rockwell"/>
                <a:cs typeface="Rockwell"/>
              </a:rPr>
              <a:t>Output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module</a:t>
            </a:r>
            <a:endParaRPr sz="1900">
              <a:latin typeface="Rockwell"/>
              <a:cs typeface="Rockwell"/>
            </a:endParaRPr>
          </a:p>
          <a:p>
            <a:pPr marL="354330" lvl="1" indent="-171450">
              <a:lnSpc>
                <a:spcPct val="100000"/>
              </a:lnSpc>
              <a:spcBef>
                <a:spcPts val="180"/>
              </a:spcBef>
              <a:buChar char="•"/>
              <a:tabLst>
                <a:tab pos="354330" algn="l"/>
              </a:tabLst>
            </a:pPr>
            <a:r>
              <a:rPr sz="1900" dirty="0">
                <a:latin typeface="Rockwell"/>
                <a:cs typeface="Rockwell"/>
              </a:rPr>
              <a:t>Means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of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Rockwell"/>
                <a:cs typeface="Rockwell"/>
              </a:rPr>
              <a:t>reporting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Rockwell"/>
                <a:cs typeface="Rockwell"/>
              </a:rPr>
              <a:t>results</a:t>
            </a:r>
            <a:endParaRPr sz="1900">
              <a:latin typeface="Rockwell"/>
              <a:cs typeface="Rockwel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56476" y="4722876"/>
            <a:ext cx="1930907" cy="1911096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02495" y="22860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1"/>
                </a:lnTo>
                <a:lnTo>
                  <a:pt x="2057399" y="2039111"/>
                </a:lnTo>
                <a:lnTo>
                  <a:pt x="2057399" y="0"/>
                </a:lnTo>
                <a:close/>
              </a:path>
            </a:pathLst>
          </a:custGeom>
          <a:solidFill>
            <a:srgbClr val="98986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9440" y="937260"/>
            <a:ext cx="1748027" cy="67970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02495" y="228600"/>
            <a:ext cx="2057400" cy="203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2400">
              <a:latin typeface="Times New Roman"/>
              <a:cs typeface="Times New Roman"/>
            </a:endParaRPr>
          </a:p>
          <a:p>
            <a:pPr marL="337185">
              <a:lnSpc>
                <a:spcPct val="100000"/>
              </a:lnSpc>
            </a:pPr>
            <a:r>
              <a:rPr sz="2400" spc="-10" dirty="0">
                <a:solidFill>
                  <a:srgbClr val="320E42"/>
                </a:solidFill>
                <a:latin typeface="Rockwell"/>
                <a:cs typeface="Rockwell"/>
              </a:rPr>
              <a:t>MEMORY</a:t>
            </a:r>
            <a:endParaRPr sz="2400">
              <a:latin typeface="Rockwell"/>
              <a:cs typeface="Rockwel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02495" y="2377440"/>
            <a:ext cx="2057400" cy="2039620"/>
            <a:chOff x="6802495" y="2377440"/>
            <a:chExt cx="2057400" cy="2039620"/>
          </a:xfrm>
        </p:grpSpPr>
        <p:sp>
          <p:nvSpPr>
            <p:cNvPr id="5" name="object 5"/>
            <p:cNvSpPr/>
            <p:nvPr/>
          </p:nvSpPr>
          <p:spPr>
            <a:xfrm>
              <a:off x="6802495" y="2377440"/>
              <a:ext cx="2057400" cy="2039620"/>
            </a:xfrm>
            <a:custGeom>
              <a:avLst/>
              <a:gdLst/>
              <a:ahLst/>
              <a:cxnLst/>
              <a:rect l="l" t="t" r="r" b="b"/>
              <a:pathLst>
                <a:path w="2057400" h="2039620">
                  <a:moveTo>
                    <a:pt x="2057399" y="0"/>
                  </a:moveTo>
                  <a:lnTo>
                    <a:pt x="0" y="0"/>
                  </a:lnTo>
                  <a:lnTo>
                    <a:pt x="0" y="2039111"/>
                  </a:lnTo>
                  <a:lnTo>
                    <a:pt x="2057399" y="2039111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7767" y="2994660"/>
              <a:ext cx="1069848" cy="67970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03204" y="4648224"/>
            <a:ext cx="330200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>
              <a:lnSpc>
                <a:spcPts val="2685"/>
              </a:lnSpc>
            </a:pPr>
            <a:r>
              <a:rPr sz="24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5863" y="259079"/>
            <a:ext cx="6111240" cy="6111240"/>
            <a:chOff x="435863" y="259079"/>
            <a:chExt cx="6111240" cy="611124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5863" y="259079"/>
              <a:ext cx="6111240" cy="611124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4443" y="303275"/>
              <a:ext cx="5974080" cy="59725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06504" y="304038"/>
              <a:ext cx="5970905" cy="5970905"/>
            </a:xfrm>
            <a:custGeom>
              <a:avLst/>
              <a:gdLst/>
              <a:ahLst/>
              <a:cxnLst/>
              <a:rect l="l" t="t" r="r" b="b"/>
              <a:pathLst>
                <a:path w="5970905" h="5970905">
                  <a:moveTo>
                    <a:pt x="0" y="2985272"/>
                  </a:moveTo>
                  <a:lnTo>
                    <a:pt x="298524" y="2746491"/>
                  </a:lnTo>
                  <a:lnTo>
                    <a:pt x="298524" y="2925561"/>
                  </a:lnTo>
                  <a:lnTo>
                    <a:pt x="2925543" y="2925561"/>
                  </a:lnTo>
                  <a:lnTo>
                    <a:pt x="2925543" y="298582"/>
                  </a:lnTo>
                  <a:lnTo>
                    <a:pt x="2746473" y="298582"/>
                  </a:lnTo>
                  <a:lnTo>
                    <a:pt x="2985223" y="0"/>
                  </a:lnTo>
                  <a:lnTo>
                    <a:pt x="3224125" y="298582"/>
                  </a:lnTo>
                  <a:lnTo>
                    <a:pt x="3044933" y="298582"/>
                  </a:lnTo>
                  <a:lnTo>
                    <a:pt x="3044933" y="2925561"/>
                  </a:lnTo>
                  <a:lnTo>
                    <a:pt x="5671913" y="2925561"/>
                  </a:lnTo>
                  <a:lnTo>
                    <a:pt x="5671913" y="2746491"/>
                  </a:lnTo>
                  <a:lnTo>
                    <a:pt x="5970495" y="2985272"/>
                  </a:lnTo>
                  <a:lnTo>
                    <a:pt x="5671913" y="3224021"/>
                  </a:lnTo>
                  <a:lnTo>
                    <a:pt x="5671913" y="3044951"/>
                  </a:lnTo>
                  <a:lnTo>
                    <a:pt x="3044933" y="3044951"/>
                  </a:lnTo>
                  <a:lnTo>
                    <a:pt x="3044933" y="5671983"/>
                  </a:lnTo>
                  <a:lnTo>
                    <a:pt x="3224125" y="5671983"/>
                  </a:lnTo>
                  <a:lnTo>
                    <a:pt x="2985223" y="5970507"/>
                  </a:lnTo>
                  <a:lnTo>
                    <a:pt x="2746473" y="5671983"/>
                  </a:lnTo>
                  <a:lnTo>
                    <a:pt x="2925543" y="5671983"/>
                  </a:lnTo>
                  <a:lnTo>
                    <a:pt x="2925543" y="3044951"/>
                  </a:lnTo>
                  <a:lnTo>
                    <a:pt x="298524" y="3044951"/>
                  </a:lnTo>
                  <a:lnTo>
                    <a:pt x="298524" y="3224021"/>
                  </a:lnTo>
                  <a:lnTo>
                    <a:pt x="0" y="2985272"/>
                  </a:lnTo>
                  <a:close/>
                </a:path>
              </a:pathLst>
            </a:custGeom>
            <a:ln w="9524">
              <a:solidFill>
                <a:srgbClr val="9898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9055" y="652271"/>
              <a:ext cx="2519172" cy="2519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2583" y="733043"/>
              <a:ext cx="2439924" cy="21793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3063" y="690371"/>
              <a:ext cx="2391156" cy="23911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6591" y="771143"/>
              <a:ext cx="1452372" cy="5852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6591" y="1053084"/>
              <a:ext cx="1386840" cy="58521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6591" y="1335024"/>
              <a:ext cx="2161032" cy="58521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78794" y="830397"/>
            <a:ext cx="1997075" cy="18802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167005">
              <a:lnSpc>
                <a:spcPts val="2220"/>
              </a:lnSpc>
              <a:spcBef>
                <a:spcPts val="425"/>
              </a:spcBef>
            </a:pP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Memory</a:t>
            </a:r>
            <a:r>
              <a:rPr sz="21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address</a:t>
            </a:r>
            <a:r>
              <a:rPr sz="21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register</a:t>
            </a:r>
            <a:r>
              <a:rPr sz="21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(MAR)</a:t>
            </a:r>
            <a:endParaRPr sz="2100">
              <a:latin typeface="Rockwell"/>
              <a:cs typeface="Rockwell"/>
            </a:endParaRPr>
          </a:p>
          <a:p>
            <a:pPr marL="184785" marR="5080" indent="-172720">
              <a:lnSpc>
                <a:spcPct val="88200"/>
              </a:lnSpc>
              <a:spcBef>
                <a:spcPts val="844"/>
              </a:spcBef>
              <a:buChar char="•"/>
              <a:tabLst>
                <a:tab pos="184785" algn="l"/>
              </a:tabLst>
            </a:pP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Specifies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address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in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memory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for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next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read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Rockwell"/>
                <a:cs typeface="Rockwell"/>
              </a:rPr>
              <a:t>or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write</a:t>
            </a:r>
            <a:endParaRPr sz="1600">
              <a:latin typeface="Rockwell"/>
              <a:cs typeface="Rockwel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634740" y="652272"/>
            <a:ext cx="2519680" cy="2519680"/>
            <a:chOff x="3634740" y="652272"/>
            <a:chExt cx="2519680" cy="2519680"/>
          </a:xfrm>
        </p:grpSpPr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34740" y="652272"/>
              <a:ext cx="2519171" cy="251917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69792" y="733044"/>
              <a:ext cx="2395728" cy="211226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98748" y="690372"/>
              <a:ext cx="2391155" cy="239115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33800" y="771144"/>
              <a:ext cx="2267712" cy="5852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33800" y="1053084"/>
              <a:ext cx="2130552" cy="58521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885441" y="830397"/>
            <a:ext cx="1936114" cy="181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7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Memory</a:t>
            </a:r>
            <a:r>
              <a:rPr sz="21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buffer</a:t>
            </a:r>
            <a:endParaRPr sz="2100">
              <a:latin typeface="Rockwell"/>
              <a:cs typeface="Rockwell"/>
            </a:endParaRPr>
          </a:p>
          <a:p>
            <a:pPr marL="12700">
              <a:lnSpc>
                <a:spcPts val="2370"/>
              </a:lnSpc>
            </a:pP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register</a:t>
            </a:r>
            <a:r>
              <a:rPr sz="21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(MBR)</a:t>
            </a:r>
            <a:endParaRPr sz="2100">
              <a:latin typeface="Rockwell"/>
              <a:cs typeface="Rockwell"/>
            </a:endParaRPr>
          </a:p>
          <a:p>
            <a:pPr marL="184785" marR="5080" indent="-172720">
              <a:lnSpc>
                <a:spcPct val="88200"/>
              </a:lnSpc>
              <a:spcBef>
                <a:spcPts val="869"/>
              </a:spcBef>
              <a:buChar char="•"/>
              <a:tabLst>
                <a:tab pos="184785" algn="l"/>
              </a:tabLst>
            </a:pP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Contains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to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be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written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Rockwell"/>
                <a:cs typeface="Rockwell"/>
              </a:rPr>
              <a:t>into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memory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Rockwell"/>
                <a:cs typeface="Rockwell"/>
              </a:rPr>
              <a:t>or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Rockwell"/>
                <a:cs typeface="Rockwell"/>
              </a:rPr>
              <a:t>receives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read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from</a:t>
            </a:r>
            <a:r>
              <a:rPr sz="16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memory</a:t>
            </a:r>
            <a:endParaRPr sz="1600">
              <a:latin typeface="Rockwell"/>
              <a:cs typeface="Rockwel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02495" y="2377440"/>
            <a:ext cx="2057400" cy="203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Times New Roman"/>
              <a:cs typeface="Times New Roman"/>
            </a:endParaRPr>
          </a:p>
          <a:p>
            <a:pPr marL="675640">
              <a:lnSpc>
                <a:spcPct val="100000"/>
              </a:lnSpc>
            </a:pPr>
            <a:r>
              <a:rPr sz="2400" spc="-25" dirty="0">
                <a:solidFill>
                  <a:srgbClr val="FFFFFF"/>
                </a:solidFill>
                <a:latin typeface="Rockwell"/>
                <a:cs typeface="Rockwell"/>
              </a:rPr>
              <a:t>MAR</a:t>
            </a:r>
            <a:endParaRPr sz="2400">
              <a:latin typeface="Rockwell"/>
              <a:cs typeface="Rockwel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3204" y="4648224"/>
            <a:ext cx="330195" cy="571725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829055" y="3457955"/>
            <a:ext cx="2555875" cy="2519680"/>
            <a:chOff x="829055" y="3457955"/>
            <a:chExt cx="2555875" cy="2519680"/>
          </a:xfrm>
        </p:grpSpPr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9055" y="3457955"/>
              <a:ext cx="2519172" cy="251917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2583" y="3538727"/>
              <a:ext cx="2522219" cy="168249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93063" y="3496055"/>
              <a:ext cx="2391156" cy="239268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26591" y="3578351"/>
              <a:ext cx="1868424" cy="5852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26591" y="3860291"/>
              <a:ext cx="2327148" cy="585215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078794" y="3637277"/>
            <a:ext cx="2000885" cy="13830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220"/>
              </a:lnSpc>
              <a:spcBef>
                <a:spcPts val="425"/>
              </a:spcBef>
            </a:pP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I/O</a:t>
            </a:r>
            <a:r>
              <a:rPr sz="21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address</a:t>
            </a:r>
            <a:r>
              <a:rPr sz="21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register</a:t>
            </a:r>
            <a:r>
              <a:rPr sz="21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Rockwell"/>
                <a:cs typeface="Rockwell"/>
              </a:rPr>
              <a:t>(I/OAR)</a:t>
            </a:r>
            <a:endParaRPr sz="2100">
              <a:latin typeface="Rockwell"/>
              <a:cs typeface="Rockwell"/>
            </a:endParaRPr>
          </a:p>
          <a:p>
            <a:pPr marL="184785" marR="527685" indent="-172720">
              <a:lnSpc>
                <a:spcPts val="1689"/>
              </a:lnSpc>
              <a:spcBef>
                <a:spcPts val="865"/>
              </a:spcBef>
              <a:buChar char="•"/>
              <a:tabLst>
                <a:tab pos="184785" algn="l"/>
              </a:tabLst>
            </a:pP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Specifies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particular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Rockwell"/>
                <a:cs typeface="Rockwell"/>
              </a:rPr>
              <a:t>I/O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device</a:t>
            </a:r>
            <a:endParaRPr sz="1600">
              <a:latin typeface="Rockwell"/>
              <a:cs typeface="Rockwel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634740" y="3457955"/>
            <a:ext cx="2542540" cy="2519680"/>
            <a:chOff x="3634740" y="3457955"/>
            <a:chExt cx="2542540" cy="2519680"/>
          </a:xfrm>
        </p:grpSpPr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634740" y="3457955"/>
              <a:ext cx="2519171" cy="251917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669792" y="3538727"/>
              <a:ext cx="2506980" cy="21122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698748" y="3496055"/>
              <a:ext cx="2391155" cy="239268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33800" y="3578351"/>
              <a:ext cx="1647444" cy="58521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33800" y="3860291"/>
              <a:ext cx="2311907" cy="585215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3885441" y="3637277"/>
            <a:ext cx="1985645" cy="18129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220"/>
              </a:lnSpc>
              <a:spcBef>
                <a:spcPts val="425"/>
              </a:spcBef>
            </a:pP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I/O</a:t>
            </a:r>
            <a:r>
              <a:rPr sz="21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buffer</a:t>
            </a:r>
            <a:r>
              <a:rPr sz="21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register</a:t>
            </a:r>
            <a:r>
              <a:rPr sz="21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(I/OBR)</a:t>
            </a:r>
            <a:endParaRPr sz="2100">
              <a:latin typeface="Rockwell"/>
              <a:cs typeface="Rockwell"/>
            </a:endParaRPr>
          </a:p>
          <a:p>
            <a:pPr marL="184785" marR="199390" indent="-172720">
              <a:lnSpc>
                <a:spcPts val="1689"/>
              </a:lnSpc>
              <a:spcBef>
                <a:spcPts val="865"/>
              </a:spcBef>
              <a:buChar char="•"/>
              <a:tabLst>
                <a:tab pos="184785" algn="l"/>
              </a:tabLst>
            </a:pP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Used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for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exchange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between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an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Rockwell"/>
                <a:cs typeface="Rockwell"/>
              </a:rPr>
              <a:t>I/O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module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and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Rockwell"/>
                <a:cs typeface="Rockwell"/>
              </a:rPr>
              <a:t>CPU</a:t>
            </a:r>
            <a:endParaRPr sz="1600">
              <a:latin typeface="Rockwell"/>
              <a:cs typeface="Rockwel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781800" y="4648200"/>
            <a:ext cx="2057400" cy="1905000"/>
            <a:chOff x="6781800" y="4648200"/>
            <a:chExt cx="2057400" cy="1905000"/>
          </a:xfrm>
        </p:grpSpPr>
        <p:sp>
          <p:nvSpPr>
            <p:cNvPr id="45" name="object 45"/>
            <p:cNvSpPr/>
            <p:nvPr/>
          </p:nvSpPr>
          <p:spPr>
            <a:xfrm>
              <a:off x="6781800" y="4648200"/>
              <a:ext cx="2057400" cy="1905000"/>
            </a:xfrm>
            <a:custGeom>
              <a:avLst/>
              <a:gdLst/>
              <a:ahLst/>
              <a:cxnLst/>
              <a:rect l="l" t="t" r="r" b="b"/>
              <a:pathLst>
                <a:path w="2057400" h="1905000">
                  <a:moveTo>
                    <a:pt x="2057399" y="0"/>
                  </a:moveTo>
                  <a:lnTo>
                    <a:pt x="0" y="0"/>
                  </a:lnTo>
                  <a:lnTo>
                    <a:pt x="0" y="1904999"/>
                  </a:lnTo>
                  <a:lnTo>
                    <a:pt x="2057399" y="1904999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656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306056" y="5280659"/>
              <a:ext cx="1034796" cy="67970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6781800" y="4648200"/>
            <a:ext cx="2057400" cy="190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4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400" spc="-25" dirty="0">
                <a:solidFill>
                  <a:srgbClr val="320E42"/>
                </a:solidFill>
                <a:latin typeface="Rockwell"/>
                <a:cs typeface="Rockwell"/>
              </a:rPr>
              <a:t>MBR</a:t>
            </a:r>
            <a:endParaRPr sz="2400">
              <a:latin typeface="Rockwell"/>
              <a:cs typeface="Rockwel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2443443" y="74094"/>
            <a:ext cx="44386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25" dirty="0">
                <a:latin typeface="Times New Roman"/>
                <a:cs typeface="Times New Roman"/>
              </a:rPr>
              <a:t>CPU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2807" y="74094"/>
            <a:ext cx="12833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Main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Memory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463719" y="391881"/>
            <a:ext cx="2447290" cy="2446655"/>
          </a:xfrm>
          <a:custGeom>
            <a:avLst/>
            <a:gdLst/>
            <a:ahLst/>
            <a:cxnLst/>
            <a:rect l="l" t="t" r="r" b="b"/>
            <a:pathLst>
              <a:path w="2447290" h="2446655">
                <a:moveTo>
                  <a:pt x="2447077" y="0"/>
                </a:moveTo>
                <a:lnTo>
                  <a:pt x="0" y="0"/>
                </a:lnTo>
                <a:lnTo>
                  <a:pt x="0" y="2446324"/>
                </a:lnTo>
                <a:lnTo>
                  <a:pt x="2447077" y="2446324"/>
                </a:lnTo>
                <a:lnTo>
                  <a:pt x="2447077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56255" y="463989"/>
            <a:ext cx="64643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System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67648" y="788425"/>
            <a:ext cx="815975" cy="306070"/>
          </a:xfrm>
          <a:prstGeom prst="rect">
            <a:avLst/>
          </a:prstGeom>
          <a:solidFill>
            <a:srgbClr val="FEFEFE"/>
          </a:solidFill>
          <a:ln w="10953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Times New Roman"/>
                <a:cs typeface="Times New Roman"/>
              </a:rPr>
              <a:t>PC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9023" y="788425"/>
            <a:ext cx="815975" cy="306070"/>
          </a:xfrm>
          <a:prstGeom prst="rect">
            <a:avLst/>
          </a:prstGeom>
          <a:solidFill>
            <a:srgbClr val="FEFEFE"/>
          </a:solidFill>
          <a:ln w="10953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Times New Roman"/>
                <a:cs typeface="Times New Roman"/>
              </a:rPr>
              <a:t>MAR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3238" y="708603"/>
            <a:ext cx="35433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25" dirty="0">
                <a:latin typeface="Times New Roman"/>
                <a:cs typeface="Times New Roman"/>
              </a:rPr>
              <a:t>Bus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05366" y="359540"/>
            <a:ext cx="93980" cy="51498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b="1" spc="-50" dirty="0">
                <a:latin typeface="Times New Roman"/>
                <a:cs typeface="Times New Roman"/>
              </a:rPr>
              <a:t>0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50" b="1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50" b="1" spc="-50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7648" y="1411167"/>
            <a:ext cx="815975" cy="306070"/>
          </a:xfrm>
          <a:prstGeom prst="rect">
            <a:avLst/>
          </a:prstGeom>
          <a:solidFill>
            <a:srgbClr val="FEFEFE"/>
          </a:solidFill>
          <a:ln w="10953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R="14604" algn="ctr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Times New Roman"/>
                <a:cs typeface="Times New Roman"/>
              </a:rPr>
              <a:t>IR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9023" y="1411167"/>
            <a:ext cx="815975" cy="306070"/>
          </a:xfrm>
          <a:prstGeom prst="rect">
            <a:avLst/>
          </a:prstGeom>
          <a:solidFill>
            <a:srgbClr val="FEFEFE"/>
          </a:solidFill>
          <a:ln w="10953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Times New Roman"/>
                <a:cs typeface="Times New Roman"/>
              </a:rPr>
              <a:t>MBR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9023" y="1886910"/>
            <a:ext cx="815975" cy="306070"/>
          </a:xfrm>
          <a:prstGeom prst="rect">
            <a:avLst/>
          </a:prstGeom>
          <a:solidFill>
            <a:srgbClr val="FEFEFE"/>
          </a:solidFill>
          <a:ln w="10953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I/O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AR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69023" y="2362440"/>
            <a:ext cx="815975" cy="306070"/>
          </a:xfrm>
          <a:prstGeom prst="rect">
            <a:avLst/>
          </a:prstGeom>
          <a:solidFill>
            <a:srgbClr val="FEFEFE"/>
          </a:solidFill>
          <a:ln w="10953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I/O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BR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66169" y="3233923"/>
            <a:ext cx="10356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I/O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Module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05366" y="3319889"/>
            <a:ext cx="302895" cy="351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b="1" i="1" dirty="0">
                <a:latin typeface="Times New Roman"/>
                <a:cs typeface="Times New Roman"/>
              </a:rPr>
              <a:t>n </a:t>
            </a:r>
            <a:r>
              <a:rPr sz="1050" b="1" dirty="0">
                <a:latin typeface="Times New Roman"/>
                <a:cs typeface="Times New Roman"/>
              </a:rPr>
              <a:t>–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050" b="1" i="1" dirty="0">
                <a:latin typeface="Times New Roman"/>
                <a:cs typeface="Times New Roman"/>
              </a:rPr>
              <a:t>n </a:t>
            </a:r>
            <a:r>
              <a:rPr sz="1050" b="1" dirty="0">
                <a:latin typeface="Times New Roman"/>
                <a:cs typeface="Times New Roman"/>
              </a:rPr>
              <a:t>–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5418525" y="380770"/>
          <a:ext cx="1631314" cy="3260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1314"/>
              </a:tblGrid>
              <a:tr h="567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42545" algn="ctr">
                        <a:lnSpc>
                          <a:spcPts val="119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Instruction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42545" algn="ctr">
                        <a:lnSpc>
                          <a:spcPts val="119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Instruction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42545" algn="ctr">
                        <a:lnSpc>
                          <a:spcPts val="119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Instruction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444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4445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4445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4445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</a:tr>
              <a:tr h="713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1645456" y="3512667"/>
            <a:ext cx="2141855" cy="1732914"/>
            <a:chOff x="1645456" y="3512667"/>
            <a:chExt cx="2141855" cy="1732914"/>
          </a:xfrm>
        </p:grpSpPr>
        <p:sp>
          <p:nvSpPr>
            <p:cNvPr id="15" name="object 15"/>
            <p:cNvSpPr/>
            <p:nvPr/>
          </p:nvSpPr>
          <p:spPr>
            <a:xfrm>
              <a:off x="1645456" y="3512667"/>
              <a:ext cx="2141855" cy="1732914"/>
            </a:xfrm>
            <a:custGeom>
              <a:avLst/>
              <a:gdLst/>
              <a:ahLst/>
              <a:cxnLst/>
              <a:rect l="l" t="t" r="r" b="b"/>
              <a:pathLst>
                <a:path w="2141854" h="1732914">
                  <a:moveTo>
                    <a:pt x="2141561" y="0"/>
                  </a:moveTo>
                  <a:lnTo>
                    <a:pt x="0" y="0"/>
                  </a:lnTo>
                  <a:lnTo>
                    <a:pt x="0" y="1732629"/>
                  </a:lnTo>
                  <a:lnTo>
                    <a:pt x="2141561" y="1732629"/>
                  </a:lnTo>
                  <a:lnTo>
                    <a:pt x="2141561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07779" y="4020431"/>
              <a:ext cx="815975" cy="102235"/>
            </a:xfrm>
            <a:custGeom>
              <a:avLst/>
              <a:gdLst/>
              <a:ahLst/>
              <a:cxnLst/>
              <a:rect l="l" t="t" r="r" b="b"/>
              <a:pathLst>
                <a:path w="815975" h="102235">
                  <a:moveTo>
                    <a:pt x="815708" y="0"/>
                  </a:moveTo>
                  <a:lnTo>
                    <a:pt x="0" y="0"/>
                  </a:lnTo>
                  <a:lnTo>
                    <a:pt x="0" y="101940"/>
                  </a:lnTo>
                  <a:lnTo>
                    <a:pt x="815708" y="101940"/>
                  </a:lnTo>
                  <a:lnTo>
                    <a:pt x="81570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07777" y="4020431"/>
              <a:ext cx="815975" cy="102235"/>
            </a:xfrm>
            <a:custGeom>
              <a:avLst/>
              <a:gdLst/>
              <a:ahLst/>
              <a:cxnLst/>
              <a:rect l="l" t="t" r="r" b="b"/>
              <a:pathLst>
                <a:path w="815975" h="102235">
                  <a:moveTo>
                    <a:pt x="815698" y="0"/>
                  </a:moveTo>
                  <a:lnTo>
                    <a:pt x="0" y="0"/>
                  </a:lnTo>
                  <a:lnTo>
                    <a:pt x="0" y="101939"/>
                  </a:lnTo>
                  <a:lnTo>
                    <a:pt x="815698" y="101939"/>
                  </a:lnTo>
                  <a:lnTo>
                    <a:pt x="815698" y="0"/>
                  </a:lnTo>
                  <a:close/>
                </a:path>
              </a:pathLst>
            </a:custGeom>
            <a:ln w="10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07779" y="4122371"/>
              <a:ext cx="815975" cy="102235"/>
            </a:xfrm>
            <a:custGeom>
              <a:avLst/>
              <a:gdLst/>
              <a:ahLst/>
              <a:cxnLst/>
              <a:rect l="l" t="t" r="r" b="b"/>
              <a:pathLst>
                <a:path w="815975" h="102235">
                  <a:moveTo>
                    <a:pt x="815708" y="0"/>
                  </a:moveTo>
                  <a:lnTo>
                    <a:pt x="0" y="0"/>
                  </a:lnTo>
                  <a:lnTo>
                    <a:pt x="0" y="101943"/>
                  </a:lnTo>
                  <a:lnTo>
                    <a:pt x="815708" y="101943"/>
                  </a:lnTo>
                  <a:lnTo>
                    <a:pt x="81570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07777" y="4122371"/>
              <a:ext cx="815975" cy="102235"/>
            </a:xfrm>
            <a:custGeom>
              <a:avLst/>
              <a:gdLst/>
              <a:ahLst/>
              <a:cxnLst/>
              <a:rect l="l" t="t" r="r" b="b"/>
              <a:pathLst>
                <a:path w="815975" h="102235">
                  <a:moveTo>
                    <a:pt x="815698" y="0"/>
                  </a:moveTo>
                  <a:lnTo>
                    <a:pt x="0" y="0"/>
                  </a:lnTo>
                  <a:lnTo>
                    <a:pt x="0" y="101942"/>
                  </a:lnTo>
                  <a:lnTo>
                    <a:pt x="815698" y="101942"/>
                  </a:lnTo>
                  <a:lnTo>
                    <a:pt x="815698" y="0"/>
                  </a:lnTo>
                  <a:close/>
                </a:path>
              </a:pathLst>
            </a:custGeom>
            <a:ln w="10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07779" y="4224314"/>
              <a:ext cx="815975" cy="102235"/>
            </a:xfrm>
            <a:custGeom>
              <a:avLst/>
              <a:gdLst/>
              <a:ahLst/>
              <a:cxnLst/>
              <a:rect l="l" t="t" r="r" b="b"/>
              <a:pathLst>
                <a:path w="815975" h="102235">
                  <a:moveTo>
                    <a:pt x="815708" y="0"/>
                  </a:moveTo>
                  <a:lnTo>
                    <a:pt x="0" y="0"/>
                  </a:lnTo>
                  <a:lnTo>
                    <a:pt x="0" y="101940"/>
                  </a:lnTo>
                  <a:lnTo>
                    <a:pt x="815708" y="101940"/>
                  </a:lnTo>
                  <a:lnTo>
                    <a:pt x="81570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07777" y="4224313"/>
              <a:ext cx="815975" cy="102235"/>
            </a:xfrm>
            <a:custGeom>
              <a:avLst/>
              <a:gdLst/>
              <a:ahLst/>
              <a:cxnLst/>
              <a:rect l="l" t="t" r="r" b="b"/>
              <a:pathLst>
                <a:path w="815975" h="102235">
                  <a:moveTo>
                    <a:pt x="815698" y="0"/>
                  </a:moveTo>
                  <a:lnTo>
                    <a:pt x="0" y="0"/>
                  </a:lnTo>
                  <a:lnTo>
                    <a:pt x="0" y="101942"/>
                  </a:lnTo>
                  <a:lnTo>
                    <a:pt x="815698" y="101942"/>
                  </a:lnTo>
                  <a:lnTo>
                    <a:pt x="815698" y="0"/>
                  </a:lnTo>
                  <a:close/>
                </a:path>
              </a:pathLst>
            </a:custGeom>
            <a:ln w="10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07779" y="4326255"/>
              <a:ext cx="815975" cy="102235"/>
            </a:xfrm>
            <a:custGeom>
              <a:avLst/>
              <a:gdLst/>
              <a:ahLst/>
              <a:cxnLst/>
              <a:rect l="l" t="t" r="r" b="b"/>
              <a:pathLst>
                <a:path w="815975" h="102235">
                  <a:moveTo>
                    <a:pt x="815708" y="0"/>
                  </a:moveTo>
                  <a:lnTo>
                    <a:pt x="0" y="0"/>
                  </a:lnTo>
                  <a:lnTo>
                    <a:pt x="0" y="101940"/>
                  </a:lnTo>
                  <a:lnTo>
                    <a:pt x="815708" y="101940"/>
                  </a:lnTo>
                  <a:lnTo>
                    <a:pt x="81570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07777" y="4326255"/>
              <a:ext cx="815975" cy="102235"/>
            </a:xfrm>
            <a:custGeom>
              <a:avLst/>
              <a:gdLst/>
              <a:ahLst/>
              <a:cxnLst/>
              <a:rect l="l" t="t" r="r" b="b"/>
              <a:pathLst>
                <a:path w="815975" h="102235">
                  <a:moveTo>
                    <a:pt x="815698" y="0"/>
                  </a:moveTo>
                  <a:lnTo>
                    <a:pt x="0" y="0"/>
                  </a:lnTo>
                  <a:lnTo>
                    <a:pt x="0" y="101939"/>
                  </a:lnTo>
                  <a:lnTo>
                    <a:pt x="815698" y="101939"/>
                  </a:lnTo>
                  <a:lnTo>
                    <a:pt x="815698" y="0"/>
                  </a:lnTo>
                  <a:close/>
                </a:path>
              </a:pathLst>
            </a:custGeom>
            <a:ln w="10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07779" y="4428195"/>
              <a:ext cx="815975" cy="407670"/>
            </a:xfrm>
            <a:custGeom>
              <a:avLst/>
              <a:gdLst/>
              <a:ahLst/>
              <a:cxnLst/>
              <a:rect l="l" t="t" r="r" b="b"/>
              <a:pathLst>
                <a:path w="815975" h="407670">
                  <a:moveTo>
                    <a:pt x="815708" y="0"/>
                  </a:moveTo>
                  <a:lnTo>
                    <a:pt x="0" y="0"/>
                  </a:lnTo>
                  <a:lnTo>
                    <a:pt x="0" y="407526"/>
                  </a:lnTo>
                  <a:lnTo>
                    <a:pt x="815708" y="407526"/>
                  </a:lnTo>
                  <a:lnTo>
                    <a:pt x="81570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07777" y="4428195"/>
              <a:ext cx="815975" cy="407670"/>
            </a:xfrm>
            <a:custGeom>
              <a:avLst/>
              <a:gdLst/>
              <a:ahLst/>
              <a:cxnLst/>
              <a:rect l="l" t="t" r="r" b="b"/>
              <a:pathLst>
                <a:path w="815975" h="407670">
                  <a:moveTo>
                    <a:pt x="815698" y="0"/>
                  </a:moveTo>
                  <a:lnTo>
                    <a:pt x="0" y="0"/>
                  </a:lnTo>
                  <a:lnTo>
                    <a:pt x="0" y="407528"/>
                  </a:lnTo>
                  <a:lnTo>
                    <a:pt x="815698" y="407528"/>
                  </a:lnTo>
                  <a:lnTo>
                    <a:pt x="815698" y="0"/>
                  </a:lnTo>
                  <a:close/>
                </a:path>
              </a:pathLst>
            </a:custGeom>
            <a:ln w="10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45455" y="3512649"/>
            <a:ext cx="2141855" cy="1732914"/>
          </a:xfrm>
          <a:prstGeom prst="rect">
            <a:avLst/>
          </a:prstGeom>
          <a:ln w="2218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250">
              <a:latin typeface="Times New Roman"/>
              <a:cs typeface="Times New Roman"/>
            </a:endParaRPr>
          </a:p>
          <a:p>
            <a:pPr marL="1210310">
              <a:lnSpc>
                <a:spcPct val="100000"/>
              </a:lnSpc>
            </a:pPr>
            <a:r>
              <a:rPr sz="1250" b="1" spc="-10" dirty="0">
                <a:latin typeface="Times New Roman"/>
                <a:cs typeface="Times New Roman"/>
              </a:rPr>
              <a:t>Buffers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43636" y="849752"/>
            <a:ext cx="3796665" cy="3260090"/>
            <a:chOff x="1643636" y="849752"/>
            <a:chExt cx="3796665" cy="3260090"/>
          </a:xfrm>
        </p:grpSpPr>
        <p:sp>
          <p:nvSpPr>
            <p:cNvPr id="33" name="object 33"/>
            <p:cNvSpPr/>
            <p:nvPr/>
          </p:nvSpPr>
          <p:spPr>
            <a:xfrm>
              <a:off x="4021478" y="1010310"/>
              <a:ext cx="661035" cy="2940050"/>
            </a:xfrm>
            <a:custGeom>
              <a:avLst/>
              <a:gdLst/>
              <a:ahLst/>
              <a:cxnLst/>
              <a:rect l="l" t="t" r="r" b="b"/>
              <a:pathLst>
                <a:path w="661035" h="2940050">
                  <a:moveTo>
                    <a:pt x="84067" y="0"/>
                  </a:moveTo>
                  <a:lnTo>
                    <a:pt x="661015" y="0"/>
                  </a:lnTo>
                  <a:lnTo>
                    <a:pt x="661015" y="2939635"/>
                  </a:lnTo>
                  <a:lnTo>
                    <a:pt x="0" y="2939635"/>
                  </a:lnTo>
                </a:path>
              </a:pathLst>
            </a:custGeom>
            <a:ln w="101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91978" y="849756"/>
              <a:ext cx="398145" cy="3260090"/>
            </a:xfrm>
            <a:custGeom>
              <a:avLst/>
              <a:gdLst/>
              <a:ahLst/>
              <a:cxnLst/>
              <a:rect l="l" t="t" r="r" b="b"/>
              <a:pathLst>
                <a:path w="398145" h="3260090">
                  <a:moveTo>
                    <a:pt x="287058" y="2940647"/>
                  </a:moveTo>
                  <a:lnTo>
                    <a:pt x="253187" y="2967685"/>
                  </a:lnTo>
                  <a:lnTo>
                    <a:pt x="214909" y="2993910"/>
                  </a:lnTo>
                  <a:lnTo>
                    <a:pt x="173443" y="3018967"/>
                  </a:lnTo>
                  <a:lnTo>
                    <a:pt x="130009" y="3042501"/>
                  </a:lnTo>
                  <a:lnTo>
                    <a:pt x="85813" y="3064129"/>
                  </a:lnTo>
                  <a:lnTo>
                    <a:pt x="42075" y="3083483"/>
                  </a:lnTo>
                  <a:lnTo>
                    <a:pt x="0" y="3100197"/>
                  </a:lnTo>
                  <a:lnTo>
                    <a:pt x="42075" y="3116923"/>
                  </a:lnTo>
                  <a:lnTo>
                    <a:pt x="85813" y="3136303"/>
                  </a:lnTo>
                  <a:lnTo>
                    <a:pt x="130009" y="3157982"/>
                  </a:lnTo>
                  <a:lnTo>
                    <a:pt x="173443" y="3181553"/>
                  </a:lnTo>
                  <a:lnTo>
                    <a:pt x="214909" y="3206661"/>
                  </a:lnTo>
                  <a:lnTo>
                    <a:pt x="253187" y="3232912"/>
                  </a:lnTo>
                  <a:lnTo>
                    <a:pt x="287058" y="3259950"/>
                  </a:lnTo>
                  <a:lnTo>
                    <a:pt x="229489" y="3100197"/>
                  </a:lnTo>
                  <a:lnTo>
                    <a:pt x="287058" y="2940647"/>
                  </a:lnTo>
                  <a:close/>
                </a:path>
                <a:path w="398145" h="3260090">
                  <a:moveTo>
                    <a:pt x="397738" y="0"/>
                  </a:moveTo>
                  <a:lnTo>
                    <a:pt x="363842" y="27330"/>
                  </a:lnTo>
                  <a:lnTo>
                    <a:pt x="325513" y="53797"/>
                  </a:lnTo>
                  <a:lnTo>
                    <a:pt x="283984" y="79044"/>
                  </a:lnTo>
                  <a:lnTo>
                    <a:pt x="240487" y="102704"/>
                  </a:lnTo>
                  <a:lnTo>
                    <a:pt x="196240" y="124409"/>
                  </a:lnTo>
                  <a:lnTo>
                    <a:pt x="152476" y="143814"/>
                  </a:lnTo>
                  <a:lnTo>
                    <a:pt x="110426" y="160540"/>
                  </a:lnTo>
                  <a:lnTo>
                    <a:pt x="152476" y="176999"/>
                  </a:lnTo>
                  <a:lnTo>
                    <a:pt x="196240" y="196265"/>
                  </a:lnTo>
                  <a:lnTo>
                    <a:pt x="240487" y="217906"/>
                  </a:lnTo>
                  <a:lnTo>
                    <a:pt x="283984" y="241528"/>
                  </a:lnTo>
                  <a:lnTo>
                    <a:pt x="325513" y="266725"/>
                  </a:lnTo>
                  <a:lnTo>
                    <a:pt x="363842" y="293077"/>
                  </a:lnTo>
                  <a:lnTo>
                    <a:pt x="397738" y="320192"/>
                  </a:lnTo>
                  <a:lnTo>
                    <a:pt x="339915" y="160540"/>
                  </a:lnTo>
                  <a:lnTo>
                    <a:pt x="3977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82494" y="1903765"/>
              <a:ext cx="554355" cy="0"/>
            </a:xfrm>
            <a:custGeom>
              <a:avLst/>
              <a:gdLst/>
              <a:ahLst/>
              <a:cxnLst/>
              <a:rect l="l" t="t" r="r" b="b"/>
              <a:pathLst>
                <a:path w="554354">
                  <a:moveTo>
                    <a:pt x="0" y="0"/>
                  </a:moveTo>
                  <a:lnTo>
                    <a:pt x="0" y="0"/>
                  </a:lnTo>
                  <a:lnTo>
                    <a:pt x="554209" y="0"/>
                  </a:lnTo>
                </a:path>
              </a:pathLst>
            </a:custGeom>
            <a:ln w="101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152400" y="1744248"/>
              <a:ext cx="287655" cy="319405"/>
            </a:xfrm>
            <a:custGeom>
              <a:avLst/>
              <a:gdLst/>
              <a:ahLst/>
              <a:cxnLst/>
              <a:rect l="l" t="t" r="r" b="b"/>
              <a:pathLst>
                <a:path w="287654" h="319405">
                  <a:moveTo>
                    <a:pt x="0" y="0"/>
                  </a:moveTo>
                  <a:lnTo>
                    <a:pt x="57820" y="159532"/>
                  </a:lnTo>
                  <a:lnTo>
                    <a:pt x="0" y="319399"/>
                  </a:lnTo>
                  <a:lnTo>
                    <a:pt x="33906" y="292317"/>
                  </a:lnTo>
                  <a:lnTo>
                    <a:pt x="72236" y="266027"/>
                  </a:lnTo>
                  <a:lnTo>
                    <a:pt x="113763" y="240902"/>
                  </a:lnTo>
                  <a:lnTo>
                    <a:pt x="157260" y="217316"/>
                  </a:lnTo>
                  <a:lnTo>
                    <a:pt x="201501" y="195643"/>
                  </a:lnTo>
                  <a:lnTo>
                    <a:pt x="245258" y="176257"/>
                  </a:lnTo>
                  <a:lnTo>
                    <a:pt x="287304" y="159532"/>
                  </a:lnTo>
                  <a:lnTo>
                    <a:pt x="245258" y="142807"/>
                  </a:lnTo>
                  <a:lnTo>
                    <a:pt x="201501" y="123428"/>
                  </a:lnTo>
                  <a:lnTo>
                    <a:pt x="157260" y="101774"/>
                  </a:lnTo>
                  <a:lnTo>
                    <a:pt x="113763" y="78225"/>
                  </a:lnTo>
                  <a:lnTo>
                    <a:pt x="72236" y="53159"/>
                  </a:lnTo>
                  <a:lnTo>
                    <a:pt x="33906" y="26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54731" y="2102693"/>
              <a:ext cx="1020444" cy="459105"/>
            </a:xfrm>
            <a:custGeom>
              <a:avLst/>
              <a:gdLst/>
              <a:ahLst/>
              <a:cxnLst/>
              <a:rect l="l" t="t" r="r" b="b"/>
              <a:pathLst>
                <a:path w="1020444" h="459105">
                  <a:moveTo>
                    <a:pt x="1019900" y="0"/>
                  </a:moveTo>
                  <a:lnTo>
                    <a:pt x="612099" y="0"/>
                  </a:lnTo>
                  <a:lnTo>
                    <a:pt x="509811" y="152735"/>
                  </a:lnTo>
                  <a:lnTo>
                    <a:pt x="407846" y="0"/>
                  </a:lnTo>
                  <a:lnTo>
                    <a:pt x="0" y="0"/>
                  </a:lnTo>
                  <a:lnTo>
                    <a:pt x="203929" y="458663"/>
                  </a:lnTo>
                  <a:lnTo>
                    <a:pt x="816004" y="458663"/>
                  </a:lnTo>
                  <a:lnTo>
                    <a:pt x="1019900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654730" y="2102670"/>
              <a:ext cx="1020444" cy="459105"/>
            </a:xfrm>
            <a:custGeom>
              <a:avLst/>
              <a:gdLst/>
              <a:ahLst/>
              <a:cxnLst/>
              <a:rect l="l" t="t" r="r" b="b"/>
              <a:pathLst>
                <a:path w="1020444" h="459105">
                  <a:moveTo>
                    <a:pt x="0" y="0"/>
                  </a:moveTo>
                  <a:lnTo>
                    <a:pt x="407847" y="0"/>
                  </a:lnTo>
                  <a:lnTo>
                    <a:pt x="509813" y="152759"/>
                  </a:lnTo>
                  <a:lnTo>
                    <a:pt x="612099" y="0"/>
                  </a:lnTo>
                  <a:lnTo>
                    <a:pt x="1019901" y="0"/>
                  </a:lnTo>
                  <a:lnTo>
                    <a:pt x="816006" y="458675"/>
                  </a:lnTo>
                  <a:lnTo>
                    <a:pt x="203928" y="458675"/>
                  </a:lnTo>
                  <a:lnTo>
                    <a:pt x="0" y="0"/>
                  </a:lnTo>
                  <a:close/>
                </a:path>
              </a:pathLst>
            </a:custGeom>
            <a:ln w="221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463717" y="391865"/>
            <a:ext cx="2447290" cy="2446655"/>
          </a:xfrm>
          <a:prstGeom prst="rect">
            <a:avLst/>
          </a:prstGeom>
          <a:ln w="2218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050">
              <a:latin typeface="Times New Roman"/>
              <a:cs typeface="Times New Roman"/>
            </a:endParaRPr>
          </a:p>
          <a:p>
            <a:pPr marL="586105" marR="1449070" indent="-174625">
              <a:lnSpc>
                <a:spcPct val="101800"/>
              </a:lnSpc>
              <a:spcBef>
                <a:spcPts val="5"/>
              </a:spcBef>
            </a:pPr>
            <a:r>
              <a:rPr sz="1050" b="1" spc="-10" dirty="0">
                <a:latin typeface="Times New Roman"/>
                <a:cs typeface="Times New Roman"/>
              </a:rPr>
              <a:t>Execution </a:t>
            </a:r>
            <a:r>
              <a:rPr sz="1050" b="1" spc="-20" dirty="0">
                <a:latin typeface="Times New Roman"/>
                <a:cs typeface="Times New Roman"/>
              </a:rPr>
              <a:t>unit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250411" y="565190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4" h="37465">
                <a:moveTo>
                  <a:pt x="18775" y="0"/>
                </a:moveTo>
                <a:lnTo>
                  <a:pt x="11457" y="1468"/>
                </a:lnTo>
                <a:lnTo>
                  <a:pt x="5490" y="5463"/>
                </a:lnTo>
                <a:lnTo>
                  <a:pt x="1472" y="11367"/>
                </a:lnTo>
                <a:lnTo>
                  <a:pt x="0" y="18562"/>
                </a:lnTo>
                <a:lnTo>
                  <a:pt x="1472" y="25842"/>
                </a:lnTo>
                <a:lnTo>
                  <a:pt x="5490" y="31813"/>
                </a:lnTo>
                <a:lnTo>
                  <a:pt x="11457" y="35853"/>
                </a:lnTo>
                <a:lnTo>
                  <a:pt x="18775" y="37337"/>
                </a:lnTo>
                <a:lnTo>
                  <a:pt x="25932" y="35853"/>
                </a:lnTo>
                <a:lnTo>
                  <a:pt x="31840" y="31813"/>
                </a:lnTo>
                <a:lnTo>
                  <a:pt x="35856" y="25842"/>
                </a:lnTo>
                <a:lnTo>
                  <a:pt x="37337" y="18562"/>
                </a:lnTo>
                <a:lnTo>
                  <a:pt x="35856" y="11367"/>
                </a:lnTo>
                <a:lnTo>
                  <a:pt x="31840" y="5463"/>
                </a:lnTo>
                <a:lnTo>
                  <a:pt x="25932" y="1468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250411" y="679826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4" h="37465">
                <a:moveTo>
                  <a:pt x="18775" y="0"/>
                </a:moveTo>
                <a:lnTo>
                  <a:pt x="11457" y="1467"/>
                </a:lnTo>
                <a:lnTo>
                  <a:pt x="5490" y="5478"/>
                </a:lnTo>
                <a:lnTo>
                  <a:pt x="1472" y="11444"/>
                </a:lnTo>
                <a:lnTo>
                  <a:pt x="0" y="18775"/>
                </a:lnTo>
                <a:lnTo>
                  <a:pt x="1472" y="25919"/>
                </a:lnTo>
                <a:lnTo>
                  <a:pt x="5490" y="31828"/>
                </a:lnTo>
                <a:lnTo>
                  <a:pt x="11457" y="35852"/>
                </a:lnTo>
                <a:lnTo>
                  <a:pt x="18775" y="37337"/>
                </a:lnTo>
                <a:lnTo>
                  <a:pt x="25932" y="35852"/>
                </a:lnTo>
                <a:lnTo>
                  <a:pt x="31840" y="31828"/>
                </a:lnTo>
                <a:lnTo>
                  <a:pt x="35856" y="25919"/>
                </a:lnTo>
                <a:lnTo>
                  <a:pt x="37337" y="18775"/>
                </a:lnTo>
                <a:lnTo>
                  <a:pt x="35856" y="11444"/>
                </a:lnTo>
                <a:lnTo>
                  <a:pt x="31840" y="5478"/>
                </a:lnTo>
                <a:lnTo>
                  <a:pt x="25932" y="1467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250411" y="794308"/>
            <a:ext cx="37465" cy="38100"/>
          </a:xfrm>
          <a:custGeom>
            <a:avLst/>
            <a:gdLst/>
            <a:ahLst/>
            <a:cxnLst/>
            <a:rect l="l" t="t" r="r" b="b"/>
            <a:pathLst>
              <a:path w="37464" h="38100">
                <a:moveTo>
                  <a:pt x="18775" y="0"/>
                </a:moveTo>
                <a:lnTo>
                  <a:pt x="11457" y="1521"/>
                </a:lnTo>
                <a:lnTo>
                  <a:pt x="5490" y="5631"/>
                </a:lnTo>
                <a:lnTo>
                  <a:pt x="1472" y="11650"/>
                </a:lnTo>
                <a:lnTo>
                  <a:pt x="0" y="18897"/>
                </a:lnTo>
                <a:lnTo>
                  <a:pt x="1472" y="26087"/>
                </a:lnTo>
                <a:lnTo>
                  <a:pt x="5490" y="32068"/>
                </a:lnTo>
                <a:lnTo>
                  <a:pt x="11457" y="36158"/>
                </a:lnTo>
                <a:lnTo>
                  <a:pt x="18775" y="37673"/>
                </a:lnTo>
                <a:lnTo>
                  <a:pt x="25932" y="36158"/>
                </a:lnTo>
                <a:lnTo>
                  <a:pt x="31840" y="32068"/>
                </a:lnTo>
                <a:lnTo>
                  <a:pt x="35856" y="26087"/>
                </a:lnTo>
                <a:lnTo>
                  <a:pt x="37337" y="18897"/>
                </a:lnTo>
                <a:lnTo>
                  <a:pt x="35856" y="11650"/>
                </a:lnTo>
                <a:lnTo>
                  <a:pt x="31840" y="5631"/>
                </a:lnTo>
                <a:lnTo>
                  <a:pt x="25932" y="1521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39116" y="921928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5" h="37465">
                <a:moveTo>
                  <a:pt x="18775" y="0"/>
                </a:moveTo>
                <a:lnTo>
                  <a:pt x="11598" y="1472"/>
                </a:lnTo>
                <a:lnTo>
                  <a:pt x="5615" y="5490"/>
                </a:lnTo>
                <a:lnTo>
                  <a:pt x="1519" y="11457"/>
                </a:lnTo>
                <a:lnTo>
                  <a:pt x="0" y="18775"/>
                </a:lnTo>
                <a:lnTo>
                  <a:pt x="1519" y="25932"/>
                </a:lnTo>
                <a:lnTo>
                  <a:pt x="5615" y="31840"/>
                </a:lnTo>
                <a:lnTo>
                  <a:pt x="11598" y="35856"/>
                </a:lnTo>
                <a:lnTo>
                  <a:pt x="18775" y="37337"/>
                </a:lnTo>
                <a:lnTo>
                  <a:pt x="25970" y="35856"/>
                </a:lnTo>
                <a:lnTo>
                  <a:pt x="31874" y="31840"/>
                </a:lnTo>
                <a:lnTo>
                  <a:pt x="35869" y="25932"/>
                </a:lnTo>
                <a:lnTo>
                  <a:pt x="37337" y="18775"/>
                </a:lnTo>
                <a:lnTo>
                  <a:pt x="35869" y="11457"/>
                </a:lnTo>
                <a:lnTo>
                  <a:pt x="31874" y="5490"/>
                </a:lnTo>
                <a:lnTo>
                  <a:pt x="25970" y="1472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139116" y="1036442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5" h="37465">
                <a:moveTo>
                  <a:pt x="18775" y="0"/>
                </a:moveTo>
                <a:lnTo>
                  <a:pt x="11598" y="1516"/>
                </a:lnTo>
                <a:lnTo>
                  <a:pt x="5615" y="5619"/>
                </a:lnTo>
                <a:lnTo>
                  <a:pt x="1519" y="11637"/>
                </a:lnTo>
                <a:lnTo>
                  <a:pt x="0" y="18897"/>
                </a:lnTo>
                <a:lnTo>
                  <a:pt x="1519" y="26036"/>
                </a:lnTo>
                <a:lnTo>
                  <a:pt x="5615" y="31935"/>
                </a:lnTo>
                <a:lnTo>
                  <a:pt x="11598" y="35948"/>
                </a:lnTo>
                <a:lnTo>
                  <a:pt x="18775" y="37429"/>
                </a:lnTo>
                <a:lnTo>
                  <a:pt x="25970" y="35948"/>
                </a:lnTo>
                <a:lnTo>
                  <a:pt x="31874" y="31935"/>
                </a:lnTo>
                <a:lnTo>
                  <a:pt x="35869" y="26036"/>
                </a:lnTo>
                <a:lnTo>
                  <a:pt x="37337" y="18897"/>
                </a:lnTo>
                <a:lnTo>
                  <a:pt x="35869" y="11637"/>
                </a:lnTo>
                <a:lnTo>
                  <a:pt x="31874" y="5619"/>
                </a:lnTo>
                <a:lnTo>
                  <a:pt x="25970" y="1516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39116" y="1151382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5" h="37465">
                <a:moveTo>
                  <a:pt x="18775" y="0"/>
                </a:moveTo>
                <a:lnTo>
                  <a:pt x="11598" y="1468"/>
                </a:lnTo>
                <a:lnTo>
                  <a:pt x="5615" y="5463"/>
                </a:lnTo>
                <a:lnTo>
                  <a:pt x="1519" y="11367"/>
                </a:lnTo>
                <a:lnTo>
                  <a:pt x="0" y="18562"/>
                </a:lnTo>
                <a:lnTo>
                  <a:pt x="1519" y="25739"/>
                </a:lnTo>
                <a:lnTo>
                  <a:pt x="5615" y="31722"/>
                </a:lnTo>
                <a:lnTo>
                  <a:pt x="11598" y="35818"/>
                </a:lnTo>
                <a:lnTo>
                  <a:pt x="18775" y="37337"/>
                </a:lnTo>
                <a:lnTo>
                  <a:pt x="25970" y="35818"/>
                </a:lnTo>
                <a:lnTo>
                  <a:pt x="31874" y="31722"/>
                </a:lnTo>
                <a:lnTo>
                  <a:pt x="35869" y="25739"/>
                </a:lnTo>
                <a:lnTo>
                  <a:pt x="37337" y="18562"/>
                </a:lnTo>
                <a:lnTo>
                  <a:pt x="35869" y="11367"/>
                </a:lnTo>
                <a:lnTo>
                  <a:pt x="31874" y="5463"/>
                </a:lnTo>
                <a:lnTo>
                  <a:pt x="25970" y="1468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250411" y="1723766"/>
            <a:ext cx="37465" cy="36830"/>
          </a:xfrm>
          <a:custGeom>
            <a:avLst/>
            <a:gdLst/>
            <a:ahLst/>
            <a:cxnLst/>
            <a:rect l="l" t="t" r="r" b="b"/>
            <a:pathLst>
              <a:path w="37464" h="36830">
                <a:moveTo>
                  <a:pt x="18775" y="0"/>
                </a:moveTo>
                <a:lnTo>
                  <a:pt x="11457" y="1343"/>
                </a:lnTo>
                <a:lnTo>
                  <a:pt x="5490" y="5052"/>
                </a:lnTo>
                <a:lnTo>
                  <a:pt x="1472" y="10647"/>
                </a:lnTo>
                <a:lnTo>
                  <a:pt x="0" y="17647"/>
                </a:lnTo>
                <a:lnTo>
                  <a:pt x="1472" y="25371"/>
                </a:lnTo>
                <a:lnTo>
                  <a:pt x="5490" y="31337"/>
                </a:lnTo>
                <a:lnTo>
                  <a:pt x="11457" y="35182"/>
                </a:lnTo>
                <a:lnTo>
                  <a:pt x="18775" y="36545"/>
                </a:lnTo>
                <a:lnTo>
                  <a:pt x="25932" y="35182"/>
                </a:lnTo>
                <a:lnTo>
                  <a:pt x="31840" y="31337"/>
                </a:lnTo>
                <a:lnTo>
                  <a:pt x="35856" y="25371"/>
                </a:lnTo>
                <a:lnTo>
                  <a:pt x="37337" y="17647"/>
                </a:lnTo>
                <a:lnTo>
                  <a:pt x="35856" y="10647"/>
                </a:lnTo>
                <a:lnTo>
                  <a:pt x="31840" y="5052"/>
                </a:lnTo>
                <a:lnTo>
                  <a:pt x="25932" y="1343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250411" y="1838370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4" h="37464">
                <a:moveTo>
                  <a:pt x="18775" y="0"/>
                </a:moveTo>
                <a:lnTo>
                  <a:pt x="11457" y="1472"/>
                </a:lnTo>
                <a:lnTo>
                  <a:pt x="5490" y="5490"/>
                </a:lnTo>
                <a:lnTo>
                  <a:pt x="1472" y="11457"/>
                </a:lnTo>
                <a:lnTo>
                  <a:pt x="0" y="18775"/>
                </a:lnTo>
                <a:lnTo>
                  <a:pt x="1472" y="25932"/>
                </a:lnTo>
                <a:lnTo>
                  <a:pt x="5490" y="31840"/>
                </a:lnTo>
                <a:lnTo>
                  <a:pt x="11457" y="35856"/>
                </a:lnTo>
                <a:lnTo>
                  <a:pt x="18775" y="37337"/>
                </a:lnTo>
                <a:lnTo>
                  <a:pt x="25932" y="35856"/>
                </a:lnTo>
                <a:lnTo>
                  <a:pt x="31840" y="31840"/>
                </a:lnTo>
                <a:lnTo>
                  <a:pt x="35856" y="25932"/>
                </a:lnTo>
                <a:lnTo>
                  <a:pt x="37337" y="18775"/>
                </a:lnTo>
                <a:lnTo>
                  <a:pt x="35856" y="11457"/>
                </a:lnTo>
                <a:lnTo>
                  <a:pt x="31840" y="5490"/>
                </a:lnTo>
                <a:lnTo>
                  <a:pt x="25932" y="1472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250411" y="1953006"/>
            <a:ext cx="37465" cy="38100"/>
          </a:xfrm>
          <a:custGeom>
            <a:avLst/>
            <a:gdLst/>
            <a:ahLst/>
            <a:cxnLst/>
            <a:rect l="l" t="t" r="r" b="b"/>
            <a:pathLst>
              <a:path w="37464" h="38100">
                <a:moveTo>
                  <a:pt x="18775" y="0"/>
                </a:moveTo>
                <a:lnTo>
                  <a:pt x="11457" y="1519"/>
                </a:lnTo>
                <a:lnTo>
                  <a:pt x="5490" y="5615"/>
                </a:lnTo>
                <a:lnTo>
                  <a:pt x="1472" y="11598"/>
                </a:lnTo>
                <a:lnTo>
                  <a:pt x="0" y="18775"/>
                </a:lnTo>
                <a:lnTo>
                  <a:pt x="1472" y="25952"/>
                </a:lnTo>
                <a:lnTo>
                  <a:pt x="5490" y="31935"/>
                </a:lnTo>
                <a:lnTo>
                  <a:pt x="11457" y="36032"/>
                </a:lnTo>
                <a:lnTo>
                  <a:pt x="18775" y="37551"/>
                </a:lnTo>
                <a:lnTo>
                  <a:pt x="25932" y="36032"/>
                </a:lnTo>
                <a:lnTo>
                  <a:pt x="31840" y="31935"/>
                </a:lnTo>
                <a:lnTo>
                  <a:pt x="35856" y="25952"/>
                </a:lnTo>
                <a:lnTo>
                  <a:pt x="37337" y="18775"/>
                </a:lnTo>
                <a:lnTo>
                  <a:pt x="35856" y="11598"/>
                </a:lnTo>
                <a:lnTo>
                  <a:pt x="31840" y="5615"/>
                </a:lnTo>
                <a:lnTo>
                  <a:pt x="25932" y="1519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250411" y="3153430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4" h="37464">
                <a:moveTo>
                  <a:pt x="18775" y="0"/>
                </a:moveTo>
                <a:lnTo>
                  <a:pt x="11457" y="1466"/>
                </a:lnTo>
                <a:lnTo>
                  <a:pt x="5490" y="5448"/>
                </a:lnTo>
                <a:lnTo>
                  <a:pt x="1472" y="11315"/>
                </a:lnTo>
                <a:lnTo>
                  <a:pt x="0" y="18440"/>
                </a:lnTo>
                <a:lnTo>
                  <a:pt x="1472" y="26022"/>
                </a:lnTo>
                <a:lnTo>
                  <a:pt x="5490" y="32003"/>
                </a:lnTo>
                <a:lnTo>
                  <a:pt x="11457" y="35928"/>
                </a:lnTo>
                <a:lnTo>
                  <a:pt x="18775" y="37337"/>
                </a:lnTo>
                <a:lnTo>
                  <a:pt x="25932" y="35928"/>
                </a:lnTo>
                <a:lnTo>
                  <a:pt x="31840" y="32003"/>
                </a:lnTo>
                <a:lnTo>
                  <a:pt x="35856" y="26022"/>
                </a:lnTo>
                <a:lnTo>
                  <a:pt x="37337" y="18440"/>
                </a:lnTo>
                <a:lnTo>
                  <a:pt x="35856" y="11315"/>
                </a:lnTo>
                <a:lnTo>
                  <a:pt x="31840" y="5448"/>
                </a:lnTo>
                <a:lnTo>
                  <a:pt x="25932" y="1466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250411" y="3268827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4" h="37464">
                <a:moveTo>
                  <a:pt x="18775" y="0"/>
                </a:moveTo>
                <a:lnTo>
                  <a:pt x="11457" y="1357"/>
                </a:lnTo>
                <a:lnTo>
                  <a:pt x="5490" y="5166"/>
                </a:lnTo>
                <a:lnTo>
                  <a:pt x="1472" y="11032"/>
                </a:lnTo>
                <a:lnTo>
                  <a:pt x="0" y="18562"/>
                </a:lnTo>
                <a:lnTo>
                  <a:pt x="1472" y="25880"/>
                </a:lnTo>
                <a:lnTo>
                  <a:pt x="5490" y="31847"/>
                </a:lnTo>
                <a:lnTo>
                  <a:pt x="11457" y="35865"/>
                </a:lnTo>
                <a:lnTo>
                  <a:pt x="18775" y="37337"/>
                </a:lnTo>
                <a:lnTo>
                  <a:pt x="25932" y="35865"/>
                </a:lnTo>
                <a:lnTo>
                  <a:pt x="31840" y="31847"/>
                </a:lnTo>
                <a:lnTo>
                  <a:pt x="35856" y="25880"/>
                </a:lnTo>
                <a:lnTo>
                  <a:pt x="37337" y="18562"/>
                </a:lnTo>
                <a:lnTo>
                  <a:pt x="35856" y="11032"/>
                </a:lnTo>
                <a:lnTo>
                  <a:pt x="31840" y="5166"/>
                </a:lnTo>
                <a:lnTo>
                  <a:pt x="25932" y="1357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250411" y="3383432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4" h="37464">
                <a:moveTo>
                  <a:pt x="18775" y="0"/>
                </a:moveTo>
                <a:lnTo>
                  <a:pt x="11457" y="1472"/>
                </a:lnTo>
                <a:lnTo>
                  <a:pt x="5490" y="5490"/>
                </a:lnTo>
                <a:lnTo>
                  <a:pt x="1472" y="11457"/>
                </a:lnTo>
                <a:lnTo>
                  <a:pt x="0" y="18775"/>
                </a:lnTo>
                <a:lnTo>
                  <a:pt x="1472" y="25932"/>
                </a:lnTo>
                <a:lnTo>
                  <a:pt x="5490" y="31840"/>
                </a:lnTo>
                <a:lnTo>
                  <a:pt x="11457" y="35856"/>
                </a:lnTo>
                <a:lnTo>
                  <a:pt x="18775" y="37337"/>
                </a:lnTo>
                <a:lnTo>
                  <a:pt x="25932" y="35856"/>
                </a:lnTo>
                <a:lnTo>
                  <a:pt x="31840" y="31840"/>
                </a:lnTo>
                <a:lnTo>
                  <a:pt x="35856" y="25932"/>
                </a:lnTo>
                <a:lnTo>
                  <a:pt x="37337" y="18775"/>
                </a:lnTo>
                <a:lnTo>
                  <a:pt x="35856" y="11457"/>
                </a:lnTo>
                <a:lnTo>
                  <a:pt x="31840" y="5490"/>
                </a:lnTo>
                <a:lnTo>
                  <a:pt x="25932" y="1472"/>
                </a:lnTo>
                <a:lnTo>
                  <a:pt x="18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61929" y="4504682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4" h="37464">
                <a:moveTo>
                  <a:pt x="18897" y="0"/>
                </a:moveTo>
                <a:lnTo>
                  <a:pt x="11560" y="1358"/>
                </a:lnTo>
                <a:lnTo>
                  <a:pt x="5551" y="5186"/>
                </a:lnTo>
                <a:lnTo>
                  <a:pt x="1491" y="11115"/>
                </a:lnTo>
                <a:lnTo>
                  <a:pt x="0" y="18775"/>
                </a:lnTo>
                <a:lnTo>
                  <a:pt x="1491" y="25923"/>
                </a:lnTo>
                <a:lnTo>
                  <a:pt x="5551" y="31828"/>
                </a:lnTo>
                <a:lnTo>
                  <a:pt x="11560" y="35843"/>
                </a:lnTo>
                <a:lnTo>
                  <a:pt x="18897" y="37325"/>
                </a:lnTo>
                <a:lnTo>
                  <a:pt x="26439" y="35843"/>
                </a:lnTo>
                <a:lnTo>
                  <a:pt x="32304" y="31828"/>
                </a:lnTo>
                <a:lnTo>
                  <a:pt x="36106" y="25923"/>
                </a:lnTo>
                <a:lnTo>
                  <a:pt x="37459" y="18775"/>
                </a:lnTo>
                <a:lnTo>
                  <a:pt x="36106" y="11115"/>
                </a:lnTo>
                <a:lnTo>
                  <a:pt x="32304" y="5186"/>
                </a:lnTo>
                <a:lnTo>
                  <a:pt x="26439" y="1358"/>
                </a:lnTo>
                <a:lnTo>
                  <a:pt x="188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061929" y="4619173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4" h="37464">
                <a:moveTo>
                  <a:pt x="18897" y="0"/>
                </a:moveTo>
                <a:lnTo>
                  <a:pt x="11560" y="1520"/>
                </a:lnTo>
                <a:lnTo>
                  <a:pt x="5551" y="5629"/>
                </a:lnTo>
                <a:lnTo>
                  <a:pt x="1491" y="11647"/>
                </a:lnTo>
                <a:lnTo>
                  <a:pt x="0" y="18894"/>
                </a:lnTo>
                <a:lnTo>
                  <a:pt x="1491" y="26043"/>
                </a:lnTo>
                <a:lnTo>
                  <a:pt x="5551" y="31952"/>
                </a:lnTo>
                <a:lnTo>
                  <a:pt x="11560" y="35972"/>
                </a:lnTo>
                <a:lnTo>
                  <a:pt x="18897" y="37456"/>
                </a:lnTo>
                <a:lnTo>
                  <a:pt x="26439" y="35972"/>
                </a:lnTo>
                <a:lnTo>
                  <a:pt x="32304" y="31952"/>
                </a:lnTo>
                <a:lnTo>
                  <a:pt x="36106" y="26043"/>
                </a:lnTo>
                <a:lnTo>
                  <a:pt x="37459" y="18894"/>
                </a:lnTo>
                <a:lnTo>
                  <a:pt x="36106" y="11647"/>
                </a:lnTo>
                <a:lnTo>
                  <a:pt x="32304" y="5629"/>
                </a:lnTo>
                <a:lnTo>
                  <a:pt x="26439" y="1520"/>
                </a:lnTo>
                <a:lnTo>
                  <a:pt x="188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061929" y="4734126"/>
            <a:ext cx="37465" cy="37465"/>
          </a:xfrm>
          <a:custGeom>
            <a:avLst/>
            <a:gdLst/>
            <a:ahLst/>
            <a:cxnLst/>
            <a:rect l="l" t="t" r="r" b="b"/>
            <a:pathLst>
              <a:path w="37464" h="37464">
                <a:moveTo>
                  <a:pt x="18897" y="0"/>
                </a:moveTo>
                <a:lnTo>
                  <a:pt x="11560" y="1467"/>
                </a:lnTo>
                <a:lnTo>
                  <a:pt x="5551" y="5458"/>
                </a:lnTo>
                <a:lnTo>
                  <a:pt x="1491" y="11361"/>
                </a:lnTo>
                <a:lnTo>
                  <a:pt x="0" y="18562"/>
                </a:lnTo>
                <a:lnTo>
                  <a:pt x="1491" y="25740"/>
                </a:lnTo>
                <a:lnTo>
                  <a:pt x="5551" y="31723"/>
                </a:lnTo>
                <a:lnTo>
                  <a:pt x="11560" y="35819"/>
                </a:lnTo>
                <a:lnTo>
                  <a:pt x="18897" y="37337"/>
                </a:lnTo>
                <a:lnTo>
                  <a:pt x="26439" y="35819"/>
                </a:lnTo>
                <a:lnTo>
                  <a:pt x="32304" y="31723"/>
                </a:lnTo>
                <a:lnTo>
                  <a:pt x="36106" y="25740"/>
                </a:lnTo>
                <a:lnTo>
                  <a:pt x="37459" y="18562"/>
                </a:lnTo>
                <a:lnTo>
                  <a:pt x="36106" y="11361"/>
                </a:lnTo>
                <a:lnTo>
                  <a:pt x="32304" y="5458"/>
                </a:lnTo>
                <a:lnTo>
                  <a:pt x="26439" y="1467"/>
                </a:lnTo>
                <a:lnTo>
                  <a:pt x="188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480792" y="4604195"/>
          <a:ext cx="2821939" cy="1123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180"/>
                <a:gridCol w="188595"/>
                <a:gridCol w="2082164"/>
              </a:tblGrid>
              <a:tr h="182245">
                <a:tc>
                  <a:txBody>
                    <a:bodyPr/>
                    <a:lstStyle/>
                    <a:p>
                      <a:pPr marL="31750">
                        <a:lnSpc>
                          <a:spcPts val="1340"/>
                        </a:lnSpc>
                      </a:pPr>
                      <a:r>
                        <a:rPr sz="1250" b="1" spc="-25" dirty="0">
                          <a:latin typeface="Times New Roman"/>
                          <a:cs typeface="Times New Roman"/>
                        </a:rPr>
                        <a:t>PC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ts val="1340"/>
                        </a:lnSpc>
                      </a:pPr>
                      <a:r>
                        <a:rPr sz="1250" b="1" spc="-50" dirty="0">
                          <a:latin typeface="Times New Roman"/>
                          <a:cs typeface="Times New Roman"/>
                        </a:rPr>
                        <a:t>=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340"/>
                        </a:lnSpc>
                      </a:pPr>
                      <a:r>
                        <a:rPr sz="125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5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-10" dirty="0">
                          <a:latin typeface="Times New Roman"/>
                          <a:cs typeface="Times New Roman"/>
                        </a:rPr>
                        <a:t>counter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9865">
                <a:tc>
                  <a:txBody>
                    <a:bodyPr/>
                    <a:lstStyle/>
                    <a:p>
                      <a:pPr marL="31750">
                        <a:lnSpc>
                          <a:spcPts val="1400"/>
                        </a:lnSpc>
                      </a:pPr>
                      <a:r>
                        <a:rPr sz="1250" b="1" spc="-25" dirty="0">
                          <a:latin typeface="Times New Roman"/>
                          <a:cs typeface="Times New Roman"/>
                        </a:rPr>
                        <a:t>IR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ts val="1400"/>
                        </a:lnSpc>
                      </a:pPr>
                      <a:r>
                        <a:rPr sz="1250" b="1" spc="-50" dirty="0">
                          <a:latin typeface="Times New Roman"/>
                          <a:cs typeface="Times New Roman"/>
                        </a:rPr>
                        <a:t>=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400"/>
                        </a:lnSpc>
                      </a:pPr>
                      <a:r>
                        <a:rPr sz="1250" b="1" spc="-10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12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-10" dirty="0">
                          <a:latin typeface="Times New Roman"/>
                          <a:cs typeface="Times New Roman"/>
                        </a:rPr>
                        <a:t>register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9865">
                <a:tc>
                  <a:txBody>
                    <a:bodyPr/>
                    <a:lstStyle/>
                    <a:p>
                      <a:pPr marL="31750">
                        <a:lnSpc>
                          <a:spcPts val="1400"/>
                        </a:lnSpc>
                      </a:pPr>
                      <a:r>
                        <a:rPr sz="1250" b="1" spc="-25" dirty="0">
                          <a:latin typeface="Times New Roman"/>
                          <a:cs typeface="Times New Roman"/>
                        </a:rPr>
                        <a:t>MAR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ts val="1400"/>
                        </a:lnSpc>
                      </a:pPr>
                      <a:r>
                        <a:rPr sz="1250" b="1" spc="-50" dirty="0">
                          <a:latin typeface="Times New Roman"/>
                          <a:cs typeface="Times New Roman"/>
                        </a:rPr>
                        <a:t>=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400"/>
                        </a:lnSpc>
                      </a:pPr>
                      <a:r>
                        <a:rPr sz="1250" b="1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2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sz="12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-10" dirty="0">
                          <a:latin typeface="Times New Roman"/>
                          <a:cs typeface="Times New Roman"/>
                        </a:rPr>
                        <a:t>register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9865">
                <a:tc>
                  <a:txBody>
                    <a:bodyPr/>
                    <a:lstStyle/>
                    <a:p>
                      <a:pPr marL="31750">
                        <a:lnSpc>
                          <a:spcPts val="1400"/>
                        </a:lnSpc>
                      </a:pPr>
                      <a:r>
                        <a:rPr sz="1250" b="1" spc="-25" dirty="0">
                          <a:latin typeface="Times New Roman"/>
                          <a:cs typeface="Times New Roman"/>
                        </a:rPr>
                        <a:t>MBR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ts val="1400"/>
                        </a:lnSpc>
                      </a:pPr>
                      <a:r>
                        <a:rPr sz="1250" b="1" spc="-50" dirty="0">
                          <a:latin typeface="Times New Roman"/>
                          <a:cs typeface="Times New Roman"/>
                        </a:rPr>
                        <a:t>=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400"/>
                        </a:lnSpc>
                      </a:pPr>
                      <a:r>
                        <a:rPr sz="1250" b="1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25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buffer</a:t>
                      </a:r>
                      <a:r>
                        <a:rPr sz="12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-10" dirty="0">
                          <a:latin typeface="Times New Roman"/>
                          <a:cs typeface="Times New Roman"/>
                        </a:rPr>
                        <a:t>register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9865">
                <a:tc>
                  <a:txBody>
                    <a:bodyPr/>
                    <a:lstStyle/>
                    <a:p>
                      <a:pPr marL="31750">
                        <a:lnSpc>
                          <a:spcPts val="1400"/>
                        </a:lnSpc>
                      </a:pPr>
                      <a:r>
                        <a:rPr sz="1250" b="1" dirty="0">
                          <a:latin typeface="Times New Roman"/>
                          <a:cs typeface="Times New Roman"/>
                        </a:rPr>
                        <a:t>I/O</a:t>
                      </a:r>
                      <a:r>
                        <a:rPr sz="125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-25" dirty="0">
                          <a:latin typeface="Times New Roman"/>
                          <a:cs typeface="Times New Roman"/>
                        </a:rPr>
                        <a:t>AR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ts val="1400"/>
                        </a:lnSpc>
                      </a:pPr>
                      <a:r>
                        <a:rPr sz="1250" b="1" spc="-50" dirty="0">
                          <a:latin typeface="Times New Roman"/>
                          <a:cs typeface="Times New Roman"/>
                        </a:rPr>
                        <a:t>=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400"/>
                        </a:lnSpc>
                      </a:pPr>
                      <a:r>
                        <a:rPr sz="1250" b="1" spc="-10" dirty="0">
                          <a:latin typeface="Times New Roman"/>
                          <a:cs typeface="Times New Roman"/>
                        </a:rPr>
                        <a:t>Input/output</a:t>
                      </a:r>
                      <a:r>
                        <a:rPr sz="12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sz="12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-10" dirty="0">
                          <a:latin typeface="Times New Roman"/>
                          <a:cs typeface="Times New Roman"/>
                        </a:rPr>
                        <a:t>register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2245">
                <a:tc>
                  <a:txBody>
                    <a:bodyPr/>
                    <a:lstStyle/>
                    <a:p>
                      <a:pPr marL="31750">
                        <a:lnSpc>
                          <a:spcPts val="1340"/>
                        </a:lnSpc>
                      </a:pPr>
                      <a:r>
                        <a:rPr sz="1250" b="1" dirty="0">
                          <a:latin typeface="Times New Roman"/>
                          <a:cs typeface="Times New Roman"/>
                        </a:rPr>
                        <a:t>I/O</a:t>
                      </a:r>
                      <a:r>
                        <a:rPr sz="125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-25" dirty="0">
                          <a:latin typeface="Times New Roman"/>
                          <a:cs typeface="Times New Roman"/>
                        </a:rPr>
                        <a:t>BR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ts val="1340"/>
                        </a:lnSpc>
                      </a:pPr>
                      <a:r>
                        <a:rPr sz="1250" b="1" spc="-50" dirty="0">
                          <a:latin typeface="Times New Roman"/>
                          <a:cs typeface="Times New Roman"/>
                        </a:rPr>
                        <a:t>=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340"/>
                        </a:lnSpc>
                      </a:pPr>
                      <a:r>
                        <a:rPr sz="1250" b="1" spc="-10" dirty="0">
                          <a:latin typeface="Times New Roman"/>
                          <a:cs typeface="Times New Roman"/>
                        </a:rPr>
                        <a:t>Input/output</a:t>
                      </a:r>
                      <a:r>
                        <a:rPr sz="12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buffer</a:t>
                      </a:r>
                      <a:r>
                        <a:rPr sz="12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-10" dirty="0">
                          <a:latin typeface="Times New Roman"/>
                          <a:cs typeface="Times New Roman"/>
                        </a:rPr>
                        <a:t>register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2121523" y="6091187"/>
            <a:ext cx="453771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Figure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3.2</a:t>
            </a:r>
            <a:r>
              <a:rPr sz="1600" b="1" spc="3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Computer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Components: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Top-</a:t>
            </a:r>
            <a:r>
              <a:rPr sz="1600" b="1" dirty="0">
                <a:latin typeface="Times New Roman"/>
                <a:cs typeface="Times New Roman"/>
              </a:rPr>
              <a:t>Level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View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2921742" y="1697315"/>
            <a:ext cx="120269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dirty="0">
                <a:solidFill>
                  <a:srgbClr val="000000"/>
                </a:solidFill>
                <a:latin typeface="Times New Roman"/>
                <a:cs typeface="Times New Roman"/>
              </a:rPr>
              <a:t>Fetch</a:t>
            </a:r>
            <a:r>
              <a:rPr sz="1850" b="1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5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Cycle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40929" y="1697315"/>
            <a:ext cx="143764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dirty="0">
                <a:latin typeface="Times New Roman"/>
                <a:cs typeface="Times New Roman"/>
              </a:rPr>
              <a:t>Execute</a:t>
            </a:r>
            <a:r>
              <a:rPr sz="1850" b="1" spc="-110" dirty="0">
                <a:latin typeface="Times New Roman"/>
                <a:cs typeface="Times New Roman"/>
              </a:rPr>
              <a:t> </a:t>
            </a:r>
            <a:r>
              <a:rPr sz="1850" b="1" spc="-20" dirty="0">
                <a:latin typeface="Times New Roman"/>
                <a:cs typeface="Times New Roman"/>
              </a:rPr>
              <a:t>Cycle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2886" y="2867944"/>
            <a:ext cx="1501775" cy="518795"/>
            <a:chOff x="462886" y="2867944"/>
            <a:chExt cx="1501775" cy="518795"/>
          </a:xfrm>
        </p:grpSpPr>
        <p:sp>
          <p:nvSpPr>
            <p:cNvPr id="12" name="object 12"/>
            <p:cNvSpPr/>
            <p:nvPr/>
          </p:nvSpPr>
          <p:spPr>
            <a:xfrm>
              <a:off x="559545" y="2965886"/>
              <a:ext cx="1405255" cy="421005"/>
            </a:xfrm>
            <a:custGeom>
              <a:avLst/>
              <a:gdLst/>
              <a:ahLst/>
              <a:cxnLst/>
              <a:rect l="l" t="t" r="r" b="b"/>
              <a:pathLst>
                <a:path w="1405255" h="421004">
                  <a:moveTo>
                    <a:pt x="1194102" y="0"/>
                  </a:moveTo>
                  <a:lnTo>
                    <a:pt x="211241" y="0"/>
                  </a:lnTo>
                  <a:lnTo>
                    <a:pt x="162984" y="5541"/>
                  </a:lnTo>
                  <a:lnTo>
                    <a:pt x="118590" y="21338"/>
                  </a:lnTo>
                  <a:lnTo>
                    <a:pt x="79358" y="46152"/>
                  </a:lnTo>
                  <a:lnTo>
                    <a:pt x="46586" y="78745"/>
                  </a:lnTo>
                  <a:lnTo>
                    <a:pt x="21570" y="117876"/>
                  </a:lnTo>
                  <a:lnTo>
                    <a:pt x="5608" y="162307"/>
                  </a:lnTo>
                  <a:lnTo>
                    <a:pt x="0" y="210799"/>
                  </a:lnTo>
                  <a:lnTo>
                    <a:pt x="5608" y="258872"/>
                  </a:lnTo>
                  <a:lnTo>
                    <a:pt x="21570" y="302999"/>
                  </a:lnTo>
                  <a:lnTo>
                    <a:pt x="46586" y="341924"/>
                  </a:lnTo>
                  <a:lnTo>
                    <a:pt x="79358" y="374388"/>
                  </a:lnTo>
                  <a:lnTo>
                    <a:pt x="118590" y="399134"/>
                  </a:lnTo>
                  <a:lnTo>
                    <a:pt x="162984" y="414904"/>
                  </a:lnTo>
                  <a:lnTo>
                    <a:pt x="211241" y="420441"/>
                  </a:lnTo>
                  <a:lnTo>
                    <a:pt x="1194102" y="420441"/>
                  </a:lnTo>
                  <a:lnTo>
                    <a:pt x="1242597" y="414904"/>
                  </a:lnTo>
                  <a:lnTo>
                    <a:pt x="1287029" y="399134"/>
                  </a:lnTo>
                  <a:lnTo>
                    <a:pt x="1326160" y="374388"/>
                  </a:lnTo>
                  <a:lnTo>
                    <a:pt x="1358752" y="341924"/>
                  </a:lnTo>
                  <a:lnTo>
                    <a:pt x="1383565" y="302999"/>
                  </a:lnTo>
                  <a:lnTo>
                    <a:pt x="1399361" y="258872"/>
                  </a:lnTo>
                  <a:lnTo>
                    <a:pt x="1404902" y="210799"/>
                  </a:lnTo>
                  <a:lnTo>
                    <a:pt x="1399361" y="162307"/>
                  </a:lnTo>
                  <a:lnTo>
                    <a:pt x="1383565" y="117876"/>
                  </a:lnTo>
                  <a:lnTo>
                    <a:pt x="1358752" y="78745"/>
                  </a:lnTo>
                  <a:lnTo>
                    <a:pt x="1326160" y="46152"/>
                  </a:lnTo>
                  <a:lnTo>
                    <a:pt x="1287029" y="21338"/>
                  </a:lnTo>
                  <a:lnTo>
                    <a:pt x="1242597" y="5541"/>
                  </a:lnTo>
                  <a:lnTo>
                    <a:pt x="1194102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9236" y="2874294"/>
              <a:ext cx="1405890" cy="422275"/>
            </a:xfrm>
            <a:custGeom>
              <a:avLst/>
              <a:gdLst/>
              <a:ahLst/>
              <a:cxnLst/>
              <a:rect l="l" t="t" r="r" b="b"/>
              <a:pathLst>
                <a:path w="1405889" h="422275">
                  <a:moveTo>
                    <a:pt x="1194127" y="0"/>
                  </a:moveTo>
                  <a:lnTo>
                    <a:pt x="210037" y="0"/>
                  </a:lnTo>
                  <a:lnTo>
                    <a:pt x="161848" y="5608"/>
                  </a:lnTo>
                  <a:lnTo>
                    <a:pt x="117627" y="21565"/>
                  </a:lnTo>
                  <a:lnTo>
                    <a:pt x="78630" y="46568"/>
                  </a:lnTo>
                  <a:lnTo>
                    <a:pt x="46113" y="79311"/>
                  </a:lnTo>
                  <a:lnTo>
                    <a:pt x="21331" y="118492"/>
                  </a:lnTo>
                  <a:lnTo>
                    <a:pt x="5542" y="162806"/>
                  </a:lnTo>
                  <a:lnTo>
                    <a:pt x="0" y="210952"/>
                  </a:lnTo>
                  <a:lnTo>
                    <a:pt x="5542" y="259194"/>
                  </a:lnTo>
                  <a:lnTo>
                    <a:pt x="21331" y="303528"/>
                  </a:lnTo>
                  <a:lnTo>
                    <a:pt x="46113" y="342673"/>
                  </a:lnTo>
                  <a:lnTo>
                    <a:pt x="78630" y="375349"/>
                  </a:lnTo>
                  <a:lnTo>
                    <a:pt x="117627" y="400274"/>
                  </a:lnTo>
                  <a:lnTo>
                    <a:pt x="161848" y="416169"/>
                  </a:lnTo>
                  <a:lnTo>
                    <a:pt x="210037" y="421751"/>
                  </a:lnTo>
                  <a:lnTo>
                    <a:pt x="1194127" y="421751"/>
                  </a:lnTo>
                  <a:lnTo>
                    <a:pt x="1242389" y="416169"/>
                  </a:lnTo>
                  <a:lnTo>
                    <a:pt x="1286788" y="400274"/>
                  </a:lnTo>
                  <a:lnTo>
                    <a:pt x="1326026" y="375349"/>
                  </a:lnTo>
                  <a:lnTo>
                    <a:pt x="1358805" y="342673"/>
                  </a:lnTo>
                  <a:lnTo>
                    <a:pt x="1383827" y="303528"/>
                  </a:lnTo>
                  <a:lnTo>
                    <a:pt x="1399792" y="259194"/>
                  </a:lnTo>
                  <a:lnTo>
                    <a:pt x="1405402" y="210952"/>
                  </a:lnTo>
                  <a:lnTo>
                    <a:pt x="1399792" y="162806"/>
                  </a:lnTo>
                  <a:lnTo>
                    <a:pt x="1383827" y="118492"/>
                  </a:lnTo>
                  <a:lnTo>
                    <a:pt x="1358805" y="79311"/>
                  </a:lnTo>
                  <a:lnTo>
                    <a:pt x="1326026" y="46568"/>
                  </a:lnTo>
                  <a:lnTo>
                    <a:pt x="1286788" y="21565"/>
                  </a:lnTo>
                  <a:lnTo>
                    <a:pt x="1242389" y="5608"/>
                  </a:lnTo>
                  <a:lnTo>
                    <a:pt x="1194127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9236" y="2874294"/>
              <a:ext cx="1405890" cy="422275"/>
            </a:xfrm>
            <a:custGeom>
              <a:avLst/>
              <a:gdLst/>
              <a:ahLst/>
              <a:cxnLst/>
              <a:rect l="l" t="t" r="r" b="b"/>
              <a:pathLst>
                <a:path w="1405889" h="422275">
                  <a:moveTo>
                    <a:pt x="1194127" y="421751"/>
                  </a:moveTo>
                  <a:lnTo>
                    <a:pt x="1242390" y="416169"/>
                  </a:lnTo>
                  <a:lnTo>
                    <a:pt x="1286790" y="400274"/>
                  </a:lnTo>
                  <a:lnTo>
                    <a:pt x="1326029" y="375349"/>
                  </a:lnTo>
                  <a:lnTo>
                    <a:pt x="1358808" y="342673"/>
                  </a:lnTo>
                  <a:lnTo>
                    <a:pt x="1383830" y="303528"/>
                  </a:lnTo>
                  <a:lnTo>
                    <a:pt x="1399795" y="259194"/>
                  </a:lnTo>
                  <a:lnTo>
                    <a:pt x="1405405" y="210952"/>
                  </a:lnTo>
                  <a:lnTo>
                    <a:pt x="1399795" y="162816"/>
                  </a:lnTo>
                  <a:lnTo>
                    <a:pt x="1383830" y="118505"/>
                  </a:lnTo>
                  <a:lnTo>
                    <a:pt x="1358808" y="79324"/>
                  </a:lnTo>
                  <a:lnTo>
                    <a:pt x="1326029" y="46577"/>
                  </a:lnTo>
                  <a:lnTo>
                    <a:pt x="1286790" y="21571"/>
                  </a:lnTo>
                  <a:lnTo>
                    <a:pt x="1242390" y="5610"/>
                  </a:lnTo>
                  <a:lnTo>
                    <a:pt x="1194127" y="0"/>
                  </a:lnTo>
                  <a:lnTo>
                    <a:pt x="210040" y="0"/>
                  </a:lnTo>
                  <a:lnTo>
                    <a:pt x="161850" y="5610"/>
                  </a:lnTo>
                  <a:lnTo>
                    <a:pt x="117628" y="21571"/>
                  </a:lnTo>
                  <a:lnTo>
                    <a:pt x="78630" y="46577"/>
                  </a:lnTo>
                  <a:lnTo>
                    <a:pt x="46113" y="79324"/>
                  </a:lnTo>
                  <a:lnTo>
                    <a:pt x="21331" y="118505"/>
                  </a:lnTo>
                  <a:lnTo>
                    <a:pt x="5542" y="162816"/>
                  </a:lnTo>
                  <a:lnTo>
                    <a:pt x="0" y="210952"/>
                  </a:lnTo>
                  <a:lnTo>
                    <a:pt x="5542" y="259194"/>
                  </a:lnTo>
                  <a:lnTo>
                    <a:pt x="21331" y="303528"/>
                  </a:lnTo>
                  <a:lnTo>
                    <a:pt x="46113" y="342673"/>
                  </a:lnTo>
                  <a:lnTo>
                    <a:pt x="78630" y="375349"/>
                  </a:lnTo>
                  <a:lnTo>
                    <a:pt x="117628" y="400274"/>
                  </a:lnTo>
                  <a:lnTo>
                    <a:pt x="161850" y="416169"/>
                  </a:lnTo>
                  <a:lnTo>
                    <a:pt x="210040" y="421751"/>
                  </a:lnTo>
                  <a:lnTo>
                    <a:pt x="1194127" y="421751"/>
                  </a:lnTo>
                  <a:close/>
                </a:path>
              </a:pathLst>
            </a:custGeom>
            <a:ln w="12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32274" y="2939455"/>
            <a:ext cx="61277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spc="-10" dirty="0">
                <a:latin typeface="Times New Roman"/>
                <a:cs typeface="Times New Roman"/>
              </a:rPr>
              <a:t>START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04973" y="2662324"/>
            <a:ext cx="1501775" cy="940435"/>
            <a:chOff x="2804973" y="2662324"/>
            <a:chExt cx="1501775" cy="940435"/>
          </a:xfrm>
        </p:grpSpPr>
        <p:sp>
          <p:nvSpPr>
            <p:cNvPr id="4" name="object 4"/>
            <p:cNvSpPr/>
            <p:nvPr/>
          </p:nvSpPr>
          <p:spPr>
            <a:xfrm>
              <a:off x="2901482" y="2759811"/>
              <a:ext cx="1405255" cy="843280"/>
            </a:xfrm>
            <a:custGeom>
              <a:avLst/>
              <a:gdLst/>
              <a:ahLst/>
              <a:cxnLst/>
              <a:rect l="l" t="t" r="r" b="b"/>
              <a:pathLst>
                <a:path w="1405254" h="843279">
                  <a:moveTo>
                    <a:pt x="1404884" y="0"/>
                  </a:moveTo>
                  <a:lnTo>
                    <a:pt x="0" y="0"/>
                  </a:lnTo>
                  <a:lnTo>
                    <a:pt x="0" y="842680"/>
                  </a:lnTo>
                  <a:lnTo>
                    <a:pt x="1404884" y="842680"/>
                  </a:lnTo>
                  <a:lnTo>
                    <a:pt x="1404884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1018" y="2668371"/>
              <a:ext cx="1405255" cy="842644"/>
            </a:xfrm>
            <a:custGeom>
              <a:avLst/>
              <a:gdLst/>
              <a:ahLst/>
              <a:cxnLst/>
              <a:rect l="l" t="t" r="r" b="b"/>
              <a:pathLst>
                <a:path w="1405254" h="842645">
                  <a:moveTo>
                    <a:pt x="1405067" y="0"/>
                  </a:moveTo>
                  <a:lnTo>
                    <a:pt x="0" y="0"/>
                  </a:lnTo>
                  <a:lnTo>
                    <a:pt x="0" y="842528"/>
                  </a:lnTo>
                  <a:lnTo>
                    <a:pt x="1405067" y="842528"/>
                  </a:lnTo>
                  <a:lnTo>
                    <a:pt x="1405067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1021" y="2668371"/>
              <a:ext cx="1405255" cy="842644"/>
            </a:xfrm>
            <a:custGeom>
              <a:avLst/>
              <a:gdLst/>
              <a:ahLst/>
              <a:cxnLst/>
              <a:rect l="l" t="t" r="r" b="b"/>
              <a:pathLst>
                <a:path w="1405254" h="842645">
                  <a:moveTo>
                    <a:pt x="1405063" y="0"/>
                  </a:moveTo>
                  <a:lnTo>
                    <a:pt x="0" y="0"/>
                  </a:lnTo>
                  <a:lnTo>
                    <a:pt x="0" y="842528"/>
                  </a:lnTo>
                  <a:lnTo>
                    <a:pt x="1405063" y="842528"/>
                  </a:lnTo>
                  <a:lnTo>
                    <a:pt x="1405063" y="0"/>
                  </a:lnTo>
                  <a:close/>
                </a:path>
              </a:pathLst>
            </a:custGeom>
            <a:ln w="12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17068" y="2809205"/>
            <a:ext cx="1393190" cy="46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3525" marR="250825" indent="12700">
              <a:lnSpc>
                <a:spcPct val="102200"/>
              </a:lnSpc>
              <a:spcBef>
                <a:spcPts val="95"/>
              </a:spcBef>
            </a:pPr>
            <a:r>
              <a:rPr sz="1400" b="1" dirty="0">
                <a:latin typeface="Times New Roman"/>
                <a:cs typeface="Times New Roman"/>
              </a:rPr>
              <a:t>Fetch</a:t>
            </a:r>
            <a:r>
              <a:rPr sz="1400" b="1" spc="6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Next </a:t>
            </a:r>
            <a:r>
              <a:rPr sz="1400" b="1" spc="-10" dirty="0">
                <a:latin typeface="Times New Roman"/>
                <a:cs typeface="Times New Roman"/>
              </a:rPr>
              <a:t>Instruction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46596" y="2662324"/>
            <a:ext cx="1501775" cy="940435"/>
            <a:chOff x="5146596" y="2662324"/>
            <a:chExt cx="1501775" cy="940435"/>
          </a:xfrm>
        </p:grpSpPr>
        <p:sp>
          <p:nvSpPr>
            <p:cNvPr id="8" name="object 8"/>
            <p:cNvSpPr/>
            <p:nvPr/>
          </p:nvSpPr>
          <p:spPr>
            <a:xfrm>
              <a:off x="5242925" y="2759811"/>
              <a:ext cx="1405255" cy="843280"/>
            </a:xfrm>
            <a:custGeom>
              <a:avLst/>
              <a:gdLst/>
              <a:ahLst/>
              <a:cxnLst/>
              <a:rect l="l" t="t" r="r" b="b"/>
              <a:pathLst>
                <a:path w="1405254" h="843279">
                  <a:moveTo>
                    <a:pt x="1404884" y="0"/>
                  </a:moveTo>
                  <a:lnTo>
                    <a:pt x="0" y="0"/>
                  </a:lnTo>
                  <a:lnTo>
                    <a:pt x="0" y="842680"/>
                  </a:lnTo>
                  <a:lnTo>
                    <a:pt x="1404884" y="842680"/>
                  </a:lnTo>
                  <a:lnTo>
                    <a:pt x="1404884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52643" y="2668371"/>
              <a:ext cx="1405255" cy="842644"/>
            </a:xfrm>
            <a:custGeom>
              <a:avLst/>
              <a:gdLst/>
              <a:ahLst/>
              <a:cxnLst/>
              <a:rect l="l" t="t" r="r" b="b"/>
              <a:pathLst>
                <a:path w="1405254" h="842645">
                  <a:moveTo>
                    <a:pt x="1405219" y="0"/>
                  </a:moveTo>
                  <a:lnTo>
                    <a:pt x="0" y="0"/>
                  </a:lnTo>
                  <a:lnTo>
                    <a:pt x="0" y="842528"/>
                  </a:lnTo>
                  <a:lnTo>
                    <a:pt x="1405219" y="842528"/>
                  </a:lnTo>
                  <a:lnTo>
                    <a:pt x="1405219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52643" y="2668371"/>
              <a:ext cx="1405255" cy="842644"/>
            </a:xfrm>
            <a:custGeom>
              <a:avLst/>
              <a:gdLst/>
              <a:ahLst/>
              <a:cxnLst/>
              <a:rect l="l" t="t" r="r" b="b"/>
              <a:pathLst>
                <a:path w="1405254" h="842645">
                  <a:moveTo>
                    <a:pt x="1405219" y="0"/>
                  </a:moveTo>
                  <a:lnTo>
                    <a:pt x="0" y="0"/>
                  </a:lnTo>
                  <a:lnTo>
                    <a:pt x="0" y="842528"/>
                  </a:lnTo>
                  <a:lnTo>
                    <a:pt x="1405219" y="842528"/>
                  </a:lnTo>
                  <a:lnTo>
                    <a:pt x="1405219" y="0"/>
                  </a:lnTo>
                  <a:close/>
                </a:path>
              </a:pathLst>
            </a:custGeom>
            <a:ln w="12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158690" y="2809206"/>
            <a:ext cx="1393190" cy="46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225" marR="237490" indent="126364">
              <a:lnSpc>
                <a:spcPct val="1022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Execute Instruction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874641" y="2238164"/>
            <a:ext cx="3984625" cy="895985"/>
            <a:chOff x="1874641" y="2238164"/>
            <a:chExt cx="3984625" cy="895985"/>
          </a:xfrm>
        </p:grpSpPr>
        <p:sp>
          <p:nvSpPr>
            <p:cNvPr id="29" name="object 29"/>
            <p:cNvSpPr/>
            <p:nvPr/>
          </p:nvSpPr>
          <p:spPr>
            <a:xfrm>
              <a:off x="1874641" y="3085246"/>
              <a:ext cx="863600" cy="0"/>
            </a:xfrm>
            <a:custGeom>
              <a:avLst/>
              <a:gdLst/>
              <a:ahLst/>
              <a:cxnLst/>
              <a:rect l="l" t="t" r="r" b="b"/>
              <a:pathLst>
                <a:path w="863600">
                  <a:moveTo>
                    <a:pt x="0" y="0"/>
                  </a:moveTo>
                  <a:lnTo>
                    <a:pt x="0" y="0"/>
                  </a:lnTo>
                  <a:lnTo>
                    <a:pt x="863144" y="0"/>
                  </a:lnTo>
                </a:path>
              </a:pathLst>
            </a:custGeom>
            <a:ln w="12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23162" y="3036356"/>
              <a:ext cx="84455" cy="97790"/>
            </a:xfrm>
            <a:custGeom>
              <a:avLst/>
              <a:gdLst/>
              <a:ahLst/>
              <a:cxnLst/>
              <a:rect l="l" t="t" r="r" b="b"/>
              <a:pathLst>
                <a:path w="84455" h="97789">
                  <a:moveTo>
                    <a:pt x="0" y="0"/>
                  </a:moveTo>
                  <a:lnTo>
                    <a:pt x="0" y="97627"/>
                  </a:lnTo>
                  <a:lnTo>
                    <a:pt x="84283" y="4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16085" y="3085246"/>
              <a:ext cx="863600" cy="0"/>
            </a:xfrm>
            <a:custGeom>
              <a:avLst/>
              <a:gdLst/>
              <a:ahLst/>
              <a:cxnLst/>
              <a:rect l="l" t="t" r="r" b="b"/>
              <a:pathLst>
                <a:path w="863600">
                  <a:moveTo>
                    <a:pt x="0" y="0"/>
                  </a:moveTo>
                  <a:lnTo>
                    <a:pt x="0" y="0"/>
                  </a:lnTo>
                  <a:lnTo>
                    <a:pt x="863467" y="0"/>
                  </a:lnTo>
                </a:path>
              </a:pathLst>
            </a:custGeom>
            <a:ln w="12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65105" y="3036356"/>
              <a:ext cx="83820" cy="97790"/>
            </a:xfrm>
            <a:custGeom>
              <a:avLst/>
              <a:gdLst/>
              <a:ahLst/>
              <a:cxnLst/>
              <a:rect l="l" t="t" r="r" b="b"/>
              <a:pathLst>
                <a:path w="83820" h="97789">
                  <a:moveTo>
                    <a:pt x="0" y="0"/>
                  </a:moveTo>
                  <a:lnTo>
                    <a:pt x="0" y="97627"/>
                  </a:lnTo>
                  <a:lnTo>
                    <a:pt x="83789" y="4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85347" y="2244212"/>
              <a:ext cx="3568065" cy="767080"/>
            </a:xfrm>
            <a:custGeom>
              <a:avLst/>
              <a:gdLst/>
              <a:ahLst/>
              <a:cxnLst/>
              <a:rect l="l" t="t" r="r" b="b"/>
              <a:pathLst>
                <a:path w="3568065" h="767080">
                  <a:moveTo>
                    <a:pt x="3567543" y="420593"/>
                  </a:moveTo>
                  <a:lnTo>
                    <a:pt x="3567543" y="0"/>
                  </a:lnTo>
                  <a:lnTo>
                    <a:pt x="0" y="0"/>
                  </a:lnTo>
                  <a:lnTo>
                    <a:pt x="0" y="766815"/>
                  </a:lnTo>
                </a:path>
              </a:pathLst>
            </a:custGeom>
            <a:ln w="12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36625" y="2996580"/>
              <a:ext cx="96520" cy="83820"/>
            </a:xfrm>
            <a:custGeom>
              <a:avLst/>
              <a:gdLst/>
              <a:ahLst/>
              <a:cxnLst/>
              <a:rect l="l" t="t" r="r" b="b"/>
              <a:pathLst>
                <a:path w="96519" h="83819">
                  <a:moveTo>
                    <a:pt x="96298" y="0"/>
                  </a:moveTo>
                  <a:lnTo>
                    <a:pt x="0" y="0"/>
                  </a:lnTo>
                  <a:lnTo>
                    <a:pt x="48719" y="83789"/>
                  </a:lnTo>
                  <a:lnTo>
                    <a:pt x="962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491638" y="2864378"/>
            <a:ext cx="1503045" cy="518795"/>
            <a:chOff x="7491638" y="2864378"/>
            <a:chExt cx="1503045" cy="518795"/>
          </a:xfrm>
        </p:grpSpPr>
        <p:sp>
          <p:nvSpPr>
            <p:cNvPr id="17" name="object 17"/>
            <p:cNvSpPr/>
            <p:nvPr/>
          </p:nvSpPr>
          <p:spPr>
            <a:xfrm>
              <a:off x="7589580" y="2961010"/>
              <a:ext cx="1405255" cy="422275"/>
            </a:xfrm>
            <a:custGeom>
              <a:avLst/>
              <a:gdLst/>
              <a:ahLst/>
              <a:cxnLst/>
              <a:rect l="l" t="t" r="r" b="b"/>
              <a:pathLst>
                <a:path w="1405254" h="422275">
                  <a:moveTo>
                    <a:pt x="1194084" y="0"/>
                  </a:moveTo>
                  <a:lnTo>
                    <a:pt x="210769" y="0"/>
                  </a:lnTo>
                  <a:lnTo>
                    <a:pt x="162279" y="5608"/>
                  </a:lnTo>
                  <a:lnTo>
                    <a:pt x="117852" y="21565"/>
                  </a:lnTo>
                  <a:lnTo>
                    <a:pt x="78726" y="46568"/>
                  </a:lnTo>
                  <a:lnTo>
                    <a:pt x="46140" y="79311"/>
                  </a:lnTo>
                  <a:lnTo>
                    <a:pt x="21332" y="118492"/>
                  </a:lnTo>
                  <a:lnTo>
                    <a:pt x="5539" y="162806"/>
                  </a:lnTo>
                  <a:lnTo>
                    <a:pt x="0" y="210952"/>
                  </a:lnTo>
                  <a:lnTo>
                    <a:pt x="5539" y="259395"/>
                  </a:lnTo>
                  <a:lnTo>
                    <a:pt x="21332" y="303808"/>
                  </a:lnTo>
                  <a:lnTo>
                    <a:pt x="46140" y="342942"/>
                  </a:lnTo>
                  <a:lnTo>
                    <a:pt x="78726" y="375550"/>
                  </a:lnTo>
                  <a:lnTo>
                    <a:pt x="117852" y="400386"/>
                  </a:lnTo>
                  <a:lnTo>
                    <a:pt x="162279" y="416202"/>
                  </a:lnTo>
                  <a:lnTo>
                    <a:pt x="210769" y="421751"/>
                  </a:lnTo>
                  <a:lnTo>
                    <a:pt x="1194084" y="421751"/>
                  </a:lnTo>
                  <a:lnTo>
                    <a:pt x="1242173" y="416202"/>
                  </a:lnTo>
                  <a:lnTo>
                    <a:pt x="1286447" y="400386"/>
                  </a:lnTo>
                  <a:lnTo>
                    <a:pt x="1325601" y="375550"/>
                  </a:lnTo>
                  <a:lnTo>
                    <a:pt x="1358328" y="342942"/>
                  </a:lnTo>
                  <a:lnTo>
                    <a:pt x="1383321" y="303808"/>
                  </a:lnTo>
                  <a:lnTo>
                    <a:pt x="1399275" y="259395"/>
                  </a:lnTo>
                  <a:lnTo>
                    <a:pt x="1404884" y="210952"/>
                  </a:lnTo>
                  <a:lnTo>
                    <a:pt x="1399275" y="162806"/>
                  </a:lnTo>
                  <a:lnTo>
                    <a:pt x="1383321" y="118492"/>
                  </a:lnTo>
                  <a:lnTo>
                    <a:pt x="1358328" y="79311"/>
                  </a:lnTo>
                  <a:lnTo>
                    <a:pt x="1325601" y="46568"/>
                  </a:lnTo>
                  <a:lnTo>
                    <a:pt x="1286447" y="21565"/>
                  </a:lnTo>
                  <a:lnTo>
                    <a:pt x="1242173" y="5608"/>
                  </a:lnTo>
                  <a:lnTo>
                    <a:pt x="1194084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97957" y="2870728"/>
              <a:ext cx="1405255" cy="421005"/>
            </a:xfrm>
            <a:custGeom>
              <a:avLst/>
              <a:gdLst/>
              <a:ahLst/>
              <a:cxnLst/>
              <a:rect l="l" t="t" r="r" b="b"/>
              <a:pathLst>
                <a:path w="1405254" h="421004">
                  <a:moveTo>
                    <a:pt x="1194114" y="0"/>
                  </a:moveTo>
                  <a:lnTo>
                    <a:pt x="210982" y="0"/>
                  </a:lnTo>
                  <a:lnTo>
                    <a:pt x="162835" y="5545"/>
                  </a:lnTo>
                  <a:lnTo>
                    <a:pt x="118516" y="21338"/>
                  </a:lnTo>
                  <a:lnTo>
                    <a:pt x="79329" y="46109"/>
                  </a:lnTo>
                  <a:lnTo>
                    <a:pt x="46580" y="78593"/>
                  </a:lnTo>
                  <a:lnTo>
                    <a:pt x="21572" y="117521"/>
                  </a:lnTo>
                  <a:lnTo>
                    <a:pt x="5610" y="161626"/>
                  </a:lnTo>
                  <a:lnTo>
                    <a:pt x="0" y="209641"/>
                  </a:lnTo>
                  <a:lnTo>
                    <a:pt x="5610" y="258238"/>
                  </a:lnTo>
                  <a:lnTo>
                    <a:pt x="21572" y="302711"/>
                  </a:lnTo>
                  <a:lnTo>
                    <a:pt x="46580" y="341836"/>
                  </a:lnTo>
                  <a:lnTo>
                    <a:pt x="79329" y="374393"/>
                  </a:lnTo>
                  <a:lnTo>
                    <a:pt x="118516" y="399161"/>
                  </a:lnTo>
                  <a:lnTo>
                    <a:pt x="162835" y="414917"/>
                  </a:lnTo>
                  <a:lnTo>
                    <a:pt x="210982" y="420441"/>
                  </a:lnTo>
                  <a:lnTo>
                    <a:pt x="1194114" y="420441"/>
                  </a:lnTo>
                  <a:lnTo>
                    <a:pt x="1242615" y="414917"/>
                  </a:lnTo>
                  <a:lnTo>
                    <a:pt x="1287068" y="399161"/>
                  </a:lnTo>
                  <a:lnTo>
                    <a:pt x="1326229" y="374393"/>
                  </a:lnTo>
                  <a:lnTo>
                    <a:pt x="1358854" y="341836"/>
                  </a:lnTo>
                  <a:lnTo>
                    <a:pt x="1383698" y="302711"/>
                  </a:lnTo>
                  <a:lnTo>
                    <a:pt x="1399517" y="258238"/>
                  </a:lnTo>
                  <a:lnTo>
                    <a:pt x="1405067" y="209641"/>
                  </a:lnTo>
                  <a:lnTo>
                    <a:pt x="1399517" y="161626"/>
                  </a:lnTo>
                  <a:lnTo>
                    <a:pt x="1383698" y="117521"/>
                  </a:lnTo>
                  <a:lnTo>
                    <a:pt x="1358854" y="78593"/>
                  </a:lnTo>
                  <a:lnTo>
                    <a:pt x="1326229" y="46109"/>
                  </a:lnTo>
                  <a:lnTo>
                    <a:pt x="1287068" y="21338"/>
                  </a:lnTo>
                  <a:lnTo>
                    <a:pt x="1242615" y="5545"/>
                  </a:lnTo>
                  <a:lnTo>
                    <a:pt x="1194114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97988" y="2870728"/>
              <a:ext cx="1405255" cy="421005"/>
            </a:xfrm>
            <a:custGeom>
              <a:avLst/>
              <a:gdLst/>
              <a:ahLst/>
              <a:cxnLst/>
              <a:rect l="l" t="t" r="r" b="b"/>
              <a:pathLst>
                <a:path w="1405254" h="421004">
                  <a:moveTo>
                    <a:pt x="1194084" y="420441"/>
                  </a:moveTo>
                  <a:lnTo>
                    <a:pt x="1242594" y="414917"/>
                  </a:lnTo>
                  <a:lnTo>
                    <a:pt x="1287050" y="399161"/>
                  </a:lnTo>
                  <a:lnTo>
                    <a:pt x="1326211" y="374396"/>
                  </a:lnTo>
                  <a:lnTo>
                    <a:pt x="1358833" y="341842"/>
                  </a:lnTo>
                  <a:lnTo>
                    <a:pt x="1383673" y="302722"/>
                  </a:lnTo>
                  <a:lnTo>
                    <a:pt x="1399488" y="258258"/>
                  </a:lnTo>
                  <a:lnTo>
                    <a:pt x="1405036" y="209671"/>
                  </a:lnTo>
                  <a:lnTo>
                    <a:pt x="1399488" y="161645"/>
                  </a:lnTo>
                  <a:lnTo>
                    <a:pt x="1383673" y="117532"/>
                  </a:lnTo>
                  <a:lnTo>
                    <a:pt x="1358833" y="78598"/>
                  </a:lnTo>
                  <a:lnTo>
                    <a:pt x="1326211" y="46112"/>
                  </a:lnTo>
                  <a:lnTo>
                    <a:pt x="1287050" y="21338"/>
                  </a:lnTo>
                  <a:lnTo>
                    <a:pt x="1242594" y="5545"/>
                  </a:lnTo>
                  <a:lnTo>
                    <a:pt x="1194084" y="0"/>
                  </a:lnTo>
                  <a:lnTo>
                    <a:pt x="210952" y="0"/>
                  </a:lnTo>
                  <a:lnTo>
                    <a:pt x="162806" y="5545"/>
                  </a:lnTo>
                  <a:lnTo>
                    <a:pt x="118492" y="21338"/>
                  </a:lnTo>
                  <a:lnTo>
                    <a:pt x="79311" y="46112"/>
                  </a:lnTo>
                  <a:lnTo>
                    <a:pt x="46568" y="78598"/>
                  </a:lnTo>
                  <a:lnTo>
                    <a:pt x="21565" y="117532"/>
                  </a:lnTo>
                  <a:lnTo>
                    <a:pt x="5608" y="161645"/>
                  </a:lnTo>
                  <a:lnTo>
                    <a:pt x="0" y="209671"/>
                  </a:lnTo>
                  <a:lnTo>
                    <a:pt x="5608" y="258258"/>
                  </a:lnTo>
                  <a:lnTo>
                    <a:pt x="21565" y="302722"/>
                  </a:lnTo>
                  <a:lnTo>
                    <a:pt x="46568" y="341842"/>
                  </a:lnTo>
                  <a:lnTo>
                    <a:pt x="79311" y="374396"/>
                  </a:lnTo>
                  <a:lnTo>
                    <a:pt x="118492" y="399161"/>
                  </a:lnTo>
                  <a:lnTo>
                    <a:pt x="162806" y="414917"/>
                  </a:lnTo>
                  <a:lnTo>
                    <a:pt x="210952" y="420441"/>
                  </a:lnTo>
                  <a:lnTo>
                    <a:pt x="1194084" y="420441"/>
                  </a:lnTo>
                  <a:close/>
                </a:path>
              </a:pathLst>
            </a:custGeom>
            <a:ln w="12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557863" y="3036356"/>
            <a:ext cx="934085" cy="97790"/>
            <a:chOff x="6557863" y="3036356"/>
            <a:chExt cx="934085" cy="97790"/>
          </a:xfrm>
        </p:grpSpPr>
        <p:sp>
          <p:nvSpPr>
            <p:cNvPr id="26" name="object 26"/>
            <p:cNvSpPr/>
            <p:nvPr/>
          </p:nvSpPr>
          <p:spPr>
            <a:xfrm>
              <a:off x="6557863" y="3085246"/>
              <a:ext cx="863600" cy="0"/>
            </a:xfrm>
            <a:custGeom>
              <a:avLst/>
              <a:gdLst/>
              <a:ahLst/>
              <a:cxnLst/>
              <a:rect l="l" t="t" r="r" b="b"/>
              <a:pathLst>
                <a:path w="863600">
                  <a:moveTo>
                    <a:pt x="0" y="0"/>
                  </a:moveTo>
                  <a:lnTo>
                    <a:pt x="0" y="0"/>
                  </a:lnTo>
                  <a:lnTo>
                    <a:pt x="863132" y="0"/>
                  </a:lnTo>
                </a:path>
              </a:pathLst>
            </a:custGeom>
            <a:ln w="12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07676" y="3036356"/>
              <a:ext cx="84455" cy="97790"/>
            </a:xfrm>
            <a:custGeom>
              <a:avLst/>
              <a:gdLst/>
              <a:ahLst/>
              <a:cxnLst/>
              <a:rect l="l" t="t" r="r" b="b"/>
              <a:pathLst>
                <a:path w="84454" h="97789">
                  <a:moveTo>
                    <a:pt x="0" y="0"/>
                  </a:moveTo>
                  <a:lnTo>
                    <a:pt x="0" y="97627"/>
                  </a:lnTo>
                  <a:lnTo>
                    <a:pt x="84277" y="4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907508" y="2934578"/>
            <a:ext cx="52514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spc="-20" dirty="0">
                <a:latin typeface="Times New Roman"/>
                <a:cs typeface="Times New Roman"/>
              </a:rPr>
              <a:t>HALT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84731" y="5454698"/>
            <a:ext cx="434530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Times New Roman"/>
                <a:cs typeface="Times New Roman"/>
              </a:rPr>
              <a:t>Figure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3.3</a:t>
            </a:r>
            <a:r>
              <a:rPr sz="2300" b="1" spc="47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Basic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Instruction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Cycle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76" y="432816"/>
            <a:ext cx="3069335" cy="101193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7711" y="551124"/>
            <a:ext cx="3075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79120" algn="l"/>
              </a:tabLst>
            </a:pPr>
            <a:r>
              <a:rPr sz="5400" b="1" spc="-75" baseline="42438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baseline="42438" dirty="0">
                <a:solidFill>
                  <a:srgbClr val="B86FB8"/>
                </a:solidFill>
                <a:latin typeface="Times New Roman"/>
                <a:cs typeface="Times New Roman"/>
              </a:rPr>
              <a:t>	</a:t>
            </a:r>
            <a:r>
              <a:rPr sz="3600" spc="-25" dirty="0"/>
              <a:t>Fetch</a:t>
            </a:r>
            <a:r>
              <a:rPr sz="3600" spc="-180" dirty="0">
                <a:latin typeface="Times New Roman"/>
                <a:cs typeface="Times New Roman"/>
              </a:rPr>
              <a:t> </a:t>
            </a:r>
            <a:r>
              <a:rPr sz="3600" spc="-10" dirty="0"/>
              <a:t>Cycle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7398" y="1624325"/>
            <a:ext cx="6939915" cy="4091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At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beginning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cycle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endParaRPr sz="2000">
              <a:latin typeface="Rockwell"/>
              <a:cs typeface="Rockwell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fetches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2000">
              <a:latin typeface="Rockwell"/>
              <a:cs typeface="Rockwell"/>
            </a:endParaRPr>
          </a:p>
          <a:p>
            <a:pPr marL="241300" marR="779145" indent="-228600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program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counter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(PC)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holds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fetched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next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9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increments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PC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after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endParaRPr sz="2000">
              <a:latin typeface="Rockwell"/>
              <a:cs typeface="Rockwell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fetch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so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will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fetch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next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sequence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fetched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loaded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into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endParaRPr sz="2000">
              <a:latin typeface="Rockwell"/>
              <a:cs typeface="Rockwell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register</a:t>
            </a:r>
            <a:r>
              <a:rPr sz="2000" spc="-1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(IR)</a:t>
            </a:r>
            <a:endParaRPr sz="2000">
              <a:latin typeface="Rockwell"/>
              <a:cs typeface="Rockwell"/>
            </a:endParaRPr>
          </a:p>
          <a:p>
            <a:pPr marL="241300" marR="5080" indent="-228600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interprets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performs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required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action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4900" y="5024426"/>
            <a:ext cx="1837090" cy="18317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63" y="15240"/>
            <a:ext cx="4401312" cy="101193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02435" y="134487"/>
            <a:ext cx="3825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Action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/>
              <a:t>Categories</a:t>
            </a:r>
          </a:p>
        </p:txBody>
      </p:sp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983250" y="902319"/>
            <a:ext cx="2680970" cy="1741170"/>
            <a:chOff x="983250" y="902319"/>
            <a:chExt cx="2680970" cy="1741170"/>
          </a:xfrm>
        </p:grpSpPr>
        <p:sp>
          <p:nvSpPr>
            <p:cNvPr id="18" name="object 18"/>
            <p:cNvSpPr/>
            <p:nvPr/>
          </p:nvSpPr>
          <p:spPr>
            <a:xfrm>
              <a:off x="989600" y="908669"/>
              <a:ext cx="2668270" cy="1728470"/>
            </a:xfrm>
            <a:custGeom>
              <a:avLst/>
              <a:gdLst/>
              <a:ahLst/>
              <a:cxnLst/>
              <a:rect l="l" t="t" r="r" b="b"/>
              <a:pathLst>
                <a:path w="2668270" h="1728470">
                  <a:moveTo>
                    <a:pt x="2495025" y="0"/>
                  </a:moveTo>
                  <a:lnTo>
                    <a:pt x="172818" y="0"/>
                  </a:lnTo>
                  <a:lnTo>
                    <a:pt x="126878" y="6180"/>
                  </a:lnTo>
                  <a:lnTo>
                    <a:pt x="85596" y="23619"/>
                  </a:lnTo>
                  <a:lnTo>
                    <a:pt x="50619" y="50661"/>
                  </a:lnTo>
                  <a:lnTo>
                    <a:pt x="23596" y="85651"/>
                  </a:lnTo>
                  <a:lnTo>
                    <a:pt x="6173" y="126932"/>
                  </a:lnTo>
                  <a:lnTo>
                    <a:pt x="0" y="172852"/>
                  </a:lnTo>
                  <a:lnTo>
                    <a:pt x="0" y="1555394"/>
                  </a:lnTo>
                  <a:lnTo>
                    <a:pt x="6173" y="1601353"/>
                  </a:lnTo>
                  <a:lnTo>
                    <a:pt x="23596" y="1642641"/>
                  </a:lnTo>
                  <a:lnTo>
                    <a:pt x="50619" y="1677615"/>
                  </a:lnTo>
                  <a:lnTo>
                    <a:pt x="85596" y="1704631"/>
                  </a:lnTo>
                  <a:lnTo>
                    <a:pt x="126878" y="1722045"/>
                  </a:lnTo>
                  <a:lnTo>
                    <a:pt x="172818" y="1728215"/>
                  </a:lnTo>
                  <a:lnTo>
                    <a:pt x="2495025" y="1728215"/>
                  </a:lnTo>
                  <a:lnTo>
                    <a:pt x="2540987" y="1722045"/>
                  </a:lnTo>
                  <a:lnTo>
                    <a:pt x="2582280" y="1704631"/>
                  </a:lnTo>
                  <a:lnTo>
                    <a:pt x="2617261" y="1677615"/>
                  </a:lnTo>
                  <a:lnTo>
                    <a:pt x="2644285" y="1642641"/>
                  </a:lnTo>
                  <a:lnTo>
                    <a:pt x="2661705" y="1601353"/>
                  </a:lnTo>
                  <a:lnTo>
                    <a:pt x="2667877" y="1555394"/>
                  </a:lnTo>
                  <a:lnTo>
                    <a:pt x="2667877" y="172852"/>
                  </a:lnTo>
                  <a:lnTo>
                    <a:pt x="2661705" y="126932"/>
                  </a:lnTo>
                  <a:lnTo>
                    <a:pt x="2644285" y="85651"/>
                  </a:lnTo>
                  <a:lnTo>
                    <a:pt x="2617261" y="50661"/>
                  </a:lnTo>
                  <a:lnTo>
                    <a:pt x="2582280" y="23619"/>
                  </a:lnTo>
                  <a:lnTo>
                    <a:pt x="2540987" y="6180"/>
                  </a:lnTo>
                  <a:lnTo>
                    <a:pt x="249502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89600" y="908669"/>
              <a:ext cx="2668270" cy="1728470"/>
            </a:xfrm>
            <a:custGeom>
              <a:avLst/>
              <a:gdLst/>
              <a:ahLst/>
              <a:cxnLst/>
              <a:rect l="l" t="t" r="r" b="b"/>
              <a:pathLst>
                <a:path w="2668270" h="1728470">
                  <a:moveTo>
                    <a:pt x="0" y="172852"/>
                  </a:moveTo>
                  <a:lnTo>
                    <a:pt x="6173" y="126932"/>
                  </a:lnTo>
                  <a:lnTo>
                    <a:pt x="23596" y="85651"/>
                  </a:lnTo>
                  <a:lnTo>
                    <a:pt x="50619" y="50661"/>
                  </a:lnTo>
                  <a:lnTo>
                    <a:pt x="85596" y="23619"/>
                  </a:lnTo>
                  <a:lnTo>
                    <a:pt x="126878" y="6180"/>
                  </a:lnTo>
                  <a:lnTo>
                    <a:pt x="172818" y="0"/>
                  </a:lnTo>
                  <a:lnTo>
                    <a:pt x="2495025" y="0"/>
                  </a:lnTo>
                  <a:lnTo>
                    <a:pt x="2540987" y="6180"/>
                  </a:lnTo>
                  <a:lnTo>
                    <a:pt x="2582280" y="23619"/>
                  </a:lnTo>
                  <a:lnTo>
                    <a:pt x="2617261" y="50661"/>
                  </a:lnTo>
                  <a:lnTo>
                    <a:pt x="2644285" y="85651"/>
                  </a:lnTo>
                  <a:lnTo>
                    <a:pt x="2661705" y="126932"/>
                  </a:lnTo>
                  <a:lnTo>
                    <a:pt x="2667877" y="172852"/>
                  </a:lnTo>
                  <a:lnTo>
                    <a:pt x="2667877" y="1555394"/>
                  </a:lnTo>
                  <a:lnTo>
                    <a:pt x="2661705" y="1601353"/>
                  </a:lnTo>
                  <a:lnTo>
                    <a:pt x="2644285" y="1642641"/>
                  </a:lnTo>
                  <a:lnTo>
                    <a:pt x="2617261" y="1677615"/>
                  </a:lnTo>
                  <a:lnTo>
                    <a:pt x="2582280" y="1704631"/>
                  </a:lnTo>
                  <a:lnTo>
                    <a:pt x="2540987" y="1722045"/>
                  </a:lnTo>
                  <a:lnTo>
                    <a:pt x="2495025" y="1728215"/>
                  </a:lnTo>
                  <a:lnTo>
                    <a:pt x="172818" y="1728215"/>
                  </a:lnTo>
                  <a:lnTo>
                    <a:pt x="126878" y="1722045"/>
                  </a:lnTo>
                  <a:lnTo>
                    <a:pt x="85596" y="1704631"/>
                  </a:lnTo>
                  <a:lnTo>
                    <a:pt x="50619" y="1677615"/>
                  </a:lnTo>
                  <a:lnTo>
                    <a:pt x="23596" y="1642641"/>
                  </a:lnTo>
                  <a:lnTo>
                    <a:pt x="6173" y="1601353"/>
                  </a:lnTo>
                  <a:lnTo>
                    <a:pt x="0" y="1555394"/>
                  </a:lnTo>
                  <a:lnTo>
                    <a:pt x="0" y="172852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76043" y="969386"/>
            <a:ext cx="1639570" cy="6915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0" marR="5080" indent="-114300">
              <a:lnSpc>
                <a:spcPct val="8810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Rockwell"/>
                <a:cs typeface="Rockwell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transferred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Rockwell"/>
                <a:cs typeface="Rockwell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processor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memory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memory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Rockwell"/>
                <a:cs typeface="Rockwell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processor</a:t>
            </a:r>
            <a:endParaRPr sz="1200">
              <a:latin typeface="Rockwell"/>
              <a:cs typeface="Rockwel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37588" y="1171955"/>
            <a:ext cx="2478405" cy="2478405"/>
            <a:chOff x="2037588" y="1171955"/>
            <a:chExt cx="2478405" cy="2478405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7588" y="1171955"/>
              <a:ext cx="2478024" cy="24780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9776" y="2330195"/>
              <a:ext cx="1700783" cy="9098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06168" y="1214627"/>
              <a:ext cx="2340863" cy="234238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107560" y="1216517"/>
              <a:ext cx="2338705" cy="2338705"/>
            </a:xfrm>
            <a:custGeom>
              <a:avLst/>
              <a:gdLst/>
              <a:ahLst/>
              <a:cxnLst/>
              <a:rect l="l" t="t" r="r" b="b"/>
              <a:pathLst>
                <a:path w="2338704" h="2338704">
                  <a:moveTo>
                    <a:pt x="0" y="2338456"/>
                  </a:moveTo>
                  <a:lnTo>
                    <a:pt x="489" y="2290142"/>
                  </a:lnTo>
                  <a:lnTo>
                    <a:pt x="1950" y="2242066"/>
                  </a:lnTo>
                  <a:lnTo>
                    <a:pt x="4374" y="2194239"/>
                  </a:lnTo>
                  <a:lnTo>
                    <a:pt x="7751" y="2146669"/>
                  </a:lnTo>
                  <a:lnTo>
                    <a:pt x="12072" y="2099366"/>
                  </a:lnTo>
                  <a:lnTo>
                    <a:pt x="17327" y="2052339"/>
                  </a:lnTo>
                  <a:lnTo>
                    <a:pt x="23508" y="2005598"/>
                  </a:lnTo>
                  <a:lnTo>
                    <a:pt x="30604" y="1959152"/>
                  </a:lnTo>
                  <a:lnTo>
                    <a:pt x="38606" y="1913010"/>
                  </a:lnTo>
                  <a:lnTo>
                    <a:pt x="47505" y="1867182"/>
                  </a:lnTo>
                  <a:lnTo>
                    <a:pt x="57292" y="1821678"/>
                  </a:lnTo>
                  <a:lnTo>
                    <a:pt x="67956" y="1776506"/>
                  </a:lnTo>
                  <a:lnTo>
                    <a:pt x="79490" y="1731676"/>
                  </a:lnTo>
                  <a:lnTo>
                    <a:pt x="91882" y="1687197"/>
                  </a:lnTo>
                  <a:lnTo>
                    <a:pt x="105124" y="1643080"/>
                  </a:lnTo>
                  <a:lnTo>
                    <a:pt x="119207" y="1599332"/>
                  </a:lnTo>
                  <a:lnTo>
                    <a:pt x="134121" y="1555965"/>
                  </a:lnTo>
                  <a:lnTo>
                    <a:pt x="149857" y="1512986"/>
                  </a:lnTo>
                  <a:lnTo>
                    <a:pt x="166404" y="1470406"/>
                  </a:lnTo>
                  <a:lnTo>
                    <a:pt x="183755" y="1428234"/>
                  </a:lnTo>
                  <a:lnTo>
                    <a:pt x="201899" y="1386479"/>
                  </a:lnTo>
                  <a:lnTo>
                    <a:pt x="220827" y="1345150"/>
                  </a:lnTo>
                  <a:lnTo>
                    <a:pt x="240530" y="1304258"/>
                  </a:lnTo>
                  <a:lnTo>
                    <a:pt x="260997" y="1263812"/>
                  </a:lnTo>
                  <a:lnTo>
                    <a:pt x="282221" y="1223820"/>
                  </a:lnTo>
                  <a:lnTo>
                    <a:pt x="304191" y="1184292"/>
                  </a:lnTo>
                  <a:lnTo>
                    <a:pt x="326899" y="1145239"/>
                  </a:lnTo>
                  <a:lnTo>
                    <a:pt x="350334" y="1106668"/>
                  </a:lnTo>
                  <a:lnTo>
                    <a:pt x="374487" y="1068590"/>
                  </a:lnTo>
                  <a:lnTo>
                    <a:pt x="399349" y="1031014"/>
                  </a:lnTo>
                  <a:lnTo>
                    <a:pt x="424910" y="993949"/>
                  </a:lnTo>
                  <a:lnTo>
                    <a:pt x="451161" y="957405"/>
                  </a:lnTo>
                  <a:lnTo>
                    <a:pt x="478093" y="921391"/>
                  </a:lnTo>
                  <a:lnTo>
                    <a:pt x="505697" y="885916"/>
                  </a:lnTo>
                  <a:lnTo>
                    <a:pt x="533962" y="850991"/>
                  </a:lnTo>
                  <a:lnTo>
                    <a:pt x="562879" y="816624"/>
                  </a:lnTo>
                  <a:lnTo>
                    <a:pt x="592440" y="782824"/>
                  </a:lnTo>
                  <a:lnTo>
                    <a:pt x="622634" y="749602"/>
                  </a:lnTo>
                  <a:lnTo>
                    <a:pt x="653453" y="716967"/>
                  </a:lnTo>
                  <a:lnTo>
                    <a:pt x="684886" y="684927"/>
                  </a:lnTo>
                  <a:lnTo>
                    <a:pt x="716925" y="653493"/>
                  </a:lnTo>
                  <a:lnTo>
                    <a:pt x="749559" y="622673"/>
                  </a:lnTo>
                  <a:lnTo>
                    <a:pt x="782781" y="592478"/>
                  </a:lnTo>
                  <a:lnTo>
                    <a:pt x="816579" y="562916"/>
                  </a:lnTo>
                  <a:lnTo>
                    <a:pt x="850946" y="533997"/>
                  </a:lnTo>
                  <a:lnTo>
                    <a:pt x="885871" y="505731"/>
                  </a:lnTo>
                  <a:lnTo>
                    <a:pt x="921345" y="478127"/>
                  </a:lnTo>
                  <a:lnTo>
                    <a:pt x="957358" y="451193"/>
                  </a:lnTo>
                  <a:lnTo>
                    <a:pt x="993902" y="424941"/>
                  </a:lnTo>
                  <a:lnTo>
                    <a:pt x="1030966" y="399378"/>
                  </a:lnTo>
                  <a:lnTo>
                    <a:pt x="1068542" y="374515"/>
                  </a:lnTo>
                  <a:lnTo>
                    <a:pt x="1106621" y="350360"/>
                  </a:lnTo>
                  <a:lnTo>
                    <a:pt x="1145191" y="326924"/>
                  </a:lnTo>
                  <a:lnTo>
                    <a:pt x="1184245" y="304215"/>
                  </a:lnTo>
                  <a:lnTo>
                    <a:pt x="1223773" y="282244"/>
                  </a:lnTo>
                  <a:lnTo>
                    <a:pt x="1263765" y="261019"/>
                  </a:lnTo>
                  <a:lnTo>
                    <a:pt x="1304212" y="240549"/>
                  </a:lnTo>
                  <a:lnTo>
                    <a:pt x="1345105" y="220845"/>
                  </a:lnTo>
                  <a:lnTo>
                    <a:pt x="1386434" y="201916"/>
                  </a:lnTo>
                  <a:lnTo>
                    <a:pt x="1428190" y="183771"/>
                  </a:lnTo>
                  <a:lnTo>
                    <a:pt x="1470363" y="166419"/>
                  </a:lnTo>
                  <a:lnTo>
                    <a:pt x="1512945" y="149870"/>
                  </a:lnTo>
                  <a:lnTo>
                    <a:pt x="1555925" y="134133"/>
                  </a:lnTo>
                  <a:lnTo>
                    <a:pt x="1599294" y="119218"/>
                  </a:lnTo>
                  <a:lnTo>
                    <a:pt x="1643043" y="105134"/>
                  </a:lnTo>
                  <a:lnTo>
                    <a:pt x="1687162" y="91891"/>
                  </a:lnTo>
                  <a:lnTo>
                    <a:pt x="1731643" y="79497"/>
                  </a:lnTo>
                  <a:lnTo>
                    <a:pt x="1776475" y="67963"/>
                  </a:lnTo>
                  <a:lnTo>
                    <a:pt x="1821649" y="57297"/>
                  </a:lnTo>
                  <a:lnTo>
                    <a:pt x="1867156" y="47510"/>
                  </a:lnTo>
                  <a:lnTo>
                    <a:pt x="1912987" y="38610"/>
                  </a:lnTo>
                  <a:lnTo>
                    <a:pt x="1959131" y="30607"/>
                  </a:lnTo>
                  <a:lnTo>
                    <a:pt x="2005580" y="23510"/>
                  </a:lnTo>
                  <a:lnTo>
                    <a:pt x="2052325" y="17329"/>
                  </a:lnTo>
                  <a:lnTo>
                    <a:pt x="2099355" y="12073"/>
                  </a:lnTo>
                  <a:lnTo>
                    <a:pt x="2146662" y="7752"/>
                  </a:lnTo>
                  <a:lnTo>
                    <a:pt x="2194235" y="4374"/>
                  </a:lnTo>
                  <a:lnTo>
                    <a:pt x="2242067" y="1950"/>
                  </a:lnTo>
                  <a:lnTo>
                    <a:pt x="2290146" y="489"/>
                  </a:lnTo>
                  <a:lnTo>
                    <a:pt x="2338465" y="0"/>
                  </a:lnTo>
                  <a:lnTo>
                    <a:pt x="2338465" y="2338456"/>
                  </a:lnTo>
                  <a:lnTo>
                    <a:pt x="0" y="2338456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43784" y="2369819"/>
              <a:ext cx="1490471" cy="52577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8788" y="2369819"/>
              <a:ext cx="397763" cy="52577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64180" y="2625852"/>
              <a:ext cx="1333500" cy="52577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336153" y="902319"/>
            <a:ext cx="2680970" cy="1741170"/>
            <a:chOff x="5336153" y="902319"/>
            <a:chExt cx="2680970" cy="1741170"/>
          </a:xfrm>
        </p:grpSpPr>
        <p:sp>
          <p:nvSpPr>
            <p:cNvPr id="14" name="object 14"/>
            <p:cNvSpPr/>
            <p:nvPr/>
          </p:nvSpPr>
          <p:spPr>
            <a:xfrm>
              <a:off x="5342503" y="908669"/>
              <a:ext cx="2668270" cy="1728470"/>
            </a:xfrm>
            <a:custGeom>
              <a:avLst/>
              <a:gdLst/>
              <a:ahLst/>
              <a:cxnLst/>
              <a:rect l="l" t="t" r="r" b="b"/>
              <a:pathLst>
                <a:path w="2668270" h="1728470">
                  <a:moveTo>
                    <a:pt x="2495062" y="0"/>
                  </a:moveTo>
                  <a:lnTo>
                    <a:pt x="172852" y="0"/>
                  </a:lnTo>
                  <a:lnTo>
                    <a:pt x="126890" y="6180"/>
                  </a:lnTo>
                  <a:lnTo>
                    <a:pt x="85596" y="23619"/>
                  </a:lnTo>
                  <a:lnTo>
                    <a:pt x="50615" y="50661"/>
                  </a:lnTo>
                  <a:lnTo>
                    <a:pt x="23592" y="85651"/>
                  </a:lnTo>
                  <a:lnTo>
                    <a:pt x="6172" y="126932"/>
                  </a:lnTo>
                  <a:lnTo>
                    <a:pt x="0" y="172852"/>
                  </a:lnTo>
                  <a:lnTo>
                    <a:pt x="0" y="1555394"/>
                  </a:lnTo>
                  <a:lnTo>
                    <a:pt x="6172" y="1601353"/>
                  </a:lnTo>
                  <a:lnTo>
                    <a:pt x="23592" y="1642641"/>
                  </a:lnTo>
                  <a:lnTo>
                    <a:pt x="50615" y="1677615"/>
                  </a:lnTo>
                  <a:lnTo>
                    <a:pt x="85596" y="1704631"/>
                  </a:lnTo>
                  <a:lnTo>
                    <a:pt x="126890" y="1722045"/>
                  </a:lnTo>
                  <a:lnTo>
                    <a:pt x="172852" y="1728215"/>
                  </a:lnTo>
                  <a:lnTo>
                    <a:pt x="2495062" y="1728215"/>
                  </a:lnTo>
                  <a:lnTo>
                    <a:pt x="2541021" y="1722045"/>
                  </a:lnTo>
                  <a:lnTo>
                    <a:pt x="2582309" y="1704631"/>
                  </a:lnTo>
                  <a:lnTo>
                    <a:pt x="2617283" y="1677615"/>
                  </a:lnTo>
                  <a:lnTo>
                    <a:pt x="2644299" y="1642641"/>
                  </a:lnTo>
                  <a:lnTo>
                    <a:pt x="2661713" y="1601353"/>
                  </a:lnTo>
                  <a:lnTo>
                    <a:pt x="2667883" y="1555394"/>
                  </a:lnTo>
                  <a:lnTo>
                    <a:pt x="2667883" y="172852"/>
                  </a:lnTo>
                  <a:lnTo>
                    <a:pt x="2661713" y="126932"/>
                  </a:lnTo>
                  <a:lnTo>
                    <a:pt x="2644299" y="85651"/>
                  </a:lnTo>
                  <a:lnTo>
                    <a:pt x="2617283" y="50661"/>
                  </a:lnTo>
                  <a:lnTo>
                    <a:pt x="2582309" y="23619"/>
                  </a:lnTo>
                  <a:lnTo>
                    <a:pt x="2541021" y="6180"/>
                  </a:lnTo>
                  <a:lnTo>
                    <a:pt x="249506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42503" y="908669"/>
              <a:ext cx="2668270" cy="1728470"/>
            </a:xfrm>
            <a:custGeom>
              <a:avLst/>
              <a:gdLst/>
              <a:ahLst/>
              <a:cxnLst/>
              <a:rect l="l" t="t" r="r" b="b"/>
              <a:pathLst>
                <a:path w="2668270" h="1728470">
                  <a:moveTo>
                    <a:pt x="0" y="172852"/>
                  </a:moveTo>
                  <a:lnTo>
                    <a:pt x="6172" y="126932"/>
                  </a:lnTo>
                  <a:lnTo>
                    <a:pt x="23592" y="85651"/>
                  </a:lnTo>
                  <a:lnTo>
                    <a:pt x="50615" y="50661"/>
                  </a:lnTo>
                  <a:lnTo>
                    <a:pt x="85596" y="23619"/>
                  </a:lnTo>
                  <a:lnTo>
                    <a:pt x="126890" y="6180"/>
                  </a:lnTo>
                  <a:lnTo>
                    <a:pt x="172852" y="0"/>
                  </a:lnTo>
                  <a:lnTo>
                    <a:pt x="2495062" y="0"/>
                  </a:lnTo>
                  <a:lnTo>
                    <a:pt x="2541021" y="6180"/>
                  </a:lnTo>
                  <a:lnTo>
                    <a:pt x="2582309" y="23619"/>
                  </a:lnTo>
                  <a:lnTo>
                    <a:pt x="2617283" y="50661"/>
                  </a:lnTo>
                  <a:lnTo>
                    <a:pt x="2644299" y="85651"/>
                  </a:lnTo>
                  <a:lnTo>
                    <a:pt x="2661713" y="126932"/>
                  </a:lnTo>
                  <a:lnTo>
                    <a:pt x="2667883" y="172852"/>
                  </a:lnTo>
                  <a:lnTo>
                    <a:pt x="2667883" y="1555394"/>
                  </a:lnTo>
                  <a:lnTo>
                    <a:pt x="2661713" y="1601353"/>
                  </a:lnTo>
                  <a:lnTo>
                    <a:pt x="2644299" y="1642641"/>
                  </a:lnTo>
                  <a:lnTo>
                    <a:pt x="2617283" y="1677615"/>
                  </a:lnTo>
                  <a:lnTo>
                    <a:pt x="2582309" y="1704631"/>
                  </a:lnTo>
                  <a:lnTo>
                    <a:pt x="2541021" y="1722045"/>
                  </a:lnTo>
                  <a:lnTo>
                    <a:pt x="2495062" y="1728215"/>
                  </a:lnTo>
                  <a:lnTo>
                    <a:pt x="172852" y="1728215"/>
                  </a:lnTo>
                  <a:lnTo>
                    <a:pt x="126890" y="1722045"/>
                  </a:lnTo>
                  <a:lnTo>
                    <a:pt x="85596" y="1704631"/>
                  </a:lnTo>
                  <a:lnTo>
                    <a:pt x="50615" y="1677615"/>
                  </a:lnTo>
                  <a:lnTo>
                    <a:pt x="23592" y="1642641"/>
                  </a:lnTo>
                  <a:lnTo>
                    <a:pt x="6172" y="1601353"/>
                  </a:lnTo>
                  <a:lnTo>
                    <a:pt x="0" y="1555394"/>
                  </a:lnTo>
                  <a:lnTo>
                    <a:pt x="0" y="172852"/>
                  </a:lnTo>
                  <a:close/>
                </a:path>
              </a:pathLst>
            </a:custGeom>
            <a:ln w="12700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230244" y="969386"/>
            <a:ext cx="1640205" cy="10134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0" marR="5080" indent="-114300">
              <a:lnSpc>
                <a:spcPct val="8800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Rockwell"/>
                <a:cs typeface="Rockwell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transferred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Rockwell"/>
                <a:cs typeface="Rockwell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from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peripheral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device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Rockwell"/>
                <a:cs typeface="Rockwell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transferring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between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processor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Rockwell"/>
                <a:cs typeface="Rockwell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I/O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module</a:t>
            </a:r>
            <a:endParaRPr sz="1200">
              <a:latin typeface="Rockwell"/>
              <a:cs typeface="Rockwel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78025" y="2419854"/>
            <a:ext cx="1283970" cy="570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50"/>
              </a:lnSpc>
              <a:spcBef>
                <a:spcPts val="95"/>
              </a:spcBef>
            </a:pPr>
            <a:r>
              <a:rPr sz="1900" b="1" dirty="0">
                <a:solidFill>
                  <a:srgbClr val="FFFFFF"/>
                </a:solidFill>
                <a:latin typeface="Rockwell"/>
                <a:cs typeface="Rockwell"/>
              </a:rPr>
              <a:t>Processor-</a:t>
            </a:r>
            <a:endParaRPr sz="1900">
              <a:latin typeface="Rockwell"/>
              <a:cs typeface="Rockwell"/>
            </a:endParaRPr>
          </a:p>
          <a:p>
            <a:pPr marL="132715">
              <a:lnSpc>
                <a:spcPts val="2150"/>
              </a:lnSpc>
            </a:pPr>
            <a:r>
              <a:rPr sz="1900" b="1" spc="-10" dirty="0">
                <a:solidFill>
                  <a:srgbClr val="FFFFFF"/>
                </a:solidFill>
                <a:latin typeface="Rockwell"/>
                <a:cs typeface="Rockwell"/>
              </a:rPr>
              <a:t>memory</a:t>
            </a:r>
            <a:endParaRPr sz="1900">
              <a:latin typeface="Rockwell"/>
              <a:cs typeface="Rockwel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483608" y="1171955"/>
            <a:ext cx="2479675" cy="2478405"/>
            <a:chOff x="4483608" y="1171955"/>
            <a:chExt cx="2479675" cy="2478405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3608" y="1171955"/>
              <a:ext cx="2479548" cy="24780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41520" y="2330195"/>
              <a:ext cx="1700784" cy="90982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52188" y="1214627"/>
              <a:ext cx="2342388" cy="234238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553955" y="1216517"/>
              <a:ext cx="2338705" cy="2338705"/>
            </a:xfrm>
            <a:custGeom>
              <a:avLst/>
              <a:gdLst/>
              <a:ahLst/>
              <a:cxnLst/>
              <a:rect l="l" t="t" r="r" b="b"/>
              <a:pathLst>
                <a:path w="2338704" h="2338704">
                  <a:moveTo>
                    <a:pt x="0" y="0"/>
                  </a:moveTo>
                  <a:lnTo>
                    <a:pt x="48313" y="489"/>
                  </a:lnTo>
                  <a:lnTo>
                    <a:pt x="96389" y="1950"/>
                  </a:lnTo>
                  <a:lnTo>
                    <a:pt x="144216" y="4374"/>
                  </a:lnTo>
                  <a:lnTo>
                    <a:pt x="191786" y="7752"/>
                  </a:lnTo>
                  <a:lnTo>
                    <a:pt x="239089" y="12073"/>
                  </a:lnTo>
                  <a:lnTo>
                    <a:pt x="286116" y="17329"/>
                  </a:lnTo>
                  <a:lnTo>
                    <a:pt x="332857" y="23510"/>
                  </a:lnTo>
                  <a:lnTo>
                    <a:pt x="379303" y="30607"/>
                  </a:lnTo>
                  <a:lnTo>
                    <a:pt x="425445" y="38610"/>
                  </a:lnTo>
                  <a:lnTo>
                    <a:pt x="471273" y="47510"/>
                  </a:lnTo>
                  <a:lnTo>
                    <a:pt x="516777" y="57297"/>
                  </a:lnTo>
                  <a:lnTo>
                    <a:pt x="561949" y="67963"/>
                  </a:lnTo>
                  <a:lnTo>
                    <a:pt x="606779" y="79497"/>
                  </a:lnTo>
                  <a:lnTo>
                    <a:pt x="651258" y="91891"/>
                  </a:lnTo>
                  <a:lnTo>
                    <a:pt x="695375" y="105134"/>
                  </a:lnTo>
                  <a:lnTo>
                    <a:pt x="739123" y="119218"/>
                  </a:lnTo>
                  <a:lnTo>
                    <a:pt x="782490" y="134133"/>
                  </a:lnTo>
                  <a:lnTo>
                    <a:pt x="825469" y="149870"/>
                  </a:lnTo>
                  <a:lnTo>
                    <a:pt x="868049" y="166419"/>
                  </a:lnTo>
                  <a:lnTo>
                    <a:pt x="910221" y="183771"/>
                  </a:lnTo>
                  <a:lnTo>
                    <a:pt x="951976" y="201916"/>
                  </a:lnTo>
                  <a:lnTo>
                    <a:pt x="993305" y="220845"/>
                  </a:lnTo>
                  <a:lnTo>
                    <a:pt x="1034197" y="240549"/>
                  </a:lnTo>
                  <a:lnTo>
                    <a:pt x="1074643" y="261019"/>
                  </a:lnTo>
                  <a:lnTo>
                    <a:pt x="1114635" y="282244"/>
                  </a:lnTo>
                  <a:lnTo>
                    <a:pt x="1154163" y="304215"/>
                  </a:lnTo>
                  <a:lnTo>
                    <a:pt x="1193216" y="326924"/>
                  </a:lnTo>
                  <a:lnTo>
                    <a:pt x="1231787" y="350360"/>
                  </a:lnTo>
                  <a:lnTo>
                    <a:pt x="1269865" y="374515"/>
                  </a:lnTo>
                  <a:lnTo>
                    <a:pt x="1307441" y="399378"/>
                  </a:lnTo>
                  <a:lnTo>
                    <a:pt x="1344506" y="424941"/>
                  </a:lnTo>
                  <a:lnTo>
                    <a:pt x="1381050" y="451193"/>
                  </a:lnTo>
                  <a:lnTo>
                    <a:pt x="1417064" y="478127"/>
                  </a:lnTo>
                  <a:lnTo>
                    <a:pt x="1452539" y="505731"/>
                  </a:lnTo>
                  <a:lnTo>
                    <a:pt x="1487464" y="533997"/>
                  </a:lnTo>
                  <a:lnTo>
                    <a:pt x="1521831" y="562916"/>
                  </a:lnTo>
                  <a:lnTo>
                    <a:pt x="1555631" y="592478"/>
                  </a:lnTo>
                  <a:lnTo>
                    <a:pt x="1588853" y="622673"/>
                  </a:lnTo>
                  <a:lnTo>
                    <a:pt x="1621488" y="653493"/>
                  </a:lnTo>
                  <a:lnTo>
                    <a:pt x="1653528" y="684927"/>
                  </a:lnTo>
                  <a:lnTo>
                    <a:pt x="1684962" y="716967"/>
                  </a:lnTo>
                  <a:lnTo>
                    <a:pt x="1715782" y="749602"/>
                  </a:lnTo>
                  <a:lnTo>
                    <a:pt x="1745977" y="782824"/>
                  </a:lnTo>
                  <a:lnTo>
                    <a:pt x="1775539" y="816624"/>
                  </a:lnTo>
                  <a:lnTo>
                    <a:pt x="1804458" y="850991"/>
                  </a:lnTo>
                  <a:lnTo>
                    <a:pt x="1832724" y="885916"/>
                  </a:lnTo>
                  <a:lnTo>
                    <a:pt x="1860328" y="921391"/>
                  </a:lnTo>
                  <a:lnTo>
                    <a:pt x="1887262" y="957405"/>
                  </a:lnTo>
                  <a:lnTo>
                    <a:pt x="1913515" y="993949"/>
                  </a:lnTo>
                  <a:lnTo>
                    <a:pt x="1939077" y="1031014"/>
                  </a:lnTo>
                  <a:lnTo>
                    <a:pt x="1963941" y="1068590"/>
                  </a:lnTo>
                  <a:lnTo>
                    <a:pt x="1988095" y="1106668"/>
                  </a:lnTo>
                  <a:lnTo>
                    <a:pt x="2011531" y="1145239"/>
                  </a:lnTo>
                  <a:lnTo>
                    <a:pt x="2034240" y="1184292"/>
                  </a:lnTo>
                  <a:lnTo>
                    <a:pt x="2056211" y="1223820"/>
                  </a:lnTo>
                  <a:lnTo>
                    <a:pt x="2077436" y="1263812"/>
                  </a:lnTo>
                  <a:lnTo>
                    <a:pt x="2097906" y="1304258"/>
                  </a:lnTo>
                  <a:lnTo>
                    <a:pt x="2117610" y="1345150"/>
                  </a:lnTo>
                  <a:lnTo>
                    <a:pt x="2136539" y="1386479"/>
                  </a:lnTo>
                  <a:lnTo>
                    <a:pt x="2154684" y="1428234"/>
                  </a:lnTo>
                  <a:lnTo>
                    <a:pt x="2172036" y="1470406"/>
                  </a:lnTo>
                  <a:lnTo>
                    <a:pt x="2188585" y="1512986"/>
                  </a:lnTo>
                  <a:lnTo>
                    <a:pt x="2204322" y="1555965"/>
                  </a:lnTo>
                  <a:lnTo>
                    <a:pt x="2219237" y="1599332"/>
                  </a:lnTo>
                  <a:lnTo>
                    <a:pt x="2233321" y="1643080"/>
                  </a:lnTo>
                  <a:lnTo>
                    <a:pt x="2246564" y="1687197"/>
                  </a:lnTo>
                  <a:lnTo>
                    <a:pt x="2258958" y="1731676"/>
                  </a:lnTo>
                  <a:lnTo>
                    <a:pt x="2270492" y="1776506"/>
                  </a:lnTo>
                  <a:lnTo>
                    <a:pt x="2281158" y="1821678"/>
                  </a:lnTo>
                  <a:lnTo>
                    <a:pt x="2290945" y="1867182"/>
                  </a:lnTo>
                  <a:lnTo>
                    <a:pt x="2299845" y="1913010"/>
                  </a:lnTo>
                  <a:lnTo>
                    <a:pt x="2307848" y="1959152"/>
                  </a:lnTo>
                  <a:lnTo>
                    <a:pt x="2314945" y="2005598"/>
                  </a:lnTo>
                  <a:lnTo>
                    <a:pt x="2321126" y="2052339"/>
                  </a:lnTo>
                  <a:lnTo>
                    <a:pt x="2326382" y="2099366"/>
                  </a:lnTo>
                  <a:lnTo>
                    <a:pt x="2330703" y="2146669"/>
                  </a:lnTo>
                  <a:lnTo>
                    <a:pt x="2334081" y="2194239"/>
                  </a:lnTo>
                  <a:lnTo>
                    <a:pt x="2336505" y="2242066"/>
                  </a:lnTo>
                  <a:lnTo>
                    <a:pt x="2337966" y="2290142"/>
                  </a:lnTo>
                  <a:lnTo>
                    <a:pt x="2338456" y="2338456"/>
                  </a:lnTo>
                  <a:lnTo>
                    <a:pt x="0" y="233845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5528" y="2369819"/>
              <a:ext cx="1490472" cy="52577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0532" y="2369819"/>
              <a:ext cx="397763" cy="5257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20056" y="2625852"/>
              <a:ext cx="745236" cy="52577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739770" y="2419854"/>
            <a:ext cx="1283970" cy="570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150"/>
              </a:lnSpc>
              <a:spcBef>
                <a:spcPts val="95"/>
              </a:spcBef>
            </a:pPr>
            <a:r>
              <a:rPr sz="1900" b="1" dirty="0">
                <a:solidFill>
                  <a:srgbClr val="FFFFFF"/>
                </a:solidFill>
                <a:latin typeface="Rockwell"/>
                <a:cs typeface="Rockwell"/>
              </a:rPr>
              <a:t>Processor-</a:t>
            </a:r>
            <a:endParaRPr sz="1900">
              <a:latin typeface="Rockwell"/>
              <a:cs typeface="Rockwell"/>
            </a:endParaRPr>
          </a:p>
          <a:p>
            <a:pPr marL="1905" algn="ctr">
              <a:lnSpc>
                <a:spcPts val="2150"/>
              </a:lnSpc>
            </a:pPr>
            <a:r>
              <a:rPr sz="1900" b="1" spc="-25" dirty="0">
                <a:solidFill>
                  <a:srgbClr val="FFFFFF"/>
                </a:solidFill>
                <a:latin typeface="Rockwell"/>
                <a:cs typeface="Rockwell"/>
              </a:rPr>
              <a:t>I/O</a:t>
            </a:r>
            <a:endParaRPr sz="1900">
              <a:latin typeface="Rockwell"/>
              <a:cs typeface="Rockwel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83250" y="4574794"/>
            <a:ext cx="2680970" cy="1741170"/>
            <a:chOff x="983250" y="4574794"/>
            <a:chExt cx="2680970" cy="1741170"/>
          </a:xfrm>
        </p:grpSpPr>
        <p:sp>
          <p:nvSpPr>
            <p:cNvPr id="10" name="object 10"/>
            <p:cNvSpPr/>
            <p:nvPr/>
          </p:nvSpPr>
          <p:spPr>
            <a:xfrm>
              <a:off x="989600" y="4581144"/>
              <a:ext cx="2668270" cy="1728470"/>
            </a:xfrm>
            <a:custGeom>
              <a:avLst/>
              <a:gdLst/>
              <a:ahLst/>
              <a:cxnLst/>
              <a:rect l="l" t="t" r="r" b="b"/>
              <a:pathLst>
                <a:path w="2668270" h="1728470">
                  <a:moveTo>
                    <a:pt x="2495025" y="0"/>
                  </a:moveTo>
                  <a:lnTo>
                    <a:pt x="172818" y="0"/>
                  </a:lnTo>
                  <a:lnTo>
                    <a:pt x="126878" y="6171"/>
                  </a:lnTo>
                  <a:lnTo>
                    <a:pt x="85596" y="23588"/>
                  </a:lnTo>
                  <a:lnTo>
                    <a:pt x="50619" y="50608"/>
                  </a:lnTo>
                  <a:lnTo>
                    <a:pt x="23596" y="85587"/>
                  </a:lnTo>
                  <a:lnTo>
                    <a:pt x="6173" y="126880"/>
                  </a:lnTo>
                  <a:lnTo>
                    <a:pt x="0" y="172842"/>
                  </a:lnTo>
                  <a:lnTo>
                    <a:pt x="0" y="1555360"/>
                  </a:lnTo>
                  <a:lnTo>
                    <a:pt x="6173" y="1601301"/>
                  </a:lnTo>
                  <a:lnTo>
                    <a:pt x="23596" y="1642584"/>
                  </a:lnTo>
                  <a:lnTo>
                    <a:pt x="50619" y="1677560"/>
                  </a:lnTo>
                  <a:lnTo>
                    <a:pt x="85596" y="1704583"/>
                  </a:lnTo>
                  <a:lnTo>
                    <a:pt x="126878" y="1722005"/>
                  </a:lnTo>
                  <a:lnTo>
                    <a:pt x="172818" y="1728179"/>
                  </a:lnTo>
                  <a:lnTo>
                    <a:pt x="2495025" y="1728179"/>
                  </a:lnTo>
                  <a:lnTo>
                    <a:pt x="2540987" y="1722005"/>
                  </a:lnTo>
                  <a:lnTo>
                    <a:pt x="2582280" y="1704583"/>
                  </a:lnTo>
                  <a:lnTo>
                    <a:pt x="2617261" y="1677560"/>
                  </a:lnTo>
                  <a:lnTo>
                    <a:pt x="2644285" y="1642584"/>
                  </a:lnTo>
                  <a:lnTo>
                    <a:pt x="2661705" y="1601301"/>
                  </a:lnTo>
                  <a:lnTo>
                    <a:pt x="2667877" y="1555360"/>
                  </a:lnTo>
                  <a:lnTo>
                    <a:pt x="2667877" y="172842"/>
                  </a:lnTo>
                  <a:lnTo>
                    <a:pt x="2661705" y="126880"/>
                  </a:lnTo>
                  <a:lnTo>
                    <a:pt x="2644285" y="85587"/>
                  </a:lnTo>
                  <a:lnTo>
                    <a:pt x="2617261" y="50608"/>
                  </a:lnTo>
                  <a:lnTo>
                    <a:pt x="2582280" y="23588"/>
                  </a:lnTo>
                  <a:lnTo>
                    <a:pt x="2540987" y="6171"/>
                  </a:lnTo>
                  <a:lnTo>
                    <a:pt x="249502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9600" y="4581144"/>
              <a:ext cx="2668270" cy="1728470"/>
            </a:xfrm>
            <a:custGeom>
              <a:avLst/>
              <a:gdLst/>
              <a:ahLst/>
              <a:cxnLst/>
              <a:rect l="l" t="t" r="r" b="b"/>
              <a:pathLst>
                <a:path w="2668270" h="1728470">
                  <a:moveTo>
                    <a:pt x="0" y="172842"/>
                  </a:moveTo>
                  <a:lnTo>
                    <a:pt x="6173" y="126880"/>
                  </a:lnTo>
                  <a:lnTo>
                    <a:pt x="23596" y="85587"/>
                  </a:lnTo>
                  <a:lnTo>
                    <a:pt x="50619" y="50608"/>
                  </a:lnTo>
                  <a:lnTo>
                    <a:pt x="85596" y="23588"/>
                  </a:lnTo>
                  <a:lnTo>
                    <a:pt x="126878" y="6171"/>
                  </a:lnTo>
                  <a:lnTo>
                    <a:pt x="172818" y="0"/>
                  </a:lnTo>
                  <a:lnTo>
                    <a:pt x="2495025" y="0"/>
                  </a:lnTo>
                  <a:lnTo>
                    <a:pt x="2540987" y="6171"/>
                  </a:lnTo>
                  <a:lnTo>
                    <a:pt x="2582280" y="23588"/>
                  </a:lnTo>
                  <a:lnTo>
                    <a:pt x="2617261" y="50608"/>
                  </a:lnTo>
                  <a:lnTo>
                    <a:pt x="2644285" y="85587"/>
                  </a:lnTo>
                  <a:lnTo>
                    <a:pt x="2661705" y="126880"/>
                  </a:lnTo>
                  <a:lnTo>
                    <a:pt x="2667877" y="172842"/>
                  </a:lnTo>
                  <a:lnTo>
                    <a:pt x="2667877" y="1555360"/>
                  </a:lnTo>
                  <a:lnTo>
                    <a:pt x="2661705" y="1601301"/>
                  </a:lnTo>
                  <a:lnTo>
                    <a:pt x="2644285" y="1642584"/>
                  </a:lnTo>
                  <a:lnTo>
                    <a:pt x="2617261" y="1677560"/>
                  </a:lnTo>
                  <a:lnTo>
                    <a:pt x="2582280" y="1704583"/>
                  </a:lnTo>
                  <a:lnTo>
                    <a:pt x="2540987" y="1722005"/>
                  </a:lnTo>
                  <a:lnTo>
                    <a:pt x="2495025" y="1728179"/>
                  </a:lnTo>
                  <a:lnTo>
                    <a:pt x="172818" y="1728179"/>
                  </a:lnTo>
                  <a:lnTo>
                    <a:pt x="126878" y="1722005"/>
                  </a:lnTo>
                  <a:lnTo>
                    <a:pt x="85596" y="1704583"/>
                  </a:lnTo>
                  <a:lnTo>
                    <a:pt x="50619" y="1677560"/>
                  </a:lnTo>
                  <a:lnTo>
                    <a:pt x="23596" y="1642584"/>
                  </a:lnTo>
                  <a:lnTo>
                    <a:pt x="6173" y="1601301"/>
                  </a:lnTo>
                  <a:lnTo>
                    <a:pt x="0" y="1555360"/>
                  </a:lnTo>
                  <a:lnTo>
                    <a:pt x="0" y="172842"/>
                  </a:lnTo>
                  <a:close/>
                </a:path>
              </a:pathLst>
            </a:custGeom>
            <a:ln w="12700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76043" y="5074664"/>
            <a:ext cx="1579245" cy="6915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0" marR="5080" indent="-114300">
              <a:lnSpc>
                <a:spcPct val="8810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Rockwell"/>
                <a:cs typeface="Rockwell"/>
              </a:rPr>
              <a:t>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instruction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Rockwell"/>
                <a:cs typeface="Rockwell"/>
              </a:rPr>
              <a:t>may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specify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Rockwell"/>
                <a:cs typeface="Rockwell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sequence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Rockwell"/>
                <a:cs typeface="Rockwell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execution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be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Rockwell"/>
                <a:cs typeface="Rockwell"/>
              </a:rPr>
              <a:t>altered</a:t>
            </a:r>
            <a:endParaRPr sz="1200">
              <a:latin typeface="Rockwell"/>
              <a:cs typeface="Rockwel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581792" y="4574794"/>
            <a:ext cx="2680970" cy="1741170"/>
            <a:chOff x="5581792" y="4574794"/>
            <a:chExt cx="2680970" cy="1741170"/>
          </a:xfrm>
        </p:grpSpPr>
        <p:sp>
          <p:nvSpPr>
            <p:cNvPr id="6" name="object 6"/>
            <p:cNvSpPr/>
            <p:nvPr/>
          </p:nvSpPr>
          <p:spPr>
            <a:xfrm>
              <a:off x="5588142" y="4581144"/>
              <a:ext cx="2668270" cy="1728470"/>
            </a:xfrm>
            <a:custGeom>
              <a:avLst/>
              <a:gdLst/>
              <a:ahLst/>
              <a:cxnLst/>
              <a:rect l="l" t="t" r="r" b="b"/>
              <a:pathLst>
                <a:path w="2668270" h="1728470">
                  <a:moveTo>
                    <a:pt x="2495153" y="0"/>
                  </a:moveTo>
                  <a:lnTo>
                    <a:pt x="172821" y="0"/>
                  </a:lnTo>
                  <a:lnTo>
                    <a:pt x="126904" y="6171"/>
                  </a:lnTo>
                  <a:lnTo>
                    <a:pt x="85628" y="23588"/>
                  </a:lnTo>
                  <a:lnTo>
                    <a:pt x="50646" y="50608"/>
                  </a:lnTo>
                  <a:lnTo>
                    <a:pt x="23611" y="85587"/>
                  </a:lnTo>
                  <a:lnTo>
                    <a:pt x="6178" y="126880"/>
                  </a:lnTo>
                  <a:lnTo>
                    <a:pt x="0" y="172842"/>
                  </a:lnTo>
                  <a:lnTo>
                    <a:pt x="0" y="1555360"/>
                  </a:lnTo>
                  <a:lnTo>
                    <a:pt x="6178" y="1601301"/>
                  </a:lnTo>
                  <a:lnTo>
                    <a:pt x="23611" y="1642584"/>
                  </a:lnTo>
                  <a:lnTo>
                    <a:pt x="50646" y="1677560"/>
                  </a:lnTo>
                  <a:lnTo>
                    <a:pt x="85628" y="1704583"/>
                  </a:lnTo>
                  <a:lnTo>
                    <a:pt x="126904" y="1722005"/>
                  </a:lnTo>
                  <a:lnTo>
                    <a:pt x="172821" y="1728179"/>
                  </a:lnTo>
                  <a:lnTo>
                    <a:pt x="2495153" y="1728179"/>
                  </a:lnTo>
                  <a:lnTo>
                    <a:pt x="2541063" y="1722005"/>
                  </a:lnTo>
                  <a:lnTo>
                    <a:pt x="2582323" y="1704583"/>
                  </a:lnTo>
                  <a:lnTo>
                    <a:pt x="2617283" y="1677560"/>
                  </a:lnTo>
                  <a:lnTo>
                    <a:pt x="2644295" y="1642584"/>
                  </a:lnTo>
                  <a:lnTo>
                    <a:pt x="2661712" y="1601301"/>
                  </a:lnTo>
                  <a:lnTo>
                    <a:pt x="2667883" y="1555360"/>
                  </a:lnTo>
                  <a:lnTo>
                    <a:pt x="2667883" y="172842"/>
                  </a:lnTo>
                  <a:lnTo>
                    <a:pt x="2661712" y="126880"/>
                  </a:lnTo>
                  <a:lnTo>
                    <a:pt x="2644295" y="85587"/>
                  </a:lnTo>
                  <a:lnTo>
                    <a:pt x="2617283" y="50608"/>
                  </a:lnTo>
                  <a:lnTo>
                    <a:pt x="2582323" y="23588"/>
                  </a:lnTo>
                  <a:lnTo>
                    <a:pt x="2541063" y="6171"/>
                  </a:lnTo>
                  <a:lnTo>
                    <a:pt x="249515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88142" y="4581144"/>
              <a:ext cx="2668270" cy="1728470"/>
            </a:xfrm>
            <a:custGeom>
              <a:avLst/>
              <a:gdLst/>
              <a:ahLst/>
              <a:cxnLst/>
              <a:rect l="l" t="t" r="r" b="b"/>
              <a:pathLst>
                <a:path w="2668270" h="1728470">
                  <a:moveTo>
                    <a:pt x="0" y="172842"/>
                  </a:moveTo>
                  <a:lnTo>
                    <a:pt x="6178" y="126880"/>
                  </a:lnTo>
                  <a:lnTo>
                    <a:pt x="23611" y="85587"/>
                  </a:lnTo>
                  <a:lnTo>
                    <a:pt x="50646" y="50608"/>
                  </a:lnTo>
                  <a:lnTo>
                    <a:pt x="85628" y="23588"/>
                  </a:lnTo>
                  <a:lnTo>
                    <a:pt x="126904" y="6171"/>
                  </a:lnTo>
                  <a:lnTo>
                    <a:pt x="172821" y="0"/>
                  </a:lnTo>
                  <a:lnTo>
                    <a:pt x="2495153" y="0"/>
                  </a:lnTo>
                  <a:lnTo>
                    <a:pt x="2541063" y="6171"/>
                  </a:lnTo>
                  <a:lnTo>
                    <a:pt x="2582323" y="23588"/>
                  </a:lnTo>
                  <a:lnTo>
                    <a:pt x="2617283" y="50608"/>
                  </a:lnTo>
                  <a:lnTo>
                    <a:pt x="2644295" y="85587"/>
                  </a:lnTo>
                  <a:lnTo>
                    <a:pt x="2661712" y="126880"/>
                  </a:lnTo>
                  <a:lnTo>
                    <a:pt x="2667883" y="172842"/>
                  </a:lnTo>
                  <a:lnTo>
                    <a:pt x="2667883" y="1555360"/>
                  </a:lnTo>
                  <a:lnTo>
                    <a:pt x="2661712" y="1601301"/>
                  </a:lnTo>
                  <a:lnTo>
                    <a:pt x="2644295" y="1642584"/>
                  </a:lnTo>
                  <a:lnTo>
                    <a:pt x="2617283" y="1677560"/>
                  </a:lnTo>
                  <a:lnTo>
                    <a:pt x="2582323" y="1704583"/>
                  </a:lnTo>
                  <a:lnTo>
                    <a:pt x="2541063" y="1722005"/>
                  </a:lnTo>
                  <a:lnTo>
                    <a:pt x="2495153" y="1728179"/>
                  </a:lnTo>
                  <a:lnTo>
                    <a:pt x="172821" y="1728179"/>
                  </a:lnTo>
                  <a:lnTo>
                    <a:pt x="126904" y="1722005"/>
                  </a:lnTo>
                  <a:lnTo>
                    <a:pt x="85628" y="1704583"/>
                  </a:lnTo>
                  <a:lnTo>
                    <a:pt x="50646" y="1677560"/>
                  </a:lnTo>
                  <a:lnTo>
                    <a:pt x="23611" y="1642584"/>
                  </a:lnTo>
                  <a:lnTo>
                    <a:pt x="6178" y="1601301"/>
                  </a:lnTo>
                  <a:lnTo>
                    <a:pt x="0" y="1555360"/>
                  </a:lnTo>
                  <a:lnTo>
                    <a:pt x="0" y="172842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75862" y="5074664"/>
            <a:ext cx="1473200" cy="6915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0" marR="5080" indent="-114300">
              <a:lnSpc>
                <a:spcPct val="8810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Rockwell"/>
                <a:cs typeface="Rockwell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processor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Rockwell"/>
                <a:cs typeface="Rockwell"/>
              </a:rPr>
              <a:t>may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perform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Rockwell"/>
                <a:cs typeface="Rockwell"/>
              </a:rPr>
              <a:t>some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arithmetic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Rockwell"/>
                <a:cs typeface="Rockwell"/>
              </a:rPr>
              <a:t>logic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operation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Rockwell"/>
                <a:cs typeface="Rockwell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Rockwell"/>
                <a:cs typeface="Rockwell"/>
              </a:rPr>
              <a:t>data</a:t>
            </a:r>
            <a:endParaRPr sz="1200">
              <a:latin typeface="Rockwell"/>
              <a:cs typeface="Rockwel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83608" y="3617976"/>
            <a:ext cx="2479675" cy="2479675"/>
            <a:chOff x="4483608" y="3617976"/>
            <a:chExt cx="2479675" cy="2479675"/>
          </a:xfrm>
        </p:grpSpPr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83608" y="3617976"/>
              <a:ext cx="2479548" cy="247954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17136" y="4091940"/>
              <a:ext cx="1810512" cy="90982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52188" y="3662172"/>
              <a:ext cx="2342388" cy="234086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553955" y="3663056"/>
              <a:ext cx="2338705" cy="2338705"/>
            </a:xfrm>
            <a:custGeom>
              <a:avLst/>
              <a:gdLst/>
              <a:ahLst/>
              <a:cxnLst/>
              <a:rect l="l" t="t" r="r" b="b"/>
              <a:pathLst>
                <a:path w="2338704" h="2338704">
                  <a:moveTo>
                    <a:pt x="2338456" y="0"/>
                  </a:moveTo>
                  <a:lnTo>
                    <a:pt x="2337966" y="48313"/>
                  </a:lnTo>
                  <a:lnTo>
                    <a:pt x="2336505" y="96389"/>
                  </a:lnTo>
                  <a:lnTo>
                    <a:pt x="2334081" y="144216"/>
                  </a:lnTo>
                  <a:lnTo>
                    <a:pt x="2330703" y="191786"/>
                  </a:lnTo>
                  <a:lnTo>
                    <a:pt x="2326382" y="239089"/>
                  </a:lnTo>
                  <a:lnTo>
                    <a:pt x="2321126" y="286115"/>
                  </a:lnTo>
                  <a:lnTo>
                    <a:pt x="2314945" y="332856"/>
                  </a:lnTo>
                  <a:lnTo>
                    <a:pt x="2307848" y="379302"/>
                  </a:lnTo>
                  <a:lnTo>
                    <a:pt x="2299845" y="425444"/>
                  </a:lnTo>
                  <a:lnTo>
                    <a:pt x="2290945" y="471272"/>
                  </a:lnTo>
                  <a:lnTo>
                    <a:pt x="2281158" y="516776"/>
                  </a:lnTo>
                  <a:lnTo>
                    <a:pt x="2270492" y="561948"/>
                  </a:lnTo>
                  <a:lnTo>
                    <a:pt x="2258958" y="606777"/>
                  </a:lnTo>
                  <a:lnTo>
                    <a:pt x="2246564" y="651256"/>
                  </a:lnTo>
                  <a:lnTo>
                    <a:pt x="2233321" y="695373"/>
                  </a:lnTo>
                  <a:lnTo>
                    <a:pt x="2219237" y="739120"/>
                  </a:lnTo>
                  <a:lnTo>
                    <a:pt x="2204322" y="782488"/>
                  </a:lnTo>
                  <a:lnTo>
                    <a:pt x="2188585" y="825466"/>
                  </a:lnTo>
                  <a:lnTo>
                    <a:pt x="2172036" y="868046"/>
                  </a:lnTo>
                  <a:lnTo>
                    <a:pt x="2154684" y="910218"/>
                  </a:lnTo>
                  <a:lnTo>
                    <a:pt x="2136539" y="951972"/>
                  </a:lnTo>
                  <a:lnTo>
                    <a:pt x="2117610" y="993300"/>
                  </a:lnTo>
                  <a:lnTo>
                    <a:pt x="2097906" y="1034192"/>
                  </a:lnTo>
                  <a:lnTo>
                    <a:pt x="2077436" y="1074638"/>
                  </a:lnTo>
                  <a:lnTo>
                    <a:pt x="2056211" y="1114630"/>
                  </a:lnTo>
                  <a:lnTo>
                    <a:pt x="2034240" y="1154157"/>
                  </a:lnTo>
                  <a:lnTo>
                    <a:pt x="2011531" y="1193210"/>
                  </a:lnTo>
                  <a:lnTo>
                    <a:pt x="1988095" y="1231780"/>
                  </a:lnTo>
                  <a:lnTo>
                    <a:pt x="1963941" y="1269858"/>
                  </a:lnTo>
                  <a:lnTo>
                    <a:pt x="1939077" y="1307434"/>
                  </a:lnTo>
                  <a:lnTo>
                    <a:pt x="1913515" y="1344498"/>
                  </a:lnTo>
                  <a:lnTo>
                    <a:pt x="1887262" y="1381042"/>
                  </a:lnTo>
                  <a:lnTo>
                    <a:pt x="1860328" y="1417055"/>
                  </a:lnTo>
                  <a:lnTo>
                    <a:pt x="1832724" y="1452529"/>
                  </a:lnTo>
                  <a:lnTo>
                    <a:pt x="1804458" y="1487454"/>
                  </a:lnTo>
                  <a:lnTo>
                    <a:pt x="1775539" y="1521821"/>
                  </a:lnTo>
                  <a:lnTo>
                    <a:pt x="1745977" y="1555620"/>
                  </a:lnTo>
                  <a:lnTo>
                    <a:pt x="1715782" y="1588841"/>
                  </a:lnTo>
                  <a:lnTo>
                    <a:pt x="1684962" y="1621477"/>
                  </a:lnTo>
                  <a:lnTo>
                    <a:pt x="1653528" y="1653516"/>
                  </a:lnTo>
                  <a:lnTo>
                    <a:pt x="1621488" y="1684950"/>
                  </a:lnTo>
                  <a:lnTo>
                    <a:pt x="1588853" y="1715769"/>
                  </a:lnTo>
                  <a:lnTo>
                    <a:pt x="1555631" y="1745964"/>
                  </a:lnTo>
                  <a:lnTo>
                    <a:pt x="1521831" y="1775525"/>
                  </a:lnTo>
                  <a:lnTo>
                    <a:pt x="1487464" y="1804443"/>
                  </a:lnTo>
                  <a:lnTo>
                    <a:pt x="1452539" y="1832709"/>
                  </a:lnTo>
                  <a:lnTo>
                    <a:pt x="1417064" y="1860313"/>
                  </a:lnTo>
                  <a:lnTo>
                    <a:pt x="1381050" y="1887246"/>
                  </a:lnTo>
                  <a:lnTo>
                    <a:pt x="1344506" y="1913498"/>
                  </a:lnTo>
                  <a:lnTo>
                    <a:pt x="1307441" y="1939061"/>
                  </a:lnTo>
                  <a:lnTo>
                    <a:pt x="1269865" y="1963923"/>
                  </a:lnTo>
                  <a:lnTo>
                    <a:pt x="1231787" y="1988077"/>
                  </a:lnTo>
                  <a:lnTo>
                    <a:pt x="1193216" y="2011513"/>
                  </a:lnTo>
                  <a:lnTo>
                    <a:pt x="1154163" y="2034221"/>
                  </a:lnTo>
                  <a:lnTo>
                    <a:pt x="1114635" y="2056193"/>
                  </a:lnTo>
                  <a:lnTo>
                    <a:pt x="1074643" y="2077417"/>
                  </a:lnTo>
                  <a:lnTo>
                    <a:pt x="1034197" y="2097886"/>
                  </a:lnTo>
                  <a:lnTo>
                    <a:pt x="993305" y="2117590"/>
                  </a:lnTo>
                  <a:lnTo>
                    <a:pt x="951976" y="2136519"/>
                  </a:lnTo>
                  <a:lnTo>
                    <a:pt x="910221" y="2154664"/>
                  </a:lnTo>
                  <a:lnTo>
                    <a:pt x="868049" y="2172015"/>
                  </a:lnTo>
                  <a:lnTo>
                    <a:pt x="825469" y="2188564"/>
                  </a:lnTo>
                  <a:lnTo>
                    <a:pt x="782490" y="2204300"/>
                  </a:lnTo>
                  <a:lnTo>
                    <a:pt x="739123" y="2219215"/>
                  </a:lnTo>
                  <a:lnTo>
                    <a:pt x="695375" y="2233299"/>
                  </a:lnTo>
                  <a:lnTo>
                    <a:pt x="651258" y="2246542"/>
                  </a:lnTo>
                  <a:lnTo>
                    <a:pt x="606779" y="2258935"/>
                  </a:lnTo>
                  <a:lnTo>
                    <a:pt x="561949" y="2270469"/>
                  </a:lnTo>
                  <a:lnTo>
                    <a:pt x="516777" y="2281135"/>
                  </a:lnTo>
                  <a:lnTo>
                    <a:pt x="471273" y="2290922"/>
                  </a:lnTo>
                  <a:lnTo>
                    <a:pt x="425445" y="2299822"/>
                  </a:lnTo>
                  <a:lnTo>
                    <a:pt x="379303" y="2307825"/>
                  </a:lnTo>
                  <a:lnTo>
                    <a:pt x="332857" y="2314921"/>
                  </a:lnTo>
                  <a:lnTo>
                    <a:pt x="286116" y="2321102"/>
                  </a:lnTo>
                  <a:lnTo>
                    <a:pt x="239089" y="2326358"/>
                  </a:lnTo>
                  <a:lnTo>
                    <a:pt x="191786" y="2330679"/>
                  </a:lnTo>
                  <a:lnTo>
                    <a:pt x="144216" y="2334057"/>
                  </a:lnTo>
                  <a:lnTo>
                    <a:pt x="96389" y="2336481"/>
                  </a:lnTo>
                  <a:lnTo>
                    <a:pt x="48313" y="2337942"/>
                  </a:lnTo>
                  <a:lnTo>
                    <a:pt x="0" y="2338431"/>
                  </a:lnTo>
                  <a:lnTo>
                    <a:pt x="0" y="0"/>
                  </a:lnTo>
                  <a:lnTo>
                    <a:pt x="2338456" y="0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56048" y="4131564"/>
              <a:ext cx="934212" cy="52578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81144" y="4387596"/>
              <a:ext cx="1621536" cy="525780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2037588" y="3617976"/>
            <a:ext cx="2478405" cy="2479675"/>
            <a:chOff x="2037588" y="3617976"/>
            <a:chExt cx="2478405" cy="2479675"/>
          </a:xfrm>
        </p:grpSpPr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37588" y="3617976"/>
              <a:ext cx="2478024" cy="247954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06168" y="3662172"/>
              <a:ext cx="2340863" cy="234086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107560" y="3663056"/>
              <a:ext cx="2338705" cy="2338705"/>
            </a:xfrm>
            <a:custGeom>
              <a:avLst/>
              <a:gdLst/>
              <a:ahLst/>
              <a:cxnLst/>
              <a:rect l="l" t="t" r="r" b="b"/>
              <a:pathLst>
                <a:path w="2338704" h="2338704">
                  <a:moveTo>
                    <a:pt x="2338465" y="2338431"/>
                  </a:moveTo>
                  <a:lnTo>
                    <a:pt x="2290146" y="2337942"/>
                  </a:lnTo>
                  <a:lnTo>
                    <a:pt x="2242067" y="2336481"/>
                  </a:lnTo>
                  <a:lnTo>
                    <a:pt x="2194235" y="2334057"/>
                  </a:lnTo>
                  <a:lnTo>
                    <a:pt x="2146662" y="2330679"/>
                  </a:lnTo>
                  <a:lnTo>
                    <a:pt x="2099355" y="2326358"/>
                  </a:lnTo>
                  <a:lnTo>
                    <a:pt x="2052325" y="2321102"/>
                  </a:lnTo>
                  <a:lnTo>
                    <a:pt x="2005580" y="2314921"/>
                  </a:lnTo>
                  <a:lnTo>
                    <a:pt x="1959131" y="2307825"/>
                  </a:lnTo>
                  <a:lnTo>
                    <a:pt x="1912987" y="2299822"/>
                  </a:lnTo>
                  <a:lnTo>
                    <a:pt x="1867156" y="2290922"/>
                  </a:lnTo>
                  <a:lnTo>
                    <a:pt x="1821649" y="2281135"/>
                  </a:lnTo>
                  <a:lnTo>
                    <a:pt x="1776475" y="2270469"/>
                  </a:lnTo>
                  <a:lnTo>
                    <a:pt x="1731643" y="2258935"/>
                  </a:lnTo>
                  <a:lnTo>
                    <a:pt x="1687162" y="2246542"/>
                  </a:lnTo>
                  <a:lnTo>
                    <a:pt x="1643043" y="2233299"/>
                  </a:lnTo>
                  <a:lnTo>
                    <a:pt x="1599294" y="2219215"/>
                  </a:lnTo>
                  <a:lnTo>
                    <a:pt x="1555925" y="2204300"/>
                  </a:lnTo>
                  <a:lnTo>
                    <a:pt x="1512945" y="2188564"/>
                  </a:lnTo>
                  <a:lnTo>
                    <a:pt x="1470363" y="2172015"/>
                  </a:lnTo>
                  <a:lnTo>
                    <a:pt x="1428190" y="2154664"/>
                  </a:lnTo>
                  <a:lnTo>
                    <a:pt x="1386434" y="2136519"/>
                  </a:lnTo>
                  <a:lnTo>
                    <a:pt x="1345105" y="2117590"/>
                  </a:lnTo>
                  <a:lnTo>
                    <a:pt x="1304212" y="2097886"/>
                  </a:lnTo>
                  <a:lnTo>
                    <a:pt x="1263765" y="2077417"/>
                  </a:lnTo>
                  <a:lnTo>
                    <a:pt x="1223773" y="2056193"/>
                  </a:lnTo>
                  <a:lnTo>
                    <a:pt x="1184245" y="2034221"/>
                  </a:lnTo>
                  <a:lnTo>
                    <a:pt x="1145191" y="2011513"/>
                  </a:lnTo>
                  <a:lnTo>
                    <a:pt x="1106621" y="1988077"/>
                  </a:lnTo>
                  <a:lnTo>
                    <a:pt x="1068542" y="1963923"/>
                  </a:lnTo>
                  <a:lnTo>
                    <a:pt x="1030966" y="1939061"/>
                  </a:lnTo>
                  <a:lnTo>
                    <a:pt x="993902" y="1913498"/>
                  </a:lnTo>
                  <a:lnTo>
                    <a:pt x="957358" y="1887246"/>
                  </a:lnTo>
                  <a:lnTo>
                    <a:pt x="921345" y="1860313"/>
                  </a:lnTo>
                  <a:lnTo>
                    <a:pt x="885871" y="1832709"/>
                  </a:lnTo>
                  <a:lnTo>
                    <a:pt x="850946" y="1804443"/>
                  </a:lnTo>
                  <a:lnTo>
                    <a:pt x="816579" y="1775525"/>
                  </a:lnTo>
                  <a:lnTo>
                    <a:pt x="782781" y="1745964"/>
                  </a:lnTo>
                  <a:lnTo>
                    <a:pt x="749559" y="1715769"/>
                  </a:lnTo>
                  <a:lnTo>
                    <a:pt x="716925" y="1684950"/>
                  </a:lnTo>
                  <a:lnTo>
                    <a:pt x="684886" y="1653516"/>
                  </a:lnTo>
                  <a:lnTo>
                    <a:pt x="653453" y="1621477"/>
                  </a:lnTo>
                  <a:lnTo>
                    <a:pt x="622634" y="1588841"/>
                  </a:lnTo>
                  <a:lnTo>
                    <a:pt x="592440" y="1555620"/>
                  </a:lnTo>
                  <a:lnTo>
                    <a:pt x="562879" y="1521821"/>
                  </a:lnTo>
                  <a:lnTo>
                    <a:pt x="533962" y="1487454"/>
                  </a:lnTo>
                  <a:lnTo>
                    <a:pt x="505697" y="1452529"/>
                  </a:lnTo>
                  <a:lnTo>
                    <a:pt x="478093" y="1417055"/>
                  </a:lnTo>
                  <a:lnTo>
                    <a:pt x="451161" y="1381042"/>
                  </a:lnTo>
                  <a:lnTo>
                    <a:pt x="424910" y="1344498"/>
                  </a:lnTo>
                  <a:lnTo>
                    <a:pt x="399349" y="1307434"/>
                  </a:lnTo>
                  <a:lnTo>
                    <a:pt x="374487" y="1269858"/>
                  </a:lnTo>
                  <a:lnTo>
                    <a:pt x="350334" y="1231780"/>
                  </a:lnTo>
                  <a:lnTo>
                    <a:pt x="326899" y="1193210"/>
                  </a:lnTo>
                  <a:lnTo>
                    <a:pt x="304191" y="1154157"/>
                  </a:lnTo>
                  <a:lnTo>
                    <a:pt x="282221" y="1114630"/>
                  </a:lnTo>
                  <a:lnTo>
                    <a:pt x="260997" y="1074638"/>
                  </a:lnTo>
                  <a:lnTo>
                    <a:pt x="240530" y="1034192"/>
                  </a:lnTo>
                  <a:lnTo>
                    <a:pt x="220827" y="993300"/>
                  </a:lnTo>
                  <a:lnTo>
                    <a:pt x="201899" y="951972"/>
                  </a:lnTo>
                  <a:lnTo>
                    <a:pt x="183755" y="910218"/>
                  </a:lnTo>
                  <a:lnTo>
                    <a:pt x="166404" y="868046"/>
                  </a:lnTo>
                  <a:lnTo>
                    <a:pt x="149857" y="825466"/>
                  </a:lnTo>
                  <a:lnTo>
                    <a:pt x="134121" y="782488"/>
                  </a:lnTo>
                  <a:lnTo>
                    <a:pt x="119207" y="739120"/>
                  </a:lnTo>
                  <a:lnTo>
                    <a:pt x="105124" y="695373"/>
                  </a:lnTo>
                  <a:lnTo>
                    <a:pt x="91882" y="651256"/>
                  </a:lnTo>
                  <a:lnTo>
                    <a:pt x="79490" y="606777"/>
                  </a:lnTo>
                  <a:lnTo>
                    <a:pt x="67956" y="561948"/>
                  </a:lnTo>
                  <a:lnTo>
                    <a:pt x="57292" y="516776"/>
                  </a:lnTo>
                  <a:lnTo>
                    <a:pt x="47505" y="471272"/>
                  </a:lnTo>
                  <a:lnTo>
                    <a:pt x="38606" y="425444"/>
                  </a:lnTo>
                  <a:lnTo>
                    <a:pt x="30604" y="379302"/>
                  </a:lnTo>
                  <a:lnTo>
                    <a:pt x="23508" y="332856"/>
                  </a:lnTo>
                  <a:lnTo>
                    <a:pt x="17327" y="286115"/>
                  </a:lnTo>
                  <a:lnTo>
                    <a:pt x="12072" y="239089"/>
                  </a:lnTo>
                  <a:lnTo>
                    <a:pt x="7751" y="191786"/>
                  </a:lnTo>
                  <a:lnTo>
                    <a:pt x="4374" y="144216"/>
                  </a:lnTo>
                  <a:lnTo>
                    <a:pt x="1950" y="96389"/>
                  </a:lnTo>
                  <a:lnTo>
                    <a:pt x="489" y="48313"/>
                  </a:lnTo>
                  <a:lnTo>
                    <a:pt x="0" y="0"/>
                  </a:lnTo>
                  <a:lnTo>
                    <a:pt x="2338465" y="0"/>
                  </a:lnTo>
                  <a:lnTo>
                    <a:pt x="2338465" y="2338431"/>
                  </a:lnTo>
                  <a:close/>
                </a:path>
              </a:pathLst>
            </a:custGeom>
            <a:ln w="9524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26663" y="4258056"/>
              <a:ext cx="1207008" cy="525780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4055364" y="3127248"/>
            <a:ext cx="890269" cy="1015365"/>
            <a:chOff x="4055364" y="3127248"/>
            <a:chExt cx="890269" cy="1015365"/>
          </a:xfrm>
        </p:grpSpPr>
        <p:pic>
          <p:nvPicPr>
            <p:cNvPr id="54" name="object 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75176" y="3127248"/>
              <a:ext cx="870203" cy="43738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39184" y="3165348"/>
              <a:ext cx="742188" cy="31089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55364" y="3703320"/>
              <a:ext cx="870203" cy="43891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119372" y="3742944"/>
              <a:ext cx="742188" cy="309371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3160905" y="4309362"/>
            <a:ext cx="9169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10" dirty="0">
                <a:solidFill>
                  <a:srgbClr val="FFFFFF"/>
                </a:solidFill>
                <a:latin typeface="Rockwell"/>
                <a:cs typeface="Rockwell"/>
              </a:rPr>
              <a:t>Control</a:t>
            </a:r>
            <a:endParaRPr sz="1900">
              <a:latin typeface="Rockwell"/>
              <a:cs typeface="Rockwel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15379" y="4181980"/>
            <a:ext cx="1329690" cy="57086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374650">
              <a:lnSpc>
                <a:spcPts val="2020"/>
              </a:lnSpc>
              <a:spcBef>
                <a:spcPts val="380"/>
              </a:spcBef>
            </a:pPr>
            <a:r>
              <a:rPr sz="1900" b="1" spc="-20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r>
              <a:rPr sz="19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Rockwell"/>
                <a:cs typeface="Rockwell"/>
              </a:rPr>
              <a:t>processing</a:t>
            </a:r>
            <a:endParaRPr sz="1900">
              <a:latin typeface="Rockwell"/>
              <a:cs typeface="Rockwell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044" y="77902"/>
            <a:ext cx="1174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50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17865" y="77902"/>
            <a:ext cx="3162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latin typeface="Times New Roman"/>
                <a:cs typeface="Times New Roman"/>
              </a:rPr>
              <a:t>3</a:t>
            </a:r>
            <a:r>
              <a:rPr sz="1450" spc="46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9765" y="77902"/>
            <a:ext cx="21018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25" dirty="0">
                <a:latin typeface="Times New Roman"/>
                <a:cs typeface="Times New Roman"/>
              </a:rPr>
              <a:t>15</a:t>
            </a:r>
            <a:endParaRPr sz="145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16150" y="322021"/>
          <a:ext cx="6196329" cy="250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2270"/>
                <a:gridCol w="4544059"/>
              </a:tblGrid>
              <a:tr h="250190">
                <a:tc>
                  <a:txBody>
                    <a:bodyPr/>
                    <a:lstStyle/>
                    <a:p>
                      <a:pPr marL="540385">
                        <a:lnSpc>
                          <a:spcPts val="1730"/>
                        </a:lnSpc>
                      </a:pPr>
                      <a:r>
                        <a:rPr sz="1450" spc="-10" dirty="0">
                          <a:latin typeface="Times New Roman"/>
                          <a:cs typeface="Times New Roman"/>
                        </a:rPr>
                        <a:t>Opcode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30"/>
                        </a:lnSpc>
                      </a:pPr>
                      <a:r>
                        <a:rPr sz="145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565019" y="767976"/>
            <a:ext cx="16192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latin typeface="Times New Roman"/>
                <a:cs typeface="Times New Roman"/>
              </a:rPr>
              <a:t>(a)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Instruction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format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4044" y="1409244"/>
            <a:ext cx="53086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5450" algn="l"/>
              </a:tabLst>
            </a:pPr>
            <a:r>
              <a:rPr sz="1450" spc="-50" dirty="0">
                <a:latin typeface="Times New Roman"/>
                <a:cs typeface="Times New Roman"/>
              </a:rPr>
              <a:t>0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-50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69765" y="1409244"/>
            <a:ext cx="21018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25" dirty="0">
                <a:latin typeface="Times New Roman"/>
                <a:cs typeface="Times New Roman"/>
              </a:rPr>
              <a:t>15</a:t>
            </a:r>
            <a:endParaRPr sz="145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216150" y="1653357"/>
          <a:ext cx="6195695" cy="250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750"/>
                <a:gridCol w="5782945"/>
              </a:tblGrid>
              <a:tr h="250825">
                <a:tc>
                  <a:txBody>
                    <a:bodyPr/>
                    <a:lstStyle/>
                    <a:p>
                      <a:pPr marL="5715" algn="ctr">
                        <a:lnSpc>
                          <a:spcPts val="1730"/>
                        </a:lnSpc>
                      </a:pPr>
                      <a:r>
                        <a:rPr sz="145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730"/>
                        </a:lnSpc>
                      </a:pPr>
                      <a:r>
                        <a:rPr sz="1450" spc="-10" dirty="0">
                          <a:latin typeface="Times New Roman"/>
                          <a:cs typeface="Times New Roman"/>
                        </a:rPr>
                        <a:t>Magnitude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502358" y="2094934"/>
            <a:ext cx="4010025" cy="3244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0150" indent="-262255">
              <a:lnSpc>
                <a:spcPct val="100000"/>
              </a:lnSpc>
              <a:spcBef>
                <a:spcPts val="95"/>
              </a:spcBef>
              <a:buAutoNum type="alphaLcParenBoth" startAt="2"/>
              <a:tabLst>
                <a:tab pos="2470150" algn="l"/>
              </a:tabLst>
            </a:pPr>
            <a:r>
              <a:rPr sz="1450" dirty="0">
                <a:latin typeface="Times New Roman"/>
                <a:cs typeface="Times New Roman"/>
              </a:rPr>
              <a:t>Integer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format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lphaLcParenBoth" startAt="2"/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lphaLcParenBoth" startAt="2"/>
            </a:pPr>
            <a:endParaRPr sz="145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96300"/>
              </a:lnSpc>
            </a:pPr>
            <a:r>
              <a:rPr sz="1450" dirty="0">
                <a:latin typeface="Times New Roman"/>
                <a:cs typeface="Times New Roman"/>
              </a:rPr>
              <a:t>Program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Counter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(PC)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=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Address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-10" dirty="0">
                <a:latin typeface="Times New Roman"/>
                <a:cs typeface="Times New Roman"/>
              </a:rPr>
              <a:t> instruction </a:t>
            </a:r>
            <a:r>
              <a:rPr sz="1450" dirty="0">
                <a:latin typeface="Times New Roman"/>
                <a:cs typeface="Times New Roman"/>
              </a:rPr>
              <a:t>Instruction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Register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(IR)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=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Instruction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being </a:t>
            </a:r>
            <a:r>
              <a:rPr sz="1450" spc="-10" dirty="0">
                <a:latin typeface="Times New Roman"/>
                <a:cs typeface="Times New Roman"/>
              </a:rPr>
              <a:t>executed </a:t>
            </a:r>
            <a:r>
              <a:rPr sz="1450" dirty="0">
                <a:latin typeface="Times New Roman"/>
                <a:cs typeface="Times New Roman"/>
              </a:rPr>
              <a:t>Accumulator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(AC) =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Temporary </a:t>
            </a:r>
            <a:r>
              <a:rPr sz="1450" spc="-10" dirty="0">
                <a:latin typeface="Times New Roman"/>
                <a:cs typeface="Times New Roman"/>
              </a:rPr>
              <a:t>storage</a:t>
            </a:r>
            <a:endParaRPr sz="1450">
              <a:latin typeface="Times New Roman"/>
              <a:cs typeface="Times New Roman"/>
            </a:endParaRPr>
          </a:p>
          <a:p>
            <a:pPr marL="2168525" indent="-251460">
              <a:lnSpc>
                <a:spcPct val="100000"/>
              </a:lnSpc>
              <a:spcBef>
                <a:spcPts val="1639"/>
              </a:spcBef>
              <a:buAutoNum type="alphaLcParenBoth" startAt="3"/>
              <a:tabLst>
                <a:tab pos="2168525" algn="l"/>
              </a:tabLst>
            </a:pPr>
            <a:r>
              <a:rPr sz="1450" dirty="0">
                <a:latin typeface="Times New Roman"/>
                <a:cs typeface="Times New Roman"/>
              </a:rPr>
              <a:t>Internal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CPU</a:t>
            </a:r>
            <a:r>
              <a:rPr sz="1450" spc="-10" dirty="0">
                <a:latin typeface="Times New Roman"/>
                <a:cs typeface="Times New Roman"/>
              </a:rPr>
              <a:t> registers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lphaLcParenBoth" startAt="3"/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lphaLcParenBoth" startAt="3"/>
            </a:pPr>
            <a:endParaRPr sz="1450">
              <a:latin typeface="Times New Roman"/>
              <a:cs typeface="Times New Roman"/>
            </a:endParaRPr>
          </a:p>
          <a:p>
            <a:pPr marL="12700" marR="1517650">
              <a:lnSpc>
                <a:spcPct val="97100"/>
              </a:lnSpc>
            </a:pPr>
            <a:r>
              <a:rPr sz="1450" dirty="0">
                <a:latin typeface="Times New Roman"/>
                <a:cs typeface="Times New Roman"/>
              </a:rPr>
              <a:t>0001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=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Load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AC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from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Memory </a:t>
            </a:r>
            <a:r>
              <a:rPr sz="1450" dirty="0">
                <a:latin typeface="Times New Roman"/>
                <a:cs typeface="Times New Roman"/>
              </a:rPr>
              <a:t>0010 = Store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AC to</a:t>
            </a:r>
            <a:r>
              <a:rPr sz="1450" spc="-10" dirty="0">
                <a:latin typeface="Times New Roman"/>
                <a:cs typeface="Times New Roman"/>
              </a:rPr>
              <a:t> Memory </a:t>
            </a:r>
            <a:r>
              <a:rPr sz="1450" dirty="0">
                <a:latin typeface="Times New Roman"/>
                <a:cs typeface="Times New Roman"/>
              </a:rPr>
              <a:t>0101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=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Add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to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AC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from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Memory</a:t>
            </a:r>
            <a:endParaRPr sz="1450">
              <a:latin typeface="Times New Roman"/>
              <a:cs typeface="Times New Roman"/>
            </a:endParaRPr>
          </a:p>
          <a:p>
            <a:pPr marL="2197100" indent="-262255">
              <a:lnSpc>
                <a:spcPct val="100000"/>
              </a:lnSpc>
              <a:spcBef>
                <a:spcPts val="1635"/>
              </a:spcBef>
              <a:buAutoNum type="alphaLcParenBoth" startAt="4"/>
              <a:tabLst>
                <a:tab pos="2197100" algn="l"/>
              </a:tabLst>
            </a:pPr>
            <a:r>
              <a:rPr sz="1450" dirty="0">
                <a:latin typeface="Times New Roman"/>
                <a:cs typeface="Times New Roman"/>
              </a:rPr>
              <a:t>Partial list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-10" dirty="0">
                <a:latin typeface="Times New Roman"/>
                <a:cs typeface="Times New Roman"/>
              </a:rPr>
              <a:t> opcodes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18595" y="5948384"/>
            <a:ext cx="4321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3769" algn="l"/>
              </a:tabLst>
            </a:pPr>
            <a:r>
              <a:rPr sz="1450" b="1" spc="-40" dirty="0">
                <a:latin typeface="Arial"/>
                <a:cs typeface="Arial"/>
              </a:rPr>
              <a:t>Figure</a:t>
            </a:r>
            <a:r>
              <a:rPr sz="1450" spc="-105" dirty="0">
                <a:latin typeface="Times New Roman"/>
                <a:cs typeface="Times New Roman"/>
              </a:rPr>
              <a:t> </a:t>
            </a:r>
            <a:r>
              <a:rPr sz="1450" b="1" spc="-25" dirty="0">
                <a:latin typeface="Arial"/>
                <a:cs typeface="Arial"/>
              </a:rPr>
              <a:t>3.4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b="1" spc="-65" dirty="0">
                <a:latin typeface="Arial"/>
                <a:cs typeface="Arial"/>
              </a:rPr>
              <a:t>Characteristics</a:t>
            </a:r>
            <a:r>
              <a:rPr sz="1450" spc="-229" dirty="0">
                <a:latin typeface="Times New Roman"/>
                <a:cs typeface="Times New Roman"/>
              </a:rPr>
              <a:t> </a:t>
            </a:r>
            <a:r>
              <a:rPr sz="1450" b="1" spc="-90" dirty="0">
                <a:latin typeface="Arial"/>
                <a:cs typeface="Arial"/>
              </a:rPr>
              <a:t>of</a:t>
            </a:r>
            <a:r>
              <a:rPr sz="1450" spc="3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Arial"/>
                <a:cs typeface="Arial"/>
              </a:rPr>
              <a:t>a</a:t>
            </a:r>
            <a:r>
              <a:rPr sz="1450" spc="-50" dirty="0">
                <a:latin typeface="Times New Roman"/>
                <a:cs typeface="Times New Roman"/>
              </a:rPr>
              <a:t> </a:t>
            </a:r>
            <a:r>
              <a:rPr sz="1450" b="1" spc="-65" dirty="0">
                <a:latin typeface="Arial"/>
                <a:cs typeface="Arial"/>
              </a:rPr>
              <a:t>Hypothetical</a:t>
            </a:r>
            <a:r>
              <a:rPr sz="1450" spc="35" dirty="0">
                <a:latin typeface="Times New Roman"/>
                <a:cs typeface="Times New Roman"/>
              </a:rPr>
              <a:t> </a:t>
            </a:r>
            <a:r>
              <a:rPr sz="1450" b="1" spc="-25" dirty="0">
                <a:latin typeface="Arial"/>
                <a:cs typeface="Arial"/>
              </a:rPr>
              <a:t>Machine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381" y="374965"/>
            <a:ext cx="4345377" cy="343457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5057" y="712955"/>
            <a:ext cx="9328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Instruction </a:t>
            </a:r>
            <a:r>
              <a:rPr sz="1500" b="1" spc="-20" dirty="0">
                <a:latin typeface="Times New Roman"/>
                <a:cs typeface="Times New Roman"/>
              </a:rPr>
              <a:t>fetch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75719" y="704694"/>
            <a:ext cx="7537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530" marR="5080" indent="-16446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Operand fetch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214" y="2844082"/>
            <a:ext cx="93281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Instruction address calculation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3296" y="2844082"/>
            <a:ext cx="93281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Instruction operation decoding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7417" y="2844082"/>
            <a:ext cx="909319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75"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Operand address calculation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2998" y="374965"/>
            <a:ext cx="2737033" cy="34345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951697" y="712956"/>
            <a:ext cx="7537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530" marR="5080" indent="-16446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Operand store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83883" y="1926813"/>
            <a:ext cx="77279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30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Multiple operands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1067" y="2959574"/>
            <a:ext cx="858519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1615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latin typeface="Times New Roman"/>
                <a:cs typeface="Times New Roman"/>
              </a:rPr>
              <a:t>Data </a:t>
            </a:r>
            <a:r>
              <a:rPr sz="1500" b="1" spc="-10" dirty="0">
                <a:latin typeface="Times New Roman"/>
                <a:cs typeface="Times New Roman"/>
              </a:rPr>
              <a:t>Operation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12303" y="2844084"/>
            <a:ext cx="909319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3810"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Operand address calculation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3244" y="4156119"/>
            <a:ext cx="175387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Instruction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complete, </a:t>
            </a:r>
            <a:r>
              <a:rPr sz="1500" b="1" dirty="0">
                <a:latin typeface="Times New Roman"/>
                <a:cs typeface="Times New Roman"/>
              </a:rPr>
              <a:t>fetch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next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instruction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50025" y="4001861"/>
            <a:ext cx="141541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Return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for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string </a:t>
            </a:r>
            <a:r>
              <a:rPr sz="1500" b="1" dirty="0">
                <a:latin typeface="Times New Roman"/>
                <a:cs typeface="Times New Roman"/>
              </a:rPr>
              <a:t>or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vector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data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43619" y="931321"/>
            <a:ext cx="7617459" cy="3738245"/>
            <a:chOff x="1343619" y="931321"/>
            <a:chExt cx="7617459" cy="3738245"/>
          </a:xfrm>
        </p:grpSpPr>
        <p:sp>
          <p:nvSpPr>
            <p:cNvPr id="18" name="object 18"/>
            <p:cNvSpPr/>
            <p:nvPr/>
          </p:nvSpPr>
          <p:spPr>
            <a:xfrm>
              <a:off x="1420913" y="3747612"/>
              <a:ext cx="7524115" cy="905510"/>
            </a:xfrm>
            <a:custGeom>
              <a:avLst/>
              <a:gdLst/>
              <a:ahLst/>
              <a:cxnLst/>
              <a:rect l="l" t="t" r="r" b="b"/>
              <a:pathLst>
                <a:path w="7524115" h="905510">
                  <a:moveTo>
                    <a:pt x="0" y="0"/>
                  </a:moveTo>
                  <a:lnTo>
                    <a:pt x="561940" y="905493"/>
                  </a:lnTo>
                  <a:lnTo>
                    <a:pt x="7524107" y="905493"/>
                  </a:lnTo>
                </a:path>
              </a:pathLst>
            </a:custGeom>
            <a:ln w="31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43619" y="3662781"/>
              <a:ext cx="151765" cy="155575"/>
            </a:xfrm>
            <a:custGeom>
              <a:avLst/>
              <a:gdLst/>
              <a:ahLst/>
              <a:cxnLst/>
              <a:rect l="l" t="t" r="r" b="b"/>
              <a:pathLst>
                <a:path w="151765" h="155575">
                  <a:moveTo>
                    <a:pt x="0" y="0"/>
                  </a:moveTo>
                  <a:lnTo>
                    <a:pt x="34695" y="155505"/>
                  </a:lnTo>
                  <a:lnTo>
                    <a:pt x="151494" y="47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28039" y="3747612"/>
              <a:ext cx="562610" cy="905510"/>
            </a:xfrm>
            <a:custGeom>
              <a:avLst/>
              <a:gdLst/>
              <a:ahLst/>
              <a:cxnLst/>
              <a:rect l="l" t="t" r="r" b="b"/>
              <a:pathLst>
                <a:path w="562610" h="905510">
                  <a:moveTo>
                    <a:pt x="0" y="0"/>
                  </a:moveTo>
                  <a:lnTo>
                    <a:pt x="0" y="0"/>
                  </a:lnTo>
                  <a:lnTo>
                    <a:pt x="562098" y="905493"/>
                  </a:lnTo>
                </a:path>
              </a:pathLst>
            </a:custGeom>
            <a:ln w="311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50846" y="3662781"/>
              <a:ext cx="151765" cy="155575"/>
            </a:xfrm>
            <a:custGeom>
              <a:avLst/>
              <a:gdLst/>
              <a:ahLst/>
              <a:cxnLst/>
              <a:rect l="l" t="t" r="r" b="b"/>
              <a:pathLst>
                <a:path w="151764" h="155575">
                  <a:moveTo>
                    <a:pt x="0" y="0"/>
                  </a:moveTo>
                  <a:lnTo>
                    <a:pt x="34320" y="155505"/>
                  </a:lnTo>
                  <a:lnTo>
                    <a:pt x="151394" y="47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42921" y="947196"/>
              <a:ext cx="995044" cy="1609725"/>
            </a:xfrm>
            <a:custGeom>
              <a:avLst/>
              <a:gdLst/>
              <a:ahLst/>
              <a:cxnLst/>
              <a:rect l="l" t="t" r="r" b="b"/>
              <a:pathLst>
                <a:path w="995045" h="1609725">
                  <a:moveTo>
                    <a:pt x="0" y="0"/>
                  </a:moveTo>
                  <a:lnTo>
                    <a:pt x="477087" y="0"/>
                  </a:lnTo>
                  <a:lnTo>
                    <a:pt x="994988" y="1609111"/>
                  </a:lnTo>
                </a:path>
              </a:pathLst>
            </a:custGeom>
            <a:ln w="311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55472" y="2509753"/>
              <a:ext cx="150495" cy="154940"/>
            </a:xfrm>
            <a:custGeom>
              <a:avLst/>
              <a:gdLst/>
              <a:ahLst/>
              <a:cxnLst/>
              <a:rect l="l" t="t" r="r" b="b"/>
              <a:pathLst>
                <a:path w="150495" h="154939">
                  <a:moveTo>
                    <a:pt x="150296" y="0"/>
                  </a:moveTo>
                  <a:lnTo>
                    <a:pt x="0" y="48920"/>
                  </a:lnTo>
                  <a:lnTo>
                    <a:pt x="118353" y="154899"/>
                  </a:lnTo>
                  <a:lnTo>
                    <a:pt x="1502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666297" y="1926812"/>
            <a:ext cx="72072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marR="5080" indent="-8064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Multiple results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0032" y="947196"/>
            <a:ext cx="995044" cy="3706495"/>
          </a:xfrm>
          <a:custGeom>
            <a:avLst/>
            <a:gdLst/>
            <a:ahLst/>
            <a:cxnLst/>
            <a:rect l="l" t="t" r="r" b="b"/>
            <a:pathLst>
              <a:path w="995045" h="3706495">
                <a:moveTo>
                  <a:pt x="0" y="0"/>
                </a:moveTo>
                <a:lnTo>
                  <a:pt x="477239" y="0"/>
                </a:lnTo>
                <a:lnTo>
                  <a:pt x="994988" y="1609111"/>
                </a:lnTo>
                <a:lnTo>
                  <a:pt x="994988" y="3705908"/>
                </a:lnTo>
              </a:path>
            </a:pathLst>
          </a:custGeom>
          <a:ln w="311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03255" y="5992656"/>
            <a:ext cx="125920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b="1" dirty="0">
                <a:latin typeface="Times New Roman"/>
                <a:cs typeface="Times New Roman"/>
              </a:rPr>
              <a:t>Figure</a:t>
            </a:r>
            <a:r>
              <a:rPr sz="2250" b="1" spc="-50" dirty="0">
                <a:latin typeface="Times New Roman"/>
                <a:cs typeface="Times New Roman"/>
              </a:rPr>
              <a:t> </a:t>
            </a:r>
            <a:r>
              <a:rPr sz="2250" b="1" spc="-25" dirty="0">
                <a:latin typeface="Times New Roman"/>
                <a:cs typeface="Times New Roman"/>
              </a:rPr>
              <a:t>3.6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47568" y="5992656"/>
            <a:ext cx="396938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b="1" dirty="0">
                <a:latin typeface="Times New Roman"/>
                <a:cs typeface="Times New Roman"/>
              </a:rPr>
              <a:t>Instruction</a:t>
            </a:r>
            <a:r>
              <a:rPr sz="2250" b="1" spc="-70" dirty="0">
                <a:latin typeface="Times New Roman"/>
                <a:cs typeface="Times New Roman"/>
              </a:rPr>
              <a:t> </a:t>
            </a:r>
            <a:r>
              <a:rPr sz="2250" b="1" dirty="0">
                <a:latin typeface="Times New Roman"/>
                <a:cs typeface="Times New Roman"/>
              </a:rPr>
              <a:t>Cycle</a:t>
            </a:r>
            <a:r>
              <a:rPr sz="2250" b="1" spc="-60" dirty="0">
                <a:latin typeface="Times New Roman"/>
                <a:cs typeface="Times New Roman"/>
              </a:rPr>
              <a:t> </a:t>
            </a:r>
            <a:r>
              <a:rPr sz="2250" b="1" dirty="0">
                <a:latin typeface="Times New Roman"/>
                <a:cs typeface="Times New Roman"/>
              </a:rPr>
              <a:t>State</a:t>
            </a:r>
            <a:r>
              <a:rPr sz="2250" b="1" spc="-55" dirty="0">
                <a:latin typeface="Times New Roman"/>
                <a:cs typeface="Times New Roman"/>
              </a:rPr>
              <a:t> </a:t>
            </a:r>
            <a:r>
              <a:rPr sz="2250" b="1" spc="-10" dirty="0">
                <a:latin typeface="Times New Roman"/>
                <a:cs typeface="Times New Roman"/>
              </a:rPr>
              <a:t>Diagram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1252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-10" dirty="0"/>
              <a:t>Interrupt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98" y="1196454"/>
            <a:ext cx="7414895" cy="47580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marR="19685" indent="-228600" algn="just">
              <a:lnSpc>
                <a:spcPct val="90000"/>
              </a:lnSpc>
              <a:spcBef>
                <a:spcPts val="305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4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700" spc="4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signal</a:t>
            </a:r>
            <a:r>
              <a:rPr sz="1700" spc="3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emitted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hardware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700" spc="3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software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1700" spc="3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spc="-5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process</a:t>
            </a:r>
            <a:r>
              <a:rPr sz="17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event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needs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immediate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attention.</a:t>
            </a:r>
            <a:r>
              <a:rPr sz="1700" spc="-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alerts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700" spc="3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high-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priority</a:t>
            </a:r>
            <a:r>
              <a:rPr sz="1700" spc="3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process</a:t>
            </a:r>
            <a:r>
              <a:rPr sz="1700" spc="3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requiring</a:t>
            </a:r>
            <a:r>
              <a:rPr sz="1700" spc="3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interruption</a:t>
            </a:r>
            <a:r>
              <a:rPr sz="1700" spc="3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3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3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current</a:t>
            </a:r>
            <a:r>
              <a:rPr sz="1700" spc="3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working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process.</a:t>
            </a:r>
            <a:r>
              <a:rPr sz="17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700" spc="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700" spc="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devices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one</a:t>
            </a:r>
            <a:r>
              <a:rPr sz="1700" spc="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bus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dedicated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7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purpose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called</a:t>
            </a:r>
            <a:r>
              <a:rPr sz="17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7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595959"/>
                </a:solidFill>
                <a:latin typeface="Rockwell"/>
                <a:cs typeface="Rockwell"/>
              </a:rPr>
              <a:t>Service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i="1" dirty="0">
                <a:solidFill>
                  <a:srgbClr val="595959"/>
                </a:solidFill>
                <a:latin typeface="Rockwell"/>
                <a:cs typeface="Rockwell"/>
              </a:rPr>
              <a:t>Routine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i="1" spc="-10" dirty="0">
                <a:solidFill>
                  <a:srgbClr val="595959"/>
                </a:solidFill>
                <a:latin typeface="Rockwell"/>
                <a:cs typeface="Rockwell"/>
              </a:rPr>
              <a:t>(ISR)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.</a:t>
            </a:r>
            <a:endParaRPr sz="17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653265"/>
              </a:buClr>
              <a:buFont typeface="Wingdings"/>
              <a:buChar char=""/>
            </a:pPr>
            <a:endParaRPr sz="1700">
              <a:latin typeface="Rockwell"/>
              <a:cs typeface="Rockwell"/>
            </a:endParaRPr>
          </a:p>
          <a:p>
            <a:pPr marL="240665" marR="5080" indent="-228600" algn="just">
              <a:lnSpc>
                <a:spcPct val="90000"/>
              </a:lnSpc>
              <a:buClr>
                <a:srgbClr val="653265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1700" spc="1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700" spc="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device</a:t>
            </a:r>
            <a:r>
              <a:rPr sz="1700" spc="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raises</a:t>
            </a:r>
            <a:r>
              <a:rPr sz="1700" spc="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1700" spc="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700" spc="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at</a:t>
            </a:r>
            <a:r>
              <a:rPr sz="1700" spc="1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let’s</a:t>
            </a:r>
            <a:r>
              <a:rPr sz="1700" spc="16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say</a:t>
            </a:r>
            <a:r>
              <a:rPr sz="1700" spc="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process</a:t>
            </a:r>
            <a:r>
              <a:rPr sz="1700" spc="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i,</a:t>
            </a:r>
            <a:r>
              <a:rPr sz="1700" spc="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1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first</a:t>
            </a:r>
            <a:r>
              <a:rPr sz="17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completes</a:t>
            </a:r>
            <a:r>
              <a:rPr sz="17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execution</a:t>
            </a:r>
            <a:r>
              <a:rPr sz="17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1700" spc="1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i.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Then</a:t>
            </a:r>
            <a:r>
              <a:rPr sz="1700" spc="1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17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loads</a:t>
            </a:r>
            <a:r>
              <a:rPr sz="17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Program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Counter</a:t>
            </a:r>
            <a:r>
              <a:rPr sz="1700" spc="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(PC)</a:t>
            </a:r>
            <a:r>
              <a:rPr sz="1700" spc="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700" spc="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700" spc="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1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first</a:t>
            </a:r>
            <a:r>
              <a:rPr sz="1700" spc="1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1700" spc="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ISR.</a:t>
            </a:r>
            <a:r>
              <a:rPr sz="17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Before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loading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Program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Counter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700" spc="3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address,</a:t>
            </a:r>
            <a:r>
              <a:rPr sz="1700" spc="3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4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interrupted</a:t>
            </a:r>
            <a:r>
              <a:rPr sz="1700" spc="4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1700" spc="4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4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moved</a:t>
            </a:r>
            <a:r>
              <a:rPr sz="1700" spc="4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4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700" spc="4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temporary</a:t>
            </a:r>
            <a:r>
              <a:rPr sz="1700" spc="4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location.</a:t>
            </a:r>
            <a:r>
              <a:rPr sz="1700" spc="3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Therefore,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after</a:t>
            </a:r>
            <a:r>
              <a:rPr sz="1700" spc="3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handling</a:t>
            </a:r>
            <a:r>
              <a:rPr sz="1700" spc="3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3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700" spc="3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3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700" spc="3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700" spc="3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continue</a:t>
            </a:r>
            <a:r>
              <a:rPr sz="1700" spc="3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700" spc="3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i+1.</a:t>
            </a:r>
            <a:endParaRPr sz="1700">
              <a:latin typeface="Rockwell"/>
              <a:cs typeface="Rockwell"/>
            </a:endParaRPr>
          </a:p>
          <a:p>
            <a:pPr marL="240665" marR="19050" indent="-228600" algn="just">
              <a:lnSpc>
                <a:spcPct val="90000"/>
              </a:lnSpc>
              <a:spcBef>
                <a:spcPts val="1989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While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7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handling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interrupts,</a:t>
            </a:r>
            <a:r>
              <a:rPr sz="1700" spc="-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17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must</a:t>
            </a:r>
            <a:r>
              <a:rPr sz="17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inform</a:t>
            </a:r>
            <a:r>
              <a:rPr sz="17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device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700" spc="9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its</a:t>
            </a:r>
            <a:r>
              <a:rPr sz="1700" spc="8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request</a:t>
            </a:r>
            <a:r>
              <a:rPr sz="1700" spc="9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has</a:t>
            </a:r>
            <a:r>
              <a:rPr sz="1700" spc="8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been</a:t>
            </a:r>
            <a:r>
              <a:rPr sz="1700" spc="8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recognized</a:t>
            </a:r>
            <a:r>
              <a:rPr sz="1700" spc="9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so</a:t>
            </a:r>
            <a:r>
              <a:rPr sz="1700" spc="8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700" spc="9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1700" spc="9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stops</a:t>
            </a:r>
            <a:r>
              <a:rPr sz="1700" spc="8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sending</a:t>
            </a:r>
            <a:r>
              <a:rPr sz="1700" spc="9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700" spc="27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request</a:t>
            </a:r>
            <a:r>
              <a:rPr sz="1700" spc="27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signal.</a:t>
            </a:r>
            <a:r>
              <a:rPr sz="1700" spc="21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Also,</a:t>
            </a:r>
            <a:r>
              <a:rPr sz="1700" spc="204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saving</a:t>
            </a:r>
            <a:r>
              <a:rPr sz="1700" spc="27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27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registers</a:t>
            </a:r>
            <a:r>
              <a:rPr sz="1700" spc="27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so</a:t>
            </a:r>
            <a:r>
              <a:rPr sz="1700" spc="27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700" spc="27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interrupted</a:t>
            </a:r>
            <a:r>
              <a:rPr sz="1700" spc="1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process</a:t>
            </a:r>
            <a:r>
              <a:rPr sz="1700" spc="1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700" spc="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700" spc="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restored</a:t>
            </a:r>
            <a:r>
              <a:rPr sz="1700" spc="1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700" spc="1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1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future,</a:t>
            </a:r>
            <a:r>
              <a:rPr sz="1700" spc="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increases</a:t>
            </a:r>
            <a:r>
              <a:rPr sz="1700" spc="1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delay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between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time</a:t>
            </a:r>
            <a:r>
              <a:rPr sz="1700" spc="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1700" spc="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700" spc="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received</a:t>
            </a:r>
            <a:r>
              <a:rPr sz="1700" spc="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start</a:t>
            </a:r>
            <a:r>
              <a:rPr sz="1700" spc="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execution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ISR.</a:t>
            </a:r>
            <a:r>
              <a:rPr sz="1700" spc="-2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7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called</a:t>
            </a:r>
            <a:r>
              <a:rPr sz="17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7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Latency.</a:t>
            </a:r>
            <a:endParaRPr sz="1700">
              <a:latin typeface="Rockwell"/>
              <a:cs typeface="Rockwel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04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Type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/>
              <a:t>of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spc="-10" dirty="0"/>
              <a:t>interrupt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98" y="1368035"/>
            <a:ext cx="7399655" cy="3938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 algn="just">
              <a:lnSpc>
                <a:spcPct val="100000"/>
              </a:lnSpc>
              <a:spcBef>
                <a:spcPts val="95"/>
              </a:spcBef>
              <a:buSzPct val="75000"/>
              <a:buFont typeface="Wingdings"/>
              <a:buChar char=""/>
              <a:tabLst>
                <a:tab pos="240665" algn="l"/>
                <a:tab pos="290830" algn="l"/>
              </a:tabLst>
            </a:pPr>
            <a:r>
              <a:rPr sz="1600" dirty="0">
                <a:solidFill>
                  <a:srgbClr val="653265"/>
                </a:solidFill>
                <a:latin typeface="Rockwell"/>
                <a:cs typeface="Rockwell"/>
              </a:rPr>
              <a:t>	</a:t>
            </a:r>
            <a:r>
              <a:rPr sz="1600" b="1" dirty="0">
                <a:solidFill>
                  <a:srgbClr val="595959"/>
                </a:solidFill>
                <a:latin typeface="Rockwell"/>
                <a:cs typeface="Rockwell"/>
              </a:rPr>
              <a:t>Software</a:t>
            </a:r>
            <a:r>
              <a:rPr sz="1600" spc="1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ckwell"/>
                <a:cs typeface="Rockwell"/>
              </a:rPr>
              <a:t>Interrupts:</a:t>
            </a:r>
            <a:r>
              <a:rPr sz="1600" spc="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1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sort</a:t>
            </a:r>
            <a:r>
              <a:rPr sz="1600" spc="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600" spc="1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600" spc="1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called</a:t>
            </a:r>
            <a:r>
              <a:rPr sz="1600" spc="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1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software</a:t>
            </a:r>
            <a:r>
              <a:rPr sz="1600" spc="1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600" spc="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600" spc="1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595959"/>
                </a:solidFill>
                <a:latin typeface="Rockwell"/>
                <a:cs typeface="Rockwell"/>
              </a:rPr>
              <a:t>one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6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6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produced</a:t>
            </a:r>
            <a:r>
              <a:rPr sz="16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6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software</a:t>
            </a:r>
            <a:r>
              <a:rPr sz="16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6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system</a:t>
            </a:r>
            <a:r>
              <a:rPr sz="16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6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opposed</a:t>
            </a:r>
            <a:r>
              <a:rPr sz="16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6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30" dirty="0">
                <a:solidFill>
                  <a:srgbClr val="595959"/>
                </a:solidFill>
                <a:latin typeface="Rockwell"/>
                <a:cs typeface="Rockwell"/>
              </a:rPr>
              <a:t>hardware.</a:t>
            </a:r>
            <a:r>
              <a:rPr sz="16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Traps</a:t>
            </a:r>
            <a:r>
              <a:rPr sz="16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exceptions</a:t>
            </a:r>
            <a:r>
              <a:rPr sz="16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6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other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names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software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interruptions.</a:t>
            </a:r>
            <a:r>
              <a:rPr sz="1600" spc="-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They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serve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6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signal</a:t>
            </a:r>
            <a:r>
              <a:rPr sz="16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6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1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operating</a:t>
            </a:r>
            <a:r>
              <a:rPr sz="1600" spc="1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system</a:t>
            </a:r>
            <a:r>
              <a:rPr sz="1600" spc="1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600" spc="1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1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system</a:t>
            </a:r>
            <a:r>
              <a:rPr sz="1600" spc="1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service</a:t>
            </a:r>
            <a:r>
              <a:rPr sz="1600" spc="1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600" spc="1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carry</a:t>
            </a:r>
            <a:r>
              <a:rPr sz="1600" spc="1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out</a:t>
            </a:r>
            <a:r>
              <a:rPr sz="1600" spc="1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certain</a:t>
            </a:r>
            <a:r>
              <a:rPr sz="1600" spc="1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function</a:t>
            </a:r>
            <a:r>
              <a:rPr sz="16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600" spc="7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respond</a:t>
            </a:r>
            <a:r>
              <a:rPr sz="1600" spc="9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600" spc="8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1600" spc="8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error</a:t>
            </a:r>
            <a:r>
              <a:rPr sz="1600" spc="7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condition.</a:t>
            </a:r>
            <a:r>
              <a:rPr sz="1600" spc="4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8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particular</a:t>
            </a:r>
            <a:r>
              <a:rPr sz="1600" spc="8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1600" spc="8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known</a:t>
            </a:r>
            <a:r>
              <a:rPr sz="1600" spc="8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600" spc="8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spc="-5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“interrupt</a:t>
            </a:r>
            <a:r>
              <a:rPr sz="1600" spc="85" dirty="0">
                <a:solidFill>
                  <a:srgbClr val="595959"/>
                </a:solidFill>
                <a:latin typeface="Rockwell"/>
                <a:cs typeface="Rockwell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instruction”</a:t>
            </a:r>
            <a:r>
              <a:rPr sz="1600" spc="45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600" spc="8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600" spc="8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600" spc="8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create</a:t>
            </a:r>
            <a:r>
              <a:rPr sz="1600" spc="9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software</a:t>
            </a:r>
            <a:r>
              <a:rPr sz="1600" spc="8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interrupts.</a:t>
            </a:r>
            <a:r>
              <a:rPr sz="1600" spc="4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1600" spc="8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600" spc="6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1600" spc="7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600" spc="7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used,</a:t>
            </a:r>
            <a:r>
              <a:rPr sz="1600" spc="4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6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600" spc="7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stops</a:t>
            </a:r>
            <a:r>
              <a:rPr sz="1600" spc="7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what</a:t>
            </a:r>
            <a:r>
              <a:rPr sz="1600" spc="7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1600" spc="70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600" spc="7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doing</a:t>
            </a:r>
            <a:r>
              <a:rPr sz="1600" spc="65" dirty="0">
                <a:solidFill>
                  <a:srgbClr val="595959"/>
                </a:solidFill>
                <a:latin typeface="Times New Roman"/>
                <a:cs typeface="Times New Roman"/>
              </a:rPr>
              <a:t>  </a:t>
            </a:r>
            <a:r>
              <a:rPr sz="1600" spc="-25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switches</a:t>
            </a:r>
            <a:r>
              <a:rPr sz="1600" spc="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over</a:t>
            </a:r>
            <a:r>
              <a:rPr sz="1600" spc="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600" spc="1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1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particular</a:t>
            </a:r>
            <a:r>
              <a:rPr sz="1600" spc="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600" spc="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handler</a:t>
            </a:r>
            <a:r>
              <a:rPr sz="1600" spc="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code.</a:t>
            </a:r>
            <a:r>
              <a:rPr sz="16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600" spc="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handler</a:t>
            </a:r>
            <a:r>
              <a:rPr sz="16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routine</a:t>
            </a:r>
            <a:r>
              <a:rPr sz="1600" spc="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completes</a:t>
            </a:r>
            <a:r>
              <a:rPr sz="16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required</a:t>
            </a:r>
            <a:r>
              <a:rPr sz="16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work</a:t>
            </a:r>
            <a:r>
              <a:rPr sz="1600" spc="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600" spc="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handles</a:t>
            </a:r>
            <a:r>
              <a:rPr sz="1600" spc="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any</a:t>
            </a:r>
            <a:r>
              <a:rPr sz="1600" spc="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errors</a:t>
            </a:r>
            <a:r>
              <a:rPr sz="1600" spc="1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before</a:t>
            </a:r>
            <a:r>
              <a:rPr sz="1600" spc="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handing</a:t>
            </a:r>
            <a:r>
              <a:rPr sz="16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back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6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interrupted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application.</a:t>
            </a:r>
            <a:endParaRPr sz="16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653265"/>
              </a:buClr>
              <a:buFont typeface="Wingdings"/>
              <a:buChar char=""/>
            </a:pPr>
            <a:endParaRPr sz="1600">
              <a:latin typeface="Rockwell"/>
              <a:cs typeface="Rockwell"/>
            </a:endParaRPr>
          </a:p>
          <a:p>
            <a:pPr marL="240665" marR="5080" indent="-228600" algn="just">
              <a:lnSpc>
                <a:spcPct val="100000"/>
              </a:lnSpc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600" b="1" spc="-10" dirty="0">
                <a:solidFill>
                  <a:srgbClr val="595959"/>
                </a:solidFill>
                <a:latin typeface="Rockwell"/>
                <a:cs typeface="Rockwell"/>
              </a:rPr>
              <a:t>Hardware</a:t>
            </a:r>
            <a:r>
              <a:rPr sz="16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595959"/>
                </a:solidFill>
                <a:latin typeface="Rockwell"/>
                <a:cs typeface="Rockwell"/>
              </a:rPr>
              <a:t>Interrupts:</a:t>
            </a:r>
            <a:r>
              <a:rPr sz="1600" spc="-1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6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hardware</a:t>
            </a:r>
            <a:r>
              <a:rPr sz="16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interrupt,</a:t>
            </a:r>
            <a:r>
              <a:rPr sz="1600" spc="-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all</a:t>
            </a:r>
            <a:r>
              <a:rPr sz="16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devices</a:t>
            </a:r>
            <a:r>
              <a:rPr sz="16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6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connected</a:t>
            </a:r>
            <a:r>
              <a:rPr sz="16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600" spc="3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600" spc="3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Request</a:t>
            </a:r>
            <a:r>
              <a:rPr sz="1600" spc="3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Line.</a:t>
            </a:r>
            <a:r>
              <a:rPr sz="1600" spc="2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single</a:t>
            </a:r>
            <a:r>
              <a:rPr sz="1600" spc="3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request</a:t>
            </a:r>
            <a:r>
              <a:rPr sz="16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r>
              <a:rPr sz="1600" spc="3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6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600" spc="3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600" spc="3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all</a:t>
            </a:r>
            <a:r>
              <a:rPr sz="16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solidFill>
                  <a:srgbClr val="595959"/>
                </a:solidFill>
                <a:latin typeface="Rockwell"/>
                <a:cs typeface="Rockwell"/>
              </a:rPr>
              <a:t>n</a:t>
            </a:r>
            <a:r>
              <a:rPr sz="16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devices.</a:t>
            </a:r>
            <a:r>
              <a:rPr sz="16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6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request</a:t>
            </a:r>
            <a:r>
              <a:rPr sz="16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16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interrupt,</a:t>
            </a:r>
            <a:r>
              <a:rPr sz="16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device</a:t>
            </a:r>
            <a:r>
              <a:rPr sz="16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closes</a:t>
            </a:r>
            <a:r>
              <a:rPr sz="16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its</a:t>
            </a:r>
            <a:r>
              <a:rPr sz="16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associated</a:t>
            </a:r>
            <a:r>
              <a:rPr sz="16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switch.</a:t>
            </a:r>
            <a:r>
              <a:rPr sz="1600" spc="-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2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device</a:t>
            </a:r>
            <a:r>
              <a:rPr sz="1600" spc="2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requests</a:t>
            </a:r>
            <a:r>
              <a:rPr sz="1600" spc="2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1600" spc="2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interrupt,</a:t>
            </a:r>
            <a:r>
              <a:rPr sz="1600" spc="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2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value</a:t>
            </a:r>
            <a:r>
              <a:rPr sz="1600" spc="2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600" spc="2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INTR</a:t>
            </a:r>
            <a:r>
              <a:rPr sz="1600" spc="2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600" spc="2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2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logical</a:t>
            </a:r>
            <a:r>
              <a:rPr sz="1600" spc="2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600" spc="2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600" spc="2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requests</a:t>
            </a:r>
            <a:r>
              <a:rPr sz="16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6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individual</a:t>
            </a:r>
            <a:r>
              <a:rPr sz="16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devices.</a:t>
            </a:r>
            <a:endParaRPr sz="1600">
              <a:latin typeface="Rockwell"/>
              <a:cs typeface="Rockwel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5539" y="1426525"/>
            <a:ext cx="2107565" cy="1141095"/>
          </a:xfrm>
          <a:custGeom>
            <a:avLst/>
            <a:gdLst/>
            <a:ahLst/>
            <a:cxnLst/>
            <a:rect l="l" t="t" r="r" b="b"/>
            <a:pathLst>
              <a:path w="2107565" h="1141095">
                <a:moveTo>
                  <a:pt x="2107382" y="0"/>
                </a:moveTo>
                <a:lnTo>
                  <a:pt x="0" y="0"/>
                </a:lnTo>
                <a:lnTo>
                  <a:pt x="0" y="1141018"/>
                </a:lnTo>
                <a:lnTo>
                  <a:pt x="2107382" y="1141018"/>
                </a:lnTo>
                <a:lnTo>
                  <a:pt x="2107382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6696" y="1431988"/>
            <a:ext cx="883285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60" dirty="0">
                <a:latin typeface="Arial"/>
                <a:cs typeface="Arial"/>
              </a:rPr>
              <a:t>Program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14859" y="1426525"/>
            <a:ext cx="6810375" cy="1141095"/>
          </a:xfrm>
          <a:custGeom>
            <a:avLst/>
            <a:gdLst/>
            <a:ahLst/>
            <a:cxnLst/>
            <a:rect l="l" t="t" r="r" b="b"/>
            <a:pathLst>
              <a:path w="6810375" h="1141095">
                <a:moveTo>
                  <a:pt x="6809841" y="0"/>
                </a:moveTo>
                <a:lnTo>
                  <a:pt x="0" y="0"/>
                </a:lnTo>
                <a:lnTo>
                  <a:pt x="0" y="1141018"/>
                </a:lnTo>
                <a:lnTo>
                  <a:pt x="6809841" y="1141018"/>
                </a:lnTo>
                <a:lnTo>
                  <a:pt x="6809841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315402" y="1431988"/>
            <a:ext cx="6158230" cy="10814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ct val="98200"/>
              </a:lnSpc>
              <a:spcBef>
                <a:spcPts val="155"/>
              </a:spcBef>
            </a:pP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Generated</a:t>
            </a:r>
            <a:r>
              <a:rPr sz="175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sz="175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some condition</a:t>
            </a:r>
            <a:r>
              <a:rPr sz="175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that occurs</a:t>
            </a:r>
            <a:r>
              <a:rPr sz="17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sz="175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5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result</a:t>
            </a:r>
            <a:r>
              <a:rPr sz="175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75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an</a:t>
            </a:r>
            <a:r>
              <a:rPr sz="175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000000"/>
                </a:solidFill>
                <a:latin typeface="Times New Roman"/>
                <a:cs typeface="Times New Roman"/>
              </a:rPr>
              <a:t>instruction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execution,</a:t>
            </a:r>
            <a:r>
              <a:rPr sz="175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such</a:t>
            </a:r>
            <a:r>
              <a:rPr sz="175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sz="175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arithmetic</a:t>
            </a:r>
            <a:r>
              <a:rPr sz="175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overflow,</a:t>
            </a:r>
            <a:r>
              <a:rPr sz="175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division</a:t>
            </a:r>
            <a:r>
              <a:rPr sz="175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by zero,</a:t>
            </a:r>
            <a:r>
              <a:rPr sz="175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attempt</a:t>
            </a:r>
            <a:r>
              <a:rPr sz="175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spc="-25" dirty="0">
                <a:solidFill>
                  <a:srgbClr val="000000"/>
                </a:solidFill>
                <a:latin typeface="Times New Roman"/>
                <a:cs typeface="Times New Roman"/>
              </a:rPr>
              <a:t>to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execute an</a:t>
            </a:r>
            <a:r>
              <a:rPr sz="175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illegal machine</a:t>
            </a:r>
            <a:r>
              <a:rPr sz="175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instruction, or</a:t>
            </a:r>
            <a:r>
              <a:rPr sz="175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reference</a:t>
            </a:r>
            <a:r>
              <a:rPr sz="175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outside</a:t>
            </a:r>
            <a:r>
              <a:rPr sz="175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5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000000"/>
                </a:solidFill>
                <a:latin typeface="Times New Roman"/>
                <a:cs typeface="Times New Roman"/>
              </a:rPr>
              <a:t>user's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allowed</a:t>
            </a:r>
            <a:r>
              <a:rPr sz="175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0000"/>
                </a:solidFill>
                <a:latin typeface="Times New Roman"/>
                <a:cs typeface="Times New Roman"/>
              </a:rPr>
              <a:t>memory</a:t>
            </a:r>
            <a:r>
              <a:rPr sz="175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000000"/>
                </a:solidFill>
                <a:latin typeface="Times New Roman"/>
                <a:cs typeface="Times New Roman"/>
              </a:rPr>
              <a:t>space.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7501" y="1412754"/>
            <a:ext cx="8929370" cy="1790700"/>
            <a:chOff x="107501" y="1412754"/>
            <a:chExt cx="8929370" cy="1790700"/>
          </a:xfrm>
        </p:grpSpPr>
        <p:sp>
          <p:nvSpPr>
            <p:cNvPr id="8" name="object 8"/>
            <p:cNvSpPr/>
            <p:nvPr/>
          </p:nvSpPr>
          <p:spPr>
            <a:xfrm>
              <a:off x="107492" y="1412760"/>
              <a:ext cx="8929370" cy="1155065"/>
            </a:xfrm>
            <a:custGeom>
              <a:avLst/>
              <a:gdLst/>
              <a:ahLst/>
              <a:cxnLst/>
              <a:rect l="l" t="t" r="r" b="b"/>
              <a:pathLst>
                <a:path w="8929370" h="1155064">
                  <a:moveTo>
                    <a:pt x="8929116" y="0"/>
                  </a:moveTo>
                  <a:lnTo>
                    <a:pt x="8929116" y="0"/>
                  </a:lnTo>
                  <a:lnTo>
                    <a:pt x="0" y="0"/>
                  </a:lnTo>
                  <a:lnTo>
                    <a:pt x="0" y="13766"/>
                  </a:lnTo>
                  <a:lnTo>
                    <a:pt x="0" y="1154785"/>
                  </a:lnTo>
                  <a:lnTo>
                    <a:pt x="18046" y="1154785"/>
                  </a:lnTo>
                  <a:lnTo>
                    <a:pt x="18046" y="13766"/>
                  </a:lnTo>
                  <a:lnTo>
                    <a:pt x="2125421" y="13766"/>
                  </a:lnTo>
                  <a:lnTo>
                    <a:pt x="2144788" y="13766"/>
                  </a:lnTo>
                  <a:lnTo>
                    <a:pt x="8917203" y="13766"/>
                  </a:lnTo>
                  <a:lnTo>
                    <a:pt x="8917203" y="1154785"/>
                  </a:lnTo>
                  <a:lnTo>
                    <a:pt x="8929116" y="1154785"/>
                  </a:lnTo>
                  <a:lnTo>
                    <a:pt x="8929116" y="13766"/>
                  </a:lnTo>
                  <a:lnTo>
                    <a:pt x="8929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5539" y="2567543"/>
              <a:ext cx="2107565" cy="636270"/>
            </a:xfrm>
            <a:custGeom>
              <a:avLst/>
              <a:gdLst/>
              <a:ahLst/>
              <a:cxnLst/>
              <a:rect l="l" t="t" r="r" b="b"/>
              <a:pathLst>
                <a:path w="2107565" h="636269">
                  <a:moveTo>
                    <a:pt x="2107382" y="0"/>
                  </a:moveTo>
                  <a:lnTo>
                    <a:pt x="0" y="0"/>
                  </a:lnTo>
                  <a:lnTo>
                    <a:pt x="0" y="635690"/>
                  </a:lnTo>
                  <a:lnTo>
                    <a:pt x="2107382" y="635690"/>
                  </a:lnTo>
                  <a:lnTo>
                    <a:pt x="210738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6696" y="2574302"/>
            <a:ext cx="609600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30" dirty="0">
                <a:latin typeface="Arial"/>
                <a:cs typeface="Arial"/>
              </a:rPr>
              <a:t>Timer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7501" y="2567543"/>
            <a:ext cx="8929370" cy="1533525"/>
            <a:chOff x="107501" y="2567543"/>
            <a:chExt cx="8929370" cy="1533525"/>
          </a:xfrm>
        </p:grpSpPr>
        <p:sp>
          <p:nvSpPr>
            <p:cNvPr id="12" name="object 12"/>
            <p:cNvSpPr/>
            <p:nvPr/>
          </p:nvSpPr>
          <p:spPr>
            <a:xfrm>
              <a:off x="2214859" y="2567543"/>
              <a:ext cx="6810375" cy="636270"/>
            </a:xfrm>
            <a:custGeom>
              <a:avLst/>
              <a:gdLst/>
              <a:ahLst/>
              <a:cxnLst/>
              <a:rect l="l" t="t" r="r" b="b"/>
              <a:pathLst>
                <a:path w="6810375" h="636269">
                  <a:moveTo>
                    <a:pt x="6809841" y="0"/>
                  </a:moveTo>
                  <a:lnTo>
                    <a:pt x="0" y="0"/>
                  </a:lnTo>
                  <a:lnTo>
                    <a:pt x="0" y="635690"/>
                  </a:lnTo>
                  <a:lnTo>
                    <a:pt x="6809841" y="635690"/>
                  </a:lnTo>
                  <a:lnTo>
                    <a:pt x="6809841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492" y="2567546"/>
              <a:ext cx="8929370" cy="636270"/>
            </a:xfrm>
            <a:custGeom>
              <a:avLst/>
              <a:gdLst/>
              <a:ahLst/>
              <a:cxnLst/>
              <a:rect l="l" t="t" r="r" b="b"/>
              <a:pathLst>
                <a:path w="8929370" h="636269">
                  <a:moveTo>
                    <a:pt x="18046" y="0"/>
                  </a:moveTo>
                  <a:lnTo>
                    <a:pt x="0" y="0"/>
                  </a:lnTo>
                  <a:lnTo>
                    <a:pt x="0" y="635698"/>
                  </a:lnTo>
                  <a:lnTo>
                    <a:pt x="18046" y="635698"/>
                  </a:lnTo>
                  <a:lnTo>
                    <a:pt x="18046" y="0"/>
                  </a:lnTo>
                  <a:close/>
                </a:path>
                <a:path w="8929370" h="636269">
                  <a:moveTo>
                    <a:pt x="8929116" y="0"/>
                  </a:moveTo>
                  <a:lnTo>
                    <a:pt x="8917203" y="0"/>
                  </a:lnTo>
                  <a:lnTo>
                    <a:pt x="8917203" y="635698"/>
                  </a:lnTo>
                  <a:lnTo>
                    <a:pt x="8929116" y="635698"/>
                  </a:lnTo>
                  <a:lnTo>
                    <a:pt x="8929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5539" y="3203234"/>
              <a:ext cx="2107565" cy="897890"/>
            </a:xfrm>
            <a:custGeom>
              <a:avLst/>
              <a:gdLst/>
              <a:ahLst/>
              <a:cxnLst/>
              <a:rect l="l" t="t" r="r" b="b"/>
              <a:pathLst>
                <a:path w="2107565" h="897889">
                  <a:moveTo>
                    <a:pt x="2107382" y="0"/>
                  </a:moveTo>
                  <a:lnTo>
                    <a:pt x="0" y="0"/>
                  </a:lnTo>
                  <a:lnTo>
                    <a:pt x="0" y="897800"/>
                  </a:lnTo>
                  <a:lnTo>
                    <a:pt x="2107382" y="897800"/>
                  </a:lnTo>
                  <a:lnTo>
                    <a:pt x="210738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6696" y="3209951"/>
            <a:ext cx="348615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dirty="0">
                <a:latin typeface="Arial"/>
                <a:cs typeface="Arial"/>
              </a:rPr>
              <a:t>I</a:t>
            </a:r>
            <a:r>
              <a:rPr sz="1750" spc="-250" dirty="0">
                <a:latin typeface="Times New Roman"/>
                <a:cs typeface="Times New Roman"/>
              </a:rPr>
              <a:t> </a:t>
            </a:r>
            <a:r>
              <a:rPr sz="1750" b="1" spc="-25" dirty="0">
                <a:latin typeface="Arial"/>
                <a:cs typeface="Arial"/>
              </a:rPr>
              <a:t>/O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7501" y="3203234"/>
            <a:ext cx="8929370" cy="1290955"/>
            <a:chOff x="107501" y="3203234"/>
            <a:chExt cx="8929370" cy="1290955"/>
          </a:xfrm>
        </p:grpSpPr>
        <p:sp>
          <p:nvSpPr>
            <p:cNvPr id="17" name="object 17"/>
            <p:cNvSpPr/>
            <p:nvPr/>
          </p:nvSpPr>
          <p:spPr>
            <a:xfrm>
              <a:off x="2214859" y="3203234"/>
              <a:ext cx="6810375" cy="897890"/>
            </a:xfrm>
            <a:custGeom>
              <a:avLst/>
              <a:gdLst/>
              <a:ahLst/>
              <a:cxnLst/>
              <a:rect l="l" t="t" r="r" b="b"/>
              <a:pathLst>
                <a:path w="6810375" h="897889">
                  <a:moveTo>
                    <a:pt x="6809841" y="0"/>
                  </a:moveTo>
                  <a:lnTo>
                    <a:pt x="0" y="0"/>
                  </a:lnTo>
                  <a:lnTo>
                    <a:pt x="0" y="897800"/>
                  </a:lnTo>
                  <a:lnTo>
                    <a:pt x="6809841" y="897800"/>
                  </a:lnTo>
                  <a:lnTo>
                    <a:pt x="6809841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7492" y="3203244"/>
              <a:ext cx="8929370" cy="897890"/>
            </a:xfrm>
            <a:custGeom>
              <a:avLst/>
              <a:gdLst/>
              <a:ahLst/>
              <a:cxnLst/>
              <a:rect l="l" t="t" r="r" b="b"/>
              <a:pathLst>
                <a:path w="8929370" h="897889">
                  <a:moveTo>
                    <a:pt x="18046" y="0"/>
                  </a:moveTo>
                  <a:lnTo>
                    <a:pt x="0" y="0"/>
                  </a:lnTo>
                  <a:lnTo>
                    <a:pt x="0" y="897801"/>
                  </a:lnTo>
                  <a:lnTo>
                    <a:pt x="18046" y="897801"/>
                  </a:lnTo>
                  <a:lnTo>
                    <a:pt x="18046" y="0"/>
                  </a:lnTo>
                  <a:close/>
                </a:path>
                <a:path w="8929370" h="897889">
                  <a:moveTo>
                    <a:pt x="8929116" y="0"/>
                  </a:moveTo>
                  <a:lnTo>
                    <a:pt x="8917203" y="0"/>
                  </a:lnTo>
                  <a:lnTo>
                    <a:pt x="8917203" y="897801"/>
                  </a:lnTo>
                  <a:lnTo>
                    <a:pt x="8929116" y="897801"/>
                  </a:lnTo>
                  <a:lnTo>
                    <a:pt x="8929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5539" y="4101045"/>
              <a:ext cx="2107565" cy="393065"/>
            </a:xfrm>
            <a:custGeom>
              <a:avLst/>
              <a:gdLst/>
              <a:ahLst/>
              <a:cxnLst/>
              <a:rect l="l" t="t" r="r" b="b"/>
              <a:pathLst>
                <a:path w="2107565" h="393064">
                  <a:moveTo>
                    <a:pt x="2107374" y="0"/>
                  </a:moveTo>
                  <a:lnTo>
                    <a:pt x="2014816" y="0"/>
                  </a:lnTo>
                  <a:lnTo>
                    <a:pt x="92456" y="0"/>
                  </a:lnTo>
                  <a:lnTo>
                    <a:pt x="0" y="0"/>
                  </a:lnTo>
                  <a:lnTo>
                    <a:pt x="0" y="374459"/>
                  </a:lnTo>
                  <a:lnTo>
                    <a:pt x="92456" y="374459"/>
                  </a:lnTo>
                  <a:lnTo>
                    <a:pt x="92456" y="392950"/>
                  </a:lnTo>
                  <a:lnTo>
                    <a:pt x="2014816" y="392950"/>
                  </a:lnTo>
                  <a:lnTo>
                    <a:pt x="2014816" y="374459"/>
                  </a:lnTo>
                  <a:lnTo>
                    <a:pt x="2107374" y="374459"/>
                  </a:lnTo>
                  <a:lnTo>
                    <a:pt x="2107374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6696" y="4107740"/>
            <a:ext cx="1723389" cy="295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10" dirty="0">
                <a:latin typeface="Arial"/>
                <a:cs typeface="Arial"/>
              </a:rPr>
              <a:t>Hardware</a:t>
            </a:r>
            <a:r>
              <a:rPr sz="1750" spc="-210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Arial"/>
                <a:cs typeface="Arial"/>
              </a:rPr>
              <a:t>failure</a:t>
            </a:r>
            <a:endParaRPr sz="17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14854" y="4101045"/>
            <a:ext cx="6810375" cy="393065"/>
          </a:xfrm>
          <a:custGeom>
            <a:avLst/>
            <a:gdLst/>
            <a:ahLst/>
            <a:cxnLst/>
            <a:rect l="l" t="t" r="r" b="b"/>
            <a:pathLst>
              <a:path w="6810375" h="393064">
                <a:moveTo>
                  <a:pt x="6809841" y="0"/>
                </a:moveTo>
                <a:lnTo>
                  <a:pt x="6734035" y="0"/>
                </a:lnTo>
                <a:lnTo>
                  <a:pt x="111925" y="0"/>
                </a:lnTo>
                <a:lnTo>
                  <a:pt x="0" y="0"/>
                </a:lnTo>
                <a:lnTo>
                  <a:pt x="0" y="374459"/>
                </a:lnTo>
                <a:lnTo>
                  <a:pt x="111925" y="374459"/>
                </a:lnTo>
                <a:lnTo>
                  <a:pt x="111925" y="392950"/>
                </a:lnTo>
                <a:lnTo>
                  <a:pt x="6734035" y="392950"/>
                </a:lnTo>
                <a:lnTo>
                  <a:pt x="6734035" y="374459"/>
                </a:lnTo>
                <a:lnTo>
                  <a:pt x="6809841" y="374459"/>
                </a:lnTo>
                <a:lnTo>
                  <a:pt x="6809841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15402" y="2574302"/>
            <a:ext cx="6243955" cy="18288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90805">
              <a:lnSpc>
                <a:spcPts val="2050"/>
              </a:lnSpc>
              <a:spcBef>
                <a:spcPts val="229"/>
              </a:spcBef>
            </a:pPr>
            <a:r>
              <a:rPr sz="1750" dirty="0">
                <a:latin typeface="Times New Roman"/>
                <a:cs typeface="Times New Roman"/>
              </a:rPr>
              <a:t>Generated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by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timer within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processor.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This</a:t>
            </a:r>
            <a:r>
              <a:rPr sz="1750" spc="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allows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1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operating </a:t>
            </a:r>
            <a:r>
              <a:rPr sz="1750" dirty="0">
                <a:latin typeface="Times New Roman"/>
                <a:cs typeface="Times New Roman"/>
              </a:rPr>
              <a:t>system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perform</a:t>
            </a:r>
            <a:r>
              <a:rPr sz="1750" spc="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certain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functions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on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regular </a:t>
            </a:r>
            <a:r>
              <a:rPr sz="1750" spc="-10" dirty="0">
                <a:latin typeface="Times New Roman"/>
                <a:cs typeface="Times New Roman"/>
              </a:rPr>
              <a:t>basis.</a:t>
            </a:r>
            <a:endParaRPr sz="1750">
              <a:latin typeface="Times New Roman"/>
              <a:cs typeface="Times New Roman"/>
            </a:endParaRPr>
          </a:p>
          <a:p>
            <a:pPr marL="12700" marR="5080">
              <a:lnSpc>
                <a:spcPct val="98100"/>
              </a:lnSpc>
              <a:spcBef>
                <a:spcPts val="835"/>
              </a:spcBef>
            </a:pPr>
            <a:r>
              <a:rPr sz="1750" dirty="0">
                <a:latin typeface="Times New Roman"/>
                <a:cs typeface="Times New Roman"/>
              </a:rPr>
              <a:t>Generated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by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I/O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controller, to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signal normal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completion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</a:t>
            </a:r>
            <a:r>
              <a:rPr sz="1750" spc="4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an </a:t>
            </a:r>
            <a:r>
              <a:rPr sz="1750" dirty="0">
                <a:latin typeface="Times New Roman"/>
                <a:cs typeface="Times New Roman"/>
              </a:rPr>
              <a:t>operation,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request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service</a:t>
            </a:r>
            <a:r>
              <a:rPr sz="1750" spc="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from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processor,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or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signal</a:t>
            </a:r>
            <a:r>
              <a:rPr sz="1750" spc="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variety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of </a:t>
            </a:r>
            <a:r>
              <a:rPr sz="1750" dirty="0">
                <a:latin typeface="Times New Roman"/>
                <a:cs typeface="Times New Roman"/>
              </a:rPr>
              <a:t>error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conditions.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750" dirty="0">
                <a:latin typeface="Times New Roman"/>
                <a:cs typeface="Times New Roman"/>
              </a:rPr>
              <a:t>Generated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by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failure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such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as power failure</a:t>
            </a:r>
            <a:r>
              <a:rPr sz="1750" spc="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or memory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parity</a:t>
            </a:r>
            <a:r>
              <a:rPr sz="1750" spc="-10" dirty="0">
                <a:latin typeface="Times New Roman"/>
                <a:cs typeface="Times New Roman"/>
              </a:rPr>
              <a:t> error.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7492" y="4101045"/>
            <a:ext cx="8929370" cy="393065"/>
          </a:xfrm>
          <a:custGeom>
            <a:avLst/>
            <a:gdLst/>
            <a:ahLst/>
            <a:cxnLst/>
            <a:rect l="l" t="t" r="r" b="b"/>
            <a:pathLst>
              <a:path w="8929370" h="393064">
                <a:moveTo>
                  <a:pt x="8929116" y="0"/>
                </a:moveTo>
                <a:lnTo>
                  <a:pt x="8917203" y="0"/>
                </a:lnTo>
                <a:lnTo>
                  <a:pt x="8917203" y="374459"/>
                </a:lnTo>
                <a:lnTo>
                  <a:pt x="2125421" y="374459"/>
                </a:lnTo>
                <a:lnTo>
                  <a:pt x="2107361" y="374459"/>
                </a:lnTo>
                <a:lnTo>
                  <a:pt x="18046" y="374459"/>
                </a:lnTo>
                <a:lnTo>
                  <a:pt x="18046" y="0"/>
                </a:lnTo>
                <a:lnTo>
                  <a:pt x="0" y="0"/>
                </a:lnTo>
                <a:lnTo>
                  <a:pt x="0" y="374459"/>
                </a:lnTo>
                <a:lnTo>
                  <a:pt x="0" y="392950"/>
                </a:lnTo>
                <a:lnTo>
                  <a:pt x="8929116" y="392950"/>
                </a:lnTo>
                <a:lnTo>
                  <a:pt x="8929116" y="374459"/>
                </a:lnTo>
                <a:lnTo>
                  <a:pt x="8929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115816" y="4892800"/>
            <a:ext cx="29108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Rockwell"/>
                <a:cs typeface="Rockwell"/>
              </a:rPr>
              <a:t>Table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Rockwell"/>
                <a:cs typeface="Rockwell"/>
              </a:rPr>
              <a:t>3.1</a:t>
            </a:r>
            <a:endParaRPr sz="24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400">
              <a:latin typeface="Rockwell"/>
              <a:cs typeface="Rockwell"/>
            </a:endParaRPr>
          </a:p>
          <a:p>
            <a:pPr algn="ctr">
              <a:lnSpc>
                <a:spcPct val="100000"/>
              </a:lnSpc>
            </a:pPr>
            <a:r>
              <a:rPr sz="2400" dirty="0">
                <a:latin typeface="Rockwell"/>
                <a:cs typeface="Rockwell"/>
              </a:rPr>
              <a:t>Classes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Rockwell"/>
                <a:cs typeface="Rockwell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Rockwell"/>
                <a:cs typeface="Rockwell"/>
              </a:rPr>
              <a:t>Interrupts</a:t>
            </a:r>
            <a:endParaRPr sz="2400">
              <a:latin typeface="Rockwell"/>
              <a:cs typeface="Rockwel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380" y="611809"/>
            <a:ext cx="7779384" cy="4550410"/>
            <a:chOff x="640380" y="611809"/>
            <a:chExt cx="7779384" cy="4550410"/>
          </a:xfrm>
        </p:grpSpPr>
        <p:sp>
          <p:nvSpPr>
            <p:cNvPr id="3" name="object 3"/>
            <p:cNvSpPr/>
            <p:nvPr/>
          </p:nvSpPr>
          <p:spPr>
            <a:xfrm>
              <a:off x="652128" y="623590"/>
              <a:ext cx="2585720" cy="4526280"/>
            </a:xfrm>
            <a:custGeom>
              <a:avLst/>
              <a:gdLst/>
              <a:ahLst/>
              <a:cxnLst/>
              <a:rect l="l" t="t" r="r" b="b"/>
              <a:pathLst>
                <a:path w="2585720" h="4526280">
                  <a:moveTo>
                    <a:pt x="2585365" y="0"/>
                  </a:moveTo>
                  <a:lnTo>
                    <a:pt x="0" y="0"/>
                  </a:lnTo>
                  <a:lnTo>
                    <a:pt x="0" y="4526267"/>
                  </a:lnTo>
                  <a:lnTo>
                    <a:pt x="2585365" y="4526267"/>
                  </a:lnTo>
                  <a:lnTo>
                    <a:pt x="258536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2128" y="623557"/>
              <a:ext cx="2585720" cy="4526915"/>
            </a:xfrm>
            <a:custGeom>
              <a:avLst/>
              <a:gdLst/>
              <a:ahLst/>
              <a:cxnLst/>
              <a:rect l="l" t="t" r="r" b="b"/>
              <a:pathLst>
                <a:path w="2585720" h="4526915">
                  <a:moveTo>
                    <a:pt x="2585348" y="0"/>
                  </a:moveTo>
                  <a:lnTo>
                    <a:pt x="0" y="0"/>
                  </a:lnTo>
                  <a:lnTo>
                    <a:pt x="0" y="4526291"/>
                  </a:lnTo>
                  <a:lnTo>
                    <a:pt x="2585348" y="4526291"/>
                  </a:lnTo>
                  <a:lnTo>
                    <a:pt x="2585348" y="0"/>
                  </a:lnTo>
                  <a:close/>
                </a:path>
              </a:pathLst>
            </a:custGeom>
            <a:ln w="23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7494" y="623590"/>
              <a:ext cx="2585720" cy="4526280"/>
            </a:xfrm>
            <a:custGeom>
              <a:avLst/>
              <a:gdLst/>
              <a:ahLst/>
              <a:cxnLst/>
              <a:rect l="l" t="t" r="r" b="b"/>
              <a:pathLst>
                <a:path w="2585720" h="4526280">
                  <a:moveTo>
                    <a:pt x="2585130" y="0"/>
                  </a:moveTo>
                  <a:lnTo>
                    <a:pt x="0" y="0"/>
                  </a:lnTo>
                  <a:lnTo>
                    <a:pt x="0" y="4526267"/>
                  </a:lnTo>
                  <a:lnTo>
                    <a:pt x="2585130" y="4526267"/>
                  </a:lnTo>
                  <a:lnTo>
                    <a:pt x="2585130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37476" y="623557"/>
              <a:ext cx="2585720" cy="4526915"/>
            </a:xfrm>
            <a:custGeom>
              <a:avLst/>
              <a:gdLst/>
              <a:ahLst/>
              <a:cxnLst/>
              <a:rect l="l" t="t" r="r" b="b"/>
              <a:pathLst>
                <a:path w="2585720" h="4526915">
                  <a:moveTo>
                    <a:pt x="2585152" y="0"/>
                  </a:moveTo>
                  <a:lnTo>
                    <a:pt x="0" y="0"/>
                  </a:lnTo>
                  <a:lnTo>
                    <a:pt x="0" y="4526291"/>
                  </a:lnTo>
                  <a:lnTo>
                    <a:pt x="2585152" y="4526291"/>
                  </a:lnTo>
                  <a:lnTo>
                    <a:pt x="2585152" y="0"/>
                  </a:lnTo>
                  <a:close/>
                </a:path>
              </a:pathLst>
            </a:custGeom>
            <a:ln w="23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22624" y="623590"/>
              <a:ext cx="2585720" cy="4526280"/>
            </a:xfrm>
            <a:custGeom>
              <a:avLst/>
              <a:gdLst/>
              <a:ahLst/>
              <a:cxnLst/>
              <a:rect l="l" t="t" r="r" b="b"/>
              <a:pathLst>
                <a:path w="2585720" h="4526280">
                  <a:moveTo>
                    <a:pt x="2585374" y="0"/>
                  </a:moveTo>
                  <a:lnTo>
                    <a:pt x="0" y="0"/>
                  </a:lnTo>
                  <a:lnTo>
                    <a:pt x="0" y="4526267"/>
                  </a:lnTo>
                  <a:lnTo>
                    <a:pt x="2585374" y="4526267"/>
                  </a:lnTo>
                  <a:lnTo>
                    <a:pt x="2585374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22629" y="623557"/>
              <a:ext cx="2585720" cy="4526915"/>
            </a:xfrm>
            <a:custGeom>
              <a:avLst/>
              <a:gdLst/>
              <a:ahLst/>
              <a:cxnLst/>
              <a:rect l="l" t="t" r="r" b="b"/>
              <a:pathLst>
                <a:path w="2585720" h="4526915">
                  <a:moveTo>
                    <a:pt x="2585366" y="0"/>
                  </a:moveTo>
                  <a:lnTo>
                    <a:pt x="0" y="0"/>
                  </a:lnTo>
                  <a:lnTo>
                    <a:pt x="0" y="4526291"/>
                  </a:lnTo>
                  <a:lnTo>
                    <a:pt x="2585366" y="4526291"/>
                  </a:lnTo>
                  <a:lnTo>
                    <a:pt x="2585366" y="0"/>
                  </a:lnTo>
                  <a:close/>
                </a:path>
              </a:pathLst>
            </a:custGeom>
            <a:ln w="23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26082" y="2457090"/>
              <a:ext cx="183999" cy="18400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6082" y="4117500"/>
              <a:ext cx="183999" cy="1841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26082" y="1132555"/>
              <a:ext cx="183999" cy="1839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23407" y="1118900"/>
              <a:ext cx="183755" cy="18318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23407" y="3243642"/>
              <a:ext cx="183755" cy="18400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40716" y="1132555"/>
              <a:ext cx="183999" cy="1839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40716" y="2153595"/>
              <a:ext cx="183999" cy="18376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40716" y="2852149"/>
              <a:ext cx="183999" cy="1840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40716" y="3769890"/>
              <a:ext cx="183999" cy="1841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40716" y="4468701"/>
              <a:ext cx="183999" cy="18400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38040" y="1118900"/>
              <a:ext cx="184090" cy="18318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38040" y="3243642"/>
              <a:ext cx="184090" cy="18400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55606" y="1132556"/>
              <a:ext cx="183728" cy="1839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5606" y="2457090"/>
              <a:ext cx="183728" cy="18400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5606" y="4117500"/>
              <a:ext cx="183728" cy="18413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53022" y="1118900"/>
              <a:ext cx="183633" cy="18318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53022" y="1950564"/>
              <a:ext cx="183633" cy="18409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21353" y="946895"/>
              <a:ext cx="2047239" cy="3879850"/>
            </a:xfrm>
            <a:custGeom>
              <a:avLst/>
              <a:gdLst/>
              <a:ahLst/>
              <a:cxnLst/>
              <a:rect l="l" t="t" r="r" b="b"/>
              <a:pathLst>
                <a:path w="2047239" h="3879850">
                  <a:moveTo>
                    <a:pt x="0" y="646768"/>
                  </a:moveTo>
                  <a:lnTo>
                    <a:pt x="0" y="646768"/>
                  </a:lnTo>
                  <a:lnTo>
                    <a:pt x="323241" y="646768"/>
                  </a:lnTo>
                </a:path>
                <a:path w="2047239" h="3879850">
                  <a:moveTo>
                    <a:pt x="323241" y="0"/>
                  </a:moveTo>
                  <a:lnTo>
                    <a:pt x="323241" y="0"/>
                  </a:lnTo>
                  <a:lnTo>
                    <a:pt x="0" y="0"/>
                  </a:lnTo>
                </a:path>
                <a:path w="2047239" h="3879850">
                  <a:moveTo>
                    <a:pt x="161770" y="0"/>
                  </a:moveTo>
                  <a:lnTo>
                    <a:pt x="161770" y="0"/>
                  </a:lnTo>
                  <a:lnTo>
                    <a:pt x="161770" y="646768"/>
                  </a:lnTo>
                </a:path>
                <a:path w="2047239" h="3879850">
                  <a:moveTo>
                    <a:pt x="1723654" y="517377"/>
                  </a:moveTo>
                  <a:lnTo>
                    <a:pt x="1723654" y="517377"/>
                  </a:lnTo>
                  <a:lnTo>
                    <a:pt x="2046625" y="517377"/>
                  </a:lnTo>
                </a:path>
                <a:path w="2047239" h="3879850">
                  <a:moveTo>
                    <a:pt x="2046625" y="0"/>
                  </a:moveTo>
                  <a:lnTo>
                    <a:pt x="2046625" y="0"/>
                  </a:lnTo>
                  <a:lnTo>
                    <a:pt x="1723654" y="0"/>
                  </a:lnTo>
                </a:path>
                <a:path w="2047239" h="3879850">
                  <a:moveTo>
                    <a:pt x="1885199" y="0"/>
                  </a:moveTo>
                  <a:lnTo>
                    <a:pt x="1885199" y="0"/>
                  </a:lnTo>
                  <a:lnTo>
                    <a:pt x="1885199" y="517377"/>
                  </a:lnTo>
                </a:path>
                <a:path w="2047239" h="3879850">
                  <a:moveTo>
                    <a:pt x="1723654" y="1358002"/>
                  </a:moveTo>
                  <a:lnTo>
                    <a:pt x="1723654" y="1358002"/>
                  </a:lnTo>
                  <a:lnTo>
                    <a:pt x="2046625" y="1358002"/>
                  </a:lnTo>
                </a:path>
                <a:path w="2047239" h="3879850">
                  <a:moveTo>
                    <a:pt x="2046625" y="840624"/>
                  </a:moveTo>
                  <a:lnTo>
                    <a:pt x="2046625" y="840624"/>
                  </a:lnTo>
                  <a:lnTo>
                    <a:pt x="1723654" y="840624"/>
                  </a:lnTo>
                </a:path>
                <a:path w="2047239" h="3879850">
                  <a:moveTo>
                    <a:pt x="1885199" y="840624"/>
                  </a:moveTo>
                  <a:lnTo>
                    <a:pt x="1885199" y="840624"/>
                  </a:lnTo>
                  <a:lnTo>
                    <a:pt x="1885199" y="1358002"/>
                  </a:lnTo>
                </a:path>
                <a:path w="2047239" h="3879850">
                  <a:moveTo>
                    <a:pt x="0" y="2263093"/>
                  </a:moveTo>
                  <a:lnTo>
                    <a:pt x="0" y="2263093"/>
                  </a:lnTo>
                  <a:lnTo>
                    <a:pt x="323241" y="2263093"/>
                  </a:lnTo>
                </a:path>
                <a:path w="2047239" h="3879850">
                  <a:moveTo>
                    <a:pt x="323241" y="969984"/>
                  </a:moveTo>
                  <a:lnTo>
                    <a:pt x="323241" y="969984"/>
                  </a:lnTo>
                  <a:lnTo>
                    <a:pt x="0" y="969984"/>
                  </a:lnTo>
                </a:path>
                <a:path w="2047239" h="3879850">
                  <a:moveTo>
                    <a:pt x="161770" y="969984"/>
                  </a:moveTo>
                  <a:lnTo>
                    <a:pt x="161770" y="969984"/>
                  </a:lnTo>
                  <a:lnTo>
                    <a:pt x="161770" y="2263093"/>
                  </a:lnTo>
                </a:path>
                <a:path w="2047239" h="3879850">
                  <a:moveTo>
                    <a:pt x="0" y="3879626"/>
                  </a:moveTo>
                  <a:lnTo>
                    <a:pt x="0" y="3879626"/>
                  </a:lnTo>
                  <a:lnTo>
                    <a:pt x="323241" y="3879626"/>
                  </a:lnTo>
                </a:path>
                <a:path w="2047239" h="3879850">
                  <a:moveTo>
                    <a:pt x="323241" y="2586279"/>
                  </a:moveTo>
                  <a:lnTo>
                    <a:pt x="323241" y="2586279"/>
                  </a:lnTo>
                  <a:lnTo>
                    <a:pt x="0" y="2586279"/>
                  </a:lnTo>
                </a:path>
                <a:path w="2047239" h="3879850">
                  <a:moveTo>
                    <a:pt x="161770" y="2586279"/>
                  </a:moveTo>
                  <a:lnTo>
                    <a:pt x="161770" y="2586279"/>
                  </a:lnTo>
                  <a:lnTo>
                    <a:pt x="161770" y="3879626"/>
                  </a:lnTo>
                </a:path>
              </a:pathLst>
            </a:custGeom>
            <a:ln w="11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06070" y="943298"/>
              <a:ext cx="1073150" cy="3763645"/>
            </a:xfrm>
            <a:custGeom>
              <a:avLst/>
              <a:gdLst/>
              <a:ahLst/>
              <a:cxnLst/>
              <a:rect l="l" t="t" r="r" b="b"/>
              <a:pathLst>
                <a:path w="1073150" h="3763645">
                  <a:moveTo>
                    <a:pt x="0" y="0"/>
                  </a:moveTo>
                  <a:lnTo>
                    <a:pt x="0" y="0"/>
                  </a:lnTo>
                  <a:lnTo>
                    <a:pt x="0" y="11826"/>
                  </a:lnTo>
                </a:path>
                <a:path w="1073150" h="3763645">
                  <a:moveTo>
                    <a:pt x="0" y="47824"/>
                  </a:moveTo>
                  <a:lnTo>
                    <a:pt x="0" y="47824"/>
                  </a:lnTo>
                  <a:lnTo>
                    <a:pt x="0" y="59315"/>
                  </a:lnTo>
                </a:path>
                <a:path w="1073150" h="3763645">
                  <a:moveTo>
                    <a:pt x="0" y="95312"/>
                  </a:moveTo>
                  <a:lnTo>
                    <a:pt x="0" y="95312"/>
                  </a:lnTo>
                  <a:lnTo>
                    <a:pt x="0" y="107718"/>
                  </a:lnTo>
                </a:path>
                <a:path w="1073150" h="3763645">
                  <a:moveTo>
                    <a:pt x="0" y="143594"/>
                  </a:moveTo>
                  <a:lnTo>
                    <a:pt x="0" y="143594"/>
                  </a:lnTo>
                  <a:lnTo>
                    <a:pt x="0" y="155573"/>
                  </a:lnTo>
                </a:path>
                <a:path w="1073150" h="3763645">
                  <a:moveTo>
                    <a:pt x="0" y="191448"/>
                  </a:moveTo>
                  <a:lnTo>
                    <a:pt x="0" y="191448"/>
                  </a:lnTo>
                  <a:lnTo>
                    <a:pt x="0" y="203031"/>
                  </a:lnTo>
                </a:path>
                <a:path w="1073150" h="3763645">
                  <a:moveTo>
                    <a:pt x="0" y="238907"/>
                  </a:moveTo>
                  <a:lnTo>
                    <a:pt x="0" y="238907"/>
                  </a:lnTo>
                  <a:lnTo>
                    <a:pt x="0" y="251465"/>
                  </a:lnTo>
                </a:path>
                <a:path w="1073150" h="3763645">
                  <a:moveTo>
                    <a:pt x="0" y="287340"/>
                  </a:moveTo>
                  <a:lnTo>
                    <a:pt x="0" y="287340"/>
                  </a:lnTo>
                  <a:lnTo>
                    <a:pt x="0" y="299167"/>
                  </a:lnTo>
                </a:path>
                <a:path w="1073150" h="3763645">
                  <a:moveTo>
                    <a:pt x="0" y="335164"/>
                  </a:moveTo>
                  <a:lnTo>
                    <a:pt x="0" y="335164"/>
                  </a:lnTo>
                  <a:lnTo>
                    <a:pt x="0" y="346655"/>
                  </a:lnTo>
                </a:path>
                <a:path w="1073150" h="3763645">
                  <a:moveTo>
                    <a:pt x="0" y="382623"/>
                  </a:moveTo>
                  <a:lnTo>
                    <a:pt x="0" y="382623"/>
                  </a:lnTo>
                  <a:lnTo>
                    <a:pt x="0" y="395089"/>
                  </a:lnTo>
                </a:path>
                <a:path w="1073150" h="3763645">
                  <a:moveTo>
                    <a:pt x="0" y="430965"/>
                  </a:moveTo>
                  <a:lnTo>
                    <a:pt x="0" y="430965"/>
                  </a:lnTo>
                  <a:lnTo>
                    <a:pt x="0" y="442913"/>
                  </a:lnTo>
                </a:path>
                <a:path w="1073150" h="3763645">
                  <a:moveTo>
                    <a:pt x="0" y="478789"/>
                  </a:moveTo>
                  <a:lnTo>
                    <a:pt x="0" y="478789"/>
                  </a:lnTo>
                  <a:lnTo>
                    <a:pt x="0" y="490372"/>
                  </a:lnTo>
                </a:path>
                <a:path w="1073150" h="3763645">
                  <a:moveTo>
                    <a:pt x="0" y="526247"/>
                  </a:moveTo>
                  <a:lnTo>
                    <a:pt x="0" y="526247"/>
                  </a:lnTo>
                  <a:lnTo>
                    <a:pt x="0" y="538805"/>
                  </a:lnTo>
                </a:path>
                <a:path w="1073150" h="3763645">
                  <a:moveTo>
                    <a:pt x="0" y="574681"/>
                  </a:moveTo>
                  <a:lnTo>
                    <a:pt x="0" y="574681"/>
                  </a:lnTo>
                  <a:lnTo>
                    <a:pt x="0" y="586507"/>
                  </a:lnTo>
                </a:path>
                <a:path w="1073150" h="3763645">
                  <a:moveTo>
                    <a:pt x="0" y="622505"/>
                  </a:moveTo>
                  <a:lnTo>
                    <a:pt x="0" y="622505"/>
                  </a:lnTo>
                  <a:lnTo>
                    <a:pt x="0" y="633996"/>
                  </a:lnTo>
                </a:path>
                <a:path w="1073150" h="3763645">
                  <a:moveTo>
                    <a:pt x="0" y="669994"/>
                  </a:moveTo>
                  <a:lnTo>
                    <a:pt x="0" y="669994"/>
                  </a:lnTo>
                  <a:lnTo>
                    <a:pt x="0" y="682765"/>
                  </a:lnTo>
                </a:path>
                <a:path w="1073150" h="3763645">
                  <a:moveTo>
                    <a:pt x="0" y="718641"/>
                  </a:moveTo>
                  <a:lnTo>
                    <a:pt x="0" y="718641"/>
                  </a:lnTo>
                  <a:lnTo>
                    <a:pt x="0" y="730254"/>
                  </a:lnTo>
                </a:path>
                <a:path w="1073150" h="3763645">
                  <a:moveTo>
                    <a:pt x="10094" y="747110"/>
                  </a:moveTo>
                  <a:lnTo>
                    <a:pt x="10094" y="747110"/>
                  </a:lnTo>
                  <a:lnTo>
                    <a:pt x="19881" y="740038"/>
                  </a:lnTo>
                </a:path>
                <a:path w="1073150" h="3763645">
                  <a:moveTo>
                    <a:pt x="48684" y="719494"/>
                  </a:moveTo>
                  <a:lnTo>
                    <a:pt x="48684" y="719494"/>
                  </a:lnTo>
                  <a:lnTo>
                    <a:pt x="58471" y="713032"/>
                  </a:lnTo>
                </a:path>
                <a:path w="1073150" h="3763645">
                  <a:moveTo>
                    <a:pt x="88165" y="692458"/>
                  </a:moveTo>
                  <a:lnTo>
                    <a:pt x="88165" y="692458"/>
                  </a:lnTo>
                  <a:lnTo>
                    <a:pt x="97952" y="685417"/>
                  </a:lnTo>
                </a:path>
                <a:path w="1073150" h="3763645">
                  <a:moveTo>
                    <a:pt x="127645" y="664599"/>
                  </a:moveTo>
                  <a:lnTo>
                    <a:pt x="127645" y="664599"/>
                  </a:lnTo>
                  <a:lnTo>
                    <a:pt x="136493" y="657527"/>
                  </a:lnTo>
                </a:path>
                <a:path w="1073150" h="3763645">
                  <a:moveTo>
                    <a:pt x="166268" y="636739"/>
                  </a:moveTo>
                  <a:lnTo>
                    <a:pt x="166268" y="636739"/>
                  </a:lnTo>
                  <a:lnTo>
                    <a:pt x="176068" y="630521"/>
                  </a:lnTo>
                </a:path>
                <a:path w="1073150" h="3763645">
                  <a:moveTo>
                    <a:pt x="205727" y="609703"/>
                  </a:moveTo>
                  <a:lnTo>
                    <a:pt x="205727" y="609703"/>
                  </a:lnTo>
                  <a:lnTo>
                    <a:pt x="215526" y="602540"/>
                  </a:lnTo>
                </a:path>
                <a:path w="1073150" h="3763645">
                  <a:moveTo>
                    <a:pt x="245183" y="582088"/>
                  </a:moveTo>
                  <a:lnTo>
                    <a:pt x="245183" y="582088"/>
                  </a:lnTo>
                  <a:lnTo>
                    <a:pt x="254031" y="574681"/>
                  </a:lnTo>
                </a:path>
                <a:path w="1073150" h="3763645">
                  <a:moveTo>
                    <a:pt x="283807" y="554228"/>
                  </a:moveTo>
                  <a:lnTo>
                    <a:pt x="283807" y="554228"/>
                  </a:lnTo>
                  <a:lnTo>
                    <a:pt x="293606" y="547888"/>
                  </a:lnTo>
                </a:path>
                <a:path w="1073150" h="3763645">
                  <a:moveTo>
                    <a:pt x="323266" y="527192"/>
                  </a:moveTo>
                  <a:lnTo>
                    <a:pt x="323266" y="527192"/>
                  </a:lnTo>
                  <a:lnTo>
                    <a:pt x="333065" y="520029"/>
                  </a:lnTo>
                </a:path>
                <a:path w="1073150" h="3763645">
                  <a:moveTo>
                    <a:pt x="361889" y="499211"/>
                  </a:moveTo>
                  <a:lnTo>
                    <a:pt x="361889" y="499211"/>
                  </a:lnTo>
                  <a:lnTo>
                    <a:pt x="371688" y="492170"/>
                  </a:lnTo>
                </a:path>
                <a:path w="1073150" h="3763645">
                  <a:moveTo>
                    <a:pt x="401345" y="471595"/>
                  </a:moveTo>
                  <a:lnTo>
                    <a:pt x="401345" y="471595"/>
                  </a:lnTo>
                  <a:lnTo>
                    <a:pt x="411382" y="465134"/>
                  </a:lnTo>
                </a:path>
                <a:path w="1073150" h="3763645">
                  <a:moveTo>
                    <a:pt x="440804" y="444712"/>
                  </a:moveTo>
                  <a:lnTo>
                    <a:pt x="440804" y="444712"/>
                  </a:lnTo>
                  <a:lnTo>
                    <a:pt x="450841" y="437518"/>
                  </a:lnTo>
                </a:path>
                <a:path w="1073150" h="3763645">
                  <a:moveTo>
                    <a:pt x="479427" y="416730"/>
                  </a:moveTo>
                  <a:lnTo>
                    <a:pt x="479427" y="416730"/>
                  </a:lnTo>
                  <a:lnTo>
                    <a:pt x="489464" y="409659"/>
                  </a:lnTo>
                </a:path>
                <a:path w="1073150" h="3763645">
                  <a:moveTo>
                    <a:pt x="518886" y="388871"/>
                  </a:moveTo>
                  <a:lnTo>
                    <a:pt x="518886" y="388871"/>
                  </a:lnTo>
                  <a:lnTo>
                    <a:pt x="528923" y="382623"/>
                  </a:lnTo>
                </a:path>
                <a:path w="1073150" h="3763645">
                  <a:moveTo>
                    <a:pt x="558342" y="362079"/>
                  </a:moveTo>
                  <a:lnTo>
                    <a:pt x="558342" y="362079"/>
                  </a:lnTo>
                  <a:lnTo>
                    <a:pt x="568379" y="354672"/>
                  </a:lnTo>
                </a:path>
                <a:path w="1073150" h="3763645">
                  <a:moveTo>
                    <a:pt x="597203" y="334219"/>
                  </a:moveTo>
                  <a:lnTo>
                    <a:pt x="597203" y="334219"/>
                  </a:lnTo>
                  <a:lnTo>
                    <a:pt x="607003" y="327148"/>
                  </a:lnTo>
                </a:path>
                <a:path w="1073150" h="3763645">
                  <a:moveTo>
                    <a:pt x="636662" y="306360"/>
                  </a:moveTo>
                  <a:lnTo>
                    <a:pt x="636662" y="306360"/>
                  </a:lnTo>
                  <a:lnTo>
                    <a:pt x="646461" y="300142"/>
                  </a:lnTo>
                </a:path>
                <a:path w="1073150" h="3763645">
                  <a:moveTo>
                    <a:pt x="676237" y="279324"/>
                  </a:moveTo>
                  <a:lnTo>
                    <a:pt x="676237" y="279324"/>
                  </a:lnTo>
                  <a:lnTo>
                    <a:pt x="685085" y="272161"/>
                  </a:lnTo>
                </a:path>
                <a:path w="1073150" h="3763645">
                  <a:moveTo>
                    <a:pt x="714742" y="251465"/>
                  </a:moveTo>
                  <a:lnTo>
                    <a:pt x="714742" y="251465"/>
                  </a:lnTo>
                  <a:lnTo>
                    <a:pt x="724541" y="244302"/>
                  </a:lnTo>
                </a:path>
                <a:path w="1073150" h="3763645">
                  <a:moveTo>
                    <a:pt x="754201" y="224703"/>
                  </a:moveTo>
                  <a:lnTo>
                    <a:pt x="754201" y="224703"/>
                  </a:lnTo>
                  <a:lnTo>
                    <a:pt x="764000" y="217265"/>
                  </a:lnTo>
                </a:path>
                <a:path w="1073150" h="3763645">
                  <a:moveTo>
                    <a:pt x="792824" y="196813"/>
                  </a:moveTo>
                  <a:lnTo>
                    <a:pt x="792824" y="196813"/>
                  </a:lnTo>
                  <a:lnTo>
                    <a:pt x="802623" y="189650"/>
                  </a:lnTo>
                </a:path>
                <a:path w="1073150" h="3763645">
                  <a:moveTo>
                    <a:pt x="832280" y="168832"/>
                  </a:moveTo>
                  <a:lnTo>
                    <a:pt x="832280" y="168832"/>
                  </a:lnTo>
                  <a:lnTo>
                    <a:pt x="842079" y="162614"/>
                  </a:lnTo>
                </a:path>
                <a:path w="1073150" h="3763645">
                  <a:moveTo>
                    <a:pt x="871739" y="141826"/>
                  </a:moveTo>
                  <a:lnTo>
                    <a:pt x="871739" y="141826"/>
                  </a:lnTo>
                  <a:lnTo>
                    <a:pt x="881538" y="134754"/>
                  </a:lnTo>
                </a:path>
                <a:path w="1073150" h="3763645">
                  <a:moveTo>
                    <a:pt x="910362" y="114302"/>
                  </a:moveTo>
                  <a:lnTo>
                    <a:pt x="910362" y="114302"/>
                  </a:lnTo>
                  <a:lnTo>
                    <a:pt x="920162" y="106895"/>
                  </a:lnTo>
                </a:path>
                <a:path w="1073150" h="3763645">
                  <a:moveTo>
                    <a:pt x="949818" y="86351"/>
                  </a:moveTo>
                  <a:lnTo>
                    <a:pt x="949818" y="86351"/>
                  </a:lnTo>
                  <a:lnTo>
                    <a:pt x="959617" y="80133"/>
                  </a:lnTo>
                </a:path>
                <a:path w="1073150" h="3763645">
                  <a:moveTo>
                    <a:pt x="989277" y="59315"/>
                  </a:moveTo>
                  <a:lnTo>
                    <a:pt x="989277" y="59315"/>
                  </a:lnTo>
                  <a:lnTo>
                    <a:pt x="999076" y="52243"/>
                  </a:lnTo>
                </a:path>
                <a:path w="1073150" h="3763645">
                  <a:moveTo>
                    <a:pt x="1027901" y="31455"/>
                  </a:moveTo>
                  <a:lnTo>
                    <a:pt x="1027901" y="31455"/>
                  </a:lnTo>
                  <a:lnTo>
                    <a:pt x="1037700" y="24262"/>
                  </a:lnTo>
                </a:path>
                <a:path w="1073150" h="3763645">
                  <a:moveTo>
                    <a:pt x="1067360" y="3596"/>
                  </a:moveTo>
                  <a:lnTo>
                    <a:pt x="1072739" y="0"/>
                  </a:lnTo>
                  <a:lnTo>
                    <a:pt x="1072739" y="4419"/>
                  </a:lnTo>
                </a:path>
                <a:path w="1073150" h="3763645">
                  <a:moveTo>
                    <a:pt x="1072739" y="40295"/>
                  </a:moveTo>
                  <a:lnTo>
                    <a:pt x="1072739" y="40295"/>
                  </a:lnTo>
                  <a:lnTo>
                    <a:pt x="1072739" y="53097"/>
                  </a:lnTo>
                </a:path>
                <a:path w="1073150" h="3763645">
                  <a:moveTo>
                    <a:pt x="1072739" y="89094"/>
                  </a:moveTo>
                  <a:lnTo>
                    <a:pt x="1072739" y="89094"/>
                  </a:lnTo>
                  <a:lnTo>
                    <a:pt x="1072739" y="100555"/>
                  </a:lnTo>
                </a:path>
                <a:path w="1073150" h="3763645">
                  <a:moveTo>
                    <a:pt x="1072739" y="136553"/>
                  </a:moveTo>
                  <a:lnTo>
                    <a:pt x="1072739" y="136553"/>
                  </a:lnTo>
                  <a:lnTo>
                    <a:pt x="1072739" y="148379"/>
                  </a:lnTo>
                </a:path>
                <a:path w="1073150" h="3763645">
                  <a:moveTo>
                    <a:pt x="1072739" y="184255"/>
                  </a:moveTo>
                  <a:lnTo>
                    <a:pt x="1072739" y="184255"/>
                  </a:lnTo>
                  <a:lnTo>
                    <a:pt x="1072739" y="196813"/>
                  </a:lnTo>
                </a:path>
                <a:path w="1073150" h="3763645">
                  <a:moveTo>
                    <a:pt x="1072739" y="232688"/>
                  </a:moveTo>
                  <a:lnTo>
                    <a:pt x="1072739" y="232688"/>
                  </a:lnTo>
                  <a:lnTo>
                    <a:pt x="1072739" y="244302"/>
                  </a:lnTo>
                </a:path>
                <a:path w="1073150" h="3763645">
                  <a:moveTo>
                    <a:pt x="1072739" y="280177"/>
                  </a:moveTo>
                  <a:lnTo>
                    <a:pt x="1072739" y="280177"/>
                  </a:lnTo>
                  <a:lnTo>
                    <a:pt x="1072739" y="292126"/>
                  </a:lnTo>
                </a:path>
                <a:path w="1073150" h="3763645">
                  <a:moveTo>
                    <a:pt x="1072739" y="328001"/>
                  </a:moveTo>
                  <a:lnTo>
                    <a:pt x="1072739" y="328001"/>
                  </a:lnTo>
                  <a:lnTo>
                    <a:pt x="1072739" y="340437"/>
                  </a:lnTo>
                </a:path>
                <a:path w="1073150" h="3763645">
                  <a:moveTo>
                    <a:pt x="1072739" y="376435"/>
                  </a:moveTo>
                  <a:lnTo>
                    <a:pt x="1072739" y="376435"/>
                  </a:lnTo>
                  <a:lnTo>
                    <a:pt x="1072739" y="387896"/>
                  </a:lnTo>
                </a:path>
                <a:path w="1073150" h="3763645">
                  <a:moveTo>
                    <a:pt x="1072739" y="423893"/>
                  </a:moveTo>
                  <a:lnTo>
                    <a:pt x="1072739" y="423893"/>
                  </a:lnTo>
                  <a:lnTo>
                    <a:pt x="1072739" y="435750"/>
                  </a:lnTo>
                </a:path>
                <a:path w="1073150" h="3763645">
                  <a:moveTo>
                    <a:pt x="1072739" y="471595"/>
                  </a:moveTo>
                  <a:lnTo>
                    <a:pt x="1072739" y="471595"/>
                  </a:lnTo>
                  <a:lnTo>
                    <a:pt x="1072739" y="484153"/>
                  </a:lnTo>
                </a:path>
                <a:path w="1073150" h="3763645">
                  <a:moveTo>
                    <a:pt x="1072739" y="520029"/>
                  </a:moveTo>
                  <a:lnTo>
                    <a:pt x="1072739" y="520029"/>
                  </a:lnTo>
                  <a:lnTo>
                    <a:pt x="1072739" y="531642"/>
                  </a:lnTo>
                </a:path>
                <a:path w="1073150" h="3763645">
                  <a:moveTo>
                    <a:pt x="1072739" y="567518"/>
                  </a:moveTo>
                  <a:lnTo>
                    <a:pt x="1072739" y="567518"/>
                  </a:lnTo>
                  <a:lnTo>
                    <a:pt x="1072739" y="579466"/>
                  </a:lnTo>
                </a:path>
                <a:path w="1073150" h="3763645">
                  <a:moveTo>
                    <a:pt x="1072739" y="615342"/>
                  </a:moveTo>
                  <a:lnTo>
                    <a:pt x="1072739" y="615342"/>
                  </a:lnTo>
                  <a:lnTo>
                    <a:pt x="1072739" y="627778"/>
                  </a:lnTo>
                </a:path>
                <a:path w="1073150" h="3763645">
                  <a:moveTo>
                    <a:pt x="1072739" y="663776"/>
                  </a:moveTo>
                  <a:lnTo>
                    <a:pt x="1072739" y="663776"/>
                  </a:lnTo>
                  <a:lnTo>
                    <a:pt x="1072739" y="675236"/>
                  </a:lnTo>
                </a:path>
                <a:path w="1073150" h="3763645">
                  <a:moveTo>
                    <a:pt x="1072739" y="711234"/>
                  </a:moveTo>
                  <a:lnTo>
                    <a:pt x="1072739" y="711234"/>
                  </a:lnTo>
                  <a:lnTo>
                    <a:pt x="1072739" y="723060"/>
                  </a:lnTo>
                </a:path>
                <a:path w="1073150" h="3763645">
                  <a:moveTo>
                    <a:pt x="1072739" y="759058"/>
                  </a:moveTo>
                  <a:lnTo>
                    <a:pt x="1072739" y="759058"/>
                  </a:lnTo>
                  <a:lnTo>
                    <a:pt x="1072739" y="771494"/>
                  </a:lnTo>
                </a:path>
                <a:path w="1073150" h="3763645">
                  <a:moveTo>
                    <a:pt x="1072739" y="807370"/>
                  </a:moveTo>
                  <a:lnTo>
                    <a:pt x="1072739" y="807370"/>
                  </a:lnTo>
                  <a:lnTo>
                    <a:pt x="1072739" y="818952"/>
                  </a:lnTo>
                </a:path>
                <a:path w="1073150" h="3763645">
                  <a:moveTo>
                    <a:pt x="1072739" y="854828"/>
                  </a:moveTo>
                  <a:lnTo>
                    <a:pt x="1072739" y="854828"/>
                  </a:lnTo>
                  <a:lnTo>
                    <a:pt x="1072739" y="866807"/>
                  </a:lnTo>
                </a:path>
                <a:path w="1073150" h="3763645">
                  <a:moveTo>
                    <a:pt x="1072739" y="902683"/>
                  </a:moveTo>
                  <a:lnTo>
                    <a:pt x="1072739" y="902683"/>
                  </a:lnTo>
                  <a:lnTo>
                    <a:pt x="1072739" y="915119"/>
                  </a:lnTo>
                </a:path>
                <a:path w="1073150" h="3763645">
                  <a:moveTo>
                    <a:pt x="1072739" y="951116"/>
                  </a:moveTo>
                  <a:lnTo>
                    <a:pt x="1072739" y="951116"/>
                  </a:lnTo>
                  <a:lnTo>
                    <a:pt x="1072739" y="962577"/>
                  </a:lnTo>
                </a:path>
                <a:path w="1073150" h="3763645">
                  <a:moveTo>
                    <a:pt x="1072739" y="998575"/>
                  </a:moveTo>
                  <a:lnTo>
                    <a:pt x="1072739" y="998575"/>
                  </a:lnTo>
                  <a:lnTo>
                    <a:pt x="1072739" y="1010401"/>
                  </a:lnTo>
                </a:path>
                <a:path w="1073150" h="3763645">
                  <a:moveTo>
                    <a:pt x="1072739" y="1046399"/>
                  </a:moveTo>
                  <a:lnTo>
                    <a:pt x="1072739" y="1046399"/>
                  </a:lnTo>
                  <a:lnTo>
                    <a:pt x="1072739" y="1058835"/>
                  </a:lnTo>
                </a:path>
                <a:path w="1073150" h="3763645">
                  <a:moveTo>
                    <a:pt x="1072739" y="1094711"/>
                  </a:moveTo>
                  <a:lnTo>
                    <a:pt x="1072739" y="1094711"/>
                  </a:lnTo>
                  <a:lnTo>
                    <a:pt x="1072739" y="1106324"/>
                  </a:lnTo>
                </a:path>
                <a:path w="1073150" h="3763645">
                  <a:moveTo>
                    <a:pt x="1072739" y="1142199"/>
                  </a:moveTo>
                  <a:lnTo>
                    <a:pt x="1072739" y="1142199"/>
                  </a:lnTo>
                  <a:lnTo>
                    <a:pt x="1072739" y="1154148"/>
                  </a:lnTo>
                </a:path>
                <a:path w="1073150" h="3763645">
                  <a:moveTo>
                    <a:pt x="1072739" y="1190023"/>
                  </a:moveTo>
                  <a:lnTo>
                    <a:pt x="1072739" y="1190023"/>
                  </a:lnTo>
                  <a:lnTo>
                    <a:pt x="1072739" y="1202460"/>
                  </a:lnTo>
                </a:path>
                <a:path w="1073150" h="3763645">
                  <a:moveTo>
                    <a:pt x="1072739" y="1238457"/>
                  </a:moveTo>
                  <a:lnTo>
                    <a:pt x="1072739" y="1238457"/>
                  </a:lnTo>
                  <a:lnTo>
                    <a:pt x="1072739" y="1249918"/>
                  </a:lnTo>
                </a:path>
                <a:path w="1073150" h="3763645">
                  <a:moveTo>
                    <a:pt x="1072739" y="1286159"/>
                  </a:moveTo>
                  <a:lnTo>
                    <a:pt x="1072739" y="1286159"/>
                  </a:lnTo>
                  <a:lnTo>
                    <a:pt x="1072739" y="1297742"/>
                  </a:lnTo>
                </a:path>
                <a:path w="1073150" h="3763645">
                  <a:moveTo>
                    <a:pt x="1072739" y="1333739"/>
                  </a:moveTo>
                  <a:lnTo>
                    <a:pt x="1072739" y="1333739"/>
                  </a:lnTo>
                  <a:lnTo>
                    <a:pt x="1072739" y="1346176"/>
                  </a:lnTo>
                </a:path>
                <a:path w="1073150" h="3763645">
                  <a:moveTo>
                    <a:pt x="1072739" y="1382051"/>
                  </a:moveTo>
                  <a:lnTo>
                    <a:pt x="1072739" y="1382051"/>
                  </a:lnTo>
                  <a:lnTo>
                    <a:pt x="1072739" y="1393878"/>
                  </a:lnTo>
                </a:path>
                <a:path w="1073150" h="3763645">
                  <a:moveTo>
                    <a:pt x="1072739" y="1428930"/>
                  </a:moveTo>
                  <a:lnTo>
                    <a:pt x="1072739" y="1428930"/>
                  </a:lnTo>
                  <a:lnTo>
                    <a:pt x="1062096" y="1423322"/>
                  </a:lnTo>
                </a:path>
                <a:path w="1073150" h="3763645">
                  <a:moveTo>
                    <a:pt x="1030650" y="1406436"/>
                  </a:moveTo>
                  <a:lnTo>
                    <a:pt x="1030650" y="1406436"/>
                  </a:lnTo>
                  <a:lnTo>
                    <a:pt x="1019888" y="1401071"/>
                  </a:lnTo>
                </a:path>
                <a:path w="1073150" h="3763645">
                  <a:moveTo>
                    <a:pt x="988445" y="1383850"/>
                  </a:moveTo>
                  <a:lnTo>
                    <a:pt x="988445" y="1383850"/>
                  </a:lnTo>
                  <a:lnTo>
                    <a:pt x="977798" y="1378455"/>
                  </a:lnTo>
                </a:path>
                <a:path w="1073150" h="3763645">
                  <a:moveTo>
                    <a:pt x="945390" y="1361599"/>
                  </a:moveTo>
                  <a:lnTo>
                    <a:pt x="945390" y="1361599"/>
                  </a:lnTo>
                  <a:lnTo>
                    <a:pt x="935590" y="1355990"/>
                  </a:lnTo>
                </a:path>
                <a:path w="1073150" h="3763645">
                  <a:moveTo>
                    <a:pt x="903303" y="1339958"/>
                  </a:moveTo>
                  <a:lnTo>
                    <a:pt x="903303" y="1339958"/>
                  </a:lnTo>
                  <a:lnTo>
                    <a:pt x="893145" y="1333739"/>
                  </a:lnTo>
                </a:path>
                <a:path w="1073150" h="3763645">
                  <a:moveTo>
                    <a:pt x="861095" y="1317371"/>
                  </a:moveTo>
                  <a:lnTo>
                    <a:pt x="861095" y="1317371"/>
                  </a:lnTo>
                  <a:lnTo>
                    <a:pt x="850092" y="1311153"/>
                  </a:lnTo>
                </a:path>
                <a:path w="1073150" h="3763645">
                  <a:moveTo>
                    <a:pt x="818650" y="1295121"/>
                  </a:moveTo>
                  <a:lnTo>
                    <a:pt x="818650" y="1295121"/>
                  </a:lnTo>
                  <a:lnTo>
                    <a:pt x="808003" y="1289756"/>
                  </a:lnTo>
                </a:path>
                <a:path w="1073150" h="3763645">
                  <a:moveTo>
                    <a:pt x="776560" y="1272534"/>
                  </a:moveTo>
                  <a:lnTo>
                    <a:pt x="776560" y="1272534"/>
                  </a:lnTo>
                  <a:lnTo>
                    <a:pt x="765798" y="1267139"/>
                  </a:lnTo>
                </a:path>
                <a:path w="1073150" h="3763645">
                  <a:moveTo>
                    <a:pt x="734352" y="1249918"/>
                  </a:moveTo>
                  <a:lnTo>
                    <a:pt x="734352" y="1249918"/>
                  </a:lnTo>
                  <a:lnTo>
                    <a:pt x="723709" y="1244675"/>
                  </a:lnTo>
                </a:path>
                <a:path w="1073150" h="3763645">
                  <a:moveTo>
                    <a:pt x="692263" y="1227697"/>
                  </a:moveTo>
                  <a:lnTo>
                    <a:pt x="692263" y="1227697"/>
                  </a:lnTo>
                  <a:lnTo>
                    <a:pt x="681501" y="1222424"/>
                  </a:lnTo>
                </a:path>
                <a:path w="1073150" h="3763645">
                  <a:moveTo>
                    <a:pt x="649211" y="1205203"/>
                  </a:moveTo>
                  <a:lnTo>
                    <a:pt x="649211" y="1205203"/>
                  </a:lnTo>
                  <a:lnTo>
                    <a:pt x="639412" y="1199838"/>
                  </a:lnTo>
                </a:path>
                <a:path w="1073150" h="3763645">
                  <a:moveTo>
                    <a:pt x="607003" y="1182830"/>
                  </a:moveTo>
                  <a:lnTo>
                    <a:pt x="607003" y="1182830"/>
                  </a:lnTo>
                  <a:lnTo>
                    <a:pt x="596003" y="1177222"/>
                  </a:lnTo>
                </a:path>
                <a:path w="1073150" h="3763645">
                  <a:moveTo>
                    <a:pt x="564913" y="1160366"/>
                  </a:moveTo>
                  <a:lnTo>
                    <a:pt x="564913" y="1160366"/>
                  </a:lnTo>
                  <a:lnTo>
                    <a:pt x="553913" y="1154971"/>
                  </a:lnTo>
                </a:path>
                <a:path w="1073150" h="3763645">
                  <a:moveTo>
                    <a:pt x="522705" y="1137749"/>
                  </a:moveTo>
                  <a:lnTo>
                    <a:pt x="522705" y="1137749"/>
                  </a:lnTo>
                  <a:lnTo>
                    <a:pt x="511705" y="1132385"/>
                  </a:lnTo>
                </a:path>
                <a:path w="1073150" h="3763645">
                  <a:moveTo>
                    <a:pt x="480260" y="1115529"/>
                  </a:moveTo>
                  <a:lnTo>
                    <a:pt x="480260" y="1115529"/>
                  </a:lnTo>
                  <a:lnTo>
                    <a:pt x="469616" y="1110134"/>
                  </a:lnTo>
                </a:path>
                <a:path w="1073150" h="3763645">
                  <a:moveTo>
                    <a:pt x="438173" y="1092912"/>
                  </a:moveTo>
                  <a:lnTo>
                    <a:pt x="438173" y="1092912"/>
                  </a:lnTo>
                  <a:lnTo>
                    <a:pt x="427408" y="1087670"/>
                  </a:lnTo>
                </a:path>
                <a:path w="1073150" h="3763645">
                  <a:moveTo>
                    <a:pt x="395130" y="1071271"/>
                  </a:moveTo>
                  <a:lnTo>
                    <a:pt x="395130" y="1071271"/>
                  </a:lnTo>
                  <a:lnTo>
                    <a:pt x="385322" y="1065053"/>
                  </a:lnTo>
                </a:path>
                <a:path w="1073150" h="3763645">
                  <a:moveTo>
                    <a:pt x="352913" y="1049020"/>
                  </a:moveTo>
                  <a:lnTo>
                    <a:pt x="352913" y="1049020"/>
                  </a:lnTo>
                  <a:lnTo>
                    <a:pt x="343114" y="1042833"/>
                  </a:lnTo>
                </a:path>
                <a:path w="1073150" h="3763645">
                  <a:moveTo>
                    <a:pt x="310824" y="1026434"/>
                  </a:moveTo>
                  <a:lnTo>
                    <a:pt x="310824" y="1026434"/>
                  </a:lnTo>
                  <a:lnTo>
                    <a:pt x="300071" y="1021161"/>
                  </a:lnTo>
                </a:path>
                <a:path w="1073150" h="3763645">
                  <a:moveTo>
                    <a:pt x="268616" y="1004183"/>
                  </a:moveTo>
                  <a:lnTo>
                    <a:pt x="268616" y="1004183"/>
                  </a:lnTo>
                  <a:lnTo>
                    <a:pt x="257613" y="998575"/>
                  </a:lnTo>
                </a:path>
                <a:path w="1073150" h="3763645">
                  <a:moveTo>
                    <a:pt x="226527" y="981597"/>
                  </a:moveTo>
                  <a:lnTo>
                    <a:pt x="226527" y="981597"/>
                  </a:lnTo>
                  <a:lnTo>
                    <a:pt x="215526" y="976324"/>
                  </a:lnTo>
                </a:path>
                <a:path w="1073150" h="3763645">
                  <a:moveTo>
                    <a:pt x="184081" y="959102"/>
                  </a:moveTo>
                  <a:lnTo>
                    <a:pt x="184081" y="959102"/>
                  </a:lnTo>
                  <a:lnTo>
                    <a:pt x="173318" y="953738"/>
                  </a:lnTo>
                </a:path>
                <a:path w="1073150" h="3763645">
                  <a:moveTo>
                    <a:pt x="141873" y="936760"/>
                  </a:moveTo>
                  <a:lnTo>
                    <a:pt x="141873" y="936760"/>
                  </a:lnTo>
                  <a:lnTo>
                    <a:pt x="131229" y="931487"/>
                  </a:lnTo>
                </a:path>
                <a:path w="1073150" h="3763645">
                  <a:moveTo>
                    <a:pt x="98845" y="914265"/>
                  </a:moveTo>
                  <a:lnTo>
                    <a:pt x="98845" y="914265"/>
                  </a:lnTo>
                  <a:lnTo>
                    <a:pt x="89045" y="908901"/>
                  </a:lnTo>
                </a:path>
                <a:path w="1073150" h="3763645">
                  <a:moveTo>
                    <a:pt x="56694" y="891679"/>
                  </a:moveTo>
                  <a:lnTo>
                    <a:pt x="56694" y="891679"/>
                  </a:lnTo>
                  <a:lnTo>
                    <a:pt x="46018" y="886284"/>
                  </a:lnTo>
                </a:path>
                <a:path w="1073150" h="3763645">
                  <a:moveTo>
                    <a:pt x="14535" y="869428"/>
                  </a:moveTo>
                  <a:lnTo>
                    <a:pt x="14535" y="869428"/>
                  </a:lnTo>
                  <a:lnTo>
                    <a:pt x="3867" y="864064"/>
                  </a:lnTo>
                </a:path>
                <a:path w="1073150" h="3763645">
                  <a:moveTo>
                    <a:pt x="0" y="893478"/>
                  </a:moveTo>
                  <a:lnTo>
                    <a:pt x="0" y="893478"/>
                  </a:lnTo>
                  <a:lnTo>
                    <a:pt x="0" y="905304"/>
                  </a:lnTo>
                </a:path>
                <a:path w="1073150" h="3763645">
                  <a:moveTo>
                    <a:pt x="0" y="941302"/>
                  </a:moveTo>
                  <a:lnTo>
                    <a:pt x="0" y="941302"/>
                  </a:lnTo>
                  <a:lnTo>
                    <a:pt x="0" y="952915"/>
                  </a:lnTo>
                </a:path>
                <a:path w="1073150" h="3763645">
                  <a:moveTo>
                    <a:pt x="0" y="988790"/>
                  </a:moveTo>
                  <a:lnTo>
                    <a:pt x="0" y="988790"/>
                  </a:lnTo>
                  <a:lnTo>
                    <a:pt x="0" y="1001196"/>
                  </a:lnTo>
                </a:path>
                <a:path w="1073150" h="3763645">
                  <a:moveTo>
                    <a:pt x="0" y="1037437"/>
                  </a:moveTo>
                  <a:lnTo>
                    <a:pt x="0" y="1037437"/>
                  </a:lnTo>
                  <a:lnTo>
                    <a:pt x="0" y="1049020"/>
                  </a:lnTo>
                </a:path>
                <a:path w="1073150" h="3763645">
                  <a:moveTo>
                    <a:pt x="0" y="1084896"/>
                  </a:moveTo>
                  <a:lnTo>
                    <a:pt x="0" y="1084896"/>
                  </a:lnTo>
                  <a:lnTo>
                    <a:pt x="0" y="1096509"/>
                  </a:lnTo>
                </a:path>
                <a:path w="1073150" h="3763645">
                  <a:moveTo>
                    <a:pt x="0" y="1132385"/>
                  </a:moveTo>
                  <a:lnTo>
                    <a:pt x="0" y="1132385"/>
                  </a:lnTo>
                  <a:lnTo>
                    <a:pt x="0" y="1145186"/>
                  </a:lnTo>
                </a:path>
                <a:path w="1073150" h="3763645">
                  <a:moveTo>
                    <a:pt x="0" y="1181184"/>
                  </a:moveTo>
                  <a:lnTo>
                    <a:pt x="0" y="1181184"/>
                  </a:lnTo>
                  <a:lnTo>
                    <a:pt x="0" y="1192645"/>
                  </a:lnTo>
                </a:path>
                <a:path w="1073150" h="3763645">
                  <a:moveTo>
                    <a:pt x="0" y="1228642"/>
                  </a:moveTo>
                  <a:lnTo>
                    <a:pt x="0" y="1228642"/>
                  </a:lnTo>
                  <a:lnTo>
                    <a:pt x="0" y="1240225"/>
                  </a:lnTo>
                </a:path>
                <a:path w="1073150" h="3763645">
                  <a:moveTo>
                    <a:pt x="0" y="1276101"/>
                  </a:moveTo>
                  <a:lnTo>
                    <a:pt x="0" y="1276101"/>
                  </a:lnTo>
                  <a:lnTo>
                    <a:pt x="0" y="1288903"/>
                  </a:lnTo>
                </a:path>
                <a:path w="1073150" h="3763645">
                  <a:moveTo>
                    <a:pt x="0" y="1324778"/>
                  </a:moveTo>
                  <a:lnTo>
                    <a:pt x="0" y="1324778"/>
                  </a:lnTo>
                  <a:lnTo>
                    <a:pt x="0" y="1336391"/>
                  </a:lnTo>
                </a:path>
                <a:path w="1073150" h="3763645">
                  <a:moveTo>
                    <a:pt x="0" y="1372267"/>
                  </a:moveTo>
                  <a:lnTo>
                    <a:pt x="0" y="1372267"/>
                  </a:lnTo>
                  <a:lnTo>
                    <a:pt x="0" y="1383850"/>
                  </a:lnTo>
                </a:path>
                <a:path w="1073150" h="3763645">
                  <a:moveTo>
                    <a:pt x="0" y="1419725"/>
                  </a:moveTo>
                  <a:lnTo>
                    <a:pt x="0" y="1419725"/>
                  </a:lnTo>
                  <a:lnTo>
                    <a:pt x="0" y="1432497"/>
                  </a:lnTo>
                </a:path>
                <a:path w="1073150" h="3763645">
                  <a:moveTo>
                    <a:pt x="0" y="1468494"/>
                  </a:moveTo>
                  <a:lnTo>
                    <a:pt x="0" y="1468494"/>
                  </a:lnTo>
                  <a:lnTo>
                    <a:pt x="0" y="1479985"/>
                  </a:lnTo>
                </a:path>
                <a:path w="1073150" h="3763645">
                  <a:moveTo>
                    <a:pt x="0" y="1515983"/>
                  </a:moveTo>
                  <a:lnTo>
                    <a:pt x="0" y="1515983"/>
                  </a:lnTo>
                  <a:lnTo>
                    <a:pt x="0" y="1527596"/>
                  </a:lnTo>
                </a:path>
                <a:path w="1073150" h="3763645">
                  <a:moveTo>
                    <a:pt x="0" y="1563472"/>
                  </a:moveTo>
                  <a:lnTo>
                    <a:pt x="0" y="1563472"/>
                  </a:lnTo>
                  <a:lnTo>
                    <a:pt x="0" y="1576243"/>
                  </a:lnTo>
                </a:path>
                <a:path w="1073150" h="3763645">
                  <a:moveTo>
                    <a:pt x="0" y="1612119"/>
                  </a:moveTo>
                  <a:lnTo>
                    <a:pt x="0" y="1612119"/>
                  </a:lnTo>
                  <a:lnTo>
                    <a:pt x="0" y="1623702"/>
                  </a:lnTo>
                </a:path>
                <a:path w="1073150" h="3763645">
                  <a:moveTo>
                    <a:pt x="0" y="1659577"/>
                  </a:moveTo>
                  <a:lnTo>
                    <a:pt x="0" y="1659577"/>
                  </a:lnTo>
                  <a:lnTo>
                    <a:pt x="0" y="1671190"/>
                  </a:lnTo>
                </a:path>
                <a:path w="1073150" h="3763645">
                  <a:moveTo>
                    <a:pt x="0" y="1707066"/>
                  </a:moveTo>
                  <a:lnTo>
                    <a:pt x="0" y="1707066"/>
                  </a:lnTo>
                  <a:lnTo>
                    <a:pt x="0" y="1719868"/>
                  </a:lnTo>
                </a:path>
                <a:path w="1073150" h="3763645">
                  <a:moveTo>
                    <a:pt x="0" y="1755865"/>
                  </a:moveTo>
                  <a:lnTo>
                    <a:pt x="0" y="1755865"/>
                  </a:lnTo>
                  <a:lnTo>
                    <a:pt x="0" y="1767326"/>
                  </a:lnTo>
                </a:path>
                <a:path w="1073150" h="3763645">
                  <a:moveTo>
                    <a:pt x="0" y="1803324"/>
                  </a:moveTo>
                  <a:lnTo>
                    <a:pt x="0" y="1803324"/>
                  </a:lnTo>
                  <a:lnTo>
                    <a:pt x="0" y="1814906"/>
                  </a:lnTo>
                </a:path>
                <a:path w="1073150" h="3763645">
                  <a:moveTo>
                    <a:pt x="0" y="1850782"/>
                  </a:moveTo>
                  <a:lnTo>
                    <a:pt x="0" y="1850782"/>
                  </a:lnTo>
                  <a:lnTo>
                    <a:pt x="0" y="1863584"/>
                  </a:lnTo>
                </a:path>
                <a:path w="1073150" h="3763645">
                  <a:moveTo>
                    <a:pt x="0" y="1899460"/>
                  </a:moveTo>
                  <a:lnTo>
                    <a:pt x="0" y="1899460"/>
                  </a:lnTo>
                  <a:lnTo>
                    <a:pt x="0" y="1911073"/>
                  </a:lnTo>
                </a:path>
                <a:path w="1073150" h="3763645">
                  <a:moveTo>
                    <a:pt x="0" y="1946948"/>
                  </a:moveTo>
                  <a:lnTo>
                    <a:pt x="0" y="1946948"/>
                  </a:lnTo>
                  <a:lnTo>
                    <a:pt x="0" y="1958531"/>
                  </a:lnTo>
                </a:path>
                <a:path w="1073150" h="3763645">
                  <a:moveTo>
                    <a:pt x="0" y="1994407"/>
                  </a:moveTo>
                  <a:lnTo>
                    <a:pt x="0" y="1994407"/>
                  </a:lnTo>
                  <a:lnTo>
                    <a:pt x="0" y="2007209"/>
                  </a:lnTo>
                </a:path>
                <a:path w="1073150" h="3763645">
                  <a:moveTo>
                    <a:pt x="0" y="2043176"/>
                  </a:moveTo>
                  <a:lnTo>
                    <a:pt x="0" y="2043176"/>
                  </a:lnTo>
                  <a:lnTo>
                    <a:pt x="0" y="2054667"/>
                  </a:lnTo>
                </a:path>
                <a:path w="1073150" h="3763645">
                  <a:moveTo>
                    <a:pt x="0" y="2090664"/>
                  </a:moveTo>
                  <a:lnTo>
                    <a:pt x="0" y="2090664"/>
                  </a:lnTo>
                  <a:lnTo>
                    <a:pt x="0" y="2102247"/>
                  </a:lnTo>
                </a:path>
                <a:path w="1073150" h="3763645">
                  <a:moveTo>
                    <a:pt x="0" y="2138123"/>
                  </a:moveTo>
                  <a:lnTo>
                    <a:pt x="0" y="2138123"/>
                  </a:lnTo>
                  <a:lnTo>
                    <a:pt x="0" y="2150925"/>
                  </a:lnTo>
                </a:path>
                <a:path w="1073150" h="3763645">
                  <a:moveTo>
                    <a:pt x="0" y="2186800"/>
                  </a:moveTo>
                  <a:lnTo>
                    <a:pt x="0" y="2186800"/>
                  </a:lnTo>
                  <a:lnTo>
                    <a:pt x="0" y="2198383"/>
                  </a:lnTo>
                </a:path>
                <a:path w="1073150" h="3763645">
                  <a:moveTo>
                    <a:pt x="0" y="2234259"/>
                  </a:moveTo>
                  <a:lnTo>
                    <a:pt x="0" y="2234259"/>
                  </a:lnTo>
                  <a:lnTo>
                    <a:pt x="0" y="2246237"/>
                  </a:lnTo>
                </a:path>
                <a:path w="1073150" h="3763645">
                  <a:moveTo>
                    <a:pt x="0" y="2282113"/>
                  </a:moveTo>
                  <a:lnTo>
                    <a:pt x="0" y="2282113"/>
                  </a:lnTo>
                  <a:lnTo>
                    <a:pt x="0" y="2294549"/>
                  </a:lnTo>
                </a:path>
                <a:path w="1073150" h="3763645">
                  <a:moveTo>
                    <a:pt x="0" y="2330547"/>
                  </a:moveTo>
                  <a:lnTo>
                    <a:pt x="0" y="2330547"/>
                  </a:lnTo>
                  <a:lnTo>
                    <a:pt x="0" y="2342008"/>
                  </a:lnTo>
                </a:path>
                <a:path w="1073150" h="3763645">
                  <a:moveTo>
                    <a:pt x="893" y="2371787"/>
                  </a:moveTo>
                  <a:lnTo>
                    <a:pt x="893" y="2371787"/>
                  </a:lnTo>
                  <a:lnTo>
                    <a:pt x="4748" y="2360174"/>
                  </a:lnTo>
                </a:path>
                <a:path w="1073150" h="3763645">
                  <a:moveTo>
                    <a:pt x="15440" y="2325975"/>
                  </a:moveTo>
                  <a:lnTo>
                    <a:pt x="15440" y="2325975"/>
                  </a:lnTo>
                  <a:lnTo>
                    <a:pt x="19000" y="2314148"/>
                  </a:lnTo>
                </a:path>
                <a:path w="1073150" h="3763645">
                  <a:moveTo>
                    <a:pt x="29680" y="2280071"/>
                  </a:moveTo>
                  <a:lnTo>
                    <a:pt x="29680" y="2280071"/>
                  </a:lnTo>
                  <a:lnTo>
                    <a:pt x="33240" y="2268458"/>
                  </a:lnTo>
                </a:path>
                <a:path w="1073150" h="3763645">
                  <a:moveTo>
                    <a:pt x="44231" y="2234259"/>
                  </a:moveTo>
                  <a:lnTo>
                    <a:pt x="44231" y="2234259"/>
                  </a:lnTo>
                  <a:lnTo>
                    <a:pt x="47791" y="2222676"/>
                  </a:lnTo>
                </a:path>
                <a:path w="1073150" h="3763645">
                  <a:moveTo>
                    <a:pt x="58471" y="2188599"/>
                  </a:moveTo>
                  <a:lnTo>
                    <a:pt x="58471" y="2188599"/>
                  </a:lnTo>
                  <a:lnTo>
                    <a:pt x="62031" y="2176986"/>
                  </a:lnTo>
                </a:path>
                <a:path w="1073150" h="3763645">
                  <a:moveTo>
                    <a:pt x="72721" y="2142908"/>
                  </a:moveTo>
                  <a:lnTo>
                    <a:pt x="72721" y="2142908"/>
                  </a:lnTo>
                  <a:lnTo>
                    <a:pt x="76293" y="2131905"/>
                  </a:lnTo>
                </a:path>
                <a:path w="1073150" h="3763645">
                  <a:moveTo>
                    <a:pt x="87259" y="2096882"/>
                  </a:moveTo>
                  <a:lnTo>
                    <a:pt x="87259" y="2096882"/>
                  </a:lnTo>
                  <a:lnTo>
                    <a:pt x="90832" y="2086245"/>
                  </a:lnTo>
                </a:path>
                <a:path w="1073150" h="3763645">
                  <a:moveTo>
                    <a:pt x="101524" y="2052046"/>
                  </a:moveTo>
                  <a:lnTo>
                    <a:pt x="101524" y="2052046"/>
                  </a:lnTo>
                  <a:lnTo>
                    <a:pt x="105084" y="2040432"/>
                  </a:lnTo>
                </a:path>
                <a:path w="1073150" h="3763645">
                  <a:moveTo>
                    <a:pt x="116047" y="2006355"/>
                  </a:moveTo>
                  <a:lnTo>
                    <a:pt x="116047" y="2006355"/>
                  </a:lnTo>
                  <a:lnTo>
                    <a:pt x="119632" y="1994407"/>
                  </a:lnTo>
                </a:path>
                <a:path w="1073150" h="3763645">
                  <a:moveTo>
                    <a:pt x="131229" y="1960329"/>
                  </a:moveTo>
                  <a:lnTo>
                    <a:pt x="131229" y="1960329"/>
                  </a:lnTo>
                  <a:lnTo>
                    <a:pt x="134814" y="1948716"/>
                  </a:lnTo>
                </a:path>
                <a:path w="1073150" h="3763645">
                  <a:moveTo>
                    <a:pt x="145457" y="1914639"/>
                  </a:moveTo>
                  <a:lnTo>
                    <a:pt x="145457" y="1914639"/>
                  </a:lnTo>
                  <a:lnTo>
                    <a:pt x="149054" y="1903056"/>
                  </a:lnTo>
                </a:path>
                <a:path w="1073150" h="3763645">
                  <a:moveTo>
                    <a:pt x="160041" y="1868857"/>
                  </a:moveTo>
                  <a:lnTo>
                    <a:pt x="160041" y="1868857"/>
                  </a:lnTo>
                  <a:lnTo>
                    <a:pt x="163519" y="1857366"/>
                  </a:lnTo>
                </a:path>
                <a:path w="1073150" h="3763645">
                  <a:moveTo>
                    <a:pt x="174282" y="1823167"/>
                  </a:moveTo>
                  <a:lnTo>
                    <a:pt x="174282" y="1823167"/>
                  </a:lnTo>
                  <a:lnTo>
                    <a:pt x="177747" y="1812163"/>
                  </a:lnTo>
                </a:path>
                <a:path w="1073150" h="3763645">
                  <a:moveTo>
                    <a:pt x="188747" y="1777141"/>
                  </a:moveTo>
                  <a:lnTo>
                    <a:pt x="188747" y="1777141"/>
                  </a:lnTo>
                  <a:lnTo>
                    <a:pt x="192332" y="1766503"/>
                  </a:lnTo>
                </a:path>
                <a:path w="1073150" h="3763645">
                  <a:moveTo>
                    <a:pt x="202975" y="1732273"/>
                  </a:moveTo>
                  <a:lnTo>
                    <a:pt x="202975" y="1732273"/>
                  </a:lnTo>
                  <a:lnTo>
                    <a:pt x="206559" y="1720813"/>
                  </a:lnTo>
                </a:path>
                <a:path w="1073150" h="3763645">
                  <a:moveTo>
                    <a:pt x="217322" y="1686614"/>
                  </a:moveTo>
                  <a:lnTo>
                    <a:pt x="217322" y="1686614"/>
                  </a:lnTo>
                  <a:lnTo>
                    <a:pt x="220787" y="1674787"/>
                  </a:lnTo>
                </a:path>
                <a:path w="1073150" h="3763645">
                  <a:moveTo>
                    <a:pt x="231790" y="1640588"/>
                  </a:moveTo>
                  <a:lnTo>
                    <a:pt x="231790" y="1640588"/>
                  </a:lnTo>
                  <a:lnTo>
                    <a:pt x="235372" y="1629097"/>
                  </a:lnTo>
                </a:path>
                <a:path w="1073150" h="3763645">
                  <a:moveTo>
                    <a:pt x="246018" y="1594897"/>
                  </a:moveTo>
                  <a:lnTo>
                    <a:pt x="246018" y="1594897"/>
                  </a:lnTo>
                  <a:lnTo>
                    <a:pt x="249603" y="1583315"/>
                  </a:lnTo>
                </a:path>
                <a:path w="1073150" h="3763645">
                  <a:moveTo>
                    <a:pt x="260365" y="1549207"/>
                  </a:moveTo>
                  <a:lnTo>
                    <a:pt x="260365" y="1549207"/>
                  </a:lnTo>
                  <a:lnTo>
                    <a:pt x="264199" y="1537624"/>
                  </a:lnTo>
                </a:path>
                <a:path w="1073150" h="3763645">
                  <a:moveTo>
                    <a:pt x="274843" y="1503425"/>
                  </a:moveTo>
                  <a:lnTo>
                    <a:pt x="274843" y="1503425"/>
                  </a:lnTo>
                  <a:lnTo>
                    <a:pt x="278427" y="1492543"/>
                  </a:lnTo>
                </a:path>
                <a:path w="1073150" h="3763645">
                  <a:moveTo>
                    <a:pt x="289071" y="1457491"/>
                  </a:moveTo>
                  <a:lnTo>
                    <a:pt x="289071" y="1457491"/>
                  </a:lnTo>
                  <a:lnTo>
                    <a:pt x="292655" y="1446731"/>
                  </a:lnTo>
                </a:path>
                <a:path w="1073150" h="3763645">
                  <a:moveTo>
                    <a:pt x="303655" y="1412654"/>
                  </a:moveTo>
                  <a:lnTo>
                    <a:pt x="303655" y="1412654"/>
                  </a:lnTo>
                  <a:lnTo>
                    <a:pt x="307239" y="1401071"/>
                  </a:lnTo>
                </a:path>
                <a:path w="1073150" h="3763645">
                  <a:moveTo>
                    <a:pt x="317883" y="1366994"/>
                  </a:moveTo>
                  <a:lnTo>
                    <a:pt x="317883" y="1366994"/>
                  </a:lnTo>
                  <a:lnTo>
                    <a:pt x="321467" y="1355015"/>
                  </a:lnTo>
                </a:path>
                <a:path w="1073150" h="3763645">
                  <a:moveTo>
                    <a:pt x="332111" y="1320938"/>
                  </a:moveTo>
                  <a:lnTo>
                    <a:pt x="332111" y="1320938"/>
                  </a:lnTo>
                  <a:lnTo>
                    <a:pt x="336658" y="1309355"/>
                  </a:lnTo>
                </a:path>
                <a:path w="1073150" h="3763645">
                  <a:moveTo>
                    <a:pt x="347530" y="1275156"/>
                  </a:moveTo>
                  <a:lnTo>
                    <a:pt x="347530" y="1275156"/>
                  </a:lnTo>
                  <a:lnTo>
                    <a:pt x="351127" y="1263695"/>
                  </a:lnTo>
                </a:path>
                <a:path w="1073150" h="3763645">
                  <a:moveTo>
                    <a:pt x="361889" y="1229465"/>
                  </a:moveTo>
                  <a:lnTo>
                    <a:pt x="361889" y="1229465"/>
                  </a:lnTo>
                  <a:lnTo>
                    <a:pt x="365355" y="1217883"/>
                  </a:lnTo>
                </a:path>
                <a:path w="1073150" h="3763645">
                  <a:moveTo>
                    <a:pt x="376355" y="1183805"/>
                  </a:moveTo>
                  <a:lnTo>
                    <a:pt x="376355" y="1183805"/>
                  </a:lnTo>
                  <a:lnTo>
                    <a:pt x="379939" y="1172802"/>
                  </a:lnTo>
                </a:path>
                <a:path w="1073150" h="3763645">
                  <a:moveTo>
                    <a:pt x="390583" y="1137749"/>
                  </a:moveTo>
                  <a:lnTo>
                    <a:pt x="390583" y="1137749"/>
                  </a:lnTo>
                  <a:lnTo>
                    <a:pt x="394167" y="1127111"/>
                  </a:lnTo>
                </a:path>
                <a:path w="1073150" h="3763645">
                  <a:moveTo>
                    <a:pt x="404929" y="1092912"/>
                  </a:moveTo>
                  <a:lnTo>
                    <a:pt x="404929" y="1092912"/>
                  </a:lnTo>
                  <a:lnTo>
                    <a:pt x="408395" y="1081330"/>
                  </a:lnTo>
                </a:path>
                <a:path w="1073150" h="3763645">
                  <a:moveTo>
                    <a:pt x="419395" y="1047252"/>
                  </a:moveTo>
                  <a:lnTo>
                    <a:pt x="419395" y="1047252"/>
                  </a:lnTo>
                  <a:lnTo>
                    <a:pt x="422979" y="1035395"/>
                  </a:lnTo>
                </a:path>
                <a:path w="1073150" h="3763645">
                  <a:moveTo>
                    <a:pt x="433623" y="1001196"/>
                  </a:moveTo>
                  <a:lnTo>
                    <a:pt x="433623" y="1001196"/>
                  </a:lnTo>
                  <a:lnTo>
                    <a:pt x="437219" y="989613"/>
                  </a:lnTo>
                </a:path>
                <a:path w="1073150" h="3763645">
                  <a:moveTo>
                    <a:pt x="447973" y="955536"/>
                  </a:moveTo>
                  <a:lnTo>
                    <a:pt x="447973" y="955536"/>
                  </a:lnTo>
                  <a:lnTo>
                    <a:pt x="451804" y="943923"/>
                  </a:lnTo>
                </a:path>
                <a:path w="1073150" h="3763645">
                  <a:moveTo>
                    <a:pt x="462450" y="909846"/>
                  </a:moveTo>
                  <a:lnTo>
                    <a:pt x="462450" y="909846"/>
                  </a:lnTo>
                  <a:lnTo>
                    <a:pt x="466032" y="898263"/>
                  </a:lnTo>
                </a:path>
                <a:path w="1073150" h="3763645">
                  <a:moveTo>
                    <a:pt x="476678" y="864064"/>
                  </a:moveTo>
                  <a:lnTo>
                    <a:pt x="476678" y="864064"/>
                  </a:lnTo>
                  <a:lnTo>
                    <a:pt x="480260" y="853060"/>
                  </a:lnTo>
                </a:path>
                <a:path w="1073150" h="3763645">
                  <a:moveTo>
                    <a:pt x="491263" y="818130"/>
                  </a:moveTo>
                  <a:lnTo>
                    <a:pt x="491263" y="818130"/>
                  </a:lnTo>
                  <a:lnTo>
                    <a:pt x="494847" y="807370"/>
                  </a:lnTo>
                </a:path>
                <a:path w="1073150" h="3763645">
                  <a:moveTo>
                    <a:pt x="505491" y="773293"/>
                  </a:moveTo>
                  <a:lnTo>
                    <a:pt x="505491" y="773293"/>
                  </a:lnTo>
                  <a:lnTo>
                    <a:pt x="509075" y="761710"/>
                  </a:lnTo>
                </a:path>
                <a:path w="1073150" h="3763645">
                  <a:moveTo>
                    <a:pt x="519718" y="727511"/>
                  </a:moveTo>
                  <a:lnTo>
                    <a:pt x="519718" y="727511"/>
                  </a:lnTo>
                  <a:lnTo>
                    <a:pt x="523659" y="715654"/>
                  </a:lnTo>
                </a:path>
                <a:path w="1073150" h="3763645">
                  <a:moveTo>
                    <a:pt x="534303" y="681820"/>
                  </a:moveTo>
                  <a:lnTo>
                    <a:pt x="534303" y="681820"/>
                  </a:lnTo>
                  <a:lnTo>
                    <a:pt x="537899" y="669994"/>
                  </a:lnTo>
                </a:path>
                <a:path w="1073150" h="3763645">
                  <a:moveTo>
                    <a:pt x="549497" y="635795"/>
                  </a:moveTo>
                  <a:lnTo>
                    <a:pt x="549497" y="635795"/>
                  </a:lnTo>
                  <a:lnTo>
                    <a:pt x="552959" y="624181"/>
                  </a:lnTo>
                </a:path>
                <a:path w="1073150" h="3763645">
                  <a:moveTo>
                    <a:pt x="563962" y="590104"/>
                  </a:moveTo>
                  <a:lnTo>
                    <a:pt x="563962" y="590104"/>
                  </a:lnTo>
                  <a:lnTo>
                    <a:pt x="567547" y="578521"/>
                  </a:lnTo>
                </a:path>
                <a:path w="1073150" h="3763645">
                  <a:moveTo>
                    <a:pt x="578190" y="544444"/>
                  </a:moveTo>
                  <a:lnTo>
                    <a:pt x="578190" y="544444"/>
                  </a:lnTo>
                  <a:lnTo>
                    <a:pt x="581775" y="533441"/>
                  </a:lnTo>
                </a:path>
                <a:path w="1073150" h="3763645">
                  <a:moveTo>
                    <a:pt x="592418" y="498388"/>
                  </a:moveTo>
                  <a:lnTo>
                    <a:pt x="592418" y="498388"/>
                  </a:lnTo>
                  <a:lnTo>
                    <a:pt x="596003" y="487750"/>
                  </a:lnTo>
                </a:path>
                <a:path w="1073150" h="3763645">
                  <a:moveTo>
                    <a:pt x="607003" y="453551"/>
                  </a:moveTo>
                  <a:lnTo>
                    <a:pt x="607003" y="453551"/>
                  </a:lnTo>
                  <a:lnTo>
                    <a:pt x="610599" y="441968"/>
                  </a:lnTo>
                </a:path>
                <a:path w="1073150" h="3763645">
                  <a:moveTo>
                    <a:pt x="621231" y="407891"/>
                  </a:moveTo>
                  <a:lnTo>
                    <a:pt x="621231" y="407891"/>
                  </a:lnTo>
                  <a:lnTo>
                    <a:pt x="624827" y="395912"/>
                  </a:lnTo>
                </a:path>
                <a:path w="1073150" h="3763645">
                  <a:moveTo>
                    <a:pt x="635827" y="362079"/>
                  </a:moveTo>
                  <a:lnTo>
                    <a:pt x="635827" y="362079"/>
                  </a:lnTo>
                  <a:lnTo>
                    <a:pt x="639412" y="350252"/>
                  </a:lnTo>
                </a:path>
                <a:path w="1073150" h="3763645">
                  <a:moveTo>
                    <a:pt x="650055" y="316175"/>
                  </a:moveTo>
                  <a:lnTo>
                    <a:pt x="650055" y="316175"/>
                  </a:lnTo>
                  <a:lnTo>
                    <a:pt x="653639" y="304562"/>
                  </a:lnTo>
                </a:path>
                <a:path w="1073150" h="3763645">
                  <a:moveTo>
                    <a:pt x="664283" y="270362"/>
                  </a:moveTo>
                  <a:lnTo>
                    <a:pt x="664283" y="270362"/>
                  </a:lnTo>
                  <a:lnTo>
                    <a:pt x="667867" y="258871"/>
                  </a:lnTo>
                </a:path>
                <a:path w="1073150" h="3763645">
                  <a:moveTo>
                    <a:pt x="678870" y="224703"/>
                  </a:moveTo>
                  <a:lnTo>
                    <a:pt x="678870" y="224703"/>
                  </a:lnTo>
                  <a:lnTo>
                    <a:pt x="682452" y="213699"/>
                  </a:lnTo>
                </a:path>
                <a:path w="1073150" h="3763645">
                  <a:moveTo>
                    <a:pt x="693098" y="178646"/>
                  </a:moveTo>
                  <a:lnTo>
                    <a:pt x="693098" y="178646"/>
                  </a:lnTo>
                  <a:lnTo>
                    <a:pt x="696680" y="168009"/>
                  </a:lnTo>
                </a:path>
                <a:path w="1073150" h="3763645">
                  <a:moveTo>
                    <a:pt x="707326" y="133809"/>
                  </a:moveTo>
                  <a:lnTo>
                    <a:pt x="707326" y="133809"/>
                  </a:lnTo>
                  <a:lnTo>
                    <a:pt x="711148" y="122318"/>
                  </a:lnTo>
                </a:path>
                <a:path w="1073150" h="3763645">
                  <a:moveTo>
                    <a:pt x="721911" y="88119"/>
                  </a:moveTo>
                  <a:lnTo>
                    <a:pt x="721911" y="88119"/>
                  </a:lnTo>
                  <a:lnTo>
                    <a:pt x="725507" y="76292"/>
                  </a:lnTo>
                </a:path>
                <a:path w="1073150" h="3763645">
                  <a:moveTo>
                    <a:pt x="736138" y="42459"/>
                  </a:moveTo>
                  <a:lnTo>
                    <a:pt x="736138" y="42459"/>
                  </a:lnTo>
                  <a:lnTo>
                    <a:pt x="739735" y="30602"/>
                  </a:lnTo>
                </a:path>
                <a:path w="1073150" h="3763645">
                  <a:moveTo>
                    <a:pt x="749772" y="3596"/>
                  </a:moveTo>
                  <a:lnTo>
                    <a:pt x="749772" y="3596"/>
                  </a:lnTo>
                  <a:lnTo>
                    <a:pt x="749772" y="15423"/>
                  </a:lnTo>
                </a:path>
                <a:path w="1073150" h="3763645">
                  <a:moveTo>
                    <a:pt x="749772" y="51298"/>
                  </a:moveTo>
                  <a:lnTo>
                    <a:pt x="749772" y="51298"/>
                  </a:lnTo>
                  <a:lnTo>
                    <a:pt x="749772" y="62881"/>
                  </a:lnTo>
                </a:path>
                <a:path w="1073150" h="3763645">
                  <a:moveTo>
                    <a:pt x="749772" y="98879"/>
                  </a:moveTo>
                  <a:lnTo>
                    <a:pt x="749772" y="98879"/>
                  </a:lnTo>
                  <a:lnTo>
                    <a:pt x="749772" y="111315"/>
                  </a:lnTo>
                </a:path>
                <a:path w="1073150" h="3763645">
                  <a:moveTo>
                    <a:pt x="749772" y="147190"/>
                  </a:moveTo>
                  <a:lnTo>
                    <a:pt x="749772" y="147190"/>
                  </a:lnTo>
                  <a:lnTo>
                    <a:pt x="749772" y="159047"/>
                  </a:lnTo>
                </a:path>
                <a:path w="1073150" h="3763645">
                  <a:moveTo>
                    <a:pt x="749772" y="195045"/>
                  </a:moveTo>
                  <a:lnTo>
                    <a:pt x="749772" y="195045"/>
                  </a:lnTo>
                  <a:lnTo>
                    <a:pt x="749772" y="206628"/>
                  </a:lnTo>
                </a:path>
                <a:path w="1073150" h="3763645">
                  <a:moveTo>
                    <a:pt x="749772" y="242503"/>
                  </a:moveTo>
                  <a:lnTo>
                    <a:pt x="749772" y="242503"/>
                  </a:lnTo>
                  <a:lnTo>
                    <a:pt x="749772" y="255305"/>
                  </a:lnTo>
                </a:path>
                <a:path w="1073150" h="3763645">
                  <a:moveTo>
                    <a:pt x="749772" y="291181"/>
                  </a:moveTo>
                  <a:lnTo>
                    <a:pt x="749772" y="291181"/>
                  </a:lnTo>
                  <a:lnTo>
                    <a:pt x="749772" y="302763"/>
                  </a:lnTo>
                </a:path>
                <a:path w="1073150" h="3763645">
                  <a:moveTo>
                    <a:pt x="749772" y="338639"/>
                  </a:moveTo>
                  <a:lnTo>
                    <a:pt x="749772" y="338639"/>
                  </a:lnTo>
                  <a:lnTo>
                    <a:pt x="749772" y="350252"/>
                  </a:lnTo>
                </a:path>
                <a:path w="1073150" h="3763645">
                  <a:moveTo>
                    <a:pt x="749772" y="386219"/>
                  </a:moveTo>
                  <a:lnTo>
                    <a:pt x="749772" y="386219"/>
                  </a:lnTo>
                  <a:lnTo>
                    <a:pt x="749772" y="398899"/>
                  </a:lnTo>
                </a:path>
                <a:path w="1073150" h="3763645">
                  <a:moveTo>
                    <a:pt x="749772" y="434897"/>
                  </a:moveTo>
                  <a:lnTo>
                    <a:pt x="749772" y="434897"/>
                  </a:lnTo>
                  <a:lnTo>
                    <a:pt x="749772" y="446358"/>
                  </a:lnTo>
                </a:path>
                <a:path w="1073150" h="3763645">
                  <a:moveTo>
                    <a:pt x="749772" y="482355"/>
                  </a:moveTo>
                  <a:lnTo>
                    <a:pt x="749772" y="482355"/>
                  </a:lnTo>
                  <a:lnTo>
                    <a:pt x="749772" y="493968"/>
                  </a:lnTo>
                </a:path>
                <a:path w="1073150" h="3763645">
                  <a:moveTo>
                    <a:pt x="749772" y="529844"/>
                  </a:moveTo>
                  <a:lnTo>
                    <a:pt x="749772" y="529844"/>
                  </a:lnTo>
                  <a:lnTo>
                    <a:pt x="749772" y="542646"/>
                  </a:lnTo>
                </a:path>
                <a:path w="1073150" h="3763645">
                  <a:moveTo>
                    <a:pt x="749772" y="578521"/>
                  </a:moveTo>
                  <a:lnTo>
                    <a:pt x="749772" y="578521"/>
                  </a:lnTo>
                  <a:lnTo>
                    <a:pt x="749772" y="590104"/>
                  </a:lnTo>
                </a:path>
                <a:path w="1073150" h="3763645">
                  <a:moveTo>
                    <a:pt x="749772" y="625980"/>
                  </a:moveTo>
                  <a:lnTo>
                    <a:pt x="749772" y="625980"/>
                  </a:lnTo>
                  <a:lnTo>
                    <a:pt x="749772" y="637562"/>
                  </a:lnTo>
                </a:path>
                <a:path w="1073150" h="3763645">
                  <a:moveTo>
                    <a:pt x="749772" y="673560"/>
                  </a:moveTo>
                  <a:lnTo>
                    <a:pt x="749772" y="673560"/>
                  </a:lnTo>
                  <a:lnTo>
                    <a:pt x="749772" y="686240"/>
                  </a:lnTo>
                </a:path>
                <a:path w="1073150" h="3763645">
                  <a:moveTo>
                    <a:pt x="749772" y="722238"/>
                  </a:moveTo>
                  <a:lnTo>
                    <a:pt x="749772" y="722238"/>
                  </a:lnTo>
                  <a:lnTo>
                    <a:pt x="749772" y="733729"/>
                  </a:lnTo>
                </a:path>
                <a:path w="1073150" h="3763645">
                  <a:moveTo>
                    <a:pt x="749772" y="769726"/>
                  </a:moveTo>
                  <a:lnTo>
                    <a:pt x="749772" y="769726"/>
                  </a:lnTo>
                  <a:lnTo>
                    <a:pt x="749772" y="781309"/>
                  </a:lnTo>
                </a:path>
                <a:path w="1073150" h="3763645">
                  <a:moveTo>
                    <a:pt x="749772" y="817185"/>
                  </a:moveTo>
                  <a:lnTo>
                    <a:pt x="749772" y="817185"/>
                  </a:lnTo>
                  <a:lnTo>
                    <a:pt x="749772" y="829956"/>
                  </a:lnTo>
                </a:path>
                <a:path w="1073150" h="3763645">
                  <a:moveTo>
                    <a:pt x="749772" y="865832"/>
                  </a:moveTo>
                  <a:lnTo>
                    <a:pt x="749772" y="865832"/>
                  </a:lnTo>
                  <a:lnTo>
                    <a:pt x="749772" y="877445"/>
                  </a:lnTo>
                </a:path>
                <a:path w="1073150" h="3763645">
                  <a:moveTo>
                    <a:pt x="749772" y="913320"/>
                  </a:moveTo>
                  <a:lnTo>
                    <a:pt x="749772" y="913320"/>
                  </a:lnTo>
                  <a:lnTo>
                    <a:pt x="749772" y="924934"/>
                  </a:lnTo>
                </a:path>
                <a:path w="1073150" h="3763645">
                  <a:moveTo>
                    <a:pt x="749772" y="960901"/>
                  </a:moveTo>
                  <a:lnTo>
                    <a:pt x="749772" y="960901"/>
                  </a:lnTo>
                  <a:lnTo>
                    <a:pt x="749772" y="973581"/>
                  </a:lnTo>
                </a:path>
                <a:path w="1073150" h="3763645">
                  <a:moveTo>
                    <a:pt x="749772" y="1009578"/>
                  </a:moveTo>
                  <a:lnTo>
                    <a:pt x="749772" y="1009578"/>
                  </a:lnTo>
                  <a:lnTo>
                    <a:pt x="749772" y="1021161"/>
                  </a:lnTo>
                </a:path>
                <a:path w="1073150" h="3763645">
                  <a:moveTo>
                    <a:pt x="749772" y="1057037"/>
                  </a:moveTo>
                  <a:lnTo>
                    <a:pt x="749772" y="1057037"/>
                  </a:lnTo>
                  <a:lnTo>
                    <a:pt x="749772" y="1068650"/>
                  </a:lnTo>
                </a:path>
                <a:path w="1073150" h="3763645">
                  <a:moveTo>
                    <a:pt x="749772" y="1104525"/>
                  </a:moveTo>
                  <a:lnTo>
                    <a:pt x="749772" y="1104525"/>
                  </a:lnTo>
                  <a:lnTo>
                    <a:pt x="749772" y="1117327"/>
                  </a:lnTo>
                </a:path>
                <a:path w="1073150" h="3763645">
                  <a:moveTo>
                    <a:pt x="749772" y="1153203"/>
                  </a:moveTo>
                  <a:lnTo>
                    <a:pt x="749772" y="1153203"/>
                  </a:lnTo>
                  <a:lnTo>
                    <a:pt x="749772" y="1164785"/>
                  </a:lnTo>
                </a:path>
                <a:path w="1073150" h="3763645">
                  <a:moveTo>
                    <a:pt x="749772" y="1200661"/>
                  </a:moveTo>
                  <a:lnTo>
                    <a:pt x="749772" y="1200661"/>
                  </a:lnTo>
                  <a:lnTo>
                    <a:pt x="749772" y="1212244"/>
                  </a:lnTo>
                </a:path>
                <a:path w="1073150" h="3763645">
                  <a:moveTo>
                    <a:pt x="749772" y="1248241"/>
                  </a:moveTo>
                  <a:lnTo>
                    <a:pt x="749772" y="1248241"/>
                  </a:lnTo>
                  <a:lnTo>
                    <a:pt x="749772" y="1260921"/>
                  </a:lnTo>
                </a:path>
                <a:path w="1073150" h="3763645">
                  <a:moveTo>
                    <a:pt x="749772" y="1296919"/>
                  </a:moveTo>
                  <a:lnTo>
                    <a:pt x="749772" y="1296919"/>
                  </a:lnTo>
                  <a:lnTo>
                    <a:pt x="749772" y="1308532"/>
                  </a:lnTo>
                </a:path>
                <a:path w="1073150" h="3763645">
                  <a:moveTo>
                    <a:pt x="749772" y="1344408"/>
                  </a:moveTo>
                  <a:lnTo>
                    <a:pt x="749772" y="1344408"/>
                  </a:lnTo>
                  <a:lnTo>
                    <a:pt x="749772" y="1355990"/>
                  </a:lnTo>
                </a:path>
                <a:path w="1073150" h="3763645">
                  <a:moveTo>
                    <a:pt x="729924" y="1386471"/>
                  </a:moveTo>
                  <a:lnTo>
                    <a:pt x="729924" y="1386471"/>
                  </a:lnTo>
                  <a:lnTo>
                    <a:pt x="723709" y="1396651"/>
                  </a:lnTo>
                </a:path>
                <a:path w="1073150" h="3763645">
                  <a:moveTo>
                    <a:pt x="703742" y="1426065"/>
                  </a:moveTo>
                  <a:lnTo>
                    <a:pt x="703742" y="1426065"/>
                  </a:lnTo>
                  <a:lnTo>
                    <a:pt x="696680" y="1436093"/>
                  </a:lnTo>
                </a:path>
                <a:path w="1073150" h="3763645">
                  <a:moveTo>
                    <a:pt x="677072" y="1465751"/>
                  </a:moveTo>
                  <a:lnTo>
                    <a:pt x="677072" y="1465751"/>
                  </a:lnTo>
                  <a:lnTo>
                    <a:pt x="670498" y="1475566"/>
                  </a:lnTo>
                </a:path>
                <a:path w="1073150" h="3763645">
                  <a:moveTo>
                    <a:pt x="650890" y="1506168"/>
                  </a:moveTo>
                  <a:lnTo>
                    <a:pt x="650890" y="1506168"/>
                  </a:lnTo>
                  <a:lnTo>
                    <a:pt x="643828" y="1515983"/>
                  </a:lnTo>
                </a:path>
                <a:path w="1073150" h="3763645">
                  <a:moveTo>
                    <a:pt x="623983" y="1545641"/>
                  </a:moveTo>
                  <a:lnTo>
                    <a:pt x="623983" y="1545641"/>
                  </a:lnTo>
                  <a:lnTo>
                    <a:pt x="617646" y="1555455"/>
                  </a:lnTo>
                </a:path>
                <a:path w="1073150" h="3763645">
                  <a:moveTo>
                    <a:pt x="598157" y="1585083"/>
                  </a:moveTo>
                  <a:lnTo>
                    <a:pt x="598157" y="1585083"/>
                  </a:lnTo>
                  <a:lnTo>
                    <a:pt x="590739" y="1595842"/>
                  </a:lnTo>
                </a:path>
                <a:path w="1073150" h="3763645">
                  <a:moveTo>
                    <a:pt x="571128" y="1625500"/>
                  </a:moveTo>
                  <a:lnTo>
                    <a:pt x="571128" y="1625500"/>
                  </a:lnTo>
                  <a:lnTo>
                    <a:pt x="564913" y="1635315"/>
                  </a:lnTo>
                </a:path>
                <a:path w="1073150" h="3763645">
                  <a:moveTo>
                    <a:pt x="544114" y="1664972"/>
                  </a:moveTo>
                  <a:lnTo>
                    <a:pt x="544114" y="1664972"/>
                  </a:lnTo>
                  <a:lnTo>
                    <a:pt x="537899" y="1674787"/>
                  </a:lnTo>
                </a:path>
                <a:path w="1073150" h="3763645">
                  <a:moveTo>
                    <a:pt x="517920" y="1705390"/>
                  </a:moveTo>
                  <a:lnTo>
                    <a:pt x="517920" y="1705390"/>
                  </a:lnTo>
                  <a:lnTo>
                    <a:pt x="510873" y="1715418"/>
                  </a:lnTo>
                </a:path>
                <a:path w="1073150" h="3763645">
                  <a:moveTo>
                    <a:pt x="491263" y="1744862"/>
                  </a:moveTo>
                  <a:lnTo>
                    <a:pt x="491263" y="1744862"/>
                  </a:lnTo>
                  <a:lnTo>
                    <a:pt x="484691" y="1754890"/>
                  </a:lnTo>
                </a:path>
                <a:path w="1073150" h="3763645">
                  <a:moveTo>
                    <a:pt x="465069" y="1784548"/>
                  </a:moveTo>
                  <a:lnTo>
                    <a:pt x="465069" y="1784548"/>
                  </a:lnTo>
                  <a:lnTo>
                    <a:pt x="458019" y="1794362"/>
                  </a:lnTo>
                </a:path>
                <a:path w="1073150" h="3763645">
                  <a:moveTo>
                    <a:pt x="438173" y="1824965"/>
                  </a:moveTo>
                  <a:lnTo>
                    <a:pt x="438173" y="1824965"/>
                  </a:lnTo>
                  <a:lnTo>
                    <a:pt x="431837" y="1834780"/>
                  </a:lnTo>
                </a:path>
                <a:path w="1073150" h="3763645">
                  <a:moveTo>
                    <a:pt x="411382" y="1864437"/>
                  </a:moveTo>
                  <a:lnTo>
                    <a:pt x="411382" y="1864437"/>
                  </a:lnTo>
                  <a:lnTo>
                    <a:pt x="404929" y="1874222"/>
                  </a:lnTo>
                </a:path>
                <a:path w="1073150" h="3763645">
                  <a:moveTo>
                    <a:pt x="385322" y="1903879"/>
                  </a:moveTo>
                  <a:lnTo>
                    <a:pt x="385322" y="1903879"/>
                  </a:lnTo>
                  <a:lnTo>
                    <a:pt x="378141" y="1914639"/>
                  </a:lnTo>
                </a:path>
                <a:path w="1073150" h="3763645">
                  <a:moveTo>
                    <a:pt x="358293" y="1944297"/>
                  </a:moveTo>
                  <a:lnTo>
                    <a:pt x="358293" y="1944297"/>
                  </a:lnTo>
                  <a:lnTo>
                    <a:pt x="352078" y="1954111"/>
                  </a:lnTo>
                </a:path>
                <a:path w="1073150" h="3763645">
                  <a:moveTo>
                    <a:pt x="332111" y="1983769"/>
                  </a:moveTo>
                  <a:lnTo>
                    <a:pt x="332111" y="1983769"/>
                  </a:lnTo>
                  <a:lnTo>
                    <a:pt x="325052" y="1993553"/>
                  </a:lnTo>
                </a:path>
                <a:path w="1073150" h="3763645">
                  <a:moveTo>
                    <a:pt x="305441" y="2024186"/>
                  </a:moveTo>
                  <a:lnTo>
                    <a:pt x="305441" y="2024186"/>
                  </a:lnTo>
                  <a:lnTo>
                    <a:pt x="298870" y="2034214"/>
                  </a:lnTo>
                </a:path>
                <a:path w="1073150" h="3763645">
                  <a:moveTo>
                    <a:pt x="279259" y="2063628"/>
                  </a:moveTo>
                  <a:lnTo>
                    <a:pt x="279259" y="2063628"/>
                  </a:lnTo>
                  <a:lnTo>
                    <a:pt x="272212" y="2073687"/>
                  </a:lnTo>
                </a:path>
                <a:path w="1073150" h="3763645">
                  <a:moveTo>
                    <a:pt x="252352" y="2103101"/>
                  </a:moveTo>
                  <a:lnTo>
                    <a:pt x="252352" y="2103101"/>
                  </a:lnTo>
                  <a:lnTo>
                    <a:pt x="246018" y="2113129"/>
                  </a:lnTo>
                </a:path>
                <a:path w="1073150" h="3763645">
                  <a:moveTo>
                    <a:pt x="225576" y="2143762"/>
                  </a:moveTo>
                  <a:lnTo>
                    <a:pt x="225576" y="2143762"/>
                  </a:lnTo>
                  <a:lnTo>
                    <a:pt x="219120" y="2153546"/>
                  </a:lnTo>
                </a:path>
                <a:path w="1073150" h="3763645">
                  <a:moveTo>
                    <a:pt x="199512" y="2183204"/>
                  </a:moveTo>
                  <a:lnTo>
                    <a:pt x="199512" y="2183204"/>
                  </a:lnTo>
                  <a:lnTo>
                    <a:pt x="192332" y="2193018"/>
                  </a:lnTo>
                </a:path>
                <a:path w="1073150" h="3763645">
                  <a:moveTo>
                    <a:pt x="172483" y="2222676"/>
                  </a:moveTo>
                  <a:lnTo>
                    <a:pt x="172483" y="2222676"/>
                  </a:lnTo>
                  <a:lnTo>
                    <a:pt x="166268" y="2233436"/>
                  </a:lnTo>
                </a:path>
                <a:path w="1073150" h="3763645">
                  <a:moveTo>
                    <a:pt x="146301" y="2263093"/>
                  </a:moveTo>
                  <a:lnTo>
                    <a:pt x="146301" y="2263093"/>
                  </a:lnTo>
                  <a:lnTo>
                    <a:pt x="139242" y="2272908"/>
                  </a:lnTo>
                </a:path>
                <a:path w="1073150" h="3763645">
                  <a:moveTo>
                    <a:pt x="119632" y="2302566"/>
                  </a:moveTo>
                  <a:lnTo>
                    <a:pt x="119632" y="2302566"/>
                  </a:lnTo>
                  <a:lnTo>
                    <a:pt x="113097" y="2312350"/>
                  </a:lnTo>
                </a:path>
                <a:path w="1073150" h="3763645">
                  <a:moveTo>
                    <a:pt x="92605" y="2342952"/>
                  </a:moveTo>
                  <a:lnTo>
                    <a:pt x="92605" y="2342952"/>
                  </a:lnTo>
                  <a:lnTo>
                    <a:pt x="86379" y="2353011"/>
                  </a:lnTo>
                </a:path>
                <a:path w="1073150" h="3763645">
                  <a:moveTo>
                    <a:pt x="66494" y="2382425"/>
                  </a:moveTo>
                  <a:lnTo>
                    <a:pt x="66494" y="2382425"/>
                  </a:lnTo>
                  <a:lnTo>
                    <a:pt x="59361" y="2392483"/>
                  </a:lnTo>
                </a:path>
                <a:path w="1073150" h="3763645">
                  <a:moveTo>
                    <a:pt x="39480" y="2421897"/>
                  </a:moveTo>
                  <a:lnTo>
                    <a:pt x="39480" y="2421897"/>
                  </a:lnTo>
                  <a:lnTo>
                    <a:pt x="33240" y="2432047"/>
                  </a:lnTo>
                </a:path>
                <a:path w="1073150" h="3763645">
                  <a:moveTo>
                    <a:pt x="13654" y="2462528"/>
                  </a:moveTo>
                  <a:lnTo>
                    <a:pt x="13654" y="2462528"/>
                  </a:lnTo>
                  <a:lnTo>
                    <a:pt x="6534" y="2472343"/>
                  </a:lnTo>
                </a:path>
                <a:path w="1073150" h="3763645">
                  <a:moveTo>
                    <a:pt x="0" y="2506542"/>
                  </a:moveTo>
                  <a:lnTo>
                    <a:pt x="0" y="2506542"/>
                  </a:lnTo>
                  <a:lnTo>
                    <a:pt x="0" y="2518033"/>
                  </a:lnTo>
                </a:path>
                <a:path w="1073150" h="3763645">
                  <a:moveTo>
                    <a:pt x="0" y="2554000"/>
                  </a:moveTo>
                  <a:lnTo>
                    <a:pt x="0" y="2554000"/>
                  </a:lnTo>
                  <a:lnTo>
                    <a:pt x="0" y="2565857"/>
                  </a:lnTo>
                </a:path>
                <a:path w="1073150" h="3763645">
                  <a:moveTo>
                    <a:pt x="0" y="2601855"/>
                  </a:moveTo>
                  <a:lnTo>
                    <a:pt x="0" y="2601855"/>
                  </a:lnTo>
                  <a:lnTo>
                    <a:pt x="0" y="2614291"/>
                  </a:lnTo>
                </a:path>
                <a:path w="1073150" h="3763645">
                  <a:moveTo>
                    <a:pt x="0" y="2650167"/>
                  </a:moveTo>
                  <a:lnTo>
                    <a:pt x="0" y="2650167"/>
                  </a:lnTo>
                  <a:lnTo>
                    <a:pt x="0" y="2661749"/>
                  </a:lnTo>
                </a:path>
                <a:path w="1073150" h="3763645">
                  <a:moveTo>
                    <a:pt x="0" y="2697625"/>
                  </a:moveTo>
                  <a:lnTo>
                    <a:pt x="0" y="2697625"/>
                  </a:lnTo>
                  <a:lnTo>
                    <a:pt x="0" y="2709573"/>
                  </a:lnTo>
                </a:path>
                <a:path w="1073150" h="3763645">
                  <a:moveTo>
                    <a:pt x="0" y="2745449"/>
                  </a:moveTo>
                  <a:lnTo>
                    <a:pt x="0" y="2745449"/>
                  </a:lnTo>
                  <a:lnTo>
                    <a:pt x="0" y="2757885"/>
                  </a:lnTo>
                </a:path>
                <a:path w="1073150" h="3763645">
                  <a:moveTo>
                    <a:pt x="0" y="2793883"/>
                  </a:moveTo>
                  <a:lnTo>
                    <a:pt x="0" y="2793883"/>
                  </a:lnTo>
                  <a:lnTo>
                    <a:pt x="0" y="2805496"/>
                  </a:lnTo>
                </a:path>
                <a:path w="1073150" h="3763645">
                  <a:moveTo>
                    <a:pt x="0" y="2841371"/>
                  </a:moveTo>
                  <a:lnTo>
                    <a:pt x="0" y="2841371"/>
                  </a:lnTo>
                  <a:lnTo>
                    <a:pt x="0" y="2853198"/>
                  </a:lnTo>
                </a:path>
                <a:path w="1073150" h="3763645">
                  <a:moveTo>
                    <a:pt x="0" y="2889189"/>
                  </a:moveTo>
                  <a:lnTo>
                    <a:pt x="0" y="2889189"/>
                  </a:lnTo>
                  <a:lnTo>
                    <a:pt x="0" y="2901619"/>
                  </a:lnTo>
                </a:path>
                <a:path w="1073150" h="3763645">
                  <a:moveTo>
                    <a:pt x="0" y="2937492"/>
                  </a:moveTo>
                  <a:lnTo>
                    <a:pt x="0" y="2937492"/>
                  </a:lnTo>
                  <a:lnTo>
                    <a:pt x="0" y="2949090"/>
                  </a:lnTo>
                </a:path>
                <a:path w="1073150" h="3763645">
                  <a:moveTo>
                    <a:pt x="0" y="2984962"/>
                  </a:moveTo>
                  <a:lnTo>
                    <a:pt x="0" y="2984962"/>
                  </a:lnTo>
                  <a:lnTo>
                    <a:pt x="0" y="2996929"/>
                  </a:lnTo>
                </a:path>
                <a:path w="1073150" h="3763645">
                  <a:moveTo>
                    <a:pt x="0" y="3032790"/>
                  </a:moveTo>
                  <a:lnTo>
                    <a:pt x="0" y="3032790"/>
                  </a:lnTo>
                  <a:lnTo>
                    <a:pt x="0" y="3045232"/>
                  </a:lnTo>
                </a:path>
                <a:path w="1073150" h="3763645">
                  <a:moveTo>
                    <a:pt x="0" y="3081226"/>
                  </a:moveTo>
                  <a:lnTo>
                    <a:pt x="0" y="3081226"/>
                  </a:lnTo>
                  <a:lnTo>
                    <a:pt x="0" y="3092821"/>
                  </a:lnTo>
                </a:path>
                <a:path w="1073150" h="3763645">
                  <a:moveTo>
                    <a:pt x="0" y="3128697"/>
                  </a:moveTo>
                  <a:lnTo>
                    <a:pt x="0" y="3128697"/>
                  </a:lnTo>
                  <a:lnTo>
                    <a:pt x="0" y="3140532"/>
                  </a:lnTo>
                </a:path>
                <a:path w="1073150" h="3763645">
                  <a:moveTo>
                    <a:pt x="0" y="3176524"/>
                  </a:moveTo>
                  <a:lnTo>
                    <a:pt x="0" y="3176524"/>
                  </a:lnTo>
                  <a:lnTo>
                    <a:pt x="0" y="3188966"/>
                  </a:lnTo>
                </a:path>
                <a:path w="1073150" h="3763645">
                  <a:moveTo>
                    <a:pt x="0" y="3224839"/>
                  </a:moveTo>
                  <a:lnTo>
                    <a:pt x="0" y="3224839"/>
                  </a:lnTo>
                  <a:lnTo>
                    <a:pt x="0" y="3236437"/>
                  </a:lnTo>
                </a:path>
                <a:path w="1073150" h="3763645">
                  <a:moveTo>
                    <a:pt x="0" y="3272309"/>
                  </a:moveTo>
                  <a:lnTo>
                    <a:pt x="0" y="3272309"/>
                  </a:lnTo>
                  <a:lnTo>
                    <a:pt x="0" y="3284264"/>
                  </a:lnTo>
                </a:path>
                <a:path w="1073150" h="3763645">
                  <a:moveTo>
                    <a:pt x="0" y="3320136"/>
                  </a:moveTo>
                  <a:lnTo>
                    <a:pt x="0" y="3320136"/>
                  </a:lnTo>
                  <a:lnTo>
                    <a:pt x="0" y="3332566"/>
                  </a:lnTo>
                </a:path>
                <a:path w="1073150" h="3763645">
                  <a:moveTo>
                    <a:pt x="0" y="3368561"/>
                  </a:moveTo>
                  <a:lnTo>
                    <a:pt x="0" y="3368561"/>
                  </a:lnTo>
                  <a:lnTo>
                    <a:pt x="0" y="3380159"/>
                  </a:lnTo>
                </a:path>
                <a:path w="1073150" h="3763645">
                  <a:moveTo>
                    <a:pt x="0" y="3416031"/>
                  </a:moveTo>
                  <a:lnTo>
                    <a:pt x="0" y="3416031"/>
                  </a:lnTo>
                  <a:lnTo>
                    <a:pt x="0" y="3427879"/>
                  </a:lnTo>
                </a:path>
                <a:path w="1073150" h="3763645">
                  <a:moveTo>
                    <a:pt x="0" y="3463871"/>
                  </a:moveTo>
                  <a:lnTo>
                    <a:pt x="0" y="3463871"/>
                  </a:lnTo>
                  <a:lnTo>
                    <a:pt x="0" y="3476301"/>
                  </a:lnTo>
                </a:path>
                <a:path w="1073150" h="3763645">
                  <a:moveTo>
                    <a:pt x="0" y="3512173"/>
                  </a:moveTo>
                  <a:lnTo>
                    <a:pt x="0" y="3512173"/>
                  </a:lnTo>
                  <a:lnTo>
                    <a:pt x="0" y="3523771"/>
                  </a:lnTo>
                </a:path>
                <a:path w="1073150" h="3763645">
                  <a:moveTo>
                    <a:pt x="0" y="3559644"/>
                  </a:moveTo>
                  <a:lnTo>
                    <a:pt x="0" y="3559644"/>
                  </a:lnTo>
                  <a:lnTo>
                    <a:pt x="0" y="3571598"/>
                  </a:lnTo>
                </a:path>
                <a:path w="1073150" h="3763645">
                  <a:moveTo>
                    <a:pt x="0" y="3607474"/>
                  </a:moveTo>
                  <a:lnTo>
                    <a:pt x="0" y="3607474"/>
                  </a:lnTo>
                  <a:lnTo>
                    <a:pt x="0" y="3619916"/>
                  </a:lnTo>
                </a:path>
                <a:path w="1073150" h="3763645">
                  <a:moveTo>
                    <a:pt x="0" y="3655908"/>
                  </a:moveTo>
                  <a:lnTo>
                    <a:pt x="0" y="3655908"/>
                  </a:lnTo>
                  <a:lnTo>
                    <a:pt x="0" y="3667506"/>
                  </a:lnTo>
                </a:path>
                <a:path w="1073150" h="3763645">
                  <a:moveTo>
                    <a:pt x="0" y="3703616"/>
                  </a:moveTo>
                  <a:lnTo>
                    <a:pt x="0" y="3703616"/>
                  </a:lnTo>
                  <a:lnTo>
                    <a:pt x="0" y="3715214"/>
                  </a:lnTo>
                </a:path>
                <a:path w="1073150" h="3763645">
                  <a:moveTo>
                    <a:pt x="0" y="3751205"/>
                  </a:moveTo>
                  <a:lnTo>
                    <a:pt x="0" y="3751205"/>
                  </a:lnTo>
                  <a:lnTo>
                    <a:pt x="0" y="3763648"/>
                  </a:lnTo>
                </a:path>
              </a:pathLst>
            </a:custGeom>
            <a:ln w="23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55452" y="4742807"/>
              <a:ext cx="100637" cy="9045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361242" y="3104875"/>
              <a:ext cx="89535" cy="78105"/>
            </a:xfrm>
            <a:custGeom>
              <a:avLst/>
              <a:gdLst/>
              <a:ahLst/>
              <a:cxnLst/>
              <a:rect l="l" t="t" r="r" b="b"/>
              <a:pathLst>
                <a:path w="89534" h="78105">
                  <a:moveTo>
                    <a:pt x="89056" y="0"/>
                  </a:moveTo>
                  <a:lnTo>
                    <a:pt x="0" y="0"/>
                  </a:lnTo>
                  <a:lnTo>
                    <a:pt x="44826" y="78089"/>
                  </a:lnTo>
                  <a:lnTo>
                    <a:pt x="890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61240" y="3104861"/>
              <a:ext cx="89535" cy="78105"/>
            </a:xfrm>
            <a:custGeom>
              <a:avLst/>
              <a:gdLst/>
              <a:ahLst/>
              <a:cxnLst/>
              <a:rect l="l" t="t" r="r" b="b"/>
              <a:pathLst>
                <a:path w="89534" h="78105">
                  <a:moveTo>
                    <a:pt x="0" y="0"/>
                  </a:moveTo>
                  <a:lnTo>
                    <a:pt x="44829" y="78091"/>
                  </a:lnTo>
                  <a:lnTo>
                    <a:pt x="89061" y="0"/>
                  </a:lnTo>
                  <a:lnTo>
                    <a:pt x="0" y="0"/>
                  </a:lnTo>
                  <a:close/>
                </a:path>
              </a:pathLst>
            </a:custGeom>
            <a:ln w="11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61242" y="1571091"/>
              <a:ext cx="89535" cy="77470"/>
            </a:xfrm>
            <a:custGeom>
              <a:avLst/>
              <a:gdLst/>
              <a:ahLst/>
              <a:cxnLst/>
              <a:rect l="l" t="t" r="r" b="b"/>
              <a:pathLst>
                <a:path w="89534" h="77469">
                  <a:moveTo>
                    <a:pt x="89056" y="0"/>
                  </a:moveTo>
                  <a:lnTo>
                    <a:pt x="0" y="0"/>
                  </a:lnTo>
                  <a:lnTo>
                    <a:pt x="44826" y="77236"/>
                  </a:lnTo>
                  <a:lnTo>
                    <a:pt x="890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61240" y="1571077"/>
              <a:ext cx="89535" cy="77470"/>
            </a:xfrm>
            <a:custGeom>
              <a:avLst/>
              <a:gdLst/>
              <a:ahLst/>
              <a:cxnLst/>
              <a:rect l="l" t="t" r="r" b="b"/>
              <a:pathLst>
                <a:path w="89534" h="77469">
                  <a:moveTo>
                    <a:pt x="0" y="0"/>
                  </a:moveTo>
                  <a:lnTo>
                    <a:pt x="44829" y="77237"/>
                  </a:lnTo>
                  <a:lnTo>
                    <a:pt x="89061" y="0"/>
                  </a:lnTo>
                  <a:lnTo>
                    <a:pt x="0" y="0"/>
                  </a:lnTo>
                  <a:close/>
                </a:path>
              </a:pathLst>
            </a:custGeom>
            <a:ln w="11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34922" y="2256251"/>
              <a:ext cx="90170" cy="77470"/>
            </a:xfrm>
            <a:custGeom>
              <a:avLst/>
              <a:gdLst/>
              <a:ahLst/>
              <a:cxnLst/>
              <a:rect l="l" t="t" r="r" b="b"/>
              <a:pathLst>
                <a:path w="90169" h="77469">
                  <a:moveTo>
                    <a:pt x="89915" y="0"/>
                  </a:moveTo>
                  <a:lnTo>
                    <a:pt x="0" y="0"/>
                  </a:lnTo>
                  <a:lnTo>
                    <a:pt x="44839" y="77144"/>
                  </a:lnTo>
                  <a:lnTo>
                    <a:pt x="899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34925" y="2256251"/>
              <a:ext cx="90170" cy="77470"/>
            </a:xfrm>
            <a:custGeom>
              <a:avLst/>
              <a:gdLst/>
              <a:ahLst/>
              <a:cxnLst/>
              <a:rect l="l" t="t" r="r" b="b"/>
              <a:pathLst>
                <a:path w="90169" h="77469">
                  <a:moveTo>
                    <a:pt x="0" y="0"/>
                  </a:moveTo>
                  <a:lnTo>
                    <a:pt x="44838" y="77115"/>
                  </a:lnTo>
                  <a:lnTo>
                    <a:pt x="89914" y="0"/>
                  </a:lnTo>
                  <a:lnTo>
                    <a:pt x="0" y="0"/>
                  </a:lnTo>
                  <a:close/>
                </a:path>
              </a:pathLst>
            </a:custGeom>
            <a:ln w="11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69283" y="957925"/>
              <a:ext cx="89535" cy="82550"/>
            </a:xfrm>
            <a:custGeom>
              <a:avLst/>
              <a:gdLst/>
              <a:ahLst/>
              <a:cxnLst/>
              <a:rect l="l" t="t" r="r" b="b"/>
              <a:pathLst>
                <a:path w="89535" h="82550">
                  <a:moveTo>
                    <a:pt x="89071" y="0"/>
                  </a:moveTo>
                  <a:lnTo>
                    <a:pt x="0" y="9662"/>
                  </a:lnTo>
                  <a:lnTo>
                    <a:pt x="53090" y="82509"/>
                  </a:lnTo>
                  <a:lnTo>
                    <a:pt x="890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69284" y="957899"/>
              <a:ext cx="89535" cy="82550"/>
            </a:xfrm>
            <a:custGeom>
              <a:avLst/>
              <a:gdLst/>
              <a:ahLst/>
              <a:cxnLst/>
              <a:rect l="l" t="t" r="r" b="b"/>
              <a:pathLst>
                <a:path w="89535" h="82550">
                  <a:moveTo>
                    <a:pt x="53089" y="82511"/>
                  </a:moveTo>
                  <a:lnTo>
                    <a:pt x="89070" y="0"/>
                  </a:lnTo>
                  <a:lnTo>
                    <a:pt x="0" y="9662"/>
                  </a:lnTo>
                  <a:lnTo>
                    <a:pt x="53089" y="82511"/>
                  </a:lnTo>
                  <a:close/>
                </a:path>
              </a:pathLst>
            </a:custGeom>
            <a:ln w="11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40885" y="931574"/>
              <a:ext cx="1174767" cy="331117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424177" y="1815388"/>
              <a:ext cx="88900" cy="78105"/>
            </a:xfrm>
            <a:custGeom>
              <a:avLst/>
              <a:gdLst/>
              <a:ahLst/>
              <a:cxnLst/>
              <a:rect l="l" t="t" r="r" b="b"/>
              <a:pathLst>
                <a:path w="88900" h="78105">
                  <a:moveTo>
                    <a:pt x="0" y="0"/>
                  </a:moveTo>
                  <a:lnTo>
                    <a:pt x="43040" y="78089"/>
                  </a:lnTo>
                  <a:lnTo>
                    <a:pt x="88748" y="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24177" y="1815379"/>
              <a:ext cx="88900" cy="78105"/>
            </a:xfrm>
            <a:custGeom>
              <a:avLst/>
              <a:gdLst/>
              <a:ahLst/>
              <a:cxnLst/>
              <a:rect l="l" t="t" r="r" b="b"/>
              <a:pathLst>
                <a:path w="88900" h="78105">
                  <a:moveTo>
                    <a:pt x="88750" y="944"/>
                  </a:moveTo>
                  <a:lnTo>
                    <a:pt x="0" y="0"/>
                  </a:lnTo>
                  <a:lnTo>
                    <a:pt x="43040" y="78060"/>
                  </a:lnTo>
                  <a:lnTo>
                    <a:pt x="88750" y="944"/>
                  </a:lnTo>
                  <a:close/>
                </a:path>
              </a:pathLst>
            </a:custGeom>
            <a:ln w="11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067723" y="1006205"/>
              <a:ext cx="85725" cy="88265"/>
            </a:xfrm>
            <a:custGeom>
              <a:avLst/>
              <a:gdLst/>
              <a:ahLst/>
              <a:cxnLst/>
              <a:rect l="l" t="t" r="r" b="b"/>
              <a:pathLst>
                <a:path w="85725" h="88265">
                  <a:moveTo>
                    <a:pt x="66482" y="0"/>
                  </a:moveTo>
                  <a:lnTo>
                    <a:pt x="0" y="60289"/>
                  </a:lnTo>
                  <a:lnTo>
                    <a:pt x="85487" y="88148"/>
                  </a:lnTo>
                  <a:lnTo>
                    <a:pt x="664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67723" y="1006180"/>
              <a:ext cx="85725" cy="88265"/>
            </a:xfrm>
            <a:custGeom>
              <a:avLst/>
              <a:gdLst/>
              <a:ahLst/>
              <a:cxnLst/>
              <a:rect l="l" t="t" r="r" b="b"/>
              <a:pathLst>
                <a:path w="85725" h="88265">
                  <a:moveTo>
                    <a:pt x="85485" y="88149"/>
                  </a:moveTo>
                  <a:lnTo>
                    <a:pt x="66485" y="0"/>
                  </a:lnTo>
                  <a:lnTo>
                    <a:pt x="0" y="60290"/>
                  </a:lnTo>
                  <a:lnTo>
                    <a:pt x="85485" y="88149"/>
                  </a:lnTo>
                  <a:close/>
                </a:path>
              </a:pathLst>
            </a:custGeom>
            <a:ln w="11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20605" y="3316894"/>
              <a:ext cx="84455" cy="87630"/>
            </a:xfrm>
            <a:custGeom>
              <a:avLst/>
              <a:gdLst/>
              <a:ahLst/>
              <a:cxnLst/>
              <a:rect l="l" t="t" r="r" b="b"/>
              <a:pathLst>
                <a:path w="84455" h="87629">
                  <a:moveTo>
                    <a:pt x="16931" y="0"/>
                  </a:moveTo>
                  <a:lnTo>
                    <a:pt x="0" y="87172"/>
                  </a:lnTo>
                  <a:lnTo>
                    <a:pt x="84307" y="58460"/>
                  </a:lnTo>
                  <a:lnTo>
                    <a:pt x="169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420605" y="3316884"/>
              <a:ext cx="84455" cy="87630"/>
            </a:xfrm>
            <a:custGeom>
              <a:avLst/>
              <a:gdLst/>
              <a:ahLst/>
              <a:cxnLst/>
              <a:rect l="l" t="t" r="r" b="b"/>
              <a:pathLst>
                <a:path w="84455" h="87629">
                  <a:moveTo>
                    <a:pt x="16931" y="0"/>
                  </a:moveTo>
                  <a:lnTo>
                    <a:pt x="0" y="87144"/>
                  </a:lnTo>
                  <a:lnTo>
                    <a:pt x="84309" y="58461"/>
                  </a:lnTo>
                  <a:lnTo>
                    <a:pt x="16931" y="0"/>
                  </a:lnTo>
                  <a:close/>
                </a:path>
              </a:pathLst>
            </a:custGeom>
            <a:ln w="11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17225" y="611785"/>
            <a:ext cx="517525" cy="32956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111760">
              <a:lnSpc>
                <a:spcPct val="78200"/>
              </a:lnSpc>
              <a:spcBef>
                <a:spcPts val="420"/>
              </a:spcBef>
            </a:pPr>
            <a:r>
              <a:rPr sz="1100" spc="-20" dirty="0">
                <a:latin typeface="Times New Roman"/>
                <a:cs typeface="Times New Roman"/>
              </a:rPr>
              <a:t>User </a:t>
            </a:r>
            <a:r>
              <a:rPr sz="1100" spc="-10" dirty="0">
                <a:latin typeface="Times New Roman"/>
                <a:cs typeface="Times New Roman"/>
              </a:rPr>
              <a:t>Program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553401" y="611800"/>
            <a:ext cx="517525" cy="3302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150495">
              <a:lnSpc>
                <a:spcPct val="78800"/>
              </a:lnSpc>
              <a:spcBef>
                <a:spcPts val="409"/>
              </a:spcBef>
            </a:pPr>
            <a:r>
              <a:rPr sz="1100" spc="-25" dirty="0">
                <a:latin typeface="Times New Roman"/>
                <a:cs typeface="Times New Roman"/>
              </a:rPr>
              <a:t>I/O </a:t>
            </a:r>
            <a:r>
              <a:rPr sz="1100" spc="-10" dirty="0">
                <a:latin typeface="Times New Roman"/>
                <a:cs typeface="Times New Roman"/>
              </a:rPr>
              <a:t>Program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00632" y="1115803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898001" y="1102163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6811" y="1649213"/>
            <a:ext cx="478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latin typeface="Times New Roman"/>
                <a:cs typeface="Times New Roman"/>
              </a:rPr>
              <a:t>WRITE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501145" y="1438178"/>
            <a:ext cx="621030" cy="3302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202565">
              <a:lnSpc>
                <a:spcPct val="78700"/>
              </a:lnSpc>
              <a:spcBef>
                <a:spcPts val="409"/>
              </a:spcBef>
            </a:pPr>
            <a:r>
              <a:rPr sz="1100" spc="-25" dirty="0">
                <a:latin typeface="Times New Roman"/>
                <a:cs typeface="Times New Roman"/>
              </a:rPr>
              <a:t>I/O </a:t>
            </a:r>
            <a:r>
              <a:rPr sz="1100" spc="-10" dirty="0">
                <a:latin typeface="Times New Roman"/>
                <a:cs typeface="Times New Roman"/>
              </a:rPr>
              <a:t>Command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00632" y="2440338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71073" y="2440338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6811" y="3270065"/>
            <a:ext cx="478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latin typeface="Times New Roman"/>
                <a:cs typeface="Times New Roman"/>
              </a:rPr>
              <a:t>WRITE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00632" y="4100877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071073" y="4100877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36811" y="4850734"/>
            <a:ext cx="478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latin typeface="Times New Roman"/>
                <a:cs typeface="Times New Roman"/>
              </a:rPr>
              <a:t>WRITE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500730" y="931574"/>
            <a:ext cx="4200525" cy="4074795"/>
            <a:chOff x="3500730" y="931574"/>
            <a:chExt cx="4200525" cy="4074795"/>
          </a:xfrm>
        </p:grpSpPr>
        <p:pic>
          <p:nvPicPr>
            <p:cNvPr id="58" name="object 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25886" y="931574"/>
              <a:ext cx="1175255" cy="407455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506763" y="946895"/>
              <a:ext cx="2046605" cy="3879850"/>
            </a:xfrm>
            <a:custGeom>
              <a:avLst/>
              <a:gdLst/>
              <a:ahLst/>
              <a:cxnLst/>
              <a:rect l="l" t="t" r="r" b="b"/>
              <a:pathLst>
                <a:path w="2046604" h="3879850">
                  <a:moveTo>
                    <a:pt x="0" y="646768"/>
                  </a:moveTo>
                  <a:lnTo>
                    <a:pt x="0" y="646768"/>
                  </a:lnTo>
                  <a:lnTo>
                    <a:pt x="323205" y="646768"/>
                  </a:lnTo>
                </a:path>
                <a:path w="2046604" h="3879850">
                  <a:moveTo>
                    <a:pt x="323205" y="0"/>
                  </a:moveTo>
                  <a:lnTo>
                    <a:pt x="323205" y="0"/>
                  </a:lnTo>
                  <a:lnTo>
                    <a:pt x="0" y="0"/>
                  </a:lnTo>
                </a:path>
                <a:path w="2046604" h="3879850">
                  <a:moveTo>
                    <a:pt x="161419" y="0"/>
                  </a:moveTo>
                  <a:lnTo>
                    <a:pt x="161419" y="0"/>
                  </a:lnTo>
                  <a:lnTo>
                    <a:pt x="161419" y="646768"/>
                  </a:lnTo>
                </a:path>
                <a:path w="2046604" h="3879850">
                  <a:moveTo>
                    <a:pt x="1723374" y="517377"/>
                  </a:moveTo>
                  <a:lnTo>
                    <a:pt x="1723374" y="517377"/>
                  </a:lnTo>
                  <a:lnTo>
                    <a:pt x="2046579" y="517377"/>
                  </a:lnTo>
                </a:path>
                <a:path w="2046604" h="3879850">
                  <a:moveTo>
                    <a:pt x="2046579" y="0"/>
                  </a:moveTo>
                  <a:lnTo>
                    <a:pt x="2046579" y="0"/>
                  </a:lnTo>
                  <a:lnTo>
                    <a:pt x="1723374" y="0"/>
                  </a:lnTo>
                </a:path>
                <a:path w="2046604" h="3879850">
                  <a:moveTo>
                    <a:pt x="1885159" y="0"/>
                  </a:moveTo>
                  <a:lnTo>
                    <a:pt x="1885159" y="0"/>
                  </a:lnTo>
                  <a:lnTo>
                    <a:pt x="1885159" y="517377"/>
                  </a:lnTo>
                </a:path>
                <a:path w="2046604" h="3879850">
                  <a:moveTo>
                    <a:pt x="1723374" y="2650989"/>
                  </a:moveTo>
                  <a:lnTo>
                    <a:pt x="1723374" y="2650989"/>
                  </a:lnTo>
                  <a:lnTo>
                    <a:pt x="2046579" y="2650989"/>
                  </a:lnTo>
                </a:path>
                <a:path w="2046604" h="3879850">
                  <a:moveTo>
                    <a:pt x="2046579" y="2133703"/>
                  </a:moveTo>
                  <a:lnTo>
                    <a:pt x="2046579" y="2133703"/>
                  </a:lnTo>
                  <a:lnTo>
                    <a:pt x="1723374" y="2133703"/>
                  </a:lnTo>
                </a:path>
                <a:path w="2046604" h="3879850">
                  <a:moveTo>
                    <a:pt x="1885159" y="2133703"/>
                  </a:moveTo>
                  <a:lnTo>
                    <a:pt x="1885159" y="2133703"/>
                  </a:lnTo>
                  <a:lnTo>
                    <a:pt x="1885159" y="2650989"/>
                  </a:lnTo>
                </a:path>
                <a:path w="2046604" h="3879850">
                  <a:moveTo>
                    <a:pt x="0" y="2263093"/>
                  </a:moveTo>
                  <a:lnTo>
                    <a:pt x="0" y="2263093"/>
                  </a:lnTo>
                  <a:lnTo>
                    <a:pt x="323205" y="2263093"/>
                  </a:lnTo>
                </a:path>
                <a:path w="2046604" h="3879850">
                  <a:moveTo>
                    <a:pt x="323205" y="969984"/>
                  </a:moveTo>
                  <a:lnTo>
                    <a:pt x="323205" y="969984"/>
                  </a:lnTo>
                  <a:lnTo>
                    <a:pt x="0" y="969984"/>
                  </a:lnTo>
                </a:path>
                <a:path w="2046604" h="3879850">
                  <a:moveTo>
                    <a:pt x="161419" y="969984"/>
                  </a:moveTo>
                  <a:lnTo>
                    <a:pt x="161419" y="969984"/>
                  </a:lnTo>
                  <a:lnTo>
                    <a:pt x="161419" y="2263093"/>
                  </a:lnTo>
                </a:path>
                <a:path w="2046604" h="3879850">
                  <a:moveTo>
                    <a:pt x="0" y="3879626"/>
                  </a:moveTo>
                  <a:lnTo>
                    <a:pt x="0" y="3879626"/>
                  </a:lnTo>
                  <a:lnTo>
                    <a:pt x="323205" y="3879626"/>
                  </a:lnTo>
                </a:path>
                <a:path w="2046604" h="3879850">
                  <a:moveTo>
                    <a:pt x="323205" y="2586279"/>
                  </a:moveTo>
                  <a:lnTo>
                    <a:pt x="323205" y="2586279"/>
                  </a:lnTo>
                  <a:lnTo>
                    <a:pt x="0" y="2586279"/>
                  </a:lnTo>
                </a:path>
                <a:path w="2046604" h="3879850">
                  <a:moveTo>
                    <a:pt x="161419" y="2586279"/>
                  </a:moveTo>
                  <a:lnTo>
                    <a:pt x="161419" y="2586279"/>
                  </a:lnTo>
                  <a:lnTo>
                    <a:pt x="161419" y="3879626"/>
                  </a:lnTo>
                </a:path>
              </a:pathLst>
            </a:custGeom>
            <a:ln w="11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402592" y="611785"/>
            <a:ext cx="517525" cy="32956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111760">
              <a:lnSpc>
                <a:spcPct val="78200"/>
              </a:lnSpc>
              <a:spcBef>
                <a:spcPts val="420"/>
              </a:spcBef>
            </a:pPr>
            <a:r>
              <a:rPr sz="1100" spc="-20" dirty="0">
                <a:latin typeface="Times New Roman"/>
                <a:cs typeface="Times New Roman"/>
              </a:rPr>
              <a:t>User </a:t>
            </a:r>
            <a:r>
              <a:rPr sz="1100" spc="-10" dirty="0">
                <a:latin typeface="Times New Roman"/>
                <a:cs typeface="Times New Roman"/>
              </a:rPr>
              <a:t>Program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138538" y="611800"/>
            <a:ext cx="517525" cy="3302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150495">
              <a:lnSpc>
                <a:spcPct val="78800"/>
              </a:lnSpc>
              <a:spcBef>
                <a:spcPts val="409"/>
              </a:spcBef>
            </a:pPr>
            <a:r>
              <a:rPr sz="1100" spc="-25" dirty="0">
                <a:latin typeface="Times New Roman"/>
                <a:cs typeface="Times New Roman"/>
              </a:rPr>
              <a:t>I/O </a:t>
            </a:r>
            <a:r>
              <a:rPr sz="1100" spc="-10" dirty="0">
                <a:latin typeface="Times New Roman"/>
                <a:cs typeface="Times New Roman"/>
              </a:rPr>
              <a:t>Program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486058" y="1115797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483370" y="1101319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422201" y="1649213"/>
            <a:ext cx="478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latin typeface="Times New Roman"/>
                <a:cs typeface="Times New Roman"/>
              </a:rPr>
              <a:t>WRITE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086520" y="1438178"/>
            <a:ext cx="621030" cy="3302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202565">
              <a:lnSpc>
                <a:spcPct val="78700"/>
              </a:lnSpc>
              <a:spcBef>
                <a:spcPts val="409"/>
              </a:spcBef>
            </a:pPr>
            <a:r>
              <a:rPr sz="1100" spc="-25" dirty="0">
                <a:latin typeface="Times New Roman"/>
                <a:cs typeface="Times New Roman"/>
              </a:rPr>
              <a:t>I/O </a:t>
            </a:r>
            <a:r>
              <a:rPr sz="1100" spc="-10" dirty="0">
                <a:latin typeface="Times New Roman"/>
                <a:cs typeface="Times New Roman"/>
              </a:rPr>
              <a:t>Command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652878" y="1868043"/>
            <a:ext cx="949960" cy="62420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650"/>
              </a:spcBef>
            </a:pPr>
            <a:r>
              <a:rPr sz="1100" spc="-50" dirty="0">
                <a:latin typeface="Times New Roman"/>
                <a:cs typeface="Times New Roman"/>
              </a:rPr>
              <a:t>5</a:t>
            </a: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ts val="1060"/>
              </a:lnSpc>
              <a:spcBef>
                <a:spcPts val="475"/>
              </a:spcBef>
            </a:pPr>
            <a:r>
              <a:rPr sz="900" spc="-25" dirty="0">
                <a:latin typeface="Times New Roman"/>
                <a:cs typeface="Times New Roman"/>
              </a:rPr>
              <a:t>2a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ts val="1300"/>
              </a:lnSpc>
            </a:pPr>
            <a:r>
              <a:rPr sz="1100" spc="-25" dirty="0">
                <a:latin typeface="Times New Roman"/>
                <a:cs typeface="Times New Roman"/>
              </a:rPr>
              <a:t>END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461668" y="2859737"/>
            <a:ext cx="144145" cy="168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00" spc="-25" dirty="0">
                <a:latin typeface="Times New Roman"/>
                <a:cs typeface="Times New Roman"/>
              </a:rPr>
              <a:t>2b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133990" y="2731268"/>
            <a:ext cx="523875" cy="3302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2384" marR="5080" indent="-20320">
              <a:lnSpc>
                <a:spcPct val="78800"/>
              </a:lnSpc>
              <a:spcBef>
                <a:spcPts val="409"/>
              </a:spcBef>
            </a:pPr>
            <a:r>
              <a:rPr sz="1100" spc="-10" dirty="0">
                <a:latin typeface="Times New Roman"/>
                <a:cs typeface="Times New Roman"/>
              </a:rPr>
              <a:t>Interrupt Handler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422201" y="3270065"/>
            <a:ext cx="478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latin typeface="Times New Roman"/>
                <a:cs typeface="Times New Roman"/>
              </a:rPr>
              <a:t>WRITE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483370" y="3227008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238265" y="3587066"/>
            <a:ext cx="3200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25" dirty="0">
                <a:latin typeface="Times New Roman"/>
                <a:cs typeface="Times New Roman"/>
              </a:rPr>
              <a:t>END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65252" y="3777602"/>
            <a:ext cx="137795" cy="168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00" spc="-25" dirty="0">
                <a:latin typeface="Times New Roman"/>
                <a:cs typeface="Times New Roman"/>
              </a:rPr>
              <a:t>3a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461668" y="4476036"/>
            <a:ext cx="144145" cy="168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00" spc="-25" dirty="0">
                <a:latin typeface="Times New Roman"/>
                <a:cs typeface="Times New Roman"/>
              </a:rPr>
              <a:t>3b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3946672" y="931551"/>
            <a:ext cx="4198620" cy="3901440"/>
            <a:chOff x="3946672" y="931551"/>
            <a:chExt cx="4198620" cy="3901440"/>
          </a:xfrm>
        </p:grpSpPr>
        <p:sp>
          <p:nvSpPr>
            <p:cNvPr id="78" name="object 78"/>
            <p:cNvSpPr/>
            <p:nvPr/>
          </p:nvSpPr>
          <p:spPr>
            <a:xfrm>
              <a:off x="3991509" y="943298"/>
              <a:ext cx="1073150" cy="3812540"/>
            </a:xfrm>
            <a:custGeom>
              <a:avLst/>
              <a:gdLst/>
              <a:ahLst/>
              <a:cxnLst/>
              <a:rect l="l" t="t" r="r" b="b"/>
              <a:pathLst>
                <a:path w="1073150" h="3812540">
                  <a:moveTo>
                    <a:pt x="0" y="0"/>
                  </a:moveTo>
                  <a:lnTo>
                    <a:pt x="0" y="0"/>
                  </a:lnTo>
                  <a:lnTo>
                    <a:pt x="0" y="11826"/>
                  </a:lnTo>
                </a:path>
                <a:path w="1073150" h="3812540">
                  <a:moveTo>
                    <a:pt x="0" y="47824"/>
                  </a:moveTo>
                  <a:lnTo>
                    <a:pt x="0" y="47824"/>
                  </a:lnTo>
                  <a:lnTo>
                    <a:pt x="0" y="59315"/>
                  </a:lnTo>
                </a:path>
                <a:path w="1073150" h="3812540">
                  <a:moveTo>
                    <a:pt x="0" y="95312"/>
                  </a:moveTo>
                  <a:lnTo>
                    <a:pt x="0" y="95312"/>
                  </a:lnTo>
                  <a:lnTo>
                    <a:pt x="0" y="107718"/>
                  </a:lnTo>
                </a:path>
                <a:path w="1073150" h="3812540">
                  <a:moveTo>
                    <a:pt x="0" y="143594"/>
                  </a:moveTo>
                  <a:lnTo>
                    <a:pt x="0" y="143594"/>
                  </a:lnTo>
                  <a:lnTo>
                    <a:pt x="0" y="155573"/>
                  </a:lnTo>
                </a:path>
                <a:path w="1073150" h="3812540">
                  <a:moveTo>
                    <a:pt x="0" y="191448"/>
                  </a:moveTo>
                  <a:lnTo>
                    <a:pt x="0" y="191448"/>
                  </a:lnTo>
                  <a:lnTo>
                    <a:pt x="0" y="203031"/>
                  </a:lnTo>
                </a:path>
                <a:path w="1073150" h="3812540">
                  <a:moveTo>
                    <a:pt x="0" y="238907"/>
                  </a:moveTo>
                  <a:lnTo>
                    <a:pt x="0" y="238907"/>
                  </a:lnTo>
                  <a:lnTo>
                    <a:pt x="0" y="251465"/>
                  </a:lnTo>
                </a:path>
                <a:path w="1073150" h="3812540">
                  <a:moveTo>
                    <a:pt x="0" y="287340"/>
                  </a:moveTo>
                  <a:lnTo>
                    <a:pt x="0" y="287340"/>
                  </a:lnTo>
                  <a:lnTo>
                    <a:pt x="0" y="299167"/>
                  </a:lnTo>
                </a:path>
                <a:path w="1073150" h="3812540">
                  <a:moveTo>
                    <a:pt x="0" y="335164"/>
                  </a:moveTo>
                  <a:lnTo>
                    <a:pt x="0" y="335164"/>
                  </a:lnTo>
                  <a:lnTo>
                    <a:pt x="0" y="346655"/>
                  </a:lnTo>
                </a:path>
                <a:path w="1073150" h="3812540">
                  <a:moveTo>
                    <a:pt x="0" y="382623"/>
                  </a:moveTo>
                  <a:lnTo>
                    <a:pt x="0" y="382623"/>
                  </a:lnTo>
                  <a:lnTo>
                    <a:pt x="0" y="395089"/>
                  </a:lnTo>
                </a:path>
                <a:path w="1073150" h="3812540">
                  <a:moveTo>
                    <a:pt x="0" y="430965"/>
                  </a:moveTo>
                  <a:lnTo>
                    <a:pt x="0" y="430965"/>
                  </a:lnTo>
                  <a:lnTo>
                    <a:pt x="0" y="442913"/>
                  </a:lnTo>
                </a:path>
                <a:path w="1073150" h="3812540">
                  <a:moveTo>
                    <a:pt x="0" y="478789"/>
                  </a:moveTo>
                  <a:lnTo>
                    <a:pt x="0" y="478789"/>
                  </a:lnTo>
                  <a:lnTo>
                    <a:pt x="0" y="490372"/>
                  </a:lnTo>
                </a:path>
                <a:path w="1073150" h="3812540">
                  <a:moveTo>
                    <a:pt x="0" y="526247"/>
                  </a:moveTo>
                  <a:lnTo>
                    <a:pt x="0" y="526247"/>
                  </a:lnTo>
                  <a:lnTo>
                    <a:pt x="0" y="538805"/>
                  </a:lnTo>
                </a:path>
                <a:path w="1073150" h="3812540">
                  <a:moveTo>
                    <a:pt x="0" y="574681"/>
                  </a:moveTo>
                  <a:lnTo>
                    <a:pt x="0" y="574681"/>
                  </a:lnTo>
                  <a:lnTo>
                    <a:pt x="0" y="586507"/>
                  </a:lnTo>
                </a:path>
                <a:path w="1073150" h="3812540">
                  <a:moveTo>
                    <a:pt x="0" y="889881"/>
                  </a:moveTo>
                  <a:lnTo>
                    <a:pt x="0" y="889881"/>
                  </a:lnTo>
                  <a:lnTo>
                    <a:pt x="0" y="901829"/>
                  </a:lnTo>
                </a:path>
                <a:path w="1073150" h="3812540">
                  <a:moveTo>
                    <a:pt x="0" y="937705"/>
                  </a:moveTo>
                  <a:lnTo>
                    <a:pt x="0" y="937705"/>
                  </a:lnTo>
                  <a:lnTo>
                    <a:pt x="0" y="949318"/>
                  </a:lnTo>
                </a:path>
                <a:path w="1073150" h="3812540">
                  <a:moveTo>
                    <a:pt x="0" y="985194"/>
                  </a:moveTo>
                  <a:lnTo>
                    <a:pt x="0" y="985194"/>
                  </a:lnTo>
                  <a:lnTo>
                    <a:pt x="0" y="997630"/>
                  </a:lnTo>
                </a:path>
                <a:path w="1073150" h="3812540">
                  <a:moveTo>
                    <a:pt x="0" y="1033627"/>
                  </a:moveTo>
                  <a:lnTo>
                    <a:pt x="0" y="1033627"/>
                  </a:lnTo>
                  <a:lnTo>
                    <a:pt x="0" y="1045454"/>
                  </a:lnTo>
                </a:path>
                <a:path w="1073150" h="3812540">
                  <a:moveTo>
                    <a:pt x="0" y="1081330"/>
                  </a:moveTo>
                  <a:lnTo>
                    <a:pt x="0" y="1081330"/>
                  </a:lnTo>
                  <a:lnTo>
                    <a:pt x="0" y="1092912"/>
                  </a:lnTo>
                </a:path>
                <a:path w="1073150" h="3812540">
                  <a:moveTo>
                    <a:pt x="0" y="1128910"/>
                  </a:moveTo>
                  <a:lnTo>
                    <a:pt x="0" y="1128910"/>
                  </a:lnTo>
                  <a:lnTo>
                    <a:pt x="0" y="1141346"/>
                  </a:lnTo>
                </a:path>
                <a:path w="1073150" h="3812540">
                  <a:moveTo>
                    <a:pt x="0" y="1177222"/>
                  </a:moveTo>
                  <a:lnTo>
                    <a:pt x="0" y="1177222"/>
                  </a:lnTo>
                  <a:lnTo>
                    <a:pt x="0" y="1189170"/>
                  </a:lnTo>
                </a:path>
                <a:path w="1073150" h="3812540">
                  <a:moveTo>
                    <a:pt x="0" y="1225046"/>
                  </a:moveTo>
                  <a:lnTo>
                    <a:pt x="0" y="1225046"/>
                  </a:lnTo>
                  <a:lnTo>
                    <a:pt x="0" y="1236659"/>
                  </a:lnTo>
                </a:path>
                <a:path w="1073150" h="3812540">
                  <a:moveTo>
                    <a:pt x="0" y="1272534"/>
                  </a:moveTo>
                  <a:lnTo>
                    <a:pt x="0" y="1272534"/>
                  </a:lnTo>
                  <a:lnTo>
                    <a:pt x="0" y="1284971"/>
                  </a:lnTo>
                </a:path>
                <a:path w="1073150" h="3812540">
                  <a:moveTo>
                    <a:pt x="0" y="1320938"/>
                  </a:moveTo>
                  <a:lnTo>
                    <a:pt x="0" y="1320938"/>
                  </a:lnTo>
                  <a:lnTo>
                    <a:pt x="0" y="1332795"/>
                  </a:lnTo>
                </a:path>
                <a:path w="1073150" h="3812540">
                  <a:moveTo>
                    <a:pt x="0" y="1368670"/>
                  </a:moveTo>
                  <a:lnTo>
                    <a:pt x="0" y="1368670"/>
                  </a:lnTo>
                  <a:lnTo>
                    <a:pt x="0" y="1380253"/>
                  </a:lnTo>
                </a:path>
                <a:path w="1073150" h="3812540">
                  <a:moveTo>
                    <a:pt x="0" y="1416251"/>
                  </a:moveTo>
                  <a:lnTo>
                    <a:pt x="0" y="1416251"/>
                  </a:lnTo>
                  <a:lnTo>
                    <a:pt x="0" y="1428930"/>
                  </a:lnTo>
                </a:path>
                <a:path w="1073150" h="3812540">
                  <a:moveTo>
                    <a:pt x="1072666" y="2159764"/>
                  </a:moveTo>
                  <a:lnTo>
                    <a:pt x="1072666" y="2159764"/>
                  </a:lnTo>
                  <a:lnTo>
                    <a:pt x="1072666" y="2172200"/>
                  </a:lnTo>
                </a:path>
                <a:path w="1073150" h="3812540">
                  <a:moveTo>
                    <a:pt x="1072666" y="2208198"/>
                  </a:moveTo>
                  <a:lnTo>
                    <a:pt x="1072666" y="2208198"/>
                  </a:lnTo>
                  <a:lnTo>
                    <a:pt x="1072666" y="2220055"/>
                  </a:lnTo>
                </a:path>
                <a:path w="1073150" h="3812540">
                  <a:moveTo>
                    <a:pt x="1072666" y="2255930"/>
                  </a:moveTo>
                  <a:lnTo>
                    <a:pt x="1072666" y="2255930"/>
                  </a:lnTo>
                  <a:lnTo>
                    <a:pt x="1072666" y="2267513"/>
                  </a:lnTo>
                </a:path>
                <a:path w="1073150" h="3812540">
                  <a:moveTo>
                    <a:pt x="1072666" y="2303511"/>
                  </a:moveTo>
                  <a:lnTo>
                    <a:pt x="1072666" y="2303511"/>
                  </a:lnTo>
                  <a:lnTo>
                    <a:pt x="1072666" y="2315947"/>
                  </a:lnTo>
                </a:path>
                <a:path w="1073150" h="3812540">
                  <a:moveTo>
                    <a:pt x="1072666" y="2351822"/>
                  </a:moveTo>
                  <a:lnTo>
                    <a:pt x="1072666" y="2351822"/>
                  </a:lnTo>
                  <a:lnTo>
                    <a:pt x="1072666" y="2363771"/>
                  </a:lnTo>
                </a:path>
                <a:path w="1073150" h="3812540">
                  <a:moveTo>
                    <a:pt x="1072666" y="2399646"/>
                  </a:moveTo>
                  <a:lnTo>
                    <a:pt x="1072666" y="2399646"/>
                  </a:lnTo>
                  <a:lnTo>
                    <a:pt x="1072666" y="2411259"/>
                  </a:lnTo>
                </a:path>
                <a:path w="1073150" h="3812540">
                  <a:moveTo>
                    <a:pt x="1072666" y="2447105"/>
                  </a:moveTo>
                  <a:lnTo>
                    <a:pt x="1072666" y="2447105"/>
                  </a:lnTo>
                  <a:lnTo>
                    <a:pt x="1072666" y="2459907"/>
                  </a:lnTo>
                </a:path>
                <a:path w="1073150" h="3812540">
                  <a:moveTo>
                    <a:pt x="1072666" y="2495782"/>
                  </a:moveTo>
                  <a:lnTo>
                    <a:pt x="1072666" y="2495782"/>
                  </a:lnTo>
                  <a:lnTo>
                    <a:pt x="1072666" y="2507365"/>
                  </a:lnTo>
                </a:path>
                <a:path w="1073150" h="3812540">
                  <a:moveTo>
                    <a:pt x="1072666" y="2543362"/>
                  </a:moveTo>
                  <a:lnTo>
                    <a:pt x="1072666" y="2543362"/>
                  </a:lnTo>
                  <a:lnTo>
                    <a:pt x="1072666" y="2554854"/>
                  </a:lnTo>
                </a:path>
                <a:path w="1073150" h="3812540">
                  <a:moveTo>
                    <a:pt x="0" y="2793883"/>
                  </a:moveTo>
                  <a:lnTo>
                    <a:pt x="0" y="2793883"/>
                  </a:lnTo>
                  <a:lnTo>
                    <a:pt x="0" y="2806319"/>
                  </a:lnTo>
                </a:path>
                <a:path w="1073150" h="3812540">
                  <a:moveTo>
                    <a:pt x="0" y="2842194"/>
                  </a:moveTo>
                  <a:lnTo>
                    <a:pt x="0" y="2842194"/>
                  </a:lnTo>
                  <a:lnTo>
                    <a:pt x="0" y="2854143"/>
                  </a:lnTo>
                </a:path>
                <a:path w="1073150" h="3812540">
                  <a:moveTo>
                    <a:pt x="0" y="2890021"/>
                  </a:moveTo>
                  <a:lnTo>
                    <a:pt x="0" y="2890021"/>
                  </a:lnTo>
                  <a:lnTo>
                    <a:pt x="0" y="2901619"/>
                  </a:lnTo>
                </a:path>
                <a:path w="1073150" h="3812540">
                  <a:moveTo>
                    <a:pt x="0" y="2937492"/>
                  </a:moveTo>
                  <a:lnTo>
                    <a:pt x="0" y="2937492"/>
                  </a:lnTo>
                  <a:lnTo>
                    <a:pt x="0" y="2949934"/>
                  </a:lnTo>
                </a:path>
                <a:path w="1073150" h="3812540">
                  <a:moveTo>
                    <a:pt x="0" y="3321090"/>
                  </a:moveTo>
                  <a:lnTo>
                    <a:pt x="0" y="3321090"/>
                  </a:lnTo>
                  <a:lnTo>
                    <a:pt x="0" y="3333533"/>
                  </a:lnTo>
                </a:path>
                <a:path w="1073150" h="3812540">
                  <a:moveTo>
                    <a:pt x="0" y="3369405"/>
                  </a:moveTo>
                  <a:lnTo>
                    <a:pt x="0" y="3369405"/>
                  </a:lnTo>
                  <a:lnTo>
                    <a:pt x="0" y="3381003"/>
                  </a:lnTo>
                </a:path>
                <a:path w="1073150" h="3812540">
                  <a:moveTo>
                    <a:pt x="0" y="3416876"/>
                  </a:moveTo>
                  <a:lnTo>
                    <a:pt x="0" y="3416876"/>
                  </a:lnTo>
                  <a:lnTo>
                    <a:pt x="0" y="3428830"/>
                  </a:lnTo>
                </a:path>
                <a:path w="1073150" h="3812540">
                  <a:moveTo>
                    <a:pt x="0" y="3464703"/>
                  </a:moveTo>
                  <a:lnTo>
                    <a:pt x="0" y="3464703"/>
                  </a:lnTo>
                  <a:lnTo>
                    <a:pt x="0" y="3477133"/>
                  </a:lnTo>
                </a:path>
                <a:path w="1073150" h="3812540">
                  <a:moveTo>
                    <a:pt x="0" y="3513127"/>
                  </a:moveTo>
                  <a:lnTo>
                    <a:pt x="0" y="3513127"/>
                  </a:lnTo>
                  <a:lnTo>
                    <a:pt x="0" y="3524603"/>
                  </a:lnTo>
                </a:path>
                <a:path w="1073150" h="3812540">
                  <a:moveTo>
                    <a:pt x="0" y="3560598"/>
                  </a:moveTo>
                  <a:lnTo>
                    <a:pt x="0" y="3560598"/>
                  </a:lnTo>
                  <a:lnTo>
                    <a:pt x="0" y="3572446"/>
                  </a:lnTo>
                </a:path>
                <a:path w="1073150" h="3812540">
                  <a:moveTo>
                    <a:pt x="0" y="3608437"/>
                  </a:moveTo>
                  <a:lnTo>
                    <a:pt x="0" y="3608437"/>
                  </a:lnTo>
                  <a:lnTo>
                    <a:pt x="0" y="3620867"/>
                  </a:lnTo>
                </a:path>
                <a:path w="1073150" h="3812540">
                  <a:moveTo>
                    <a:pt x="0" y="3656740"/>
                  </a:moveTo>
                  <a:lnTo>
                    <a:pt x="0" y="3656740"/>
                  </a:lnTo>
                  <a:lnTo>
                    <a:pt x="0" y="3668575"/>
                  </a:lnTo>
                </a:path>
                <a:path w="1073150" h="3812540">
                  <a:moveTo>
                    <a:pt x="0" y="3704570"/>
                  </a:moveTo>
                  <a:lnTo>
                    <a:pt x="0" y="3704570"/>
                  </a:lnTo>
                  <a:lnTo>
                    <a:pt x="0" y="3716165"/>
                  </a:lnTo>
                </a:path>
                <a:path w="1073150" h="3812540">
                  <a:moveTo>
                    <a:pt x="0" y="3752037"/>
                  </a:moveTo>
                  <a:lnTo>
                    <a:pt x="0" y="3752037"/>
                  </a:lnTo>
                  <a:lnTo>
                    <a:pt x="0" y="3764480"/>
                  </a:lnTo>
                </a:path>
                <a:path w="1073150" h="3812540">
                  <a:moveTo>
                    <a:pt x="0" y="3800474"/>
                  </a:moveTo>
                  <a:lnTo>
                    <a:pt x="0" y="3800474"/>
                  </a:lnTo>
                  <a:lnTo>
                    <a:pt x="0" y="3812310"/>
                  </a:lnTo>
                </a:path>
              </a:pathLst>
            </a:custGeom>
            <a:ln w="23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946672" y="4749046"/>
              <a:ext cx="88900" cy="78740"/>
            </a:xfrm>
            <a:custGeom>
              <a:avLst/>
              <a:gdLst/>
              <a:ahLst/>
              <a:cxnLst/>
              <a:rect l="l" t="t" r="r" b="b"/>
              <a:pathLst>
                <a:path w="88900" h="78739">
                  <a:moveTo>
                    <a:pt x="88727" y="0"/>
                  </a:moveTo>
                  <a:lnTo>
                    <a:pt x="0" y="0"/>
                  </a:lnTo>
                  <a:lnTo>
                    <a:pt x="44836" y="78437"/>
                  </a:lnTo>
                  <a:lnTo>
                    <a:pt x="88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92129" y="946895"/>
              <a:ext cx="2046605" cy="3879850"/>
            </a:xfrm>
            <a:custGeom>
              <a:avLst/>
              <a:gdLst/>
              <a:ahLst/>
              <a:cxnLst/>
              <a:rect l="l" t="t" r="r" b="b"/>
              <a:pathLst>
                <a:path w="2046604" h="3879850">
                  <a:moveTo>
                    <a:pt x="0" y="646768"/>
                  </a:moveTo>
                  <a:lnTo>
                    <a:pt x="0" y="646768"/>
                  </a:lnTo>
                  <a:lnTo>
                    <a:pt x="322961" y="646768"/>
                  </a:lnTo>
                </a:path>
                <a:path w="2046604" h="3879850">
                  <a:moveTo>
                    <a:pt x="322961" y="0"/>
                  </a:moveTo>
                  <a:lnTo>
                    <a:pt x="322961" y="0"/>
                  </a:lnTo>
                  <a:lnTo>
                    <a:pt x="0" y="0"/>
                  </a:lnTo>
                </a:path>
                <a:path w="2046604" h="3879850">
                  <a:moveTo>
                    <a:pt x="161419" y="0"/>
                  </a:moveTo>
                  <a:lnTo>
                    <a:pt x="161419" y="0"/>
                  </a:lnTo>
                  <a:lnTo>
                    <a:pt x="161419" y="646768"/>
                  </a:lnTo>
                </a:path>
                <a:path w="2046604" h="3879850">
                  <a:moveTo>
                    <a:pt x="1723374" y="517377"/>
                  </a:moveTo>
                  <a:lnTo>
                    <a:pt x="1723374" y="517377"/>
                  </a:lnTo>
                  <a:lnTo>
                    <a:pt x="2046579" y="517377"/>
                  </a:lnTo>
                </a:path>
                <a:path w="2046604" h="3879850">
                  <a:moveTo>
                    <a:pt x="2046579" y="0"/>
                  </a:moveTo>
                  <a:lnTo>
                    <a:pt x="2046579" y="0"/>
                  </a:lnTo>
                  <a:lnTo>
                    <a:pt x="1723374" y="0"/>
                  </a:lnTo>
                </a:path>
                <a:path w="2046604" h="3879850">
                  <a:moveTo>
                    <a:pt x="1884824" y="0"/>
                  </a:moveTo>
                  <a:lnTo>
                    <a:pt x="1884824" y="0"/>
                  </a:lnTo>
                  <a:lnTo>
                    <a:pt x="1884824" y="517377"/>
                  </a:lnTo>
                </a:path>
                <a:path w="2046604" h="3879850">
                  <a:moveTo>
                    <a:pt x="1723374" y="2650989"/>
                  </a:moveTo>
                  <a:lnTo>
                    <a:pt x="1723374" y="2650989"/>
                  </a:lnTo>
                  <a:lnTo>
                    <a:pt x="2046579" y="2650989"/>
                  </a:lnTo>
                </a:path>
                <a:path w="2046604" h="3879850">
                  <a:moveTo>
                    <a:pt x="2046579" y="2133703"/>
                  </a:moveTo>
                  <a:lnTo>
                    <a:pt x="2046579" y="2133703"/>
                  </a:lnTo>
                  <a:lnTo>
                    <a:pt x="1723374" y="2133703"/>
                  </a:lnTo>
                </a:path>
                <a:path w="2046604" h="3879850">
                  <a:moveTo>
                    <a:pt x="1884824" y="2133703"/>
                  </a:moveTo>
                  <a:lnTo>
                    <a:pt x="1884824" y="2133703"/>
                  </a:lnTo>
                  <a:lnTo>
                    <a:pt x="1884824" y="2650989"/>
                  </a:lnTo>
                </a:path>
                <a:path w="2046604" h="3879850">
                  <a:moveTo>
                    <a:pt x="0" y="2263093"/>
                  </a:moveTo>
                  <a:lnTo>
                    <a:pt x="0" y="2263093"/>
                  </a:lnTo>
                  <a:lnTo>
                    <a:pt x="322961" y="2263093"/>
                  </a:lnTo>
                </a:path>
                <a:path w="2046604" h="3879850">
                  <a:moveTo>
                    <a:pt x="322961" y="969984"/>
                  </a:moveTo>
                  <a:lnTo>
                    <a:pt x="322961" y="969984"/>
                  </a:lnTo>
                  <a:lnTo>
                    <a:pt x="0" y="969984"/>
                  </a:lnTo>
                </a:path>
                <a:path w="2046604" h="3879850">
                  <a:moveTo>
                    <a:pt x="161419" y="969984"/>
                  </a:moveTo>
                  <a:lnTo>
                    <a:pt x="161419" y="969984"/>
                  </a:lnTo>
                  <a:lnTo>
                    <a:pt x="161419" y="2263093"/>
                  </a:lnTo>
                </a:path>
                <a:path w="2046604" h="3879850">
                  <a:moveTo>
                    <a:pt x="0" y="3879626"/>
                  </a:moveTo>
                  <a:lnTo>
                    <a:pt x="0" y="3879626"/>
                  </a:lnTo>
                  <a:lnTo>
                    <a:pt x="322961" y="3879626"/>
                  </a:lnTo>
                </a:path>
                <a:path w="2046604" h="3879850">
                  <a:moveTo>
                    <a:pt x="322961" y="2586279"/>
                  </a:moveTo>
                  <a:lnTo>
                    <a:pt x="322961" y="2586279"/>
                  </a:lnTo>
                  <a:lnTo>
                    <a:pt x="0" y="2586279"/>
                  </a:lnTo>
                </a:path>
                <a:path w="2046604" h="3879850">
                  <a:moveTo>
                    <a:pt x="161419" y="2586279"/>
                  </a:moveTo>
                  <a:lnTo>
                    <a:pt x="161419" y="2586279"/>
                  </a:lnTo>
                  <a:lnTo>
                    <a:pt x="161419" y="3879626"/>
                  </a:lnTo>
                </a:path>
              </a:pathLst>
            </a:custGeom>
            <a:ln w="11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5987722" y="611785"/>
            <a:ext cx="517525" cy="32956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111760">
              <a:lnSpc>
                <a:spcPct val="78200"/>
              </a:lnSpc>
              <a:spcBef>
                <a:spcPts val="420"/>
              </a:spcBef>
            </a:pPr>
            <a:r>
              <a:rPr sz="1100" spc="-20" dirty="0">
                <a:latin typeface="Times New Roman"/>
                <a:cs typeface="Times New Roman"/>
              </a:rPr>
              <a:t>User </a:t>
            </a:r>
            <a:r>
              <a:rPr sz="1100" spc="-10" dirty="0">
                <a:latin typeface="Times New Roman"/>
                <a:cs typeface="Times New Roman"/>
              </a:rPr>
              <a:t>Program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723905" y="611800"/>
            <a:ext cx="517525" cy="3302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150495">
              <a:lnSpc>
                <a:spcPct val="78800"/>
              </a:lnSpc>
              <a:spcBef>
                <a:spcPts val="409"/>
              </a:spcBef>
            </a:pPr>
            <a:r>
              <a:rPr sz="1100" spc="-25" dirty="0">
                <a:latin typeface="Times New Roman"/>
                <a:cs typeface="Times New Roman"/>
              </a:rPr>
              <a:t>I/O </a:t>
            </a:r>
            <a:r>
              <a:rPr sz="1100" spc="-10" dirty="0">
                <a:latin typeface="Times New Roman"/>
                <a:cs typeface="Times New Roman"/>
              </a:rPr>
              <a:t>Program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071068" y="1115797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007581" y="1649213"/>
            <a:ext cx="478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latin typeface="Times New Roman"/>
                <a:cs typeface="Times New Roman"/>
              </a:rPr>
              <a:t>WRITE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007581" y="3270065"/>
            <a:ext cx="478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latin typeface="Times New Roman"/>
                <a:cs typeface="Times New Roman"/>
              </a:rPr>
              <a:t>WRITE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3550596" y="943298"/>
            <a:ext cx="4110990" cy="3555365"/>
            <a:chOff x="3550596" y="943298"/>
            <a:chExt cx="4110990" cy="3555365"/>
          </a:xfrm>
        </p:grpSpPr>
        <p:sp>
          <p:nvSpPr>
            <p:cNvPr id="94" name="object 94"/>
            <p:cNvSpPr/>
            <p:nvPr/>
          </p:nvSpPr>
          <p:spPr>
            <a:xfrm>
              <a:off x="6576875" y="943298"/>
              <a:ext cx="1073150" cy="3555365"/>
            </a:xfrm>
            <a:custGeom>
              <a:avLst/>
              <a:gdLst/>
              <a:ahLst/>
              <a:cxnLst/>
              <a:rect l="l" t="t" r="r" b="b"/>
              <a:pathLst>
                <a:path w="1073150" h="3555365">
                  <a:moveTo>
                    <a:pt x="0" y="0"/>
                  </a:moveTo>
                  <a:lnTo>
                    <a:pt x="0" y="0"/>
                  </a:lnTo>
                  <a:lnTo>
                    <a:pt x="0" y="11826"/>
                  </a:lnTo>
                </a:path>
                <a:path w="1073150" h="3555365">
                  <a:moveTo>
                    <a:pt x="0" y="47824"/>
                  </a:moveTo>
                  <a:lnTo>
                    <a:pt x="0" y="47824"/>
                  </a:lnTo>
                  <a:lnTo>
                    <a:pt x="0" y="59315"/>
                  </a:lnTo>
                </a:path>
                <a:path w="1073150" h="3555365">
                  <a:moveTo>
                    <a:pt x="0" y="95312"/>
                  </a:moveTo>
                  <a:lnTo>
                    <a:pt x="0" y="95312"/>
                  </a:lnTo>
                  <a:lnTo>
                    <a:pt x="0" y="107718"/>
                  </a:lnTo>
                </a:path>
                <a:path w="1073150" h="3555365">
                  <a:moveTo>
                    <a:pt x="0" y="143594"/>
                  </a:moveTo>
                  <a:lnTo>
                    <a:pt x="0" y="143594"/>
                  </a:lnTo>
                  <a:lnTo>
                    <a:pt x="0" y="155573"/>
                  </a:lnTo>
                </a:path>
                <a:path w="1073150" h="3555365">
                  <a:moveTo>
                    <a:pt x="0" y="191448"/>
                  </a:moveTo>
                  <a:lnTo>
                    <a:pt x="0" y="191448"/>
                  </a:lnTo>
                  <a:lnTo>
                    <a:pt x="0" y="203031"/>
                  </a:lnTo>
                </a:path>
                <a:path w="1073150" h="3555365">
                  <a:moveTo>
                    <a:pt x="0" y="238907"/>
                  </a:moveTo>
                  <a:lnTo>
                    <a:pt x="0" y="238907"/>
                  </a:lnTo>
                  <a:lnTo>
                    <a:pt x="0" y="251465"/>
                  </a:lnTo>
                </a:path>
                <a:path w="1073150" h="3555365">
                  <a:moveTo>
                    <a:pt x="0" y="287340"/>
                  </a:moveTo>
                  <a:lnTo>
                    <a:pt x="0" y="287340"/>
                  </a:lnTo>
                  <a:lnTo>
                    <a:pt x="0" y="299167"/>
                  </a:lnTo>
                </a:path>
                <a:path w="1073150" h="3555365">
                  <a:moveTo>
                    <a:pt x="0" y="335164"/>
                  </a:moveTo>
                  <a:lnTo>
                    <a:pt x="0" y="335164"/>
                  </a:lnTo>
                  <a:lnTo>
                    <a:pt x="0" y="346655"/>
                  </a:lnTo>
                </a:path>
                <a:path w="1073150" h="3555365">
                  <a:moveTo>
                    <a:pt x="0" y="382623"/>
                  </a:moveTo>
                  <a:lnTo>
                    <a:pt x="0" y="382623"/>
                  </a:lnTo>
                  <a:lnTo>
                    <a:pt x="0" y="395089"/>
                  </a:lnTo>
                </a:path>
                <a:path w="1073150" h="3555365">
                  <a:moveTo>
                    <a:pt x="0" y="430965"/>
                  </a:moveTo>
                  <a:lnTo>
                    <a:pt x="0" y="430965"/>
                  </a:lnTo>
                  <a:lnTo>
                    <a:pt x="0" y="442913"/>
                  </a:lnTo>
                </a:path>
                <a:path w="1073150" h="3555365">
                  <a:moveTo>
                    <a:pt x="0" y="478789"/>
                  </a:moveTo>
                  <a:lnTo>
                    <a:pt x="0" y="478789"/>
                  </a:lnTo>
                  <a:lnTo>
                    <a:pt x="0" y="490372"/>
                  </a:lnTo>
                </a:path>
                <a:path w="1073150" h="3555365">
                  <a:moveTo>
                    <a:pt x="0" y="526247"/>
                  </a:moveTo>
                  <a:lnTo>
                    <a:pt x="0" y="526247"/>
                  </a:lnTo>
                  <a:lnTo>
                    <a:pt x="0" y="538805"/>
                  </a:lnTo>
                </a:path>
                <a:path w="1073150" h="3555365">
                  <a:moveTo>
                    <a:pt x="0" y="574681"/>
                  </a:moveTo>
                  <a:lnTo>
                    <a:pt x="0" y="574681"/>
                  </a:lnTo>
                  <a:lnTo>
                    <a:pt x="0" y="586507"/>
                  </a:lnTo>
                </a:path>
                <a:path w="1073150" h="3555365">
                  <a:moveTo>
                    <a:pt x="0" y="919660"/>
                  </a:moveTo>
                  <a:lnTo>
                    <a:pt x="0" y="919660"/>
                  </a:lnTo>
                  <a:lnTo>
                    <a:pt x="0" y="931487"/>
                  </a:lnTo>
                </a:path>
                <a:path w="1073150" h="3555365">
                  <a:moveTo>
                    <a:pt x="0" y="967363"/>
                  </a:moveTo>
                  <a:lnTo>
                    <a:pt x="0" y="967363"/>
                  </a:lnTo>
                  <a:lnTo>
                    <a:pt x="0" y="978976"/>
                  </a:lnTo>
                </a:path>
                <a:path w="1073150" h="3555365">
                  <a:moveTo>
                    <a:pt x="0" y="1014851"/>
                  </a:moveTo>
                  <a:lnTo>
                    <a:pt x="0" y="1014851"/>
                  </a:lnTo>
                  <a:lnTo>
                    <a:pt x="0" y="1027409"/>
                  </a:lnTo>
                </a:path>
                <a:path w="1073150" h="3555365">
                  <a:moveTo>
                    <a:pt x="0" y="1063255"/>
                  </a:moveTo>
                  <a:lnTo>
                    <a:pt x="0" y="1063255"/>
                  </a:lnTo>
                  <a:lnTo>
                    <a:pt x="0" y="1075112"/>
                  </a:lnTo>
                </a:path>
                <a:path w="1073150" h="3555365">
                  <a:moveTo>
                    <a:pt x="0" y="1111109"/>
                  </a:moveTo>
                  <a:lnTo>
                    <a:pt x="0" y="1111109"/>
                  </a:lnTo>
                  <a:lnTo>
                    <a:pt x="0" y="1122692"/>
                  </a:lnTo>
                </a:path>
                <a:path w="1073150" h="3555365">
                  <a:moveTo>
                    <a:pt x="0" y="1158567"/>
                  </a:moveTo>
                  <a:lnTo>
                    <a:pt x="0" y="1158567"/>
                  </a:lnTo>
                  <a:lnTo>
                    <a:pt x="0" y="1171004"/>
                  </a:lnTo>
                </a:path>
                <a:path w="1073150" h="3555365">
                  <a:moveTo>
                    <a:pt x="0" y="1207001"/>
                  </a:moveTo>
                  <a:lnTo>
                    <a:pt x="0" y="1207001"/>
                  </a:lnTo>
                  <a:lnTo>
                    <a:pt x="0" y="1218828"/>
                  </a:lnTo>
                </a:path>
                <a:path w="1073150" h="3555365">
                  <a:moveTo>
                    <a:pt x="0" y="1254703"/>
                  </a:moveTo>
                  <a:lnTo>
                    <a:pt x="0" y="1254703"/>
                  </a:lnTo>
                  <a:lnTo>
                    <a:pt x="0" y="1266316"/>
                  </a:lnTo>
                </a:path>
                <a:path w="1073150" h="3555365">
                  <a:moveTo>
                    <a:pt x="0" y="1302162"/>
                  </a:moveTo>
                  <a:lnTo>
                    <a:pt x="0" y="1302162"/>
                  </a:lnTo>
                  <a:lnTo>
                    <a:pt x="0" y="1314720"/>
                  </a:lnTo>
                </a:path>
                <a:path w="1073150" h="3555365">
                  <a:moveTo>
                    <a:pt x="0" y="1350595"/>
                  </a:moveTo>
                  <a:lnTo>
                    <a:pt x="0" y="1350595"/>
                  </a:lnTo>
                  <a:lnTo>
                    <a:pt x="0" y="1362452"/>
                  </a:lnTo>
                </a:path>
                <a:path w="1073150" h="3555365">
                  <a:moveTo>
                    <a:pt x="0" y="1398450"/>
                  </a:moveTo>
                  <a:lnTo>
                    <a:pt x="0" y="1398450"/>
                  </a:lnTo>
                  <a:lnTo>
                    <a:pt x="0" y="1410032"/>
                  </a:lnTo>
                </a:path>
                <a:path w="1073150" h="3555365">
                  <a:moveTo>
                    <a:pt x="0" y="1445908"/>
                  </a:moveTo>
                  <a:lnTo>
                    <a:pt x="0" y="1445908"/>
                  </a:lnTo>
                  <a:lnTo>
                    <a:pt x="0" y="1458344"/>
                  </a:lnTo>
                </a:path>
                <a:path w="1073150" h="3555365">
                  <a:moveTo>
                    <a:pt x="0" y="1494342"/>
                  </a:moveTo>
                  <a:lnTo>
                    <a:pt x="0" y="1494342"/>
                  </a:lnTo>
                  <a:lnTo>
                    <a:pt x="0" y="1506168"/>
                  </a:lnTo>
                </a:path>
                <a:path w="1073150" h="3555365">
                  <a:moveTo>
                    <a:pt x="0" y="1542044"/>
                  </a:moveTo>
                  <a:lnTo>
                    <a:pt x="0" y="1542044"/>
                  </a:lnTo>
                  <a:lnTo>
                    <a:pt x="0" y="1553657"/>
                  </a:lnTo>
                </a:path>
                <a:path w="1073150" h="3555365">
                  <a:moveTo>
                    <a:pt x="0" y="1589533"/>
                  </a:moveTo>
                  <a:lnTo>
                    <a:pt x="0" y="1589533"/>
                  </a:lnTo>
                  <a:lnTo>
                    <a:pt x="0" y="1602060"/>
                  </a:lnTo>
                </a:path>
                <a:path w="1073150" h="3555365">
                  <a:moveTo>
                    <a:pt x="0" y="1637936"/>
                  </a:moveTo>
                  <a:lnTo>
                    <a:pt x="0" y="1637936"/>
                  </a:lnTo>
                  <a:lnTo>
                    <a:pt x="0" y="1649793"/>
                  </a:lnTo>
                </a:path>
                <a:path w="1073150" h="3555365">
                  <a:moveTo>
                    <a:pt x="0" y="1685791"/>
                  </a:moveTo>
                  <a:lnTo>
                    <a:pt x="0" y="1685791"/>
                  </a:lnTo>
                  <a:lnTo>
                    <a:pt x="0" y="1697373"/>
                  </a:lnTo>
                </a:path>
                <a:path w="1073150" h="3555365">
                  <a:moveTo>
                    <a:pt x="0" y="1733249"/>
                  </a:moveTo>
                  <a:lnTo>
                    <a:pt x="0" y="1733249"/>
                  </a:lnTo>
                  <a:lnTo>
                    <a:pt x="0" y="1745685"/>
                  </a:lnTo>
                </a:path>
                <a:path w="1073150" h="3555365">
                  <a:moveTo>
                    <a:pt x="0" y="1781683"/>
                  </a:moveTo>
                  <a:lnTo>
                    <a:pt x="0" y="1781683"/>
                  </a:lnTo>
                  <a:lnTo>
                    <a:pt x="0" y="1793509"/>
                  </a:lnTo>
                </a:path>
                <a:path w="1073150" h="3555365">
                  <a:moveTo>
                    <a:pt x="0" y="1829385"/>
                  </a:moveTo>
                  <a:lnTo>
                    <a:pt x="0" y="1829385"/>
                  </a:lnTo>
                  <a:lnTo>
                    <a:pt x="0" y="1840967"/>
                  </a:lnTo>
                </a:path>
                <a:path w="1073150" h="3555365">
                  <a:moveTo>
                    <a:pt x="0" y="1876843"/>
                  </a:moveTo>
                  <a:lnTo>
                    <a:pt x="0" y="1876843"/>
                  </a:lnTo>
                  <a:lnTo>
                    <a:pt x="0" y="1889431"/>
                  </a:lnTo>
                </a:path>
                <a:path w="1073150" h="3555365">
                  <a:moveTo>
                    <a:pt x="0" y="1925277"/>
                  </a:moveTo>
                  <a:lnTo>
                    <a:pt x="0" y="1925277"/>
                  </a:lnTo>
                  <a:lnTo>
                    <a:pt x="0" y="1937134"/>
                  </a:lnTo>
                </a:path>
                <a:path w="1073150" h="3555365">
                  <a:moveTo>
                    <a:pt x="0" y="1973131"/>
                  </a:moveTo>
                  <a:lnTo>
                    <a:pt x="0" y="1973131"/>
                  </a:lnTo>
                  <a:lnTo>
                    <a:pt x="0" y="1984714"/>
                  </a:lnTo>
                </a:path>
                <a:path w="1073150" h="3555365">
                  <a:moveTo>
                    <a:pt x="0" y="2020590"/>
                  </a:moveTo>
                  <a:lnTo>
                    <a:pt x="0" y="2020590"/>
                  </a:lnTo>
                  <a:lnTo>
                    <a:pt x="0" y="2033391"/>
                  </a:lnTo>
                </a:path>
                <a:path w="1073150" h="3555365">
                  <a:moveTo>
                    <a:pt x="1072666" y="2624075"/>
                  </a:moveTo>
                  <a:lnTo>
                    <a:pt x="1072666" y="2624075"/>
                  </a:lnTo>
                  <a:lnTo>
                    <a:pt x="1072666" y="2636511"/>
                  </a:lnTo>
                </a:path>
                <a:path w="1073150" h="3555365">
                  <a:moveTo>
                    <a:pt x="107745" y="2777514"/>
                  </a:moveTo>
                  <a:lnTo>
                    <a:pt x="107745" y="2777514"/>
                  </a:lnTo>
                  <a:lnTo>
                    <a:pt x="107745" y="2789341"/>
                  </a:lnTo>
                </a:path>
                <a:path w="1073150" h="3555365">
                  <a:moveTo>
                    <a:pt x="107745" y="2825339"/>
                  </a:moveTo>
                  <a:lnTo>
                    <a:pt x="107745" y="2825339"/>
                  </a:lnTo>
                  <a:lnTo>
                    <a:pt x="107745" y="2836921"/>
                  </a:lnTo>
                </a:path>
                <a:path w="1073150" h="3555365">
                  <a:moveTo>
                    <a:pt x="107745" y="2872806"/>
                  </a:moveTo>
                  <a:lnTo>
                    <a:pt x="107745" y="2872806"/>
                  </a:lnTo>
                  <a:lnTo>
                    <a:pt x="107745" y="2885236"/>
                  </a:lnTo>
                </a:path>
                <a:path w="1073150" h="3555365">
                  <a:moveTo>
                    <a:pt x="107745" y="2921468"/>
                  </a:moveTo>
                  <a:lnTo>
                    <a:pt x="107745" y="2921468"/>
                  </a:lnTo>
                  <a:lnTo>
                    <a:pt x="107745" y="2933075"/>
                  </a:lnTo>
                </a:path>
                <a:path w="1073150" h="3555365">
                  <a:moveTo>
                    <a:pt x="107745" y="2968939"/>
                  </a:moveTo>
                  <a:lnTo>
                    <a:pt x="107745" y="2968939"/>
                  </a:lnTo>
                  <a:lnTo>
                    <a:pt x="107745" y="2980546"/>
                  </a:lnTo>
                </a:path>
                <a:path w="1073150" h="3555365">
                  <a:moveTo>
                    <a:pt x="107745" y="3016537"/>
                  </a:moveTo>
                  <a:lnTo>
                    <a:pt x="107745" y="3016537"/>
                  </a:lnTo>
                  <a:lnTo>
                    <a:pt x="107745" y="3029208"/>
                  </a:lnTo>
                </a:path>
                <a:path w="1073150" h="3555365">
                  <a:moveTo>
                    <a:pt x="107745" y="3065200"/>
                  </a:moveTo>
                  <a:lnTo>
                    <a:pt x="107745" y="3065200"/>
                  </a:lnTo>
                  <a:lnTo>
                    <a:pt x="107745" y="3076679"/>
                  </a:lnTo>
                </a:path>
                <a:path w="1073150" h="3555365">
                  <a:moveTo>
                    <a:pt x="107745" y="3112670"/>
                  </a:moveTo>
                  <a:lnTo>
                    <a:pt x="107745" y="3112670"/>
                  </a:lnTo>
                  <a:lnTo>
                    <a:pt x="107745" y="3124268"/>
                  </a:lnTo>
                </a:path>
                <a:path w="1073150" h="3555365">
                  <a:moveTo>
                    <a:pt x="107745" y="3160141"/>
                  </a:moveTo>
                  <a:lnTo>
                    <a:pt x="107745" y="3160141"/>
                  </a:lnTo>
                  <a:lnTo>
                    <a:pt x="107745" y="3172939"/>
                  </a:lnTo>
                </a:path>
                <a:path w="1073150" h="3555365">
                  <a:moveTo>
                    <a:pt x="107745" y="3208815"/>
                  </a:moveTo>
                  <a:lnTo>
                    <a:pt x="107745" y="3208815"/>
                  </a:lnTo>
                  <a:lnTo>
                    <a:pt x="107745" y="3220410"/>
                  </a:lnTo>
                </a:path>
                <a:path w="1073150" h="3555365">
                  <a:moveTo>
                    <a:pt x="107745" y="3256283"/>
                  </a:moveTo>
                  <a:lnTo>
                    <a:pt x="107745" y="3256283"/>
                  </a:lnTo>
                  <a:lnTo>
                    <a:pt x="107745" y="3267880"/>
                  </a:lnTo>
                </a:path>
                <a:path w="1073150" h="3555365">
                  <a:moveTo>
                    <a:pt x="107745" y="3303875"/>
                  </a:moveTo>
                  <a:lnTo>
                    <a:pt x="107745" y="3303875"/>
                  </a:lnTo>
                  <a:lnTo>
                    <a:pt x="107745" y="3316555"/>
                  </a:lnTo>
                </a:path>
                <a:path w="1073150" h="3555365">
                  <a:moveTo>
                    <a:pt x="107745" y="3352546"/>
                  </a:moveTo>
                  <a:lnTo>
                    <a:pt x="107745" y="3352546"/>
                  </a:lnTo>
                  <a:lnTo>
                    <a:pt x="107745" y="3364025"/>
                  </a:lnTo>
                </a:path>
                <a:path w="1073150" h="3555365">
                  <a:moveTo>
                    <a:pt x="107745" y="3400017"/>
                  </a:moveTo>
                  <a:lnTo>
                    <a:pt x="107745" y="3400017"/>
                  </a:lnTo>
                  <a:lnTo>
                    <a:pt x="107745" y="3411615"/>
                  </a:lnTo>
                </a:path>
                <a:path w="1073150" h="3555365">
                  <a:moveTo>
                    <a:pt x="107745" y="3447487"/>
                  </a:moveTo>
                  <a:lnTo>
                    <a:pt x="107745" y="3447487"/>
                  </a:lnTo>
                  <a:lnTo>
                    <a:pt x="107745" y="3460274"/>
                  </a:lnTo>
                </a:path>
                <a:path w="1073150" h="3555365">
                  <a:moveTo>
                    <a:pt x="107745" y="3496150"/>
                  </a:moveTo>
                  <a:lnTo>
                    <a:pt x="107745" y="3496150"/>
                  </a:lnTo>
                  <a:lnTo>
                    <a:pt x="107745" y="3507745"/>
                  </a:lnTo>
                </a:path>
                <a:path w="1073150" h="3555365">
                  <a:moveTo>
                    <a:pt x="107745" y="3543620"/>
                  </a:moveTo>
                  <a:lnTo>
                    <a:pt x="107745" y="3543620"/>
                  </a:lnTo>
                  <a:lnTo>
                    <a:pt x="107745" y="3555227"/>
                  </a:lnTo>
                </a:path>
              </a:pathLst>
            </a:custGeom>
            <a:ln w="23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580279" y="2469097"/>
              <a:ext cx="172720" cy="1856105"/>
            </a:xfrm>
            <a:custGeom>
              <a:avLst/>
              <a:gdLst/>
              <a:ahLst/>
              <a:cxnLst/>
              <a:rect l="l" t="t" r="r" b="b"/>
              <a:pathLst>
                <a:path w="172720" h="1856104">
                  <a:moveTo>
                    <a:pt x="0" y="0"/>
                  </a:moveTo>
                  <a:lnTo>
                    <a:pt x="0" y="0"/>
                  </a:lnTo>
                  <a:lnTo>
                    <a:pt x="172544" y="171575"/>
                  </a:lnTo>
                </a:path>
                <a:path w="172720" h="1856104">
                  <a:moveTo>
                    <a:pt x="172544" y="0"/>
                  </a:moveTo>
                  <a:lnTo>
                    <a:pt x="172544" y="0"/>
                  </a:lnTo>
                  <a:lnTo>
                    <a:pt x="0" y="172428"/>
                  </a:lnTo>
                </a:path>
                <a:path w="172720" h="1856104">
                  <a:moveTo>
                    <a:pt x="0" y="1683968"/>
                  </a:moveTo>
                  <a:lnTo>
                    <a:pt x="0" y="1683968"/>
                  </a:lnTo>
                  <a:lnTo>
                    <a:pt x="172544" y="1855205"/>
                  </a:lnTo>
                </a:path>
                <a:path w="172720" h="1856104">
                  <a:moveTo>
                    <a:pt x="172544" y="1683968"/>
                  </a:moveTo>
                  <a:lnTo>
                    <a:pt x="172544" y="1683968"/>
                  </a:lnTo>
                  <a:lnTo>
                    <a:pt x="0" y="1856037"/>
                  </a:lnTo>
                </a:path>
              </a:pathLst>
            </a:custGeom>
            <a:ln w="59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8068513" y="1102164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671648" y="1438178"/>
            <a:ext cx="621030" cy="3302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202565">
              <a:lnSpc>
                <a:spcPct val="78700"/>
              </a:lnSpc>
              <a:spcBef>
                <a:spcPts val="409"/>
              </a:spcBef>
            </a:pPr>
            <a:r>
              <a:rPr sz="1100" spc="-25" dirty="0">
                <a:latin typeface="Times New Roman"/>
                <a:cs typeface="Times New Roman"/>
              </a:rPr>
              <a:t>I/O </a:t>
            </a:r>
            <a:r>
              <a:rPr sz="1100" spc="-10" dirty="0">
                <a:latin typeface="Times New Roman"/>
                <a:cs typeface="Times New Roman"/>
              </a:rPr>
              <a:t>Command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719369" y="2731268"/>
            <a:ext cx="523875" cy="3302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1750" marR="5080" indent="-19685">
              <a:lnSpc>
                <a:spcPct val="78800"/>
              </a:lnSpc>
              <a:spcBef>
                <a:spcPts val="409"/>
              </a:spcBef>
            </a:pPr>
            <a:r>
              <a:rPr sz="1100" spc="-10" dirty="0">
                <a:latin typeface="Times New Roman"/>
                <a:cs typeface="Times New Roman"/>
              </a:rPr>
              <a:t>Interrupt Handler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068513" y="3227015"/>
            <a:ext cx="97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50" dirty="0">
                <a:latin typeface="Times New Roman"/>
                <a:cs typeface="Times New Roman"/>
              </a:rPr>
              <a:t>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823632" y="3587066"/>
            <a:ext cx="32004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25" dirty="0">
                <a:latin typeface="Times New Roman"/>
                <a:cs typeface="Times New Roman"/>
              </a:rPr>
              <a:t>END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22201" y="4850734"/>
            <a:ext cx="478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latin typeface="Times New Roman"/>
                <a:cs typeface="Times New Roman"/>
              </a:rPr>
              <a:t>WRITE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007581" y="4850734"/>
            <a:ext cx="47879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latin typeface="Times New Roman"/>
                <a:cs typeface="Times New Roman"/>
              </a:rPr>
              <a:t>WRITE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11490" y="5180159"/>
            <a:ext cx="97472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Times New Roman"/>
                <a:cs typeface="Times New Roman"/>
              </a:rPr>
              <a:t>(a)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interrupts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658226" y="5179317"/>
            <a:ext cx="164655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Times New Roman"/>
                <a:cs typeface="Times New Roman"/>
              </a:rPr>
              <a:t>(b)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Interrupts;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short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I/O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wait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263461" y="5180150"/>
            <a:ext cx="160718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Times New Roman"/>
                <a:cs typeface="Times New Roman"/>
              </a:rPr>
              <a:t>(c)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Interrupts;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I/O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wait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49448" y="5659785"/>
            <a:ext cx="172720" cy="172720"/>
          </a:xfrm>
          <a:custGeom>
            <a:avLst/>
            <a:gdLst/>
            <a:ahLst/>
            <a:cxnLst/>
            <a:rect l="l" t="t" r="r" b="b"/>
            <a:pathLst>
              <a:path w="172719" h="172720">
                <a:moveTo>
                  <a:pt x="0" y="0"/>
                </a:moveTo>
                <a:lnTo>
                  <a:pt x="0" y="0"/>
                </a:lnTo>
                <a:lnTo>
                  <a:pt x="172450" y="170676"/>
                </a:lnTo>
              </a:path>
              <a:path w="172719" h="172720">
                <a:moveTo>
                  <a:pt x="172450" y="0"/>
                </a:moveTo>
                <a:lnTo>
                  <a:pt x="172450" y="0"/>
                </a:lnTo>
                <a:lnTo>
                  <a:pt x="0" y="172462"/>
                </a:lnTo>
              </a:path>
            </a:pathLst>
          </a:custGeom>
          <a:ln w="593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906879" y="5631084"/>
            <a:ext cx="354139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interrupt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occurs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program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479754" y="6095305"/>
            <a:ext cx="611759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Times New Roman"/>
                <a:cs typeface="Times New Roman"/>
              </a:rPr>
              <a:t>Figure</a:t>
            </a:r>
            <a:r>
              <a:rPr sz="1700" b="1" spc="-6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3.7</a:t>
            </a:r>
            <a:r>
              <a:rPr sz="1700" b="1" spc="30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Program</a:t>
            </a:r>
            <a:r>
              <a:rPr sz="1700" b="1" spc="-6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Flow</a:t>
            </a:r>
            <a:r>
              <a:rPr sz="1700" b="1" spc="-6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-6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Control</a:t>
            </a:r>
            <a:r>
              <a:rPr sz="1700" b="1" spc="-6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Without</a:t>
            </a:r>
            <a:r>
              <a:rPr sz="1700" b="1" spc="-6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and</a:t>
            </a:r>
            <a:r>
              <a:rPr sz="1700" b="1" spc="-6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With</a:t>
            </a:r>
            <a:r>
              <a:rPr sz="1700" b="1" spc="-6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Interrupts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203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2791307" y="320796"/>
            <a:ext cx="123317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000000"/>
                </a:solidFill>
                <a:latin typeface="Times New Roman"/>
                <a:cs typeface="Times New Roman"/>
              </a:rPr>
              <a:t>User</a:t>
            </a:r>
            <a:r>
              <a:rPr sz="1700" spc="-10" dirty="0">
                <a:solidFill>
                  <a:srgbClr val="000000"/>
                </a:solidFill>
                <a:latin typeface="Times New Roman"/>
                <a:cs typeface="Times New Roman"/>
              </a:rPr>
              <a:t> Program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44474" y="320796"/>
            <a:ext cx="15303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Times New Roman"/>
                <a:cs typeface="Times New Roman"/>
              </a:rPr>
              <a:t>Interrupt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Handler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99908" y="1207719"/>
            <a:ext cx="133985" cy="733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700" spc="-50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25696" y="1380195"/>
            <a:ext cx="1678939" cy="3691254"/>
          </a:xfrm>
          <a:custGeom>
            <a:avLst/>
            <a:gdLst/>
            <a:ahLst/>
            <a:cxnLst/>
            <a:rect l="l" t="t" r="r" b="b"/>
            <a:pathLst>
              <a:path w="1678939" h="3691254">
                <a:moveTo>
                  <a:pt x="1678567" y="0"/>
                </a:moveTo>
                <a:lnTo>
                  <a:pt x="0" y="0"/>
                </a:lnTo>
                <a:lnTo>
                  <a:pt x="0" y="3690832"/>
                </a:lnTo>
                <a:lnTo>
                  <a:pt x="1678567" y="3690832"/>
                </a:lnTo>
                <a:lnTo>
                  <a:pt x="1678567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82553" y="1380195"/>
            <a:ext cx="1678305" cy="1842135"/>
          </a:xfrm>
          <a:custGeom>
            <a:avLst/>
            <a:gdLst/>
            <a:ahLst/>
            <a:cxnLst/>
            <a:rect l="l" t="t" r="r" b="b"/>
            <a:pathLst>
              <a:path w="1678304" h="1842135">
                <a:moveTo>
                  <a:pt x="1678106" y="0"/>
                </a:moveTo>
                <a:lnTo>
                  <a:pt x="0" y="0"/>
                </a:lnTo>
                <a:lnTo>
                  <a:pt x="0" y="1841997"/>
                </a:lnTo>
                <a:lnTo>
                  <a:pt x="1678106" y="1841997"/>
                </a:lnTo>
                <a:lnTo>
                  <a:pt x="1678106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25693" y="1380206"/>
            <a:ext cx="1678939" cy="0"/>
          </a:xfrm>
          <a:custGeom>
            <a:avLst/>
            <a:gdLst/>
            <a:ahLst/>
            <a:cxnLst/>
            <a:rect l="l" t="t" r="r" b="b"/>
            <a:pathLst>
              <a:path w="1678939">
                <a:moveTo>
                  <a:pt x="0" y="0"/>
                </a:moveTo>
                <a:lnTo>
                  <a:pt x="0" y="0"/>
                </a:lnTo>
                <a:lnTo>
                  <a:pt x="1678570" y="0"/>
                </a:lnTo>
              </a:path>
            </a:pathLst>
          </a:custGeom>
          <a:ln w="15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25693" y="1827469"/>
            <a:ext cx="1678939" cy="0"/>
          </a:xfrm>
          <a:custGeom>
            <a:avLst/>
            <a:gdLst/>
            <a:ahLst/>
            <a:cxnLst/>
            <a:rect l="l" t="t" r="r" b="b"/>
            <a:pathLst>
              <a:path w="1678939">
                <a:moveTo>
                  <a:pt x="0" y="0"/>
                </a:moveTo>
                <a:lnTo>
                  <a:pt x="0" y="0"/>
                </a:lnTo>
                <a:lnTo>
                  <a:pt x="1678570" y="0"/>
                </a:lnTo>
              </a:path>
            </a:pathLst>
          </a:custGeom>
          <a:ln w="15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6912" y="2312151"/>
            <a:ext cx="72481" cy="7199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6912" y="2535936"/>
            <a:ext cx="72481" cy="72176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66912" y="2759415"/>
            <a:ext cx="72481" cy="72481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429613" y="897328"/>
            <a:ext cx="3231515" cy="2336165"/>
            <a:chOff x="4429613" y="897328"/>
            <a:chExt cx="3231515" cy="2336165"/>
          </a:xfrm>
        </p:grpSpPr>
        <p:sp>
          <p:nvSpPr>
            <p:cNvPr id="20" name="object 20"/>
            <p:cNvSpPr/>
            <p:nvPr/>
          </p:nvSpPr>
          <p:spPr>
            <a:xfrm>
              <a:off x="4437125" y="904841"/>
              <a:ext cx="3223895" cy="2320925"/>
            </a:xfrm>
            <a:custGeom>
              <a:avLst/>
              <a:gdLst/>
              <a:ahLst/>
              <a:cxnLst/>
              <a:rect l="l" t="t" r="r" b="b"/>
              <a:pathLst>
                <a:path w="3223895" h="2320925">
                  <a:moveTo>
                    <a:pt x="1545396" y="475365"/>
                  </a:moveTo>
                  <a:lnTo>
                    <a:pt x="1545396" y="475365"/>
                  </a:lnTo>
                  <a:lnTo>
                    <a:pt x="3223534" y="475365"/>
                  </a:lnTo>
                </a:path>
                <a:path w="3223895" h="2320925">
                  <a:moveTo>
                    <a:pt x="1545396" y="922627"/>
                  </a:moveTo>
                  <a:lnTo>
                    <a:pt x="1545396" y="922627"/>
                  </a:lnTo>
                  <a:lnTo>
                    <a:pt x="3223534" y="922627"/>
                  </a:lnTo>
                </a:path>
                <a:path w="3223895" h="2320925">
                  <a:moveTo>
                    <a:pt x="1545396" y="2320773"/>
                  </a:moveTo>
                  <a:lnTo>
                    <a:pt x="1545396" y="2320773"/>
                  </a:lnTo>
                  <a:lnTo>
                    <a:pt x="3223534" y="2320773"/>
                  </a:lnTo>
                </a:path>
                <a:path w="3223895" h="2320925">
                  <a:moveTo>
                    <a:pt x="0" y="2308062"/>
                  </a:moveTo>
                  <a:lnTo>
                    <a:pt x="703935" y="2308062"/>
                  </a:lnTo>
                  <a:lnTo>
                    <a:pt x="703935" y="0"/>
                  </a:lnTo>
                  <a:lnTo>
                    <a:pt x="2377561" y="0"/>
                  </a:lnTo>
                  <a:lnTo>
                    <a:pt x="2377561" y="251581"/>
                  </a:lnTo>
                </a:path>
              </a:pathLst>
            </a:custGeom>
            <a:ln w="150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56501" y="1139037"/>
              <a:ext cx="115570" cy="100330"/>
            </a:xfrm>
            <a:custGeom>
              <a:avLst/>
              <a:gdLst/>
              <a:ahLst/>
              <a:cxnLst/>
              <a:rect l="l" t="t" r="r" b="b"/>
              <a:pathLst>
                <a:path w="115570" h="100330">
                  <a:moveTo>
                    <a:pt x="115153" y="0"/>
                  </a:moveTo>
                  <a:lnTo>
                    <a:pt x="0" y="0"/>
                  </a:lnTo>
                  <a:lnTo>
                    <a:pt x="58186" y="100248"/>
                  </a:lnTo>
                  <a:lnTo>
                    <a:pt x="115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16882" y="2759415"/>
              <a:ext cx="72481" cy="7248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16882" y="2535936"/>
              <a:ext cx="72481" cy="7217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16882" y="2312151"/>
              <a:ext cx="72481" cy="7199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32750" y="3218728"/>
            <a:ext cx="78295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latin typeface="Times New Roman"/>
                <a:cs typeface="Times New Roman"/>
              </a:rPr>
              <a:t>Interrupt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7071" y="3052980"/>
            <a:ext cx="426720" cy="733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  <a:p>
            <a:pPr marR="6350" algn="r">
              <a:lnSpc>
                <a:spcPct val="100000"/>
              </a:lnSpc>
              <a:spcBef>
                <a:spcPts val="1485"/>
              </a:spcBef>
            </a:pPr>
            <a:r>
              <a:rPr sz="1700" i="1" dirty="0">
                <a:latin typeface="Times New Roman"/>
                <a:cs typeface="Times New Roman"/>
              </a:rPr>
              <a:t>i</a:t>
            </a:r>
            <a:r>
              <a:rPr sz="1700" i="1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+ </a:t>
            </a:r>
            <a:r>
              <a:rPr sz="1700" spc="-50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25693" y="3225614"/>
            <a:ext cx="1678939" cy="0"/>
          </a:xfrm>
          <a:custGeom>
            <a:avLst/>
            <a:gdLst/>
            <a:ahLst/>
            <a:cxnLst/>
            <a:rect l="l" t="t" r="r" b="b"/>
            <a:pathLst>
              <a:path w="1678939">
                <a:moveTo>
                  <a:pt x="0" y="0"/>
                </a:moveTo>
                <a:lnTo>
                  <a:pt x="0" y="0"/>
                </a:lnTo>
                <a:lnTo>
                  <a:pt x="1678570" y="0"/>
                </a:lnTo>
              </a:path>
            </a:pathLst>
          </a:custGeom>
          <a:ln w="15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546619" y="3366699"/>
            <a:ext cx="523240" cy="115570"/>
            <a:chOff x="1546619" y="3366699"/>
            <a:chExt cx="523240" cy="115570"/>
          </a:xfrm>
        </p:grpSpPr>
        <p:sp>
          <p:nvSpPr>
            <p:cNvPr id="17" name="object 17"/>
            <p:cNvSpPr/>
            <p:nvPr/>
          </p:nvSpPr>
          <p:spPr>
            <a:xfrm>
              <a:off x="1546619" y="3424892"/>
              <a:ext cx="439420" cy="0"/>
            </a:xfrm>
            <a:custGeom>
              <a:avLst/>
              <a:gdLst/>
              <a:ahLst/>
              <a:cxnLst/>
              <a:rect l="l" t="t" r="r" b="b"/>
              <a:pathLst>
                <a:path w="439419">
                  <a:moveTo>
                    <a:pt x="0" y="0"/>
                  </a:moveTo>
                  <a:lnTo>
                    <a:pt x="0" y="0"/>
                  </a:lnTo>
                  <a:lnTo>
                    <a:pt x="439207" y="0"/>
                  </a:lnTo>
                </a:path>
              </a:pathLst>
            </a:custGeom>
            <a:ln w="150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68447" y="3366699"/>
              <a:ext cx="101600" cy="115570"/>
            </a:xfrm>
            <a:custGeom>
              <a:avLst/>
              <a:gdLst/>
              <a:ahLst/>
              <a:cxnLst/>
              <a:rect l="l" t="t" r="r" b="b"/>
              <a:pathLst>
                <a:path w="101600" h="115570">
                  <a:moveTo>
                    <a:pt x="0" y="0"/>
                  </a:moveTo>
                  <a:lnTo>
                    <a:pt x="0" y="115153"/>
                  </a:lnTo>
                  <a:lnTo>
                    <a:pt x="101336" y="58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32750" y="3479606"/>
            <a:ext cx="101536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Times New Roman"/>
                <a:cs typeface="Times New Roman"/>
              </a:rPr>
              <a:t>occurs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here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55749" y="3345203"/>
            <a:ext cx="2366645" cy="376555"/>
            <a:chOff x="4455749" y="3345203"/>
            <a:chExt cx="2366645" cy="376555"/>
          </a:xfrm>
        </p:grpSpPr>
        <p:sp>
          <p:nvSpPr>
            <p:cNvPr id="14" name="object 14"/>
            <p:cNvSpPr/>
            <p:nvPr/>
          </p:nvSpPr>
          <p:spPr>
            <a:xfrm>
              <a:off x="4539691" y="3352715"/>
              <a:ext cx="2275205" cy="311150"/>
            </a:xfrm>
            <a:custGeom>
              <a:avLst/>
              <a:gdLst/>
              <a:ahLst/>
              <a:cxnLst/>
              <a:rect l="l" t="t" r="r" b="b"/>
              <a:pathLst>
                <a:path w="2275204" h="311150">
                  <a:moveTo>
                    <a:pt x="2274996" y="0"/>
                  </a:moveTo>
                  <a:lnTo>
                    <a:pt x="2274996" y="311017"/>
                  </a:lnTo>
                  <a:lnTo>
                    <a:pt x="0" y="311017"/>
                  </a:lnTo>
                </a:path>
              </a:pathLst>
            </a:custGeom>
            <a:ln w="150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5749" y="3605540"/>
              <a:ext cx="101600" cy="116839"/>
            </a:xfrm>
            <a:custGeom>
              <a:avLst/>
              <a:gdLst/>
              <a:ahLst/>
              <a:cxnLst/>
              <a:rect l="l" t="t" r="r" b="b"/>
              <a:pathLst>
                <a:path w="101600" h="116839">
                  <a:moveTo>
                    <a:pt x="101163" y="0"/>
                  </a:moveTo>
                  <a:lnTo>
                    <a:pt x="0" y="58186"/>
                  </a:lnTo>
                  <a:lnTo>
                    <a:pt x="101163" y="116220"/>
                  </a:lnTo>
                  <a:lnTo>
                    <a:pt x="1011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2625693" y="3672876"/>
            <a:ext cx="1678939" cy="0"/>
          </a:xfrm>
          <a:custGeom>
            <a:avLst/>
            <a:gdLst/>
            <a:ahLst/>
            <a:cxnLst/>
            <a:rect l="l" t="t" r="r" b="b"/>
            <a:pathLst>
              <a:path w="1678939">
                <a:moveTo>
                  <a:pt x="0" y="0"/>
                </a:moveTo>
                <a:lnTo>
                  <a:pt x="0" y="0"/>
                </a:lnTo>
                <a:lnTo>
                  <a:pt x="1678570" y="0"/>
                </a:lnTo>
              </a:path>
            </a:pathLst>
          </a:custGeom>
          <a:ln w="15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66912" y="4066614"/>
            <a:ext cx="72481" cy="7247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66912" y="4290559"/>
            <a:ext cx="72481" cy="7231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66912" y="4514350"/>
            <a:ext cx="72481" cy="7200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326349" y="4898444"/>
            <a:ext cx="20637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i="1" spc="-50" dirty="0">
                <a:latin typeface="Times New Roman"/>
                <a:cs typeface="Times New Roman"/>
              </a:rPr>
              <a:t>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25693" y="5071028"/>
            <a:ext cx="1678939" cy="0"/>
          </a:xfrm>
          <a:custGeom>
            <a:avLst/>
            <a:gdLst/>
            <a:ahLst/>
            <a:cxnLst/>
            <a:rect l="l" t="t" r="r" b="b"/>
            <a:pathLst>
              <a:path w="1678939">
                <a:moveTo>
                  <a:pt x="0" y="0"/>
                </a:moveTo>
                <a:lnTo>
                  <a:pt x="0" y="0"/>
                </a:lnTo>
                <a:lnTo>
                  <a:pt x="1678570" y="0"/>
                </a:lnTo>
              </a:path>
            </a:pathLst>
          </a:custGeom>
          <a:ln w="15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954506" y="5803791"/>
            <a:ext cx="12306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Figure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3.8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65486" y="5803791"/>
            <a:ext cx="417067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Transfer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Control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via</a:t>
            </a:r>
            <a:r>
              <a:rPr sz="2200" b="1" spc="459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Interrupts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2776579" y="1306297"/>
            <a:ext cx="117157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Fetch</a:t>
            </a:r>
            <a:r>
              <a:rPr sz="18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52400" y="1306297"/>
            <a:ext cx="139954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Times New Roman"/>
                <a:cs typeface="Times New Roman"/>
              </a:rPr>
              <a:t>Execute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35699" y="1306297"/>
            <a:ext cx="155130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latin typeface="Times New Roman"/>
                <a:cs typeface="Times New Roman"/>
              </a:rPr>
              <a:t>Interrupt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4014" y="2690261"/>
            <a:ext cx="1472565" cy="508000"/>
            <a:chOff x="374014" y="2690261"/>
            <a:chExt cx="1472565" cy="508000"/>
          </a:xfrm>
        </p:grpSpPr>
        <p:sp>
          <p:nvSpPr>
            <p:cNvPr id="16" name="object 16"/>
            <p:cNvSpPr/>
            <p:nvPr/>
          </p:nvSpPr>
          <p:spPr>
            <a:xfrm>
              <a:off x="469712" y="2784774"/>
              <a:ext cx="1376680" cy="413384"/>
            </a:xfrm>
            <a:custGeom>
              <a:avLst/>
              <a:gdLst/>
              <a:ahLst/>
              <a:cxnLst/>
              <a:rect l="l" t="t" r="r" b="b"/>
              <a:pathLst>
                <a:path w="1376680" h="413385">
                  <a:moveTo>
                    <a:pt x="1170050" y="0"/>
                  </a:moveTo>
                  <a:lnTo>
                    <a:pt x="206992" y="0"/>
                  </a:lnTo>
                  <a:lnTo>
                    <a:pt x="159334" y="5495"/>
                  </a:lnTo>
                  <a:lnTo>
                    <a:pt x="115689" y="21126"/>
                  </a:lnTo>
                  <a:lnTo>
                    <a:pt x="77267" y="45613"/>
                  </a:lnTo>
                  <a:lnTo>
                    <a:pt x="45277" y="77674"/>
                  </a:lnTo>
                  <a:lnTo>
                    <a:pt x="20929" y="116030"/>
                  </a:lnTo>
                  <a:lnTo>
                    <a:pt x="5434" y="159399"/>
                  </a:lnTo>
                  <a:lnTo>
                    <a:pt x="0" y="206501"/>
                  </a:lnTo>
                  <a:lnTo>
                    <a:pt x="5434" y="254026"/>
                  </a:lnTo>
                  <a:lnTo>
                    <a:pt x="20929" y="297582"/>
                  </a:lnTo>
                  <a:lnTo>
                    <a:pt x="45277" y="335951"/>
                  </a:lnTo>
                  <a:lnTo>
                    <a:pt x="77267" y="367914"/>
                  </a:lnTo>
                  <a:lnTo>
                    <a:pt x="115689" y="392253"/>
                  </a:lnTo>
                  <a:lnTo>
                    <a:pt x="159334" y="407750"/>
                  </a:lnTo>
                  <a:lnTo>
                    <a:pt x="206992" y="413186"/>
                  </a:lnTo>
                  <a:lnTo>
                    <a:pt x="1170050" y="413186"/>
                  </a:lnTo>
                  <a:lnTo>
                    <a:pt x="1217162" y="407750"/>
                  </a:lnTo>
                  <a:lnTo>
                    <a:pt x="1260540" y="392253"/>
                  </a:lnTo>
                  <a:lnTo>
                    <a:pt x="1298902" y="367914"/>
                  </a:lnTo>
                  <a:lnTo>
                    <a:pt x="1330969" y="335951"/>
                  </a:lnTo>
                  <a:lnTo>
                    <a:pt x="1355460" y="297582"/>
                  </a:lnTo>
                  <a:lnTo>
                    <a:pt x="1371093" y="254026"/>
                  </a:lnTo>
                  <a:lnTo>
                    <a:pt x="1376589" y="206501"/>
                  </a:lnTo>
                  <a:lnTo>
                    <a:pt x="1371093" y="159399"/>
                  </a:lnTo>
                  <a:lnTo>
                    <a:pt x="1355460" y="116030"/>
                  </a:lnTo>
                  <a:lnTo>
                    <a:pt x="1330969" y="77674"/>
                  </a:lnTo>
                  <a:lnTo>
                    <a:pt x="1298902" y="45613"/>
                  </a:lnTo>
                  <a:lnTo>
                    <a:pt x="1260540" y="21126"/>
                  </a:lnTo>
                  <a:lnTo>
                    <a:pt x="1217162" y="5495"/>
                  </a:lnTo>
                  <a:lnTo>
                    <a:pt x="1170050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049" y="2696291"/>
              <a:ext cx="1377315" cy="412115"/>
            </a:xfrm>
            <a:custGeom>
              <a:avLst/>
              <a:gdLst/>
              <a:ahLst/>
              <a:cxnLst/>
              <a:rect l="l" t="t" r="r" b="b"/>
              <a:pathLst>
                <a:path w="1377314" h="412114">
                  <a:moveTo>
                    <a:pt x="1170121" y="0"/>
                  </a:moveTo>
                  <a:lnTo>
                    <a:pt x="206989" y="0"/>
                  </a:lnTo>
                  <a:lnTo>
                    <a:pt x="159706" y="5429"/>
                  </a:lnTo>
                  <a:lnTo>
                    <a:pt x="116206" y="20908"/>
                  </a:lnTo>
                  <a:lnTo>
                    <a:pt x="77764" y="45222"/>
                  </a:lnTo>
                  <a:lnTo>
                    <a:pt x="45650" y="77155"/>
                  </a:lnTo>
                  <a:lnTo>
                    <a:pt x="21137" y="115495"/>
                  </a:lnTo>
                  <a:lnTo>
                    <a:pt x="5496" y="159025"/>
                  </a:lnTo>
                  <a:lnTo>
                    <a:pt x="0" y="206532"/>
                  </a:lnTo>
                  <a:lnTo>
                    <a:pt x="5496" y="253631"/>
                  </a:lnTo>
                  <a:lnTo>
                    <a:pt x="21137" y="296866"/>
                  </a:lnTo>
                  <a:lnTo>
                    <a:pt x="45650" y="335004"/>
                  </a:lnTo>
                  <a:lnTo>
                    <a:pt x="77764" y="366813"/>
                  </a:lnTo>
                  <a:lnTo>
                    <a:pt x="116206" y="391060"/>
                  </a:lnTo>
                  <a:lnTo>
                    <a:pt x="159706" y="406512"/>
                  </a:lnTo>
                  <a:lnTo>
                    <a:pt x="206989" y="411937"/>
                  </a:lnTo>
                  <a:lnTo>
                    <a:pt x="1170121" y="411937"/>
                  </a:lnTo>
                  <a:lnTo>
                    <a:pt x="1217757" y="406512"/>
                  </a:lnTo>
                  <a:lnTo>
                    <a:pt x="1261378" y="391060"/>
                  </a:lnTo>
                  <a:lnTo>
                    <a:pt x="1299778" y="366813"/>
                  </a:lnTo>
                  <a:lnTo>
                    <a:pt x="1331747" y="335004"/>
                  </a:lnTo>
                  <a:lnTo>
                    <a:pt x="1356077" y="296866"/>
                  </a:lnTo>
                  <a:lnTo>
                    <a:pt x="1371562" y="253631"/>
                  </a:lnTo>
                  <a:lnTo>
                    <a:pt x="1376991" y="206532"/>
                  </a:lnTo>
                  <a:lnTo>
                    <a:pt x="1371562" y="159025"/>
                  </a:lnTo>
                  <a:lnTo>
                    <a:pt x="1356077" y="115495"/>
                  </a:lnTo>
                  <a:lnTo>
                    <a:pt x="1331747" y="77155"/>
                  </a:lnTo>
                  <a:lnTo>
                    <a:pt x="1299778" y="45222"/>
                  </a:lnTo>
                  <a:lnTo>
                    <a:pt x="1261378" y="20908"/>
                  </a:lnTo>
                  <a:lnTo>
                    <a:pt x="1217757" y="5429"/>
                  </a:lnTo>
                  <a:lnTo>
                    <a:pt x="1170121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0046" y="2696294"/>
              <a:ext cx="1377315" cy="412115"/>
            </a:xfrm>
            <a:custGeom>
              <a:avLst/>
              <a:gdLst/>
              <a:ahLst/>
              <a:cxnLst/>
              <a:rect l="l" t="t" r="r" b="b"/>
              <a:pathLst>
                <a:path w="1377314" h="412114">
                  <a:moveTo>
                    <a:pt x="1170118" y="411915"/>
                  </a:moveTo>
                  <a:lnTo>
                    <a:pt x="1217755" y="406491"/>
                  </a:lnTo>
                  <a:lnTo>
                    <a:pt x="1261377" y="391040"/>
                  </a:lnTo>
                  <a:lnTo>
                    <a:pt x="1299777" y="366794"/>
                  </a:lnTo>
                  <a:lnTo>
                    <a:pt x="1331746" y="334987"/>
                  </a:lnTo>
                  <a:lnTo>
                    <a:pt x="1356076" y="296850"/>
                  </a:lnTo>
                  <a:lnTo>
                    <a:pt x="1371560" y="253618"/>
                  </a:lnTo>
                  <a:lnTo>
                    <a:pt x="1376990" y="206521"/>
                  </a:lnTo>
                  <a:lnTo>
                    <a:pt x="1371560" y="159017"/>
                  </a:lnTo>
                  <a:lnTo>
                    <a:pt x="1356076" y="115489"/>
                  </a:lnTo>
                  <a:lnTo>
                    <a:pt x="1331746" y="77151"/>
                  </a:lnTo>
                  <a:lnTo>
                    <a:pt x="1299777" y="45219"/>
                  </a:lnTo>
                  <a:lnTo>
                    <a:pt x="1261377" y="20907"/>
                  </a:lnTo>
                  <a:lnTo>
                    <a:pt x="1217755" y="5429"/>
                  </a:lnTo>
                  <a:lnTo>
                    <a:pt x="1170118" y="0"/>
                  </a:lnTo>
                  <a:lnTo>
                    <a:pt x="206990" y="0"/>
                  </a:lnTo>
                  <a:lnTo>
                    <a:pt x="159707" y="5429"/>
                  </a:lnTo>
                  <a:lnTo>
                    <a:pt x="116208" y="20907"/>
                  </a:lnTo>
                  <a:lnTo>
                    <a:pt x="77765" y="45219"/>
                  </a:lnTo>
                  <a:lnTo>
                    <a:pt x="45651" y="77151"/>
                  </a:lnTo>
                  <a:lnTo>
                    <a:pt x="21137" y="115489"/>
                  </a:lnTo>
                  <a:lnTo>
                    <a:pt x="5496" y="159017"/>
                  </a:lnTo>
                  <a:lnTo>
                    <a:pt x="0" y="206521"/>
                  </a:lnTo>
                  <a:lnTo>
                    <a:pt x="5496" y="253618"/>
                  </a:lnTo>
                  <a:lnTo>
                    <a:pt x="21137" y="296850"/>
                  </a:lnTo>
                  <a:lnTo>
                    <a:pt x="45651" y="334987"/>
                  </a:lnTo>
                  <a:lnTo>
                    <a:pt x="77765" y="366794"/>
                  </a:lnTo>
                  <a:lnTo>
                    <a:pt x="116208" y="391040"/>
                  </a:lnTo>
                  <a:lnTo>
                    <a:pt x="159707" y="406491"/>
                  </a:lnTo>
                  <a:lnTo>
                    <a:pt x="206990" y="411915"/>
                  </a:lnTo>
                  <a:lnTo>
                    <a:pt x="1170118" y="411915"/>
                  </a:lnTo>
                  <a:close/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5500" y="2758594"/>
            <a:ext cx="6178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START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68771" y="2487352"/>
            <a:ext cx="1472565" cy="920750"/>
            <a:chOff x="2668771" y="2487352"/>
            <a:chExt cx="1472565" cy="920750"/>
          </a:xfrm>
        </p:grpSpPr>
        <p:sp>
          <p:nvSpPr>
            <p:cNvPr id="4" name="object 4"/>
            <p:cNvSpPr/>
            <p:nvPr/>
          </p:nvSpPr>
          <p:spPr>
            <a:xfrm>
              <a:off x="2764453" y="2583027"/>
              <a:ext cx="1376680" cy="825500"/>
            </a:xfrm>
            <a:custGeom>
              <a:avLst/>
              <a:gdLst/>
              <a:ahLst/>
              <a:cxnLst/>
              <a:rect l="l" t="t" r="r" b="b"/>
              <a:pathLst>
                <a:path w="1376679" h="825500">
                  <a:moveTo>
                    <a:pt x="1376589" y="0"/>
                  </a:moveTo>
                  <a:lnTo>
                    <a:pt x="0" y="0"/>
                  </a:lnTo>
                  <a:lnTo>
                    <a:pt x="0" y="824971"/>
                  </a:lnTo>
                  <a:lnTo>
                    <a:pt x="1376589" y="824971"/>
                  </a:lnTo>
                  <a:lnTo>
                    <a:pt x="1376589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74702" y="2493264"/>
              <a:ext cx="1376680" cy="826769"/>
            </a:xfrm>
            <a:custGeom>
              <a:avLst/>
              <a:gdLst/>
              <a:ahLst/>
              <a:cxnLst/>
              <a:rect l="l" t="t" r="r" b="b"/>
              <a:pathLst>
                <a:path w="1376679" h="826770">
                  <a:moveTo>
                    <a:pt x="1376577" y="0"/>
                  </a:moveTo>
                  <a:lnTo>
                    <a:pt x="0" y="0"/>
                  </a:lnTo>
                  <a:lnTo>
                    <a:pt x="0" y="826739"/>
                  </a:lnTo>
                  <a:lnTo>
                    <a:pt x="1376577" y="826739"/>
                  </a:lnTo>
                  <a:lnTo>
                    <a:pt x="1376577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74695" y="2493277"/>
              <a:ext cx="1376680" cy="826769"/>
            </a:xfrm>
            <a:custGeom>
              <a:avLst/>
              <a:gdLst/>
              <a:ahLst/>
              <a:cxnLst/>
              <a:rect l="l" t="t" r="r" b="b"/>
              <a:pathLst>
                <a:path w="1376679" h="826770">
                  <a:moveTo>
                    <a:pt x="1376573" y="0"/>
                  </a:moveTo>
                  <a:lnTo>
                    <a:pt x="0" y="0"/>
                  </a:lnTo>
                  <a:lnTo>
                    <a:pt x="0" y="826727"/>
                  </a:lnTo>
                  <a:lnTo>
                    <a:pt x="1376573" y="826727"/>
                  </a:lnTo>
                  <a:lnTo>
                    <a:pt x="1376573" y="0"/>
                  </a:lnTo>
                  <a:close/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680620" y="2631784"/>
            <a:ext cx="136525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079" marR="248920" indent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Fetch</a:t>
            </a:r>
            <a:r>
              <a:rPr sz="1400" b="1" spc="-20" dirty="0">
                <a:latin typeface="Times New Roman"/>
                <a:cs typeface="Times New Roman"/>
              </a:rPr>
              <a:t> Next </a:t>
            </a:r>
            <a:r>
              <a:rPr sz="1400" b="1" spc="-10" dirty="0">
                <a:latin typeface="Times New Roman"/>
                <a:cs typeface="Times New Roman"/>
              </a:rPr>
              <a:t>Instruction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63021" y="2487352"/>
            <a:ext cx="1472565" cy="920750"/>
            <a:chOff x="4963021" y="2487352"/>
            <a:chExt cx="1472565" cy="920750"/>
          </a:xfrm>
        </p:grpSpPr>
        <p:sp>
          <p:nvSpPr>
            <p:cNvPr id="8" name="object 8"/>
            <p:cNvSpPr/>
            <p:nvPr/>
          </p:nvSpPr>
          <p:spPr>
            <a:xfrm>
              <a:off x="5058704" y="2583027"/>
              <a:ext cx="1376680" cy="825500"/>
            </a:xfrm>
            <a:custGeom>
              <a:avLst/>
              <a:gdLst/>
              <a:ahLst/>
              <a:cxnLst/>
              <a:rect l="l" t="t" r="r" b="b"/>
              <a:pathLst>
                <a:path w="1376679" h="825500">
                  <a:moveTo>
                    <a:pt x="1376598" y="0"/>
                  </a:moveTo>
                  <a:lnTo>
                    <a:pt x="0" y="0"/>
                  </a:lnTo>
                  <a:lnTo>
                    <a:pt x="0" y="824971"/>
                  </a:lnTo>
                  <a:lnTo>
                    <a:pt x="1376598" y="824971"/>
                  </a:lnTo>
                  <a:lnTo>
                    <a:pt x="1376598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8971" y="2493264"/>
              <a:ext cx="1377315" cy="826769"/>
            </a:xfrm>
            <a:custGeom>
              <a:avLst/>
              <a:gdLst/>
              <a:ahLst/>
              <a:cxnLst/>
              <a:rect l="l" t="t" r="r" b="b"/>
              <a:pathLst>
                <a:path w="1377314" h="826770">
                  <a:moveTo>
                    <a:pt x="1377055" y="0"/>
                  </a:moveTo>
                  <a:lnTo>
                    <a:pt x="0" y="0"/>
                  </a:lnTo>
                  <a:lnTo>
                    <a:pt x="0" y="826739"/>
                  </a:lnTo>
                  <a:lnTo>
                    <a:pt x="1377055" y="826739"/>
                  </a:lnTo>
                  <a:lnTo>
                    <a:pt x="1377055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68945" y="2493277"/>
              <a:ext cx="1377315" cy="826769"/>
            </a:xfrm>
            <a:custGeom>
              <a:avLst/>
              <a:gdLst/>
              <a:ahLst/>
              <a:cxnLst/>
              <a:rect l="l" t="t" r="r" b="b"/>
              <a:pathLst>
                <a:path w="1377314" h="826770">
                  <a:moveTo>
                    <a:pt x="1377063" y="0"/>
                  </a:moveTo>
                  <a:lnTo>
                    <a:pt x="0" y="0"/>
                  </a:lnTo>
                  <a:lnTo>
                    <a:pt x="0" y="826727"/>
                  </a:lnTo>
                  <a:lnTo>
                    <a:pt x="1377063" y="826727"/>
                  </a:lnTo>
                  <a:lnTo>
                    <a:pt x="1377063" y="0"/>
                  </a:lnTo>
                  <a:close/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672486" y="2045791"/>
            <a:ext cx="81534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 marR="5080" indent="-64769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Interrupts Disabled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74870" y="2631780"/>
            <a:ext cx="136525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415" marR="237490" indent="123825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Execute Instruction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257761" y="2487352"/>
            <a:ext cx="1472565" cy="920750"/>
            <a:chOff x="7257761" y="2487352"/>
            <a:chExt cx="1472565" cy="920750"/>
          </a:xfrm>
        </p:grpSpPr>
        <p:sp>
          <p:nvSpPr>
            <p:cNvPr id="12" name="object 12"/>
            <p:cNvSpPr/>
            <p:nvPr/>
          </p:nvSpPr>
          <p:spPr>
            <a:xfrm>
              <a:off x="7353299" y="2583027"/>
              <a:ext cx="1376680" cy="825500"/>
            </a:xfrm>
            <a:custGeom>
              <a:avLst/>
              <a:gdLst/>
              <a:ahLst/>
              <a:cxnLst/>
              <a:rect l="l" t="t" r="r" b="b"/>
              <a:pathLst>
                <a:path w="1376679" h="825500">
                  <a:moveTo>
                    <a:pt x="1376568" y="0"/>
                  </a:moveTo>
                  <a:lnTo>
                    <a:pt x="0" y="0"/>
                  </a:lnTo>
                  <a:lnTo>
                    <a:pt x="0" y="824971"/>
                  </a:lnTo>
                  <a:lnTo>
                    <a:pt x="1376568" y="824971"/>
                  </a:lnTo>
                  <a:lnTo>
                    <a:pt x="1376568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63719" y="2493264"/>
              <a:ext cx="1376680" cy="826769"/>
            </a:xfrm>
            <a:custGeom>
              <a:avLst/>
              <a:gdLst/>
              <a:ahLst/>
              <a:cxnLst/>
              <a:rect l="l" t="t" r="r" b="b"/>
              <a:pathLst>
                <a:path w="1376679" h="826770">
                  <a:moveTo>
                    <a:pt x="1376568" y="0"/>
                  </a:moveTo>
                  <a:lnTo>
                    <a:pt x="0" y="0"/>
                  </a:lnTo>
                  <a:lnTo>
                    <a:pt x="0" y="826739"/>
                  </a:lnTo>
                  <a:lnTo>
                    <a:pt x="1376568" y="826739"/>
                  </a:lnTo>
                  <a:lnTo>
                    <a:pt x="1376568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63686" y="2493277"/>
              <a:ext cx="1376680" cy="826769"/>
            </a:xfrm>
            <a:custGeom>
              <a:avLst/>
              <a:gdLst/>
              <a:ahLst/>
              <a:cxnLst/>
              <a:rect l="l" t="t" r="r" b="b"/>
              <a:pathLst>
                <a:path w="1376679" h="826770">
                  <a:moveTo>
                    <a:pt x="1376576" y="0"/>
                  </a:moveTo>
                  <a:lnTo>
                    <a:pt x="0" y="0"/>
                  </a:lnTo>
                  <a:lnTo>
                    <a:pt x="0" y="826727"/>
                  </a:lnTo>
                  <a:lnTo>
                    <a:pt x="1376576" y="826727"/>
                  </a:lnTo>
                  <a:lnTo>
                    <a:pt x="1376576" y="0"/>
                  </a:lnTo>
                  <a:close/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547131" y="2517385"/>
            <a:ext cx="80581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43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Check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for </a:t>
            </a:r>
            <a:r>
              <a:rPr sz="1400" b="1" spc="-10" dirty="0">
                <a:latin typeface="Times New Roman"/>
                <a:cs typeface="Times New Roman"/>
              </a:rPr>
              <a:t>Interrupt;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23707" y="2924543"/>
            <a:ext cx="81534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marR="5080" indent="-80645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Interrupts Enabled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66275" y="2945069"/>
            <a:ext cx="13639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Process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Interrupt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757037" y="1652783"/>
            <a:ext cx="6223635" cy="1313815"/>
            <a:chOff x="1757037" y="1652783"/>
            <a:chExt cx="6223635" cy="1313815"/>
          </a:xfrm>
        </p:grpSpPr>
        <p:sp>
          <p:nvSpPr>
            <p:cNvPr id="38" name="object 38"/>
            <p:cNvSpPr/>
            <p:nvPr/>
          </p:nvSpPr>
          <p:spPr>
            <a:xfrm>
              <a:off x="1757037" y="2902816"/>
              <a:ext cx="823594" cy="0"/>
            </a:xfrm>
            <a:custGeom>
              <a:avLst/>
              <a:gdLst/>
              <a:ahLst/>
              <a:cxnLst/>
              <a:rect l="l" t="t" r="r" b="b"/>
              <a:pathLst>
                <a:path w="823594">
                  <a:moveTo>
                    <a:pt x="0" y="0"/>
                  </a:moveTo>
                  <a:lnTo>
                    <a:pt x="0" y="0"/>
                  </a:lnTo>
                  <a:lnTo>
                    <a:pt x="823302" y="0"/>
                  </a:lnTo>
                </a:path>
              </a:pathLst>
            </a:custGeom>
            <a:ln w="25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61414" y="2839638"/>
              <a:ext cx="109855" cy="127000"/>
            </a:xfrm>
            <a:custGeom>
              <a:avLst/>
              <a:gdLst/>
              <a:ahLst/>
              <a:cxnLst/>
              <a:rect l="l" t="t" r="r" b="b"/>
              <a:pathLst>
                <a:path w="109855" h="127000">
                  <a:moveTo>
                    <a:pt x="0" y="0"/>
                  </a:moveTo>
                  <a:lnTo>
                    <a:pt x="0" y="126491"/>
                  </a:lnTo>
                  <a:lnTo>
                    <a:pt x="109788" y="63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51268" y="2902816"/>
              <a:ext cx="823594" cy="0"/>
            </a:xfrm>
            <a:custGeom>
              <a:avLst/>
              <a:gdLst/>
              <a:ahLst/>
              <a:cxnLst/>
              <a:rect l="l" t="t" r="r" b="b"/>
              <a:pathLst>
                <a:path w="823595">
                  <a:moveTo>
                    <a:pt x="0" y="0"/>
                  </a:moveTo>
                  <a:lnTo>
                    <a:pt x="0" y="0"/>
                  </a:lnTo>
                  <a:lnTo>
                    <a:pt x="823336" y="0"/>
                  </a:lnTo>
                </a:path>
              </a:pathLst>
            </a:custGeom>
            <a:ln w="25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55677" y="2839638"/>
              <a:ext cx="111125" cy="127000"/>
            </a:xfrm>
            <a:custGeom>
              <a:avLst/>
              <a:gdLst/>
              <a:ahLst/>
              <a:cxnLst/>
              <a:rect l="l" t="t" r="r" b="b"/>
              <a:pathLst>
                <a:path w="111125" h="127000">
                  <a:moveTo>
                    <a:pt x="0" y="0"/>
                  </a:moveTo>
                  <a:lnTo>
                    <a:pt x="0" y="126491"/>
                  </a:lnTo>
                  <a:lnTo>
                    <a:pt x="110916" y="63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46009" y="2902816"/>
              <a:ext cx="823594" cy="0"/>
            </a:xfrm>
            <a:custGeom>
              <a:avLst/>
              <a:gdLst/>
              <a:ahLst/>
              <a:cxnLst/>
              <a:rect l="l" t="t" r="r" b="b"/>
              <a:pathLst>
                <a:path w="823595">
                  <a:moveTo>
                    <a:pt x="0" y="0"/>
                  </a:moveTo>
                  <a:lnTo>
                    <a:pt x="0" y="0"/>
                  </a:lnTo>
                  <a:lnTo>
                    <a:pt x="823153" y="0"/>
                  </a:lnTo>
                </a:path>
              </a:pathLst>
            </a:custGeom>
            <a:ln w="25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150241" y="2839638"/>
              <a:ext cx="111125" cy="127000"/>
            </a:xfrm>
            <a:custGeom>
              <a:avLst/>
              <a:gdLst/>
              <a:ahLst/>
              <a:cxnLst/>
              <a:rect l="l" t="t" r="r" b="b"/>
              <a:pathLst>
                <a:path w="111125" h="127000">
                  <a:moveTo>
                    <a:pt x="0" y="0"/>
                  </a:moveTo>
                  <a:lnTo>
                    <a:pt x="0" y="126491"/>
                  </a:lnTo>
                  <a:lnTo>
                    <a:pt x="111069" y="63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62253" y="2077369"/>
              <a:ext cx="3394710" cy="414020"/>
            </a:xfrm>
            <a:custGeom>
              <a:avLst/>
              <a:gdLst/>
              <a:ahLst/>
              <a:cxnLst/>
              <a:rect l="l" t="t" r="r" b="b"/>
              <a:pathLst>
                <a:path w="3394710" h="414019">
                  <a:moveTo>
                    <a:pt x="3394111" y="413500"/>
                  </a:moveTo>
                  <a:lnTo>
                    <a:pt x="3394111" y="0"/>
                  </a:lnTo>
                  <a:lnTo>
                    <a:pt x="0" y="0"/>
                  </a:lnTo>
                </a:path>
              </a:pathLst>
            </a:custGeom>
            <a:ln w="25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170282" y="2014209"/>
              <a:ext cx="110489" cy="127000"/>
            </a:xfrm>
            <a:custGeom>
              <a:avLst/>
              <a:gdLst/>
              <a:ahLst/>
              <a:cxnLst/>
              <a:rect l="l" t="t" r="r" b="b"/>
              <a:pathLst>
                <a:path w="110489" h="127000">
                  <a:moveTo>
                    <a:pt x="110276" y="0"/>
                  </a:moveTo>
                  <a:lnTo>
                    <a:pt x="0" y="63154"/>
                  </a:lnTo>
                  <a:lnTo>
                    <a:pt x="110276" y="126796"/>
                  </a:lnTo>
                  <a:lnTo>
                    <a:pt x="1102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159609" y="1665422"/>
              <a:ext cx="5808345" cy="1141095"/>
            </a:xfrm>
            <a:custGeom>
              <a:avLst/>
              <a:gdLst/>
              <a:ahLst/>
              <a:cxnLst/>
              <a:rect l="l" t="t" r="r" b="b"/>
              <a:pathLst>
                <a:path w="5808345" h="1141095">
                  <a:moveTo>
                    <a:pt x="5807894" y="825446"/>
                  </a:moveTo>
                  <a:lnTo>
                    <a:pt x="5807894" y="0"/>
                  </a:lnTo>
                  <a:lnTo>
                    <a:pt x="0" y="0"/>
                  </a:lnTo>
                  <a:lnTo>
                    <a:pt x="0" y="1140654"/>
                  </a:lnTo>
                </a:path>
              </a:pathLst>
            </a:custGeom>
            <a:ln w="25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096453" y="2787152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5">
                  <a:moveTo>
                    <a:pt x="126336" y="0"/>
                  </a:moveTo>
                  <a:lnTo>
                    <a:pt x="0" y="0"/>
                  </a:lnTo>
                  <a:lnTo>
                    <a:pt x="63160" y="109788"/>
                  </a:lnTo>
                  <a:lnTo>
                    <a:pt x="126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964193" y="4229949"/>
            <a:ext cx="1471295" cy="509270"/>
            <a:chOff x="4964193" y="4229949"/>
            <a:chExt cx="1471295" cy="509270"/>
          </a:xfrm>
        </p:grpSpPr>
        <p:sp>
          <p:nvSpPr>
            <p:cNvPr id="21" name="object 21"/>
            <p:cNvSpPr/>
            <p:nvPr/>
          </p:nvSpPr>
          <p:spPr>
            <a:xfrm>
              <a:off x="5058704" y="4325563"/>
              <a:ext cx="1376680" cy="413384"/>
            </a:xfrm>
            <a:custGeom>
              <a:avLst/>
              <a:gdLst/>
              <a:ahLst/>
              <a:cxnLst/>
              <a:rect l="l" t="t" r="r" b="b"/>
              <a:pathLst>
                <a:path w="1376679" h="413385">
                  <a:moveTo>
                    <a:pt x="1170035" y="0"/>
                  </a:moveTo>
                  <a:lnTo>
                    <a:pt x="206867" y="0"/>
                  </a:lnTo>
                  <a:lnTo>
                    <a:pt x="159582" y="5436"/>
                  </a:lnTo>
                  <a:lnTo>
                    <a:pt x="116097" y="20931"/>
                  </a:lnTo>
                  <a:lnTo>
                    <a:pt x="77679" y="45262"/>
                  </a:lnTo>
                  <a:lnTo>
                    <a:pt x="45593" y="77209"/>
                  </a:lnTo>
                  <a:lnTo>
                    <a:pt x="21108" y="115550"/>
                  </a:lnTo>
                  <a:lnTo>
                    <a:pt x="5488" y="159063"/>
                  </a:lnTo>
                  <a:lnTo>
                    <a:pt x="0" y="206526"/>
                  </a:lnTo>
                  <a:lnTo>
                    <a:pt x="5488" y="253693"/>
                  </a:lnTo>
                  <a:lnTo>
                    <a:pt x="21108" y="297104"/>
                  </a:lnTo>
                  <a:lnTo>
                    <a:pt x="45593" y="335485"/>
                  </a:lnTo>
                  <a:lnTo>
                    <a:pt x="77679" y="367558"/>
                  </a:lnTo>
                  <a:lnTo>
                    <a:pt x="116097" y="392048"/>
                  </a:lnTo>
                  <a:lnTo>
                    <a:pt x="159582" y="407678"/>
                  </a:lnTo>
                  <a:lnTo>
                    <a:pt x="206867" y="413171"/>
                  </a:lnTo>
                  <a:lnTo>
                    <a:pt x="1170035" y="413171"/>
                  </a:lnTo>
                  <a:lnTo>
                    <a:pt x="1217553" y="407678"/>
                  </a:lnTo>
                  <a:lnTo>
                    <a:pt x="1261092" y="392048"/>
                  </a:lnTo>
                  <a:lnTo>
                    <a:pt x="1299437" y="367558"/>
                  </a:lnTo>
                  <a:lnTo>
                    <a:pt x="1331374" y="335485"/>
                  </a:lnTo>
                  <a:lnTo>
                    <a:pt x="1355689" y="297104"/>
                  </a:lnTo>
                  <a:lnTo>
                    <a:pt x="1371169" y="253693"/>
                  </a:lnTo>
                  <a:lnTo>
                    <a:pt x="1376598" y="206526"/>
                  </a:lnTo>
                  <a:lnTo>
                    <a:pt x="1371169" y="159063"/>
                  </a:lnTo>
                  <a:lnTo>
                    <a:pt x="1355689" y="115550"/>
                  </a:lnTo>
                  <a:lnTo>
                    <a:pt x="1331374" y="77209"/>
                  </a:lnTo>
                  <a:lnTo>
                    <a:pt x="1299437" y="45262"/>
                  </a:lnTo>
                  <a:lnTo>
                    <a:pt x="1261092" y="20931"/>
                  </a:lnTo>
                  <a:lnTo>
                    <a:pt x="1217553" y="5436"/>
                  </a:lnTo>
                  <a:lnTo>
                    <a:pt x="1170035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70251" y="4235982"/>
              <a:ext cx="1377315" cy="413384"/>
            </a:xfrm>
            <a:custGeom>
              <a:avLst/>
              <a:gdLst/>
              <a:ahLst/>
              <a:cxnLst/>
              <a:rect l="l" t="t" r="r" b="b"/>
              <a:pathLst>
                <a:path w="1377314" h="413385">
                  <a:moveTo>
                    <a:pt x="1170035" y="0"/>
                  </a:moveTo>
                  <a:lnTo>
                    <a:pt x="205739" y="0"/>
                  </a:lnTo>
                  <a:lnTo>
                    <a:pt x="158516" y="5495"/>
                  </a:lnTo>
                  <a:lnTo>
                    <a:pt x="115193" y="21126"/>
                  </a:lnTo>
                  <a:lnTo>
                    <a:pt x="76995" y="45615"/>
                  </a:lnTo>
                  <a:lnTo>
                    <a:pt x="45150" y="77679"/>
                  </a:lnTo>
                  <a:lnTo>
                    <a:pt x="20884" y="116039"/>
                  </a:lnTo>
                  <a:lnTo>
                    <a:pt x="5425" y="159415"/>
                  </a:lnTo>
                  <a:lnTo>
                    <a:pt x="0" y="206526"/>
                  </a:lnTo>
                  <a:lnTo>
                    <a:pt x="5425" y="254135"/>
                  </a:lnTo>
                  <a:lnTo>
                    <a:pt x="20884" y="297704"/>
                  </a:lnTo>
                  <a:lnTo>
                    <a:pt x="45150" y="336036"/>
                  </a:lnTo>
                  <a:lnTo>
                    <a:pt x="76995" y="367933"/>
                  </a:lnTo>
                  <a:lnTo>
                    <a:pt x="115193" y="392200"/>
                  </a:lnTo>
                  <a:lnTo>
                    <a:pt x="158516" y="407637"/>
                  </a:lnTo>
                  <a:lnTo>
                    <a:pt x="205739" y="413049"/>
                  </a:lnTo>
                  <a:lnTo>
                    <a:pt x="1170035" y="413049"/>
                  </a:lnTo>
                  <a:lnTo>
                    <a:pt x="1217321" y="407637"/>
                  </a:lnTo>
                  <a:lnTo>
                    <a:pt x="1260806" y="392200"/>
                  </a:lnTo>
                  <a:lnTo>
                    <a:pt x="1299224" y="367933"/>
                  </a:lnTo>
                  <a:lnTo>
                    <a:pt x="1331309" y="336036"/>
                  </a:lnTo>
                  <a:lnTo>
                    <a:pt x="1355795" y="297704"/>
                  </a:lnTo>
                  <a:lnTo>
                    <a:pt x="1371415" y="254135"/>
                  </a:lnTo>
                  <a:lnTo>
                    <a:pt x="1376903" y="206526"/>
                  </a:lnTo>
                  <a:lnTo>
                    <a:pt x="1371415" y="159415"/>
                  </a:lnTo>
                  <a:lnTo>
                    <a:pt x="1355795" y="116039"/>
                  </a:lnTo>
                  <a:lnTo>
                    <a:pt x="1331309" y="77679"/>
                  </a:lnTo>
                  <a:lnTo>
                    <a:pt x="1299224" y="45615"/>
                  </a:lnTo>
                  <a:lnTo>
                    <a:pt x="1260806" y="21126"/>
                  </a:lnTo>
                  <a:lnTo>
                    <a:pt x="1217321" y="5495"/>
                  </a:lnTo>
                  <a:lnTo>
                    <a:pt x="117003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70226" y="4235981"/>
              <a:ext cx="1377315" cy="413384"/>
            </a:xfrm>
            <a:custGeom>
              <a:avLst/>
              <a:gdLst/>
              <a:ahLst/>
              <a:cxnLst/>
              <a:rect l="l" t="t" r="r" b="b"/>
              <a:pathLst>
                <a:path w="1377314" h="413385">
                  <a:moveTo>
                    <a:pt x="1170033" y="413052"/>
                  </a:moveTo>
                  <a:lnTo>
                    <a:pt x="1217321" y="407640"/>
                  </a:lnTo>
                  <a:lnTo>
                    <a:pt x="1260808" y="392202"/>
                  </a:lnTo>
                  <a:lnTo>
                    <a:pt x="1299228" y="367936"/>
                  </a:lnTo>
                  <a:lnTo>
                    <a:pt x="1331315" y="336037"/>
                  </a:lnTo>
                  <a:lnTo>
                    <a:pt x="1355802" y="297705"/>
                  </a:lnTo>
                  <a:lnTo>
                    <a:pt x="1371423" y="254135"/>
                  </a:lnTo>
                  <a:lnTo>
                    <a:pt x="1376911" y="206524"/>
                  </a:lnTo>
                  <a:lnTo>
                    <a:pt x="1371423" y="159413"/>
                  </a:lnTo>
                  <a:lnTo>
                    <a:pt x="1355802" y="116038"/>
                  </a:lnTo>
                  <a:lnTo>
                    <a:pt x="1331315" y="77678"/>
                  </a:lnTo>
                  <a:lnTo>
                    <a:pt x="1299228" y="45614"/>
                  </a:lnTo>
                  <a:lnTo>
                    <a:pt x="1260808" y="21126"/>
                  </a:lnTo>
                  <a:lnTo>
                    <a:pt x="1217321" y="5494"/>
                  </a:lnTo>
                  <a:lnTo>
                    <a:pt x="1170033" y="0"/>
                  </a:lnTo>
                  <a:lnTo>
                    <a:pt x="205750" y="0"/>
                  </a:lnTo>
                  <a:lnTo>
                    <a:pt x="158534" y="5494"/>
                  </a:lnTo>
                  <a:lnTo>
                    <a:pt x="115212" y="21126"/>
                  </a:lnTo>
                  <a:lnTo>
                    <a:pt x="77011" y="45614"/>
                  </a:lnTo>
                  <a:lnTo>
                    <a:pt x="45161" y="77678"/>
                  </a:lnTo>
                  <a:lnTo>
                    <a:pt x="20890" y="116038"/>
                  </a:lnTo>
                  <a:lnTo>
                    <a:pt x="5427" y="159413"/>
                  </a:lnTo>
                  <a:lnTo>
                    <a:pt x="0" y="206524"/>
                  </a:lnTo>
                  <a:lnTo>
                    <a:pt x="5427" y="254135"/>
                  </a:lnTo>
                  <a:lnTo>
                    <a:pt x="20890" y="297705"/>
                  </a:lnTo>
                  <a:lnTo>
                    <a:pt x="45161" y="336037"/>
                  </a:lnTo>
                  <a:lnTo>
                    <a:pt x="77011" y="367936"/>
                  </a:lnTo>
                  <a:lnTo>
                    <a:pt x="115212" y="392202"/>
                  </a:lnTo>
                  <a:lnTo>
                    <a:pt x="158534" y="407640"/>
                  </a:lnTo>
                  <a:lnTo>
                    <a:pt x="205750" y="413052"/>
                  </a:lnTo>
                  <a:lnTo>
                    <a:pt x="1170033" y="413052"/>
                  </a:lnTo>
                  <a:close/>
                </a:path>
              </a:pathLst>
            </a:custGeom>
            <a:ln w="11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608472" y="3329392"/>
            <a:ext cx="95885" cy="913765"/>
            <a:chOff x="5608472" y="3329392"/>
            <a:chExt cx="95885" cy="913765"/>
          </a:xfrm>
        </p:grpSpPr>
        <p:sp>
          <p:nvSpPr>
            <p:cNvPr id="35" name="object 35"/>
            <p:cNvSpPr/>
            <p:nvPr/>
          </p:nvSpPr>
          <p:spPr>
            <a:xfrm>
              <a:off x="5656365" y="3329392"/>
              <a:ext cx="0" cy="845819"/>
            </a:xfrm>
            <a:custGeom>
              <a:avLst/>
              <a:gdLst/>
              <a:ahLst/>
              <a:cxnLst/>
              <a:rect l="l" t="t" r="r" b="b"/>
              <a:pathLst>
                <a:path h="845820">
                  <a:moveTo>
                    <a:pt x="0" y="0"/>
                  </a:moveTo>
                  <a:lnTo>
                    <a:pt x="0" y="0"/>
                  </a:lnTo>
                  <a:lnTo>
                    <a:pt x="0" y="845654"/>
                  </a:lnTo>
                </a:path>
              </a:pathLst>
            </a:custGeom>
            <a:ln w="118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08472" y="4160889"/>
              <a:ext cx="95885" cy="82550"/>
            </a:xfrm>
            <a:custGeom>
              <a:avLst/>
              <a:gdLst/>
              <a:ahLst/>
              <a:cxnLst/>
              <a:rect l="l" t="t" r="r" b="b"/>
              <a:pathLst>
                <a:path w="95885" h="82550">
                  <a:moveTo>
                    <a:pt x="95646" y="0"/>
                  </a:moveTo>
                  <a:lnTo>
                    <a:pt x="0" y="0"/>
                  </a:lnTo>
                  <a:lnTo>
                    <a:pt x="47914" y="82094"/>
                  </a:lnTo>
                  <a:lnTo>
                    <a:pt x="95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69831" y="4299397"/>
            <a:ext cx="5302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Times New Roman"/>
                <a:cs typeface="Times New Roman"/>
              </a:rPr>
              <a:t>HALT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01166" y="5612360"/>
            <a:ext cx="546354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b="1" dirty="0">
                <a:latin typeface="Times New Roman"/>
                <a:cs typeface="Times New Roman"/>
              </a:rPr>
              <a:t>Figure</a:t>
            </a:r>
            <a:r>
              <a:rPr sz="2250" b="1" spc="-50" dirty="0">
                <a:latin typeface="Times New Roman"/>
                <a:cs typeface="Times New Roman"/>
              </a:rPr>
              <a:t> </a:t>
            </a:r>
            <a:r>
              <a:rPr sz="2250" b="1" dirty="0">
                <a:latin typeface="Times New Roman"/>
                <a:cs typeface="Times New Roman"/>
              </a:rPr>
              <a:t>3.9</a:t>
            </a:r>
            <a:r>
              <a:rPr sz="2250" b="1" spc="484" dirty="0">
                <a:latin typeface="Times New Roman"/>
                <a:cs typeface="Times New Roman"/>
              </a:rPr>
              <a:t> </a:t>
            </a:r>
            <a:r>
              <a:rPr sz="2250" b="1" dirty="0">
                <a:latin typeface="Times New Roman"/>
                <a:cs typeface="Times New Roman"/>
              </a:rPr>
              <a:t>Instruction</a:t>
            </a:r>
            <a:r>
              <a:rPr sz="2250" b="1" spc="-45" dirty="0">
                <a:latin typeface="Times New Roman"/>
                <a:cs typeface="Times New Roman"/>
              </a:rPr>
              <a:t> </a:t>
            </a:r>
            <a:r>
              <a:rPr sz="2250" b="1" dirty="0">
                <a:latin typeface="Times New Roman"/>
                <a:cs typeface="Times New Roman"/>
              </a:rPr>
              <a:t>Cycle</a:t>
            </a:r>
            <a:r>
              <a:rPr sz="2250" b="1" spc="-40" dirty="0">
                <a:latin typeface="Times New Roman"/>
                <a:cs typeface="Times New Roman"/>
              </a:rPr>
              <a:t> </a:t>
            </a:r>
            <a:r>
              <a:rPr sz="2250" b="1" dirty="0">
                <a:latin typeface="Times New Roman"/>
                <a:cs typeface="Times New Roman"/>
              </a:rPr>
              <a:t>with</a:t>
            </a:r>
            <a:r>
              <a:rPr sz="2250" b="1" spc="-40" dirty="0">
                <a:latin typeface="Times New Roman"/>
                <a:cs typeface="Times New Roman"/>
              </a:rPr>
              <a:t> </a:t>
            </a:r>
            <a:r>
              <a:rPr sz="2250" b="1" spc="-10" dirty="0">
                <a:latin typeface="Times New Roman"/>
                <a:cs typeface="Times New Roman"/>
              </a:rPr>
              <a:t>Interrupts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533399" cy="68579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586657" y="206563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59">
                <a:moveTo>
                  <a:pt x="706980" y="0"/>
                </a:moveTo>
                <a:lnTo>
                  <a:pt x="0" y="0"/>
                </a:lnTo>
                <a:lnTo>
                  <a:pt x="0" y="441899"/>
                </a:lnTo>
                <a:lnTo>
                  <a:pt x="706980" y="441899"/>
                </a:lnTo>
                <a:lnTo>
                  <a:pt x="706980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2802937" y="290275"/>
            <a:ext cx="274955" cy="274955"/>
            <a:chOff x="2802937" y="290275"/>
            <a:chExt cx="274955" cy="274955"/>
          </a:xfrm>
        </p:grpSpPr>
        <p:sp>
          <p:nvSpPr>
            <p:cNvPr id="19" name="object 19"/>
            <p:cNvSpPr/>
            <p:nvPr/>
          </p:nvSpPr>
          <p:spPr>
            <a:xfrm>
              <a:off x="2807671" y="295016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30">
                  <a:moveTo>
                    <a:pt x="132505" y="0"/>
                  </a:moveTo>
                  <a:lnTo>
                    <a:pt x="90479" y="6711"/>
                  </a:lnTo>
                  <a:lnTo>
                    <a:pt x="54086" y="25444"/>
                  </a:lnTo>
                  <a:lnTo>
                    <a:pt x="25457" y="54091"/>
                  </a:lnTo>
                  <a:lnTo>
                    <a:pt x="6719" y="90548"/>
                  </a:lnTo>
                  <a:lnTo>
                    <a:pt x="0" y="132709"/>
                  </a:lnTo>
                  <a:lnTo>
                    <a:pt x="6719" y="174415"/>
                  </a:lnTo>
                  <a:lnTo>
                    <a:pt x="25457" y="210736"/>
                  </a:lnTo>
                  <a:lnTo>
                    <a:pt x="54086" y="239442"/>
                  </a:lnTo>
                  <a:lnTo>
                    <a:pt x="90479" y="258302"/>
                  </a:lnTo>
                  <a:lnTo>
                    <a:pt x="132505" y="265084"/>
                  </a:lnTo>
                  <a:lnTo>
                    <a:pt x="174360" y="258302"/>
                  </a:lnTo>
                  <a:lnTo>
                    <a:pt x="210775" y="239442"/>
                  </a:lnTo>
                  <a:lnTo>
                    <a:pt x="239532" y="210736"/>
                  </a:lnTo>
                  <a:lnTo>
                    <a:pt x="258413" y="174415"/>
                  </a:lnTo>
                  <a:lnTo>
                    <a:pt x="265200" y="132709"/>
                  </a:lnTo>
                  <a:lnTo>
                    <a:pt x="258413" y="90548"/>
                  </a:lnTo>
                  <a:lnTo>
                    <a:pt x="239532" y="54091"/>
                  </a:lnTo>
                  <a:lnTo>
                    <a:pt x="210775" y="25444"/>
                  </a:lnTo>
                  <a:lnTo>
                    <a:pt x="174360" y="6711"/>
                  </a:lnTo>
                  <a:lnTo>
                    <a:pt x="132505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07684" y="295022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30">
                  <a:moveTo>
                    <a:pt x="132505" y="265080"/>
                  </a:moveTo>
                  <a:lnTo>
                    <a:pt x="174357" y="258298"/>
                  </a:lnTo>
                  <a:lnTo>
                    <a:pt x="210769" y="239438"/>
                  </a:lnTo>
                  <a:lnTo>
                    <a:pt x="239523" y="210733"/>
                  </a:lnTo>
                  <a:lnTo>
                    <a:pt x="258401" y="174412"/>
                  </a:lnTo>
                  <a:lnTo>
                    <a:pt x="265187" y="132707"/>
                  </a:lnTo>
                  <a:lnTo>
                    <a:pt x="258401" y="90535"/>
                  </a:lnTo>
                  <a:lnTo>
                    <a:pt x="239523" y="54077"/>
                  </a:lnTo>
                  <a:lnTo>
                    <a:pt x="210769" y="25435"/>
                  </a:lnTo>
                  <a:lnTo>
                    <a:pt x="174357" y="6708"/>
                  </a:lnTo>
                  <a:lnTo>
                    <a:pt x="132505" y="0"/>
                  </a:lnTo>
                  <a:lnTo>
                    <a:pt x="90479" y="6708"/>
                  </a:lnTo>
                  <a:lnTo>
                    <a:pt x="54087" y="25435"/>
                  </a:lnTo>
                  <a:lnTo>
                    <a:pt x="25457" y="54077"/>
                  </a:lnTo>
                  <a:lnTo>
                    <a:pt x="6719" y="90535"/>
                  </a:lnTo>
                  <a:lnTo>
                    <a:pt x="0" y="132707"/>
                  </a:lnTo>
                  <a:lnTo>
                    <a:pt x="6719" y="174412"/>
                  </a:lnTo>
                  <a:lnTo>
                    <a:pt x="25457" y="210733"/>
                  </a:lnTo>
                  <a:lnTo>
                    <a:pt x="54087" y="239438"/>
                  </a:lnTo>
                  <a:lnTo>
                    <a:pt x="90479" y="258298"/>
                  </a:lnTo>
                  <a:lnTo>
                    <a:pt x="132505" y="265080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247619" y="206563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59">
                <a:moveTo>
                  <a:pt x="707288" y="0"/>
                </a:moveTo>
                <a:lnTo>
                  <a:pt x="0" y="0"/>
                </a:lnTo>
                <a:lnTo>
                  <a:pt x="0" y="441899"/>
                </a:lnTo>
                <a:lnTo>
                  <a:pt x="707288" y="441899"/>
                </a:lnTo>
                <a:lnTo>
                  <a:pt x="707288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86657" y="648462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59">
                <a:moveTo>
                  <a:pt x="706980" y="0"/>
                </a:moveTo>
                <a:lnTo>
                  <a:pt x="0" y="0"/>
                </a:lnTo>
                <a:lnTo>
                  <a:pt x="0" y="441624"/>
                </a:lnTo>
                <a:lnTo>
                  <a:pt x="706980" y="441624"/>
                </a:lnTo>
                <a:lnTo>
                  <a:pt x="706980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802937" y="732076"/>
            <a:ext cx="274955" cy="274955"/>
            <a:chOff x="2802937" y="732076"/>
            <a:chExt cx="274955" cy="274955"/>
          </a:xfrm>
        </p:grpSpPr>
        <p:sp>
          <p:nvSpPr>
            <p:cNvPr id="16" name="object 16"/>
            <p:cNvSpPr/>
            <p:nvPr/>
          </p:nvSpPr>
          <p:spPr>
            <a:xfrm>
              <a:off x="2807671" y="736823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30">
                  <a:moveTo>
                    <a:pt x="132505" y="0"/>
                  </a:moveTo>
                  <a:lnTo>
                    <a:pt x="90479" y="6719"/>
                  </a:lnTo>
                  <a:lnTo>
                    <a:pt x="54086" y="25456"/>
                  </a:lnTo>
                  <a:lnTo>
                    <a:pt x="25457" y="54084"/>
                  </a:lnTo>
                  <a:lnTo>
                    <a:pt x="6719" y="90474"/>
                  </a:lnTo>
                  <a:lnTo>
                    <a:pt x="0" y="132496"/>
                  </a:lnTo>
                  <a:lnTo>
                    <a:pt x="6719" y="174315"/>
                  </a:lnTo>
                  <a:lnTo>
                    <a:pt x="25457" y="210722"/>
                  </a:lnTo>
                  <a:lnTo>
                    <a:pt x="54086" y="239487"/>
                  </a:lnTo>
                  <a:lnTo>
                    <a:pt x="90479" y="258382"/>
                  </a:lnTo>
                  <a:lnTo>
                    <a:pt x="132505" y="265175"/>
                  </a:lnTo>
                  <a:lnTo>
                    <a:pt x="174360" y="258382"/>
                  </a:lnTo>
                  <a:lnTo>
                    <a:pt x="210775" y="239487"/>
                  </a:lnTo>
                  <a:lnTo>
                    <a:pt x="239532" y="210722"/>
                  </a:lnTo>
                  <a:lnTo>
                    <a:pt x="258413" y="174315"/>
                  </a:lnTo>
                  <a:lnTo>
                    <a:pt x="265200" y="132496"/>
                  </a:lnTo>
                  <a:lnTo>
                    <a:pt x="258413" y="90474"/>
                  </a:lnTo>
                  <a:lnTo>
                    <a:pt x="239532" y="54084"/>
                  </a:lnTo>
                  <a:lnTo>
                    <a:pt x="210775" y="25456"/>
                  </a:lnTo>
                  <a:lnTo>
                    <a:pt x="174360" y="6719"/>
                  </a:lnTo>
                  <a:lnTo>
                    <a:pt x="132505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07684" y="736823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30">
                  <a:moveTo>
                    <a:pt x="132505" y="265172"/>
                  </a:moveTo>
                  <a:lnTo>
                    <a:pt x="174357" y="258378"/>
                  </a:lnTo>
                  <a:lnTo>
                    <a:pt x="210769" y="239484"/>
                  </a:lnTo>
                  <a:lnTo>
                    <a:pt x="239523" y="210719"/>
                  </a:lnTo>
                  <a:lnTo>
                    <a:pt x="258401" y="174312"/>
                  </a:lnTo>
                  <a:lnTo>
                    <a:pt x="265187" y="132494"/>
                  </a:lnTo>
                  <a:lnTo>
                    <a:pt x="258401" y="90473"/>
                  </a:lnTo>
                  <a:lnTo>
                    <a:pt x="239523" y="54084"/>
                  </a:lnTo>
                  <a:lnTo>
                    <a:pt x="210769" y="25456"/>
                  </a:lnTo>
                  <a:lnTo>
                    <a:pt x="174357" y="6718"/>
                  </a:lnTo>
                  <a:lnTo>
                    <a:pt x="132505" y="0"/>
                  </a:lnTo>
                  <a:lnTo>
                    <a:pt x="90479" y="6718"/>
                  </a:lnTo>
                  <a:lnTo>
                    <a:pt x="54087" y="25456"/>
                  </a:lnTo>
                  <a:lnTo>
                    <a:pt x="25457" y="54084"/>
                  </a:lnTo>
                  <a:lnTo>
                    <a:pt x="6719" y="90473"/>
                  </a:lnTo>
                  <a:lnTo>
                    <a:pt x="0" y="132494"/>
                  </a:lnTo>
                  <a:lnTo>
                    <a:pt x="6719" y="174312"/>
                  </a:lnTo>
                  <a:lnTo>
                    <a:pt x="25457" y="210719"/>
                  </a:lnTo>
                  <a:lnTo>
                    <a:pt x="54087" y="239484"/>
                  </a:lnTo>
                  <a:lnTo>
                    <a:pt x="90479" y="258378"/>
                  </a:lnTo>
                  <a:lnTo>
                    <a:pt x="132505" y="265172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5247619" y="1090086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59">
                <a:moveTo>
                  <a:pt x="707288" y="0"/>
                </a:moveTo>
                <a:lnTo>
                  <a:pt x="0" y="0"/>
                </a:lnTo>
                <a:lnTo>
                  <a:pt x="0" y="441899"/>
                </a:lnTo>
                <a:lnTo>
                  <a:pt x="707288" y="441899"/>
                </a:lnTo>
                <a:lnTo>
                  <a:pt x="707288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86657" y="1531985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60">
                <a:moveTo>
                  <a:pt x="706980" y="0"/>
                </a:moveTo>
                <a:lnTo>
                  <a:pt x="0" y="0"/>
                </a:lnTo>
                <a:lnTo>
                  <a:pt x="0" y="441594"/>
                </a:lnTo>
                <a:lnTo>
                  <a:pt x="706980" y="441594"/>
                </a:lnTo>
                <a:lnTo>
                  <a:pt x="706980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2802937" y="1615586"/>
            <a:ext cx="274955" cy="274955"/>
            <a:chOff x="2802937" y="1615586"/>
            <a:chExt cx="274955" cy="274955"/>
          </a:xfrm>
        </p:grpSpPr>
        <p:sp>
          <p:nvSpPr>
            <p:cNvPr id="22" name="object 22"/>
            <p:cNvSpPr/>
            <p:nvPr/>
          </p:nvSpPr>
          <p:spPr>
            <a:xfrm>
              <a:off x="2807671" y="1620347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30">
                  <a:moveTo>
                    <a:pt x="132505" y="0"/>
                  </a:moveTo>
                  <a:lnTo>
                    <a:pt x="90479" y="6715"/>
                  </a:lnTo>
                  <a:lnTo>
                    <a:pt x="54086" y="25446"/>
                  </a:lnTo>
                  <a:lnTo>
                    <a:pt x="25457" y="54065"/>
                  </a:lnTo>
                  <a:lnTo>
                    <a:pt x="6719" y="90447"/>
                  </a:lnTo>
                  <a:lnTo>
                    <a:pt x="0" y="132466"/>
                  </a:lnTo>
                  <a:lnTo>
                    <a:pt x="6719" y="174275"/>
                  </a:lnTo>
                  <a:lnTo>
                    <a:pt x="25457" y="210659"/>
                  </a:lnTo>
                  <a:lnTo>
                    <a:pt x="54086" y="239398"/>
                  </a:lnTo>
                  <a:lnTo>
                    <a:pt x="90479" y="258269"/>
                  </a:lnTo>
                  <a:lnTo>
                    <a:pt x="132505" y="265054"/>
                  </a:lnTo>
                  <a:lnTo>
                    <a:pt x="174360" y="258269"/>
                  </a:lnTo>
                  <a:lnTo>
                    <a:pt x="210775" y="239398"/>
                  </a:lnTo>
                  <a:lnTo>
                    <a:pt x="239532" y="210659"/>
                  </a:lnTo>
                  <a:lnTo>
                    <a:pt x="258413" y="174275"/>
                  </a:lnTo>
                  <a:lnTo>
                    <a:pt x="265200" y="132466"/>
                  </a:lnTo>
                  <a:lnTo>
                    <a:pt x="258413" y="90447"/>
                  </a:lnTo>
                  <a:lnTo>
                    <a:pt x="239532" y="54065"/>
                  </a:lnTo>
                  <a:lnTo>
                    <a:pt x="210775" y="25446"/>
                  </a:lnTo>
                  <a:lnTo>
                    <a:pt x="174360" y="6715"/>
                  </a:lnTo>
                  <a:lnTo>
                    <a:pt x="132505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07684" y="1620334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30">
                  <a:moveTo>
                    <a:pt x="132505" y="265080"/>
                  </a:moveTo>
                  <a:lnTo>
                    <a:pt x="174357" y="258296"/>
                  </a:lnTo>
                  <a:lnTo>
                    <a:pt x="210769" y="239425"/>
                  </a:lnTo>
                  <a:lnTo>
                    <a:pt x="239523" y="210687"/>
                  </a:lnTo>
                  <a:lnTo>
                    <a:pt x="258401" y="174303"/>
                  </a:lnTo>
                  <a:lnTo>
                    <a:pt x="265187" y="132494"/>
                  </a:lnTo>
                  <a:lnTo>
                    <a:pt x="258401" y="90473"/>
                  </a:lnTo>
                  <a:lnTo>
                    <a:pt x="239523" y="54084"/>
                  </a:lnTo>
                  <a:lnTo>
                    <a:pt x="210769" y="25456"/>
                  </a:lnTo>
                  <a:lnTo>
                    <a:pt x="174357" y="6718"/>
                  </a:lnTo>
                  <a:lnTo>
                    <a:pt x="132505" y="0"/>
                  </a:lnTo>
                  <a:lnTo>
                    <a:pt x="90479" y="6718"/>
                  </a:lnTo>
                  <a:lnTo>
                    <a:pt x="54087" y="25456"/>
                  </a:lnTo>
                  <a:lnTo>
                    <a:pt x="25457" y="54084"/>
                  </a:lnTo>
                  <a:lnTo>
                    <a:pt x="6719" y="90473"/>
                  </a:lnTo>
                  <a:lnTo>
                    <a:pt x="0" y="132494"/>
                  </a:lnTo>
                  <a:lnTo>
                    <a:pt x="6719" y="174303"/>
                  </a:lnTo>
                  <a:lnTo>
                    <a:pt x="25457" y="210687"/>
                  </a:lnTo>
                  <a:lnTo>
                    <a:pt x="54087" y="239425"/>
                  </a:lnTo>
                  <a:lnTo>
                    <a:pt x="90479" y="258296"/>
                  </a:lnTo>
                  <a:lnTo>
                    <a:pt x="132505" y="265080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2586657" y="1973580"/>
            <a:ext cx="707390" cy="883919"/>
          </a:xfrm>
          <a:custGeom>
            <a:avLst/>
            <a:gdLst/>
            <a:ahLst/>
            <a:cxnLst/>
            <a:rect l="l" t="t" r="r" b="b"/>
            <a:pathLst>
              <a:path w="707389" h="883919">
                <a:moveTo>
                  <a:pt x="706980" y="0"/>
                </a:moveTo>
                <a:lnTo>
                  <a:pt x="0" y="0"/>
                </a:lnTo>
                <a:lnTo>
                  <a:pt x="0" y="883493"/>
                </a:lnTo>
                <a:lnTo>
                  <a:pt x="706980" y="883493"/>
                </a:lnTo>
                <a:lnTo>
                  <a:pt x="706980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47619" y="1973580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60">
                <a:moveTo>
                  <a:pt x="707288" y="0"/>
                </a:moveTo>
                <a:lnTo>
                  <a:pt x="0" y="0"/>
                </a:lnTo>
                <a:lnTo>
                  <a:pt x="0" y="441899"/>
                </a:lnTo>
                <a:lnTo>
                  <a:pt x="707288" y="441899"/>
                </a:lnTo>
                <a:lnTo>
                  <a:pt x="707288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2802937" y="2276078"/>
            <a:ext cx="274955" cy="274955"/>
            <a:chOff x="2802937" y="2276078"/>
            <a:chExt cx="274955" cy="274955"/>
          </a:xfrm>
        </p:grpSpPr>
        <p:sp>
          <p:nvSpPr>
            <p:cNvPr id="25" name="object 25"/>
            <p:cNvSpPr/>
            <p:nvPr/>
          </p:nvSpPr>
          <p:spPr>
            <a:xfrm>
              <a:off x="2807671" y="2280818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30">
                  <a:moveTo>
                    <a:pt x="132505" y="0"/>
                  </a:moveTo>
                  <a:lnTo>
                    <a:pt x="90479" y="6689"/>
                  </a:lnTo>
                  <a:lnTo>
                    <a:pt x="54086" y="25363"/>
                  </a:lnTo>
                  <a:lnTo>
                    <a:pt x="25457" y="53933"/>
                  </a:lnTo>
                  <a:lnTo>
                    <a:pt x="6719" y="90310"/>
                  </a:lnTo>
                  <a:lnTo>
                    <a:pt x="0" y="132405"/>
                  </a:lnTo>
                  <a:lnTo>
                    <a:pt x="6719" y="174158"/>
                  </a:lnTo>
                  <a:lnTo>
                    <a:pt x="25457" y="210513"/>
                  </a:lnTo>
                  <a:lnTo>
                    <a:pt x="54086" y="239242"/>
                  </a:lnTo>
                  <a:lnTo>
                    <a:pt x="90479" y="258115"/>
                  </a:lnTo>
                  <a:lnTo>
                    <a:pt x="132505" y="264901"/>
                  </a:lnTo>
                  <a:lnTo>
                    <a:pt x="174360" y="258115"/>
                  </a:lnTo>
                  <a:lnTo>
                    <a:pt x="210775" y="239242"/>
                  </a:lnTo>
                  <a:lnTo>
                    <a:pt x="239532" y="210513"/>
                  </a:lnTo>
                  <a:lnTo>
                    <a:pt x="258413" y="174158"/>
                  </a:lnTo>
                  <a:lnTo>
                    <a:pt x="265200" y="132405"/>
                  </a:lnTo>
                  <a:lnTo>
                    <a:pt x="258413" y="90310"/>
                  </a:lnTo>
                  <a:lnTo>
                    <a:pt x="239532" y="53933"/>
                  </a:lnTo>
                  <a:lnTo>
                    <a:pt x="210775" y="25363"/>
                  </a:lnTo>
                  <a:lnTo>
                    <a:pt x="174360" y="6689"/>
                  </a:lnTo>
                  <a:lnTo>
                    <a:pt x="132505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07684" y="2280826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30">
                  <a:moveTo>
                    <a:pt x="132505" y="264897"/>
                  </a:moveTo>
                  <a:lnTo>
                    <a:pt x="174357" y="258111"/>
                  </a:lnTo>
                  <a:lnTo>
                    <a:pt x="210769" y="239239"/>
                  </a:lnTo>
                  <a:lnTo>
                    <a:pt x="239523" y="210510"/>
                  </a:lnTo>
                  <a:lnTo>
                    <a:pt x="258401" y="174155"/>
                  </a:lnTo>
                  <a:lnTo>
                    <a:pt x="265187" y="132403"/>
                  </a:lnTo>
                  <a:lnTo>
                    <a:pt x="258401" y="90309"/>
                  </a:lnTo>
                  <a:lnTo>
                    <a:pt x="239523" y="53932"/>
                  </a:lnTo>
                  <a:lnTo>
                    <a:pt x="210769" y="25362"/>
                  </a:lnTo>
                  <a:lnTo>
                    <a:pt x="174357" y="6688"/>
                  </a:lnTo>
                  <a:lnTo>
                    <a:pt x="132505" y="0"/>
                  </a:lnTo>
                  <a:lnTo>
                    <a:pt x="90479" y="6688"/>
                  </a:lnTo>
                  <a:lnTo>
                    <a:pt x="54087" y="25362"/>
                  </a:lnTo>
                  <a:lnTo>
                    <a:pt x="25457" y="53932"/>
                  </a:lnTo>
                  <a:lnTo>
                    <a:pt x="6719" y="90309"/>
                  </a:lnTo>
                  <a:lnTo>
                    <a:pt x="0" y="132403"/>
                  </a:lnTo>
                  <a:lnTo>
                    <a:pt x="6719" y="174155"/>
                  </a:lnTo>
                  <a:lnTo>
                    <a:pt x="25457" y="210510"/>
                  </a:lnTo>
                  <a:lnTo>
                    <a:pt x="54087" y="239239"/>
                  </a:lnTo>
                  <a:lnTo>
                    <a:pt x="90479" y="258111"/>
                  </a:lnTo>
                  <a:lnTo>
                    <a:pt x="132505" y="264897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2586657" y="2857073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60">
                <a:moveTo>
                  <a:pt x="706980" y="0"/>
                </a:moveTo>
                <a:lnTo>
                  <a:pt x="0" y="0"/>
                </a:lnTo>
                <a:lnTo>
                  <a:pt x="0" y="441899"/>
                </a:lnTo>
                <a:lnTo>
                  <a:pt x="706980" y="441899"/>
                </a:lnTo>
                <a:lnTo>
                  <a:pt x="706980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2802937" y="2938521"/>
            <a:ext cx="274955" cy="274955"/>
            <a:chOff x="2802937" y="2938521"/>
            <a:chExt cx="274955" cy="274955"/>
          </a:xfrm>
        </p:grpSpPr>
        <p:sp>
          <p:nvSpPr>
            <p:cNvPr id="34" name="object 34"/>
            <p:cNvSpPr/>
            <p:nvPr/>
          </p:nvSpPr>
          <p:spPr>
            <a:xfrm>
              <a:off x="2807671" y="2943270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30">
                  <a:moveTo>
                    <a:pt x="132505" y="0"/>
                  </a:moveTo>
                  <a:lnTo>
                    <a:pt x="90479" y="6711"/>
                  </a:lnTo>
                  <a:lnTo>
                    <a:pt x="54086" y="25444"/>
                  </a:lnTo>
                  <a:lnTo>
                    <a:pt x="25457" y="54091"/>
                  </a:lnTo>
                  <a:lnTo>
                    <a:pt x="6719" y="90548"/>
                  </a:lnTo>
                  <a:lnTo>
                    <a:pt x="0" y="132709"/>
                  </a:lnTo>
                  <a:lnTo>
                    <a:pt x="6719" y="174415"/>
                  </a:lnTo>
                  <a:lnTo>
                    <a:pt x="25457" y="210736"/>
                  </a:lnTo>
                  <a:lnTo>
                    <a:pt x="54086" y="239442"/>
                  </a:lnTo>
                  <a:lnTo>
                    <a:pt x="90479" y="258302"/>
                  </a:lnTo>
                  <a:lnTo>
                    <a:pt x="132505" y="265084"/>
                  </a:lnTo>
                  <a:lnTo>
                    <a:pt x="174360" y="258302"/>
                  </a:lnTo>
                  <a:lnTo>
                    <a:pt x="210775" y="239442"/>
                  </a:lnTo>
                  <a:lnTo>
                    <a:pt x="239532" y="210736"/>
                  </a:lnTo>
                  <a:lnTo>
                    <a:pt x="258413" y="174415"/>
                  </a:lnTo>
                  <a:lnTo>
                    <a:pt x="265200" y="132709"/>
                  </a:lnTo>
                  <a:lnTo>
                    <a:pt x="258413" y="90548"/>
                  </a:lnTo>
                  <a:lnTo>
                    <a:pt x="239532" y="54091"/>
                  </a:lnTo>
                  <a:lnTo>
                    <a:pt x="210775" y="25444"/>
                  </a:lnTo>
                  <a:lnTo>
                    <a:pt x="174360" y="6711"/>
                  </a:lnTo>
                  <a:lnTo>
                    <a:pt x="132505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07684" y="2943268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30">
                  <a:moveTo>
                    <a:pt x="132505" y="265080"/>
                  </a:moveTo>
                  <a:lnTo>
                    <a:pt x="174357" y="258298"/>
                  </a:lnTo>
                  <a:lnTo>
                    <a:pt x="210769" y="239438"/>
                  </a:lnTo>
                  <a:lnTo>
                    <a:pt x="239523" y="210733"/>
                  </a:lnTo>
                  <a:lnTo>
                    <a:pt x="258401" y="174412"/>
                  </a:lnTo>
                  <a:lnTo>
                    <a:pt x="265187" y="132707"/>
                  </a:lnTo>
                  <a:lnTo>
                    <a:pt x="258401" y="90547"/>
                  </a:lnTo>
                  <a:lnTo>
                    <a:pt x="239523" y="54090"/>
                  </a:lnTo>
                  <a:lnTo>
                    <a:pt x="210769" y="25443"/>
                  </a:lnTo>
                  <a:lnTo>
                    <a:pt x="174357" y="6711"/>
                  </a:lnTo>
                  <a:lnTo>
                    <a:pt x="132505" y="0"/>
                  </a:lnTo>
                  <a:lnTo>
                    <a:pt x="90479" y="6711"/>
                  </a:lnTo>
                  <a:lnTo>
                    <a:pt x="54087" y="25443"/>
                  </a:lnTo>
                  <a:lnTo>
                    <a:pt x="25457" y="54090"/>
                  </a:lnTo>
                  <a:lnTo>
                    <a:pt x="6719" y="90547"/>
                  </a:lnTo>
                  <a:lnTo>
                    <a:pt x="0" y="132707"/>
                  </a:lnTo>
                  <a:lnTo>
                    <a:pt x="6719" y="174412"/>
                  </a:lnTo>
                  <a:lnTo>
                    <a:pt x="25457" y="210733"/>
                  </a:lnTo>
                  <a:lnTo>
                    <a:pt x="54087" y="239438"/>
                  </a:lnTo>
                  <a:lnTo>
                    <a:pt x="90479" y="258298"/>
                  </a:lnTo>
                  <a:lnTo>
                    <a:pt x="132505" y="265080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4"/>
          <p:cNvSpPr/>
          <p:nvPr/>
        </p:nvSpPr>
        <p:spPr>
          <a:xfrm>
            <a:off x="5247619" y="2857073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60">
                <a:moveTo>
                  <a:pt x="707288" y="0"/>
                </a:moveTo>
                <a:lnTo>
                  <a:pt x="0" y="0"/>
                </a:lnTo>
                <a:lnTo>
                  <a:pt x="0" y="441899"/>
                </a:lnTo>
                <a:lnTo>
                  <a:pt x="707288" y="441899"/>
                </a:lnTo>
                <a:lnTo>
                  <a:pt x="707288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86657" y="3740597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60">
                <a:moveTo>
                  <a:pt x="706980" y="0"/>
                </a:moveTo>
                <a:lnTo>
                  <a:pt x="0" y="0"/>
                </a:lnTo>
                <a:lnTo>
                  <a:pt x="0" y="441795"/>
                </a:lnTo>
                <a:lnTo>
                  <a:pt x="706980" y="441795"/>
                </a:lnTo>
                <a:lnTo>
                  <a:pt x="706980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2802937" y="3824192"/>
            <a:ext cx="274955" cy="274955"/>
            <a:chOff x="2802937" y="3824192"/>
            <a:chExt cx="274955" cy="274955"/>
          </a:xfrm>
        </p:grpSpPr>
        <p:sp>
          <p:nvSpPr>
            <p:cNvPr id="28" name="object 28"/>
            <p:cNvSpPr/>
            <p:nvPr/>
          </p:nvSpPr>
          <p:spPr>
            <a:xfrm>
              <a:off x="2807671" y="3828943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29">
                  <a:moveTo>
                    <a:pt x="132505" y="0"/>
                  </a:moveTo>
                  <a:lnTo>
                    <a:pt x="90479" y="6720"/>
                  </a:lnTo>
                  <a:lnTo>
                    <a:pt x="54086" y="25469"/>
                  </a:lnTo>
                  <a:lnTo>
                    <a:pt x="25457" y="54127"/>
                  </a:lnTo>
                  <a:lnTo>
                    <a:pt x="6719" y="90575"/>
                  </a:lnTo>
                  <a:lnTo>
                    <a:pt x="0" y="132694"/>
                  </a:lnTo>
                  <a:lnTo>
                    <a:pt x="6719" y="174406"/>
                  </a:lnTo>
                  <a:lnTo>
                    <a:pt x="25457" y="210731"/>
                  </a:lnTo>
                  <a:lnTo>
                    <a:pt x="54086" y="239439"/>
                  </a:lnTo>
                  <a:lnTo>
                    <a:pt x="90479" y="258299"/>
                  </a:lnTo>
                  <a:lnTo>
                    <a:pt x="132505" y="265081"/>
                  </a:lnTo>
                  <a:lnTo>
                    <a:pt x="174360" y="258299"/>
                  </a:lnTo>
                  <a:lnTo>
                    <a:pt x="210775" y="239439"/>
                  </a:lnTo>
                  <a:lnTo>
                    <a:pt x="239532" y="210731"/>
                  </a:lnTo>
                  <a:lnTo>
                    <a:pt x="258413" y="174406"/>
                  </a:lnTo>
                  <a:lnTo>
                    <a:pt x="265200" y="132694"/>
                  </a:lnTo>
                  <a:lnTo>
                    <a:pt x="258413" y="90575"/>
                  </a:lnTo>
                  <a:lnTo>
                    <a:pt x="239532" y="54127"/>
                  </a:lnTo>
                  <a:lnTo>
                    <a:pt x="210775" y="25469"/>
                  </a:lnTo>
                  <a:lnTo>
                    <a:pt x="174360" y="6720"/>
                  </a:lnTo>
                  <a:lnTo>
                    <a:pt x="132505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07684" y="3828939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29">
                  <a:moveTo>
                    <a:pt x="132505" y="265083"/>
                  </a:moveTo>
                  <a:lnTo>
                    <a:pt x="174357" y="258301"/>
                  </a:lnTo>
                  <a:lnTo>
                    <a:pt x="210769" y="239441"/>
                  </a:lnTo>
                  <a:lnTo>
                    <a:pt x="239523" y="210734"/>
                  </a:lnTo>
                  <a:lnTo>
                    <a:pt x="258401" y="174408"/>
                  </a:lnTo>
                  <a:lnTo>
                    <a:pt x="265187" y="132695"/>
                  </a:lnTo>
                  <a:lnTo>
                    <a:pt x="258401" y="90577"/>
                  </a:lnTo>
                  <a:lnTo>
                    <a:pt x="239523" y="54128"/>
                  </a:lnTo>
                  <a:lnTo>
                    <a:pt x="210769" y="25470"/>
                  </a:lnTo>
                  <a:lnTo>
                    <a:pt x="174357" y="6720"/>
                  </a:lnTo>
                  <a:lnTo>
                    <a:pt x="132505" y="0"/>
                  </a:lnTo>
                  <a:lnTo>
                    <a:pt x="90479" y="6720"/>
                  </a:lnTo>
                  <a:lnTo>
                    <a:pt x="54087" y="25470"/>
                  </a:lnTo>
                  <a:lnTo>
                    <a:pt x="25457" y="54128"/>
                  </a:lnTo>
                  <a:lnTo>
                    <a:pt x="6719" y="90577"/>
                  </a:lnTo>
                  <a:lnTo>
                    <a:pt x="0" y="132695"/>
                  </a:lnTo>
                  <a:lnTo>
                    <a:pt x="6719" y="174408"/>
                  </a:lnTo>
                  <a:lnTo>
                    <a:pt x="25457" y="210734"/>
                  </a:lnTo>
                  <a:lnTo>
                    <a:pt x="54087" y="239441"/>
                  </a:lnTo>
                  <a:lnTo>
                    <a:pt x="90479" y="258301"/>
                  </a:lnTo>
                  <a:lnTo>
                    <a:pt x="132505" y="265083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/>
          <p:cNvSpPr/>
          <p:nvPr/>
        </p:nvSpPr>
        <p:spPr>
          <a:xfrm>
            <a:off x="5247619" y="3740597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60">
                <a:moveTo>
                  <a:pt x="707288" y="0"/>
                </a:moveTo>
                <a:lnTo>
                  <a:pt x="0" y="0"/>
                </a:lnTo>
                <a:lnTo>
                  <a:pt x="0" y="441795"/>
                </a:lnTo>
                <a:lnTo>
                  <a:pt x="707288" y="441795"/>
                </a:lnTo>
                <a:lnTo>
                  <a:pt x="707288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86657" y="4183178"/>
            <a:ext cx="707390" cy="883285"/>
          </a:xfrm>
          <a:custGeom>
            <a:avLst/>
            <a:gdLst/>
            <a:ahLst/>
            <a:cxnLst/>
            <a:rect l="l" t="t" r="r" b="b"/>
            <a:pathLst>
              <a:path w="707389" h="883285">
                <a:moveTo>
                  <a:pt x="706980" y="0"/>
                </a:moveTo>
                <a:lnTo>
                  <a:pt x="0" y="0"/>
                </a:lnTo>
                <a:lnTo>
                  <a:pt x="0" y="882716"/>
                </a:lnTo>
                <a:lnTo>
                  <a:pt x="706980" y="882716"/>
                </a:lnTo>
                <a:lnTo>
                  <a:pt x="706980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2802937" y="4484693"/>
            <a:ext cx="274955" cy="274955"/>
            <a:chOff x="2802937" y="4484693"/>
            <a:chExt cx="274955" cy="274955"/>
          </a:xfrm>
        </p:grpSpPr>
        <p:sp>
          <p:nvSpPr>
            <p:cNvPr id="31" name="object 31"/>
            <p:cNvSpPr/>
            <p:nvPr/>
          </p:nvSpPr>
          <p:spPr>
            <a:xfrm>
              <a:off x="2807671" y="4489441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29">
                  <a:moveTo>
                    <a:pt x="132505" y="0"/>
                  </a:moveTo>
                  <a:lnTo>
                    <a:pt x="90479" y="6707"/>
                  </a:lnTo>
                  <a:lnTo>
                    <a:pt x="54086" y="25419"/>
                  </a:lnTo>
                  <a:lnTo>
                    <a:pt x="25457" y="54017"/>
                  </a:lnTo>
                  <a:lnTo>
                    <a:pt x="6719" y="90383"/>
                  </a:lnTo>
                  <a:lnTo>
                    <a:pt x="0" y="132399"/>
                  </a:lnTo>
                  <a:lnTo>
                    <a:pt x="6719" y="174250"/>
                  </a:lnTo>
                  <a:lnTo>
                    <a:pt x="25457" y="210662"/>
                  </a:lnTo>
                  <a:lnTo>
                    <a:pt x="54086" y="239416"/>
                  </a:lnTo>
                  <a:lnTo>
                    <a:pt x="90479" y="258295"/>
                  </a:lnTo>
                  <a:lnTo>
                    <a:pt x="132505" y="265081"/>
                  </a:lnTo>
                  <a:lnTo>
                    <a:pt x="174360" y="258295"/>
                  </a:lnTo>
                  <a:lnTo>
                    <a:pt x="210775" y="239416"/>
                  </a:lnTo>
                  <a:lnTo>
                    <a:pt x="239532" y="210662"/>
                  </a:lnTo>
                  <a:lnTo>
                    <a:pt x="258413" y="174250"/>
                  </a:lnTo>
                  <a:lnTo>
                    <a:pt x="265200" y="132399"/>
                  </a:lnTo>
                  <a:lnTo>
                    <a:pt x="258413" y="90383"/>
                  </a:lnTo>
                  <a:lnTo>
                    <a:pt x="239532" y="54017"/>
                  </a:lnTo>
                  <a:lnTo>
                    <a:pt x="210775" y="25419"/>
                  </a:lnTo>
                  <a:lnTo>
                    <a:pt x="174360" y="6707"/>
                  </a:lnTo>
                  <a:lnTo>
                    <a:pt x="132505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07684" y="4489440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29">
                  <a:moveTo>
                    <a:pt x="132505" y="265080"/>
                  </a:moveTo>
                  <a:lnTo>
                    <a:pt x="174357" y="258294"/>
                  </a:lnTo>
                  <a:lnTo>
                    <a:pt x="210769" y="239416"/>
                  </a:lnTo>
                  <a:lnTo>
                    <a:pt x="239523" y="210662"/>
                  </a:lnTo>
                  <a:lnTo>
                    <a:pt x="258401" y="174249"/>
                  </a:lnTo>
                  <a:lnTo>
                    <a:pt x="265187" y="132397"/>
                  </a:lnTo>
                  <a:lnTo>
                    <a:pt x="258401" y="90382"/>
                  </a:lnTo>
                  <a:lnTo>
                    <a:pt x="239523" y="54016"/>
                  </a:lnTo>
                  <a:lnTo>
                    <a:pt x="210769" y="25419"/>
                  </a:lnTo>
                  <a:lnTo>
                    <a:pt x="174357" y="6707"/>
                  </a:lnTo>
                  <a:lnTo>
                    <a:pt x="132505" y="0"/>
                  </a:lnTo>
                  <a:lnTo>
                    <a:pt x="90479" y="6707"/>
                  </a:lnTo>
                  <a:lnTo>
                    <a:pt x="54087" y="25419"/>
                  </a:lnTo>
                  <a:lnTo>
                    <a:pt x="25457" y="54016"/>
                  </a:lnTo>
                  <a:lnTo>
                    <a:pt x="6719" y="90382"/>
                  </a:lnTo>
                  <a:lnTo>
                    <a:pt x="0" y="132397"/>
                  </a:lnTo>
                  <a:lnTo>
                    <a:pt x="6719" y="174249"/>
                  </a:lnTo>
                  <a:lnTo>
                    <a:pt x="25457" y="210662"/>
                  </a:lnTo>
                  <a:lnTo>
                    <a:pt x="54087" y="239416"/>
                  </a:lnTo>
                  <a:lnTo>
                    <a:pt x="90479" y="258294"/>
                  </a:lnTo>
                  <a:lnTo>
                    <a:pt x="132505" y="265080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2586657" y="201815"/>
          <a:ext cx="706755" cy="4855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6755"/>
              </a:tblGrid>
              <a:tr h="441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46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3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969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3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1" name="object 71"/>
          <p:cNvSpPr txBox="1"/>
          <p:nvPr/>
        </p:nvSpPr>
        <p:spPr>
          <a:xfrm>
            <a:off x="2129880" y="60728"/>
            <a:ext cx="120777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6565" algn="l"/>
                <a:tab pos="1194435" algn="l"/>
              </a:tabLst>
            </a:pPr>
            <a:r>
              <a:rPr sz="1050" spc="-20" dirty="0">
                <a:latin typeface="Times New Roman"/>
                <a:cs typeface="Times New Roman"/>
              </a:rPr>
              <a:t>Time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244827" y="289841"/>
            <a:ext cx="74295" cy="838835"/>
            <a:chOff x="2244827" y="289841"/>
            <a:chExt cx="74295" cy="838835"/>
          </a:xfrm>
        </p:grpSpPr>
        <p:sp>
          <p:nvSpPr>
            <p:cNvPr id="69" name="object 69"/>
            <p:cNvSpPr/>
            <p:nvPr/>
          </p:nvSpPr>
          <p:spPr>
            <a:xfrm>
              <a:off x="2281854" y="289841"/>
              <a:ext cx="0" cy="786130"/>
            </a:xfrm>
            <a:custGeom>
              <a:avLst/>
              <a:gdLst/>
              <a:ahLst/>
              <a:cxnLst/>
              <a:rect l="l" t="t" r="r" b="b"/>
              <a:pathLst>
                <a:path h="786130">
                  <a:moveTo>
                    <a:pt x="0" y="0"/>
                  </a:moveTo>
                  <a:lnTo>
                    <a:pt x="0" y="0"/>
                  </a:lnTo>
                  <a:lnTo>
                    <a:pt x="0" y="785610"/>
                  </a:lnTo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244827" y="1064575"/>
              <a:ext cx="74295" cy="64135"/>
            </a:xfrm>
            <a:custGeom>
              <a:avLst/>
              <a:gdLst/>
              <a:ahLst/>
              <a:cxnLst/>
              <a:rect l="l" t="t" r="r" b="b"/>
              <a:pathLst>
                <a:path w="74294" h="64134">
                  <a:moveTo>
                    <a:pt x="73770" y="0"/>
                  </a:moveTo>
                  <a:lnTo>
                    <a:pt x="0" y="0"/>
                  </a:lnTo>
                  <a:lnTo>
                    <a:pt x="37017" y="64038"/>
                  </a:lnTo>
                  <a:lnTo>
                    <a:pt x="73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5464052" y="290275"/>
            <a:ext cx="274955" cy="274955"/>
            <a:chOff x="5464052" y="290275"/>
            <a:chExt cx="274955" cy="274955"/>
          </a:xfrm>
        </p:grpSpPr>
        <p:sp>
          <p:nvSpPr>
            <p:cNvPr id="48" name="object 48"/>
            <p:cNvSpPr/>
            <p:nvPr/>
          </p:nvSpPr>
          <p:spPr>
            <a:xfrm>
              <a:off x="5468751" y="295016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87" y="0"/>
                  </a:moveTo>
                  <a:lnTo>
                    <a:pt x="90790" y="6711"/>
                  </a:lnTo>
                  <a:lnTo>
                    <a:pt x="54407" y="25444"/>
                  </a:lnTo>
                  <a:lnTo>
                    <a:pt x="25664" y="54091"/>
                  </a:lnTo>
                  <a:lnTo>
                    <a:pt x="6787" y="90548"/>
                  </a:lnTo>
                  <a:lnTo>
                    <a:pt x="0" y="132709"/>
                  </a:lnTo>
                  <a:lnTo>
                    <a:pt x="6787" y="174415"/>
                  </a:lnTo>
                  <a:lnTo>
                    <a:pt x="25664" y="210736"/>
                  </a:lnTo>
                  <a:lnTo>
                    <a:pt x="54407" y="239442"/>
                  </a:lnTo>
                  <a:lnTo>
                    <a:pt x="90790" y="258302"/>
                  </a:lnTo>
                  <a:lnTo>
                    <a:pt x="132587" y="265084"/>
                  </a:lnTo>
                  <a:lnTo>
                    <a:pt x="174352" y="258302"/>
                  </a:lnTo>
                  <a:lnTo>
                    <a:pt x="210709" y="239442"/>
                  </a:lnTo>
                  <a:lnTo>
                    <a:pt x="239434" y="210736"/>
                  </a:lnTo>
                  <a:lnTo>
                    <a:pt x="258301" y="174415"/>
                  </a:lnTo>
                  <a:lnTo>
                    <a:pt x="265084" y="132709"/>
                  </a:lnTo>
                  <a:lnTo>
                    <a:pt x="258301" y="90548"/>
                  </a:lnTo>
                  <a:lnTo>
                    <a:pt x="239434" y="54091"/>
                  </a:lnTo>
                  <a:lnTo>
                    <a:pt x="210709" y="25444"/>
                  </a:lnTo>
                  <a:lnTo>
                    <a:pt x="174352" y="6711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468800" y="295022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90" y="265080"/>
                  </a:moveTo>
                  <a:lnTo>
                    <a:pt x="174341" y="258298"/>
                  </a:lnTo>
                  <a:lnTo>
                    <a:pt x="210690" y="239438"/>
                  </a:lnTo>
                  <a:lnTo>
                    <a:pt x="239410" y="210733"/>
                  </a:lnTo>
                  <a:lnTo>
                    <a:pt x="258276" y="174412"/>
                  </a:lnTo>
                  <a:lnTo>
                    <a:pt x="265059" y="132707"/>
                  </a:lnTo>
                  <a:lnTo>
                    <a:pt x="258276" y="90535"/>
                  </a:lnTo>
                  <a:lnTo>
                    <a:pt x="239410" y="54077"/>
                  </a:lnTo>
                  <a:lnTo>
                    <a:pt x="210690" y="25435"/>
                  </a:lnTo>
                  <a:lnTo>
                    <a:pt x="174341" y="6708"/>
                  </a:lnTo>
                  <a:lnTo>
                    <a:pt x="132590" y="0"/>
                  </a:lnTo>
                  <a:lnTo>
                    <a:pt x="90780" y="6708"/>
                  </a:lnTo>
                  <a:lnTo>
                    <a:pt x="54395" y="25435"/>
                  </a:lnTo>
                  <a:lnTo>
                    <a:pt x="25656" y="54077"/>
                  </a:lnTo>
                  <a:lnTo>
                    <a:pt x="6784" y="90535"/>
                  </a:lnTo>
                  <a:lnTo>
                    <a:pt x="0" y="132707"/>
                  </a:lnTo>
                  <a:lnTo>
                    <a:pt x="6784" y="174412"/>
                  </a:lnTo>
                  <a:lnTo>
                    <a:pt x="25656" y="210733"/>
                  </a:lnTo>
                  <a:lnTo>
                    <a:pt x="54395" y="239438"/>
                  </a:lnTo>
                  <a:lnTo>
                    <a:pt x="90780" y="258298"/>
                  </a:lnTo>
                  <a:lnTo>
                    <a:pt x="132590" y="265080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5247619" y="648462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59">
                <a:moveTo>
                  <a:pt x="707288" y="0"/>
                </a:moveTo>
                <a:lnTo>
                  <a:pt x="0" y="0"/>
                </a:lnTo>
                <a:lnTo>
                  <a:pt x="0" y="441624"/>
                </a:lnTo>
                <a:lnTo>
                  <a:pt x="707288" y="441624"/>
                </a:lnTo>
                <a:lnTo>
                  <a:pt x="707288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5464052" y="732076"/>
            <a:ext cx="274955" cy="274955"/>
            <a:chOff x="5464052" y="732076"/>
            <a:chExt cx="274955" cy="274955"/>
          </a:xfrm>
        </p:grpSpPr>
        <p:sp>
          <p:nvSpPr>
            <p:cNvPr id="42" name="object 42"/>
            <p:cNvSpPr/>
            <p:nvPr/>
          </p:nvSpPr>
          <p:spPr>
            <a:xfrm>
              <a:off x="5468751" y="736823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87" y="0"/>
                  </a:moveTo>
                  <a:lnTo>
                    <a:pt x="90790" y="6719"/>
                  </a:lnTo>
                  <a:lnTo>
                    <a:pt x="54407" y="25456"/>
                  </a:lnTo>
                  <a:lnTo>
                    <a:pt x="25664" y="54084"/>
                  </a:lnTo>
                  <a:lnTo>
                    <a:pt x="6787" y="90474"/>
                  </a:lnTo>
                  <a:lnTo>
                    <a:pt x="0" y="132496"/>
                  </a:lnTo>
                  <a:lnTo>
                    <a:pt x="6787" y="174315"/>
                  </a:lnTo>
                  <a:lnTo>
                    <a:pt x="25664" y="210722"/>
                  </a:lnTo>
                  <a:lnTo>
                    <a:pt x="54407" y="239487"/>
                  </a:lnTo>
                  <a:lnTo>
                    <a:pt x="90790" y="258382"/>
                  </a:lnTo>
                  <a:lnTo>
                    <a:pt x="132587" y="265175"/>
                  </a:lnTo>
                  <a:lnTo>
                    <a:pt x="174352" y="258382"/>
                  </a:lnTo>
                  <a:lnTo>
                    <a:pt x="210709" y="239487"/>
                  </a:lnTo>
                  <a:lnTo>
                    <a:pt x="239434" y="210722"/>
                  </a:lnTo>
                  <a:lnTo>
                    <a:pt x="258301" y="174315"/>
                  </a:lnTo>
                  <a:lnTo>
                    <a:pt x="265084" y="132496"/>
                  </a:lnTo>
                  <a:lnTo>
                    <a:pt x="258301" y="90474"/>
                  </a:lnTo>
                  <a:lnTo>
                    <a:pt x="239434" y="54084"/>
                  </a:lnTo>
                  <a:lnTo>
                    <a:pt x="210709" y="25456"/>
                  </a:lnTo>
                  <a:lnTo>
                    <a:pt x="174352" y="6719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468800" y="736823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90" y="265172"/>
                  </a:moveTo>
                  <a:lnTo>
                    <a:pt x="174341" y="258378"/>
                  </a:lnTo>
                  <a:lnTo>
                    <a:pt x="210690" y="239484"/>
                  </a:lnTo>
                  <a:lnTo>
                    <a:pt x="239410" y="210719"/>
                  </a:lnTo>
                  <a:lnTo>
                    <a:pt x="258276" y="174312"/>
                  </a:lnTo>
                  <a:lnTo>
                    <a:pt x="265059" y="132494"/>
                  </a:lnTo>
                  <a:lnTo>
                    <a:pt x="258276" y="90473"/>
                  </a:lnTo>
                  <a:lnTo>
                    <a:pt x="239410" y="54084"/>
                  </a:lnTo>
                  <a:lnTo>
                    <a:pt x="210690" y="25456"/>
                  </a:lnTo>
                  <a:lnTo>
                    <a:pt x="174341" y="6718"/>
                  </a:lnTo>
                  <a:lnTo>
                    <a:pt x="132590" y="0"/>
                  </a:lnTo>
                  <a:lnTo>
                    <a:pt x="90780" y="6718"/>
                  </a:lnTo>
                  <a:lnTo>
                    <a:pt x="54395" y="25456"/>
                  </a:lnTo>
                  <a:lnTo>
                    <a:pt x="25656" y="54084"/>
                  </a:lnTo>
                  <a:lnTo>
                    <a:pt x="6784" y="90473"/>
                  </a:lnTo>
                  <a:lnTo>
                    <a:pt x="0" y="132494"/>
                  </a:lnTo>
                  <a:lnTo>
                    <a:pt x="6784" y="174312"/>
                  </a:lnTo>
                  <a:lnTo>
                    <a:pt x="25656" y="210719"/>
                  </a:lnTo>
                  <a:lnTo>
                    <a:pt x="54395" y="239484"/>
                  </a:lnTo>
                  <a:lnTo>
                    <a:pt x="90780" y="258378"/>
                  </a:lnTo>
                  <a:lnTo>
                    <a:pt x="132590" y="265172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3457986" y="1090848"/>
            <a:ext cx="74295" cy="441325"/>
            <a:chOff x="3457986" y="1090848"/>
            <a:chExt cx="74295" cy="441325"/>
          </a:xfrm>
        </p:grpSpPr>
        <p:sp>
          <p:nvSpPr>
            <p:cNvPr id="73" name="object 73"/>
            <p:cNvSpPr/>
            <p:nvPr/>
          </p:nvSpPr>
          <p:spPr>
            <a:xfrm>
              <a:off x="3494784" y="1143116"/>
              <a:ext cx="0" cy="335915"/>
            </a:xfrm>
            <a:custGeom>
              <a:avLst/>
              <a:gdLst/>
              <a:ahLst/>
              <a:cxnLst/>
              <a:rect l="l" t="t" r="r" b="b"/>
              <a:pathLst>
                <a:path h="335915">
                  <a:moveTo>
                    <a:pt x="0" y="0"/>
                  </a:moveTo>
                  <a:lnTo>
                    <a:pt x="0" y="0"/>
                  </a:lnTo>
                  <a:lnTo>
                    <a:pt x="0" y="335793"/>
                  </a:lnTo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457981" y="1090853"/>
              <a:ext cx="74295" cy="441325"/>
            </a:xfrm>
            <a:custGeom>
              <a:avLst/>
              <a:gdLst/>
              <a:ahLst/>
              <a:cxnLst/>
              <a:rect l="l" t="t" r="r" b="b"/>
              <a:pathLst>
                <a:path w="74295" h="441325">
                  <a:moveTo>
                    <a:pt x="73761" y="377774"/>
                  </a:moveTo>
                  <a:lnTo>
                    <a:pt x="0" y="377774"/>
                  </a:lnTo>
                  <a:lnTo>
                    <a:pt x="36791" y="441134"/>
                  </a:lnTo>
                  <a:lnTo>
                    <a:pt x="73761" y="377774"/>
                  </a:lnTo>
                  <a:close/>
                </a:path>
                <a:path w="74295" h="441325">
                  <a:moveTo>
                    <a:pt x="73761" y="63550"/>
                  </a:moveTo>
                  <a:lnTo>
                    <a:pt x="36791" y="0"/>
                  </a:lnTo>
                  <a:lnTo>
                    <a:pt x="0" y="63550"/>
                  </a:lnTo>
                  <a:lnTo>
                    <a:pt x="73761" y="63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551418" y="1122228"/>
            <a:ext cx="870585" cy="354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sz="1050" dirty="0">
                <a:latin typeface="Times New Roman"/>
                <a:cs typeface="Times New Roman"/>
              </a:rPr>
              <a:t>I/O</a:t>
            </a:r>
            <a:r>
              <a:rPr sz="1050" spc="2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operation; </a:t>
            </a:r>
            <a:r>
              <a:rPr sz="1050" dirty="0">
                <a:latin typeface="Times New Roman"/>
                <a:cs typeface="Times New Roman"/>
              </a:rPr>
              <a:t>processor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waits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464052" y="1173694"/>
            <a:ext cx="274955" cy="274955"/>
            <a:chOff x="5464052" y="1173694"/>
            <a:chExt cx="274955" cy="274955"/>
          </a:xfrm>
        </p:grpSpPr>
        <p:sp>
          <p:nvSpPr>
            <p:cNvPr id="45" name="object 45"/>
            <p:cNvSpPr/>
            <p:nvPr/>
          </p:nvSpPr>
          <p:spPr>
            <a:xfrm>
              <a:off x="5468751" y="1178417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87" y="0"/>
                  </a:moveTo>
                  <a:lnTo>
                    <a:pt x="90790" y="6720"/>
                  </a:lnTo>
                  <a:lnTo>
                    <a:pt x="54407" y="25470"/>
                  </a:lnTo>
                  <a:lnTo>
                    <a:pt x="25664" y="54131"/>
                  </a:lnTo>
                  <a:lnTo>
                    <a:pt x="6787" y="90583"/>
                  </a:lnTo>
                  <a:lnTo>
                    <a:pt x="0" y="132709"/>
                  </a:lnTo>
                  <a:lnTo>
                    <a:pt x="6787" y="174474"/>
                  </a:lnTo>
                  <a:lnTo>
                    <a:pt x="25664" y="210831"/>
                  </a:lnTo>
                  <a:lnTo>
                    <a:pt x="54407" y="239556"/>
                  </a:lnTo>
                  <a:lnTo>
                    <a:pt x="90790" y="258423"/>
                  </a:lnTo>
                  <a:lnTo>
                    <a:pt x="132587" y="265206"/>
                  </a:lnTo>
                  <a:lnTo>
                    <a:pt x="174352" y="258423"/>
                  </a:lnTo>
                  <a:lnTo>
                    <a:pt x="210709" y="239556"/>
                  </a:lnTo>
                  <a:lnTo>
                    <a:pt x="239434" y="210831"/>
                  </a:lnTo>
                  <a:lnTo>
                    <a:pt x="258301" y="174474"/>
                  </a:lnTo>
                  <a:lnTo>
                    <a:pt x="265084" y="132709"/>
                  </a:lnTo>
                  <a:lnTo>
                    <a:pt x="258301" y="90583"/>
                  </a:lnTo>
                  <a:lnTo>
                    <a:pt x="239434" y="54131"/>
                  </a:lnTo>
                  <a:lnTo>
                    <a:pt x="210709" y="25470"/>
                  </a:lnTo>
                  <a:lnTo>
                    <a:pt x="174352" y="6720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468800" y="1178441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90" y="265172"/>
                  </a:moveTo>
                  <a:lnTo>
                    <a:pt x="174341" y="258388"/>
                  </a:lnTo>
                  <a:lnTo>
                    <a:pt x="210690" y="239522"/>
                  </a:lnTo>
                  <a:lnTo>
                    <a:pt x="239410" y="210798"/>
                  </a:lnTo>
                  <a:lnTo>
                    <a:pt x="258276" y="174441"/>
                  </a:lnTo>
                  <a:lnTo>
                    <a:pt x="265059" y="132677"/>
                  </a:lnTo>
                  <a:lnTo>
                    <a:pt x="258276" y="90566"/>
                  </a:lnTo>
                  <a:lnTo>
                    <a:pt x="239410" y="54123"/>
                  </a:lnTo>
                  <a:lnTo>
                    <a:pt x="210690" y="25468"/>
                  </a:lnTo>
                  <a:lnTo>
                    <a:pt x="174341" y="6720"/>
                  </a:lnTo>
                  <a:lnTo>
                    <a:pt x="132590" y="0"/>
                  </a:lnTo>
                  <a:lnTo>
                    <a:pt x="90780" y="6720"/>
                  </a:lnTo>
                  <a:lnTo>
                    <a:pt x="54395" y="25468"/>
                  </a:lnTo>
                  <a:lnTo>
                    <a:pt x="25656" y="54123"/>
                  </a:lnTo>
                  <a:lnTo>
                    <a:pt x="6784" y="90566"/>
                  </a:lnTo>
                  <a:lnTo>
                    <a:pt x="0" y="132677"/>
                  </a:lnTo>
                  <a:lnTo>
                    <a:pt x="6784" y="174441"/>
                  </a:lnTo>
                  <a:lnTo>
                    <a:pt x="25656" y="210798"/>
                  </a:lnTo>
                  <a:lnTo>
                    <a:pt x="54395" y="239522"/>
                  </a:lnTo>
                  <a:lnTo>
                    <a:pt x="90780" y="258388"/>
                  </a:lnTo>
                  <a:lnTo>
                    <a:pt x="132590" y="265172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6247007" y="1034063"/>
            <a:ext cx="1113155" cy="520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90"/>
              </a:spcBef>
            </a:pPr>
            <a:r>
              <a:rPr sz="1050" dirty="0">
                <a:latin typeface="Times New Roman"/>
                <a:cs typeface="Times New Roman"/>
              </a:rPr>
              <a:t>I/O</a:t>
            </a:r>
            <a:r>
              <a:rPr sz="1050" spc="2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operation </a:t>
            </a:r>
            <a:r>
              <a:rPr sz="1050" dirty="0">
                <a:latin typeface="Times New Roman"/>
                <a:cs typeface="Times New Roman"/>
              </a:rPr>
              <a:t>concurrent</a:t>
            </a:r>
            <a:r>
              <a:rPr sz="1050" spc="90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Times New Roman"/>
                <a:cs typeface="Times New Roman"/>
              </a:rPr>
              <a:t>with </a:t>
            </a:r>
            <a:r>
              <a:rPr sz="1050" dirty="0">
                <a:latin typeface="Times New Roman"/>
                <a:cs typeface="Times New Roman"/>
              </a:rPr>
              <a:t>processor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executing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247619" y="1531985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60">
                <a:moveTo>
                  <a:pt x="707288" y="0"/>
                </a:moveTo>
                <a:lnTo>
                  <a:pt x="0" y="0"/>
                </a:lnTo>
                <a:lnTo>
                  <a:pt x="0" y="441594"/>
                </a:lnTo>
                <a:lnTo>
                  <a:pt x="707288" y="441594"/>
                </a:lnTo>
                <a:lnTo>
                  <a:pt x="707288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0" name="object 50"/>
          <p:cNvGrpSpPr/>
          <p:nvPr/>
        </p:nvGrpSpPr>
        <p:grpSpPr>
          <a:xfrm>
            <a:off x="5464052" y="1615586"/>
            <a:ext cx="274955" cy="274955"/>
            <a:chOff x="5464052" y="1615586"/>
            <a:chExt cx="274955" cy="274955"/>
          </a:xfrm>
        </p:grpSpPr>
        <p:sp>
          <p:nvSpPr>
            <p:cNvPr id="51" name="object 51"/>
            <p:cNvSpPr/>
            <p:nvPr/>
          </p:nvSpPr>
          <p:spPr>
            <a:xfrm>
              <a:off x="5468751" y="1620347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87" y="0"/>
                  </a:moveTo>
                  <a:lnTo>
                    <a:pt x="90790" y="6715"/>
                  </a:lnTo>
                  <a:lnTo>
                    <a:pt x="54407" y="25446"/>
                  </a:lnTo>
                  <a:lnTo>
                    <a:pt x="25664" y="54065"/>
                  </a:lnTo>
                  <a:lnTo>
                    <a:pt x="6787" y="90447"/>
                  </a:lnTo>
                  <a:lnTo>
                    <a:pt x="0" y="132466"/>
                  </a:lnTo>
                  <a:lnTo>
                    <a:pt x="6787" y="174275"/>
                  </a:lnTo>
                  <a:lnTo>
                    <a:pt x="25664" y="210659"/>
                  </a:lnTo>
                  <a:lnTo>
                    <a:pt x="54407" y="239398"/>
                  </a:lnTo>
                  <a:lnTo>
                    <a:pt x="90790" y="258269"/>
                  </a:lnTo>
                  <a:lnTo>
                    <a:pt x="132587" y="265054"/>
                  </a:lnTo>
                  <a:lnTo>
                    <a:pt x="174352" y="258269"/>
                  </a:lnTo>
                  <a:lnTo>
                    <a:pt x="210709" y="239398"/>
                  </a:lnTo>
                  <a:lnTo>
                    <a:pt x="239434" y="210659"/>
                  </a:lnTo>
                  <a:lnTo>
                    <a:pt x="258301" y="174275"/>
                  </a:lnTo>
                  <a:lnTo>
                    <a:pt x="265084" y="132466"/>
                  </a:lnTo>
                  <a:lnTo>
                    <a:pt x="258301" y="90447"/>
                  </a:lnTo>
                  <a:lnTo>
                    <a:pt x="239434" y="54065"/>
                  </a:lnTo>
                  <a:lnTo>
                    <a:pt x="210709" y="25446"/>
                  </a:lnTo>
                  <a:lnTo>
                    <a:pt x="174352" y="6715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468800" y="1620334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90" y="265080"/>
                  </a:moveTo>
                  <a:lnTo>
                    <a:pt x="174341" y="258296"/>
                  </a:lnTo>
                  <a:lnTo>
                    <a:pt x="210690" y="239425"/>
                  </a:lnTo>
                  <a:lnTo>
                    <a:pt x="239410" y="210687"/>
                  </a:lnTo>
                  <a:lnTo>
                    <a:pt x="258276" y="174303"/>
                  </a:lnTo>
                  <a:lnTo>
                    <a:pt x="265059" y="132494"/>
                  </a:lnTo>
                  <a:lnTo>
                    <a:pt x="258276" y="90473"/>
                  </a:lnTo>
                  <a:lnTo>
                    <a:pt x="239410" y="54084"/>
                  </a:lnTo>
                  <a:lnTo>
                    <a:pt x="210690" y="25456"/>
                  </a:lnTo>
                  <a:lnTo>
                    <a:pt x="174341" y="6718"/>
                  </a:lnTo>
                  <a:lnTo>
                    <a:pt x="132590" y="0"/>
                  </a:lnTo>
                  <a:lnTo>
                    <a:pt x="90780" y="6718"/>
                  </a:lnTo>
                  <a:lnTo>
                    <a:pt x="54395" y="25456"/>
                  </a:lnTo>
                  <a:lnTo>
                    <a:pt x="25656" y="54084"/>
                  </a:lnTo>
                  <a:lnTo>
                    <a:pt x="6784" y="90473"/>
                  </a:lnTo>
                  <a:lnTo>
                    <a:pt x="0" y="132494"/>
                  </a:lnTo>
                  <a:lnTo>
                    <a:pt x="6784" y="174303"/>
                  </a:lnTo>
                  <a:lnTo>
                    <a:pt x="25656" y="210687"/>
                  </a:lnTo>
                  <a:lnTo>
                    <a:pt x="54395" y="239425"/>
                  </a:lnTo>
                  <a:lnTo>
                    <a:pt x="90780" y="258296"/>
                  </a:lnTo>
                  <a:lnTo>
                    <a:pt x="132590" y="265080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5464052" y="2057174"/>
            <a:ext cx="274955" cy="274955"/>
            <a:chOff x="5464052" y="2057174"/>
            <a:chExt cx="274955" cy="274955"/>
          </a:xfrm>
        </p:grpSpPr>
        <p:sp>
          <p:nvSpPr>
            <p:cNvPr id="54" name="object 54"/>
            <p:cNvSpPr/>
            <p:nvPr/>
          </p:nvSpPr>
          <p:spPr>
            <a:xfrm>
              <a:off x="5468751" y="2061941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87" y="0"/>
                  </a:moveTo>
                  <a:lnTo>
                    <a:pt x="90790" y="6720"/>
                  </a:lnTo>
                  <a:lnTo>
                    <a:pt x="54407" y="25468"/>
                  </a:lnTo>
                  <a:lnTo>
                    <a:pt x="25664" y="54124"/>
                  </a:lnTo>
                  <a:lnTo>
                    <a:pt x="6787" y="90568"/>
                  </a:lnTo>
                  <a:lnTo>
                    <a:pt x="0" y="132679"/>
                  </a:lnTo>
                  <a:lnTo>
                    <a:pt x="6787" y="174397"/>
                  </a:lnTo>
                  <a:lnTo>
                    <a:pt x="25664" y="210748"/>
                  </a:lnTo>
                  <a:lnTo>
                    <a:pt x="54407" y="239490"/>
                  </a:lnTo>
                  <a:lnTo>
                    <a:pt x="90790" y="258380"/>
                  </a:lnTo>
                  <a:lnTo>
                    <a:pt x="132587" y="265175"/>
                  </a:lnTo>
                  <a:lnTo>
                    <a:pt x="174352" y="258380"/>
                  </a:lnTo>
                  <a:lnTo>
                    <a:pt x="210709" y="239490"/>
                  </a:lnTo>
                  <a:lnTo>
                    <a:pt x="239434" y="210748"/>
                  </a:lnTo>
                  <a:lnTo>
                    <a:pt x="258301" y="174397"/>
                  </a:lnTo>
                  <a:lnTo>
                    <a:pt x="265084" y="132679"/>
                  </a:lnTo>
                  <a:lnTo>
                    <a:pt x="258301" y="90568"/>
                  </a:lnTo>
                  <a:lnTo>
                    <a:pt x="239434" y="54124"/>
                  </a:lnTo>
                  <a:lnTo>
                    <a:pt x="210709" y="25468"/>
                  </a:lnTo>
                  <a:lnTo>
                    <a:pt x="174352" y="6720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468800" y="2061921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90" y="265202"/>
                  </a:moveTo>
                  <a:lnTo>
                    <a:pt x="174341" y="258407"/>
                  </a:lnTo>
                  <a:lnTo>
                    <a:pt x="210690" y="239517"/>
                  </a:lnTo>
                  <a:lnTo>
                    <a:pt x="239410" y="210776"/>
                  </a:lnTo>
                  <a:lnTo>
                    <a:pt x="258276" y="174425"/>
                  </a:lnTo>
                  <a:lnTo>
                    <a:pt x="265059" y="132707"/>
                  </a:lnTo>
                  <a:lnTo>
                    <a:pt x="258276" y="90582"/>
                  </a:lnTo>
                  <a:lnTo>
                    <a:pt x="239410" y="54130"/>
                  </a:lnTo>
                  <a:lnTo>
                    <a:pt x="210690" y="25470"/>
                  </a:lnTo>
                  <a:lnTo>
                    <a:pt x="174341" y="6720"/>
                  </a:lnTo>
                  <a:lnTo>
                    <a:pt x="132590" y="0"/>
                  </a:lnTo>
                  <a:lnTo>
                    <a:pt x="90780" y="6720"/>
                  </a:lnTo>
                  <a:lnTo>
                    <a:pt x="54395" y="25470"/>
                  </a:lnTo>
                  <a:lnTo>
                    <a:pt x="25656" y="54130"/>
                  </a:lnTo>
                  <a:lnTo>
                    <a:pt x="6784" y="90582"/>
                  </a:lnTo>
                  <a:lnTo>
                    <a:pt x="0" y="132707"/>
                  </a:lnTo>
                  <a:lnTo>
                    <a:pt x="6784" y="174425"/>
                  </a:lnTo>
                  <a:lnTo>
                    <a:pt x="25656" y="210776"/>
                  </a:lnTo>
                  <a:lnTo>
                    <a:pt x="54395" y="239517"/>
                  </a:lnTo>
                  <a:lnTo>
                    <a:pt x="90780" y="258407"/>
                  </a:lnTo>
                  <a:lnTo>
                    <a:pt x="132590" y="265202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5247619" y="2415479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60">
                <a:moveTo>
                  <a:pt x="707288" y="0"/>
                </a:moveTo>
                <a:lnTo>
                  <a:pt x="0" y="0"/>
                </a:lnTo>
                <a:lnTo>
                  <a:pt x="0" y="441594"/>
                </a:lnTo>
                <a:lnTo>
                  <a:pt x="707288" y="441594"/>
                </a:lnTo>
                <a:lnTo>
                  <a:pt x="707288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6" name="object 56"/>
          <p:cNvGrpSpPr/>
          <p:nvPr/>
        </p:nvGrpSpPr>
        <p:grpSpPr>
          <a:xfrm>
            <a:off x="5464052" y="2499097"/>
            <a:ext cx="274955" cy="274955"/>
            <a:chOff x="5464052" y="2499097"/>
            <a:chExt cx="274955" cy="274955"/>
          </a:xfrm>
        </p:grpSpPr>
        <p:sp>
          <p:nvSpPr>
            <p:cNvPr id="57" name="object 57"/>
            <p:cNvSpPr/>
            <p:nvPr/>
          </p:nvSpPr>
          <p:spPr>
            <a:xfrm>
              <a:off x="5468751" y="2503840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87" y="0"/>
                  </a:moveTo>
                  <a:lnTo>
                    <a:pt x="90790" y="6718"/>
                  </a:lnTo>
                  <a:lnTo>
                    <a:pt x="54407" y="25451"/>
                  </a:lnTo>
                  <a:lnTo>
                    <a:pt x="25664" y="54065"/>
                  </a:lnTo>
                  <a:lnTo>
                    <a:pt x="6787" y="90427"/>
                  </a:lnTo>
                  <a:lnTo>
                    <a:pt x="0" y="132405"/>
                  </a:lnTo>
                  <a:lnTo>
                    <a:pt x="6787" y="174247"/>
                  </a:lnTo>
                  <a:lnTo>
                    <a:pt x="25664" y="210657"/>
                  </a:lnTo>
                  <a:lnTo>
                    <a:pt x="54407" y="239414"/>
                  </a:lnTo>
                  <a:lnTo>
                    <a:pt x="90790" y="258296"/>
                  </a:lnTo>
                  <a:lnTo>
                    <a:pt x="132587" y="265084"/>
                  </a:lnTo>
                  <a:lnTo>
                    <a:pt x="174352" y="258296"/>
                  </a:lnTo>
                  <a:lnTo>
                    <a:pt x="210709" y="239414"/>
                  </a:lnTo>
                  <a:lnTo>
                    <a:pt x="239434" y="210657"/>
                  </a:lnTo>
                  <a:lnTo>
                    <a:pt x="258301" y="174247"/>
                  </a:lnTo>
                  <a:lnTo>
                    <a:pt x="265084" y="132405"/>
                  </a:lnTo>
                  <a:lnTo>
                    <a:pt x="258301" y="90427"/>
                  </a:lnTo>
                  <a:lnTo>
                    <a:pt x="239434" y="54065"/>
                  </a:lnTo>
                  <a:lnTo>
                    <a:pt x="210709" y="25451"/>
                  </a:lnTo>
                  <a:lnTo>
                    <a:pt x="174352" y="6718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468800" y="2503844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90" y="265080"/>
                  </a:moveTo>
                  <a:lnTo>
                    <a:pt x="174341" y="258292"/>
                  </a:lnTo>
                  <a:lnTo>
                    <a:pt x="210690" y="239408"/>
                  </a:lnTo>
                  <a:lnTo>
                    <a:pt x="239410" y="210647"/>
                  </a:lnTo>
                  <a:lnTo>
                    <a:pt x="258276" y="174229"/>
                  </a:lnTo>
                  <a:lnTo>
                    <a:pt x="265059" y="132372"/>
                  </a:lnTo>
                  <a:lnTo>
                    <a:pt x="258276" y="90410"/>
                  </a:lnTo>
                  <a:lnTo>
                    <a:pt x="239410" y="54057"/>
                  </a:lnTo>
                  <a:lnTo>
                    <a:pt x="210690" y="25448"/>
                  </a:lnTo>
                  <a:lnTo>
                    <a:pt x="174341" y="6717"/>
                  </a:lnTo>
                  <a:lnTo>
                    <a:pt x="132590" y="0"/>
                  </a:lnTo>
                  <a:lnTo>
                    <a:pt x="90780" y="6717"/>
                  </a:lnTo>
                  <a:lnTo>
                    <a:pt x="54395" y="25448"/>
                  </a:lnTo>
                  <a:lnTo>
                    <a:pt x="25656" y="54057"/>
                  </a:lnTo>
                  <a:lnTo>
                    <a:pt x="6784" y="90410"/>
                  </a:lnTo>
                  <a:lnTo>
                    <a:pt x="0" y="132372"/>
                  </a:lnTo>
                  <a:lnTo>
                    <a:pt x="6784" y="174229"/>
                  </a:lnTo>
                  <a:lnTo>
                    <a:pt x="25656" y="210647"/>
                  </a:lnTo>
                  <a:lnTo>
                    <a:pt x="54395" y="239408"/>
                  </a:lnTo>
                  <a:lnTo>
                    <a:pt x="90780" y="258292"/>
                  </a:lnTo>
                  <a:lnTo>
                    <a:pt x="132590" y="265080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5464052" y="2940685"/>
            <a:ext cx="274955" cy="274955"/>
            <a:chOff x="5464052" y="2940685"/>
            <a:chExt cx="274955" cy="274955"/>
          </a:xfrm>
        </p:grpSpPr>
        <p:sp>
          <p:nvSpPr>
            <p:cNvPr id="60" name="object 60"/>
            <p:cNvSpPr/>
            <p:nvPr/>
          </p:nvSpPr>
          <p:spPr>
            <a:xfrm>
              <a:off x="5468751" y="2945434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87" y="0"/>
                  </a:moveTo>
                  <a:lnTo>
                    <a:pt x="90790" y="6720"/>
                  </a:lnTo>
                  <a:lnTo>
                    <a:pt x="54407" y="25470"/>
                  </a:lnTo>
                  <a:lnTo>
                    <a:pt x="25664" y="54131"/>
                  </a:lnTo>
                  <a:lnTo>
                    <a:pt x="6787" y="90583"/>
                  </a:lnTo>
                  <a:lnTo>
                    <a:pt x="0" y="132709"/>
                  </a:lnTo>
                  <a:lnTo>
                    <a:pt x="6787" y="174415"/>
                  </a:lnTo>
                  <a:lnTo>
                    <a:pt x="25664" y="210736"/>
                  </a:lnTo>
                  <a:lnTo>
                    <a:pt x="54407" y="239442"/>
                  </a:lnTo>
                  <a:lnTo>
                    <a:pt x="90790" y="258302"/>
                  </a:lnTo>
                  <a:lnTo>
                    <a:pt x="132587" y="265084"/>
                  </a:lnTo>
                  <a:lnTo>
                    <a:pt x="174352" y="258302"/>
                  </a:lnTo>
                  <a:lnTo>
                    <a:pt x="210709" y="239442"/>
                  </a:lnTo>
                  <a:lnTo>
                    <a:pt x="239434" y="210736"/>
                  </a:lnTo>
                  <a:lnTo>
                    <a:pt x="258301" y="174415"/>
                  </a:lnTo>
                  <a:lnTo>
                    <a:pt x="265084" y="132709"/>
                  </a:lnTo>
                  <a:lnTo>
                    <a:pt x="258301" y="90583"/>
                  </a:lnTo>
                  <a:lnTo>
                    <a:pt x="239434" y="54131"/>
                  </a:lnTo>
                  <a:lnTo>
                    <a:pt x="210709" y="25470"/>
                  </a:lnTo>
                  <a:lnTo>
                    <a:pt x="174352" y="6720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468800" y="2945432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590" y="265080"/>
                  </a:moveTo>
                  <a:lnTo>
                    <a:pt x="174341" y="258298"/>
                  </a:lnTo>
                  <a:lnTo>
                    <a:pt x="210690" y="239438"/>
                  </a:lnTo>
                  <a:lnTo>
                    <a:pt x="239410" y="210733"/>
                  </a:lnTo>
                  <a:lnTo>
                    <a:pt x="258276" y="174412"/>
                  </a:lnTo>
                  <a:lnTo>
                    <a:pt x="265059" y="132707"/>
                  </a:lnTo>
                  <a:lnTo>
                    <a:pt x="258276" y="90582"/>
                  </a:lnTo>
                  <a:lnTo>
                    <a:pt x="239410" y="54130"/>
                  </a:lnTo>
                  <a:lnTo>
                    <a:pt x="210690" y="25470"/>
                  </a:lnTo>
                  <a:lnTo>
                    <a:pt x="174341" y="6720"/>
                  </a:lnTo>
                  <a:lnTo>
                    <a:pt x="132590" y="0"/>
                  </a:lnTo>
                  <a:lnTo>
                    <a:pt x="90780" y="6720"/>
                  </a:lnTo>
                  <a:lnTo>
                    <a:pt x="54395" y="25470"/>
                  </a:lnTo>
                  <a:lnTo>
                    <a:pt x="25656" y="54130"/>
                  </a:lnTo>
                  <a:lnTo>
                    <a:pt x="6784" y="90582"/>
                  </a:lnTo>
                  <a:lnTo>
                    <a:pt x="0" y="132707"/>
                  </a:lnTo>
                  <a:lnTo>
                    <a:pt x="6784" y="174412"/>
                  </a:lnTo>
                  <a:lnTo>
                    <a:pt x="25656" y="210733"/>
                  </a:lnTo>
                  <a:lnTo>
                    <a:pt x="54395" y="239438"/>
                  </a:lnTo>
                  <a:lnTo>
                    <a:pt x="90780" y="258298"/>
                  </a:lnTo>
                  <a:lnTo>
                    <a:pt x="132590" y="265080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6247007" y="2811959"/>
            <a:ext cx="1113155" cy="520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sz="1050" dirty="0">
                <a:latin typeface="Times New Roman"/>
                <a:cs typeface="Times New Roman"/>
              </a:rPr>
              <a:t>I/O</a:t>
            </a:r>
            <a:r>
              <a:rPr sz="1050" spc="2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operation </a:t>
            </a:r>
            <a:r>
              <a:rPr sz="1050" dirty="0">
                <a:latin typeface="Times New Roman"/>
                <a:cs typeface="Times New Roman"/>
              </a:rPr>
              <a:t>concurrent</a:t>
            </a:r>
            <a:r>
              <a:rPr sz="1050" spc="90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Times New Roman"/>
                <a:cs typeface="Times New Roman"/>
              </a:rPr>
              <a:t>with </a:t>
            </a:r>
            <a:r>
              <a:rPr sz="1050" dirty="0">
                <a:latin typeface="Times New Roman"/>
                <a:cs typeface="Times New Roman"/>
              </a:rPr>
              <a:t>processor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executing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51418" y="3283768"/>
            <a:ext cx="870585" cy="354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0"/>
              </a:spcBef>
            </a:pPr>
            <a:r>
              <a:rPr sz="1050" dirty="0">
                <a:latin typeface="Times New Roman"/>
                <a:cs typeface="Times New Roman"/>
              </a:rPr>
              <a:t>I/O</a:t>
            </a:r>
            <a:r>
              <a:rPr sz="1050" spc="2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operation; </a:t>
            </a:r>
            <a:r>
              <a:rPr sz="1050" dirty="0">
                <a:latin typeface="Times New Roman"/>
                <a:cs typeface="Times New Roman"/>
              </a:rPr>
              <a:t>processor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waits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247619" y="3298972"/>
            <a:ext cx="707390" cy="441959"/>
          </a:xfrm>
          <a:custGeom>
            <a:avLst/>
            <a:gdLst/>
            <a:ahLst/>
            <a:cxnLst/>
            <a:rect l="l" t="t" r="r" b="b"/>
            <a:pathLst>
              <a:path w="707389" h="441960">
                <a:moveTo>
                  <a:pt x="707288" y="0"/>
                </a:moveTo>
                <a:lnTo>
                  <a:pt x="0" y="0"/>
                </a:lnTo>
                <a:lnTo>
                  <a:pt x="0" y="441624"/>
                </a:lnTo>
                <a:lnTo>
                  <a:pt x="707288" y="441624"/>
                </a:lnTo>
                <a:lnTo>
                  <a:pt x="707288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2" name="object 62"/>
          <p:cNvGrpSpPr/>
          <p:nvPr/>
        </p:nvGrpSpPr>
        <p:grpSpPr>
          <a:xfrm>
            <a:off x="5464052" y="3382577"/>
            <a:ext cx="274955" cy="274955"/>
            <a:chOff x="5464052" y="3382577"/>
            <a:chExt cx="274955" cy="274955"/>
          </a:xfrm>
        </p:grpSpPr>
        <p:sp>
          <p:nvSpPr>
            <p:cNvPr id="63" name="object 63"/>
            <p:cNvSpPr/>
            <p:nvPr/>
          </p:nvSpPr>
          <p:spPr>
            <a:xfrm>
              <a:off x="5468751" y="3387334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132587" y="0"/>
                  </a:moveTo>
                  <a:lnTo>
                    <a:pt x="90790" y="6709"/>
                  </a:lnTo>
                  <a:lnTo>
                    <a:pt x="54407" y="25424"/>
                  </a:lnTo>
                  <a:lnTo>
                    <a:pt x="25664" y="54025"/>
                  </a:lnTo>
                  <a:lnTo>
                    <a:pt x="6787" y="90392"/>
                  </a:lnTo>
                  <a:lnTo>
                    <a:pt x="0" y="132405"/>
                  </a:lnTo>
                  <a:lnTo>
                    <a:pt x="6787" y="174259"/>
                  </a:lnTo>
                  <a:lnTo>
                    <a:pt x="25664" y="210670"/>
                  </a:lnTo>
                  <a:lnTo>
                    <a:pt x="54407" y="239422"/>
                  </a:lnTo>
                  <a:lnTo>
                    <a:pt x="90790" y="258299"/>
                  </a:lnTo>
                  <a:lnTo>
                    <a:pt x="132587" y="265084"/>
                  </a:lnTo>
                  <a:lnTo>
                    <a:pt x="174352" y="258299"/>
                  </a:lnTo>
                  <a:lnTo>
                    <a:pt x="210709" y="239422"/>
                  </a:lnTo>
                  <a:lnTo>
                    <a:pt x="239434" y="210670"/>
                  </a:lnTo>
                  <a:lnTo>
                    <a:pt x="258301" y="174259"/>
                  </a:lnTo>
                  <a:lnTo>
                    <a:pt x="265084" y="132405"/>
                  </a:lnTo>
                  <a:lnTo>
                    <a:pt x="258301" y="90392"/>
                  </a:lnTo>
                  <a:lnTo>
                    <a:pt x="239434" y="54025"/>
                  </a:lnTo>
                  <a:lnTo>
                    <a:pt x="210709" y="25424"/>
                  </a:lnTo>
                  <a:lnTo>
                    <a:pt x="174352" y="6709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468800" y="3387325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132590" y="265080"/>
                  </a:moveTo>
                  <a:lnTo>
                    <a:pt x="174341" y="258295"/>
                  </a:lnTo>
                  <a:lnTo>
                    <a:pt x="210690" y="239419"/>
                  </a:lnTo>
                  <a:lnTo>
                    <a:pt x="239410" y="210667"/>
                  </a:lnTo>
                  <a:lnTo>
                    <a:pt x="258276" y="174256"/>
                  </a:lnTo>
                  <a:lnTo>
                    <a:pt x="265059" y="132403"/>
                  </a:lnTo>
                  <a:lnTo>
                    <a:pt x="258276" y="90391"/>
                  </a:lnTo>
                  <a:lnTo>
                    <a:pt x="239410" y="54024"/>
                  </a:lnTo>
                  <a:lnTo>
                    <a:pt x="210690" y="25424"/>
                  </a:lnTo>
                  <a:lnTo>
                    <a:pt x="174341" y="6709"/>
                  </a:lnTo>
                  <a:lnTo>
                    <a:pt x="132590" y="0"/>
                  </a:lnTo>
                  <a:lnTo>
                    <a:pt x="90780" y="6709"/>
                  </a:lnTo>
                  <a:lnTo>
                    <a:pt x="54395" y="25424"/>
                  </a:lnTo>
                  <a:lnTo>
                    <a:pt x="25656" y="54024"/>
                  </a:lnTo>
                  <a:lnTo>
                    <a:pt x="6784" y="90391"/>
                  </a:lnTo>
                  <a:lnTo>
                    <a:pt x="0" y="132403"/>
                  </a:lnTo>
                  <a:lnTo>
                    <a:pt x="6784" y="174256"/>
                  </a:lnTo>
                  <a:lnTo>
                    <a:pt x="25656" y="210667"/>
                  </a:lnTo>
                  <a:lnTo>
                    <a:pt x="54395" y="239419"/>
                  </a:lnTo>
                  <a:lnTo>
                    <a:pt x="90780" y="258295"/>
                  </a:lnTo>
                  <a:lnTo>
                    <a:pt x="132590" y="265080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5464052" y="3824192"/>
            <a:ext cx="274955" cy="274955"/>
            <a:chOff x="5464052" y="3824192"/>
            <a:chExt cx="274955" cy="274955"/>
          </a:xfrm>
        </p:grpSpPr>
        <p:sp>
          <p:nvSpPr>
            <p:cNvPr id="66" name="object 66"/>
            <p:cNvSpPr/>
            <p:nvPr/>
          </p:nvSpPr>
          <p:spPr>
            <a:xfrm>
              <a:off x="5468751" y="3828943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132587" y="0"/>
                  </a:moveTo>
                  <a:lnTo>
                    <a:pt x="90790" y="6720"/>
                  </a:lnTo>
                  <a:lnTo>
                    <a:pt x="54407" y="25469"/>
                  </a:lnTo>
                  <a:lnTo>
                    <a:pt x="25664" y="54127"/>
                  </a:lnTo>
                  <a:lnTo>
                    <a:pt x="6787" y="90575"/>
                  </a:lnTo>
                  <a:lnTo>
                    <a:pt x="0" y="132694"/>
                  </a:lnTo>
                  <a:lnTo>
                    <a:pt x="6787" y="174406"/>
                  </a:lnTo>
                  <a:lnTo>
                    <a:pt x="25664" y="210731"/>
                  </a:lnTo>
                  <a:lnTo>
                    <a:pt x="54407" y="239439"/>
                  </a:lnTo>
                  <a:lnTo>
                    <a:pt x="90790" y="258299"/>
                  </a:lnTo>
                  <a:lnTo>
                    <a:pt x="132587" y="265081"/>
                  </a:lnTo>
                  <a:lnTo>
                    <a:pt x="174352" y="258299"/>
                  </a:lnTo>
                  <a:lnTo>
                    <a:pt x="210709" y="239439"/>
                  </a:lnTo>
                  <a:lnTo>
                    <a:pt x="239434" y="210731"/>
                  </a:lnTo>
                  <a:lnTo>
                    <a:pt x="258301" y="174406"/>
                  </a:lnTo>
                  <a:lnTo>
                    <a:pt x="265084" y="132694"/>
                  </a:lnTo>
                  <a:lnTo>
                    <a:pt x="258301" y="90575"/>
                  </a:lnTo>
                  <a:lnTo>
                    <a:pt x="239434" y="54127"/>
                  </a:lnTo>
                  <a:lnTo>
                    <a:pt x="210709" y="25469"/>
                  </a:lnTo>
                  <a:lnTo>
                    <a:pt x="174352" y="6720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68800" y="3828939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132590" y="265083"/>
                  </a:moveTo>
                  <a:lnTo>
                    <a:pt x="174341" y="258301"/>
                  </a:lnTo>
                  <a:lnTo>
                    <a:pt x="210690" y="239441"/>
                  </a:lnTo>
                  <a:lnTo>
                    <a:pt x="239410" y="210734"/>
                  </a:lnTo>
                  <a:lnTo>
                    <a:pt x="258276" y="174408"/>
                  </a:lnTo>
                  <a:lnTo>
                    <a:pt x="265059" y="132695"/>
                  </a:lnTo>
                  <a:lnTo>
                    <a:pt x="258276" y="90577"/>
                  </a:lnTo>
                  <a:lnTo>
                    <a:pt x="239410" y="54128"/>
                  </a:lnTo>
                  <a:lnTo>
                    <a:pt x="210690" y="25470"/>
                  </a:lnTo>
                  <a:lnTo>
                    <a:pt x="174341" y="6720"/>
                  </a:lnTo>
                  <a:lnTo>
                    <a:pt x="132590" y="0"/>
                  </a:lnTo>
                  <a:lnTo>
                    <a:pt x="90780" y="6720"/>
                  </a:lnTo>
                  <a:lnTo>
                    <a:pt x="54395" y="25470"/>
                  </a:lnTo>
                  <a:lnTo>
                    <a:pt x="25656" y="54128"/>
                  </a:lnTo>
                  <a:lnTo>
                    <a:pt x="6784" y="90577"/>
                  </a:lnTo>
                  <a:lnTo>
                    <a:pt x="0" y="132695"/>
                  </a:lnTo>
                  <a:lnTo>
                    <a:pt x="6784" y="174408"/>
                  </a:lnTo>
                  <a:lnTo>
                    <a:pt x="25656" y="210734"/>
                  </a:lnTo>
                  <a:lnTo>
                    <a:pt x="54395" y="239441"/>
                  </a:lnTo>
                  <a:lnTo>
                    <a:pt x="90780" y="258301"/>
                  </a:lnTo>
                  <a:lnTo>
                    <a:pt x="132590" y="265083"/>
                  </a:lnTo>
                  <a:close/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9" name="object 79"/>
          <p:cNvGraphicFramePr>
            <a:graphicFrameLocks noGrp="1"/>
          </p:cNvGraphicFramePr>
          <p:nvPr/>
        </p:nvGraphicFramePr>
        <p:xfrm>
          <a:off x="5247619" y="201823"/>
          <a:ext cx="707390" cy="3971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7390"/>
              </a:tblGrid>
              <a:tr h="441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223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0" name="object 80"/>
          <p:cNvGrpSpPr/>
          <p:nvPr/>
        </p:nvGrpSpPr>
        <p:grpSpPr>
          <a:xfrm>
            <a:off x="6118981" y="1090848"/>
            <a:ext cx="74295" cy="441325"/>
            <a:chOff x="6118981" y="1090848"/>
            <a:chExt cx="74295" cy="441325"/>
          </a:xfrm>
        </p:grpSpPr>
        <p:sp>
          <p:nvSpPr>
            <p:cNvPr id="81" name="object 81"/>
            <p:cNvSpPr/>
            <p:nvPr/>
          </p:nvSpPr>
          <p:spPr>
            <a:xfrm>
              <a:off x="6155985" y="1143116"/>
              <a:ext cx="0" cy="335915"/>
            </a:xfrm>
            <a:custGeom>
              <a:avLst/>
              <a:gdLst/>
              <a:ahLst/>
              <a:cxnLst/>
              <a:rect l="l" t="t" r="r" b="b"/>
              <a:pathLst>
                <a:path h="335915">
                  <a:moveTo>
                    <a:pt x="0" y="0"/>
                  </a:moveTo>
                  <a:lnTo>
                    <a:pt x="0" y="0"/>
                  </a:lnTo>
                  <a:lnTo>
                    <a:pt x="0" y="335793"/>
                  </a:lnTo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118974" y="1090853"/>
              <a:ext cx="74295" cy="441325"/>
            </a:xfrm>
            <a:custGeom>
              <a:avLst/>
              <a:gdLst/>
              <a:ahLst/>
              <a:cxnLst/>
              <a:rect l="l" t="t" r="r" b="b"/>
              <a:pathLst>
                <a:path w="74295" h="441325">
                  <a:moveTo>
                    <a:pt x="73736" y="377774"/>
                  </a:moveTo>
                  <a:lnTo>
                    <a:pt x="0" y="377774"/>
                  </a:lnTo>
                  <a:lnTo>
                    <a:pt x="36969" y="441134"/>
                  </a:lnTo>
                  <a:lnTo>
                    <a:pt x="73736" y="377774"/>
                  </a:lnTo>
                  <a:close/>
                </a:path>
                <a:path w="74295" h="441325">
                  <a:moveTo>
                    <a:pt x="73736" y="63550"/>
                  </a:moveTo>
                  <a:lnTo>
                    <a:pt x="36969" y="0"/>
                  </a:lnTo>
                  <a:lnTo>
                    <a:pt x="800" y="63550"/>
                  </a:lnTo>
                  <a:lnTo>
                    <a:pt x="73736" y="63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6118981" y="2857774"/>
            <a:ext cx="74295" cy="441325"/>
            <a:chOff x="6118981" y="2857774"/>
            <a:chExt cx="74295" cy="441325"/>
          </a:xfrm>
        </p:grpSpPr>
        <p:sp>
          <p:nvSpPr>
            <p:cNvPr id="84" name="object 84"/>
            <p:cNvSpPr/>
            <p:nvPr/>
          </p:nvSpPr>
          <p:spPr>
            <a:xfrm>
              <a:off x="6155985" y="2910137"/>
              <a:ext cx="0" cy="335915"/>
            </a:xfrm>
            <a:custGeom>
              <a:avLst/>
              <a:gdLst/>
              <a:ahLst/>
              <a:cxnLst/>
              <a:rect l="l" t="t" r="r" b="b"/>
              <a:pathLst>
                <a:path h="335914">
                  <a:moveTo>
                    <a:pt x="0" y="0"/>
                  </a:moveTo>
                  <a:lnTo>
                    <a:pt x="0" y="0"/>
                  </a:lnTo>
                  <a:lnTo>
                    <a:pt x="0" y="335701"/>
                  </a:lnTo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118974" y="2857779"/>
              <a:ext cx="74295" cy="441325"/>
            </a:xfrm>
            <a:custGeom>
              <a:avLst/>
              <a:gdLst/>
              <a:ahLst/>
              <a:cxnLst/>
              <a:rect l="l" t="t" r="r" b="b"/>
              <a:pathLst>
                <a:path w="74295" h="441325">
                  <a:moveTo>
                    <a:pt x="73736" y="377863"/>
                  </a:moveTo>
                  <a:lnTo>
                    <a:pt x="0" y="377863"/>
                  </a:lnTo>
                  <a:lnTo>
                    <a:pt x="36969" y="441198"/>
                  </a:lnTo>
                  <a:lnTo>
                    <a:pt x="73736" y="377863"/>
                  </a:lnTo>
                  <a:close/>
                </a:path>
                <a:path w="74295" h="441325">
                  <a:moveTo>
                    <a:pt x="73736" y="63550"/>
                  </a:moveTo>
                  <a:lnTo>
                    <a:pt x="36969" y="0"/>
                  </a:lnTo>
                  <a:lnTo>
                    <a:pt x="800" y="63550"/>
                  </a:lnTo>
                  <a:lnTo>
                    <a:pt x="73736" y="63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3457986" y="3299673"/>
            <a:ext cx="74295" cy="441325"/>
            <a:chOff x="3457986" y="3299673"/>
            <a:chExt cx="74295" cy="441325"/>
          </a:xfrm>
        </p:grpSpPr>
        <p:sp>
          <p:nvSpPr>
            <p:cNvPr id="87" name="object 87"/>
            <p:cNvSpPr/>
            <p:nvPr/>
          </p:nvSpPr>
          <p:spPr>
            <a:xfrm>
              <a:off x="3494784" y="3352029"/>
              <a:ext cx="0" cy="335915"/>
            </a:xfrm>
            <a:custGeom>
              <a:avLst/>
              <a:gdLst/>
              <a:ahLst/>
              <a:cxnLst/>
              <a:rect l="l" t="t" r="r" b="b"/>
              <a:pathLst>
                <a:path h="335914">
                  <a:moveTo>
                    <a:pt x="0" y="0"/>
                  </a:moveTo>
                  <a:lnTo>
                    <a:pt x="0" y="0"/>
                  </a:lnTo>
                  <a:lnTo>
                    <a:pt x="0" y="335701"/>
                  </a:lnTo>
                </a:path>
              </a:pathLst>
            </a:custGeom>
            <a:ln w="9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457981" y="3299675"/>
              <a:ext cx="74295" cy="441325"/>
            </a:xfrm>
            <a:custGeom>
              <a:avLst/>
              <a:gdLst/>
              <a:ahLst/>
              <a:cxnLst/>
              <a:rect l="l" t="t" r="r" b="b"/>
              <a:pathLst>
                <a:path w="74295" h="441325">
                  <a:moveTo>
                    <a:pt x="73761" y="377558"/>
                  </a:moveTo>
                  <a:lnTo>
                    <a:pt x="0" y="377558"/>
                  </a:lnTo>
                  <a:lnTo>
                    <a:pt x="36791" y="440931"/>
                  </a:lnTo>
                  <a:lnTo>
                    <a:pt x="73761" y="377558"/>
                  </a:lnTo>
                  <a:close/>
                </a:path>
                <a:path w="74295" h="441325">
                  <a:moveTo>
                    <a:pt x="73761" y="63246"/>
                  </a:moveTo>
                  <a:lnTo>
                    <a:pt x="36791" y="0"/>
                  </a:lnTo>
                  <a:lnTo>
                    <a:pt x="0" y="63246"/>
                  </a:lnTo>
                  <a:lnTo>
                    <a:pt x="73761" y="632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5117824" y="4410971"/>
            <a:ext cx="10490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Times New Roman"/>
                <a:cs typeface="Times New Roman"/>
              </a:rPr>
              <a:t>(b)</a:t>
            </a:r>
            <a:r>
              <a:rPr sz="1050" spc="4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With</a:t>
            </a:r>
            <a:r>
              <a:rPr sz="1050" spc="3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interrupts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328064" y="5368222"/>
            <a:ext cx="121539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Times New Roman"/>
                <a:cs typeface="Times New Roman"/>
              </a:rPr>
              <a:t>(a)</a:t>
            </a:r>
            <a:r>
              <a:rPr sz="1050" spc="6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Without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interrupts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864118" y="6033827"/>
            <a:ext cx="87503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Figure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3.10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887058" y="6033827"/>
            <a:ext cx="25241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Times New Roman"/>
                <a:cs typeface="Times New Roman"/>
              </a:rPr>
              <a:t>Program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Timing: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Short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I/O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Wait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04" y="304760"/>
            <a:ext cx="406395" cy="51246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657154" y="208513"/>
            <a:ext cx="653415" cy="407670"/>
          </a:xfrm>
          <a:custGeom>
            <a:avLst/>
            <a:gdLst/>
            <a:ahLst/>
            <a:cxnLst/>
            <a:rect l="l" t="t" r="r" b="b"/>
            <a:pathLst>
              <a:path w="653414" h="407670">
                <a:moveTo>
                  <a:pt x="653216" y="0"/>
                </a:moveTo>
                <a:lnTo>
                  <a:pt x="0" y="0"/>
                </a:lnTo>
                <a:lnTo>
                  <a:pt x="0" y="407395"/>
                </a:lnTo>
                <a:lnTo>
                  <a:pt x="653216" y="407395"/>
                </a:lnTo>
                <a:lnTo>
                  <a:pt x="653216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57007" y="285135"/>
            <a:ext cx="253780" cy="25351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657154" y="616549"/>
            <a:ext cx="653415" cy="407670"/>
            <a:chOff x="2657154" y="616549"/>
            <a:chExt cx="653415" cy="407670"/>
          </a:xfrm>
        </p:grpSpPr>
        <p:sp>
          <p:nvSpPr>
            <p:cNvPr id="10" name="object 10"/>
            <p:cNvSpPr/>
            <p:nvPr/>
          </p:nvSpPr>
          <p:spPr>
            <a:xfrm>
              <a:off x="2657154" y="616549"/>
              <a:ext cx="653415" cy="407670"/>
            </a:xfrm>
            <a:custGeom>
              <a:avLst/>
              <a:gdLst/>
              <a:ahLst/>
              <a:cxnLst/>
              <a:rect l="l" t="t" r="r" b="b"/>
              <a:pathLst>
                <a:path w="653414" h="407669">
                  <a:moveTo>
                    <a:pt x="653216" y="0"/>
                  </a:moveTo>
                  <a:lnTo>
                    <a:pt x="0" y="0"/>
                  </a:lnTo>
                  <a:lnTo>
                    <a:pt x="0" y="407578"/>
                  </a:lnTo>
                  <a:lnTo>
                    <a:pt x="653216" y="407578"/>
                  </a:lnTo>
                  <a:lnTo>
                    <a:pt x="653216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7007" y="693156"/>
              <a:ext cx="253780" cy="253701"/>
            </a:xfrm>
            <a:prstGeom prst="rect">
              <a:avLst/>
            </a:prstGeom>
          </p:spPr>
        </p:pic>
      </p:grpSp>
      <p:sp>
        <p:nvSpPr>
          <p:cNvPr id="4" name="object 4"/>
          <p:cNvSpPr/>
          <p:nvPr/>
        </p:nvSpPr>
        <p:spPr>
          <a:xfrm>
            <a:off x="2657154" y="2248448"/>
            <a:ext cx="653415" cy="816610"/>
          </a:xfrm>
          <a:custGeom>
            <a:avLst/>
            <a:gdLst/>
            <a:ahLst/>
            <a:cxnLst/>
            <a:rect l="l" t="t" r="r" b="b"/>
            <a:pathLst>
              <a:path w="653414" h="816610">
                <a:moveTo>
                  <a:pt x="653216" y="0"/>
                </a:moveTo>
                <a:lnTo>
                  <a:pt x="0" y="0"/>
                </a:lnTo>
                <a:lnTo>
                  <a:pt x="0" y="816284"/>
                </a:lnTo>
                <a:lnTo>
                  <a:pt x="653216" y="816284"/>
                </a:lnTo>
                <a:lnTo>
                  <a:pt x="653216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57154" y="1841144"/>
            <a:ext cx="653415" cy="407670"/>
          </a:xfrm>
          <a:custGeom>
            <a:avLst/>
            <a:gdLst/>
            <a:ahLst/>
            <a:cxnLst/>
            <a:rect l="l" t="t" r="r" b="b"/>
            <a:pathLst>
              <a:path w="653414" h="407669">
                <a:moveTo>
                  <a:pt x="653216" y="0"/>
                </a:moveTo>
                <a:lnTo>
                  <a:pt x="0" y="0"/>
                </a:lnTo>
                <a:lnTo>
                  <a:pt x="0" y="407304"/>
                </a:lnTo>
                <a:lnTo>
                  <a:pt x="653216" y="407304"/>
                </a:lnTo>
                <a:lnTo>
                  <a:pt x="653216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7007" y="1917677"/>
            <a:ext cx="253780" cy="2535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57007" y="2527011"/>
            <a:ext cx="253780" cy="25379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657154" y="3065465"/>
            <a:ext cx="653415" cy="407670"/>
          </a:xfrm>
          <a:custGeom>
            <a:avLst/>
            <a:gdLst/>
            <a:ahLst/>
            <a:cxnLst/>
            <a:rect l="l" t="t" r="r" b="b"/>
            <a:pathLst>
              <a:path w="653414" h="407670">
                <a:moveTo>
                  <a:pt x="653216" y="0"/>
                </a:moveTo>
                <a:lnTo>
                  <a:pt x="0" y="0"/>
                </a:lnTo>
                <a:lnTo>
                  <a:pt x="0" y="407578"/>
                </a:lnTo>
                <a:lnTo>
                  <a:pt x="653216" y="407578"/>
                </a:lnTo>
                <a:lnTo>
                  <a:pt x="653216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57007" y="3139363"/>
            <a:ext cx="253780" cy="25370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657154" y="4697348"/>
            <a:ext cx="653415" cy="816610"/>
          </a:xfrm>
          <a:custGeom>
            <a:avLst/>
            <a:gdLst/>
            <a:ahLst/>
            <a:cxnLst/>
            <a:rect l="l" t="t" r="r" b="b"/>
            <a:pathLst>
              <a:path w="653414" h="816610">
                <a:moveTo>
                  <a:pt x="653216" y="0"/>
                </a:moveTo>
                <a:lnTo>
                  <a:pt x="0" y="0"/>
                </a:lnTo>
                <a:lnTo>
                  <a:pt x="0" y="816303"/>
                </a:lnTo>
                <a:lnTo>
                  <a:pt x="653216" y="816303"/>
                </a:lnTo>
                <a:lnTo>
                  <a:pt x="653216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57154" y="4289965"/>
            <a:ext cx="653415" cy="407670"/>
          </a:xfrm>
          <a:custGeom>
            <a:avLst/>
            <a:gdLst/>
            <a:ahLst/>
            <a:cxnLst/>
            <a:rect l="l" t="t" r="r" b="b"/>
            <a:pathLst>
              <a:path w="653414" h="407670">
                <a:moveTo>
                  <a:pt x="653216" y="0"/>
                </a:moveTo>
                <a:lnTo>
                  <a:pt x="0" y="0"/>
                </a:lnTo>
                <a:lnTo>
                  <a:pt x="0" y="407383"/>
                </a:lnTo>
                <a:lnTo>
                  <a:pt x="653216" y="407383"/>
                </a:lnTo>
                <a:lnTo>
                  <a:pt x="653216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7007" y="4366586"/>
            <a:ext cx="253780" cy="25350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57007" y="4975939"/>
            <a:ext cx="253780" cy="253695"/>
          </a:xfrm>
          <a:prstGeom prst="rect">
            <a:avLst/>
          </a:prstGeom>
        </p:spPr>
      </p:pic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657154" y="204127"/>
          <a:ext cx="653415" cy="53016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415"/>
              </a:tblGrid>
              <a:tr h="4070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9906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9969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8204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5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8204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5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6" name="object 36"/>
          <p:cNvSpPr txBox="1"/>
          <p:nvPr/>
        </p:nvSpPr>
        <p:spPr>
          <a:xfrm>
            <a:off x="2234142" y="71903"/>
            <a:ext cx="1117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2909" algn="l"/>
                <a:tab pos="1104265" algn="l"/>
              </a:tabLst>
            </a:pPr>
            <a:r>
              <a:rPr sz="1000" spc="-20" dirty="0">
                <a:latin typeface="Times New Roman"/>
                <a:cs typeface="Times New Roman"/>
              </a:rPr>
              <a:t>Time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341315" y="284553"/>
            <a:ext cx="68580" cy="774700"/>
            <a:chOff x="2341315" y="284553"/>
            <a:chExt cx="68580" cy="774700"/>
          </a:xfrm>
        </p:grpSpPr>
        <p:sp>
          <p:nvSpPr>
            <p:cNvPr id="34" name="object 34"/>
            <p:cNvSpPr/>
            <p:nvPr/>
          </p:nvSpPr>
          <p:spPr>
            <a:xfrm>
              <a:off x="2375532" y="284553"/>
              <a:ext cx="0" cy="726440"/>
            </a:xfrm>
            <a:custGeom>
              <a:avLst/>
              <a:gdLst/>
              <a:ahLst/>
              <a:cxnLst/>
              <a:rect l="l" t="t" r="r" b="b"/>
              <a:pathLst>
                <a:path h="726440">
                  <a:moveTo>
                    <a:pt x="0" y="0"/>
                  </a:moveTo>
                  <a:lnTo>
                    <a:pt x="0" y="0"/>
                  </a:lnTo>
                  <a:lnTo>
                    <a:pt x="0" y="725855"/>
                  </a:lnTo>
                </a:path>
              </a:pathLst>
            </a:custGeom>
            <a:ln w="87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41315" y="1000292"/>
              <a:ext cx="68580" cy="59055"/>
            </a:xfrm>
            <a:custGeom>
              <a:avLst/>
              <a:gdLst/>
              <a:ahLst/>
              <a:cxnLst/>
              <a:rect l="l" t="t" r="r" b="b"/>
              <a:pathLst>
                <a:path w="68580" h="59055">
                  <a:moveTo>
                    <a:pt x="68165" y="0"/>
                  </a:moveTo>
                  <a:lnTo>
                    <a:pt x="0" y="0"/>
                  </a:lnTo>
                  <a:lnTo>
                    <a:pt x="34207" y="58521"/>
                  </a:lnTo>
                  <a:lnTo>
                    <a:pt x="681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4915936" y="208513"/>
            <a:ext cx="653415" cy="407670"/>
          </a:xfrm>
          <a:custGeom>
            <a:avLst/>
            <a:gdLst/>
            <a:ahLst/>
            <a:cxnLst/>
            <a:rect l="l" t="t" r="r" b="b"/>
            <a:pathLst>
              <a:path w="653414" h="407670">
                <a:moveTo>
                  <a:pt x="653247" y="0"/>
                </a:moveTo>
                <a:lnTo>
                  <a:pt x="0" y="0"/>
                </a:lnTo>
                <a:lnTo>
                  <a:pt x="0" y="407395"/>
                </a:lnTo>
                <a:lnTo>
                  <a:pt x="653247" y="407395"/>
                </a:lnTo>
                <a:lnTo>
                  <a:pt x="653247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15818" y="285135"/>
            <a:ext cx="253689" cy="253518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4915936" y="1023488"/>
            <a:ext cx="653415" cy="654050"/>
          </a:xfrm>
          <a:custGeom>
            <a:avLst/>
            <a:gdLst/>
            <a:ahLst/>
            <a:cxnLst/>
            <a:rect l="l" t="t" r="r" b="b"/>
            <a:pathLst>
              <a:path w="653414" h="654050">
                <a:moveTo>
                  <a:pt x="653247" y="0"/>
                </a:moveTo>
                <a:lnTo>
                  <a:pt x="0" y="0"/>
                </a:lnTo>
                <a:lnTo>
                  <a:pt x="0" y="653643"/>
                </a:lnTo>
                <a:lnTo>
                  <a:pt x="653247" y="653643"/>
                </a:lnTo>
                <a:lnTo>
                  <a:pt x="653247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15936" y="616549"/>
            <a:ext cx="653415" cy="407670"/>
          </a:xfrm>
          <a:custGeom>
            <a:avLst/>
            <a:gdLst/>
            <a:ahLst/>
            <a:cxnLst/>
            <a:rect l="l" t="t" r="r" b="b"/>
            <a:pathLst>
              <a:path w="653414" h="407669">
                <a:moveTo>
                  <a:pt x="653247" y="0"/>
                </a:moveTo>
                <a:lnTo>
                  <a:pt x="0" y="0"/>
                </a:lnTo>
                <a:lnTo>
                  <a:pt x="0" y="407578"/>
                </a:lnTo>
                <a:lnTo>
                  <a:pt x="653247" y="407578"/>
                </a:lnTo>
                <a:lnTo>
                  <a:pt x="653247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15818" y="693156"/>
            <a:ext cx="253689" cy="253701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3462253" y="1024128"/>
            <a:ext cx="68580" cy="816610"/>
            <a:chOff x="3462253" y="1024128"/>
            <a:chExt cx="68580" cy="816610"/>
          </a:xfrm>
        </p:grpSpPr>
        <p:sp>
          <p:nvSpPr>
            <p:cNvPr id="38" name="object 38"/>
            <p:cNvSpPr/>
            <p:nvPr/>
          </p:nvSpPr>
          <p:spPr>
            <a:xfrm>
              <a:off x="3496257" y="1072951"/>
              <a:ext cx="0" cy="718820"/>
            </a:xfrm>
            <a:custGeom>
              <a:avLst/>
              <a:gdLst/>
              <a:ahLst/>
              <a:cxnLst/>
              <a:rect l="l" t="t" r="r" b="b"/>
              <a:pathLst>
                <a:path h="718819">
                  <a:moveTo>
                    <a:pt x="0" y="0"/>
                  </a:moveTo>
                  <a:lnTo>
                    <a:pt x="0" y="0"/>
                  </a:lnTo>
                  <a:lnTo>
                    <a:pt x="0" y="718448"/>
                  </a:lnTo>
                </a:path>
              </a:pathLst>
            </a:custGeom>
            <a:ln w="87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62248" y="1024127"/>
              <a:ext cx="68580" cy="816610"/>
            </a:xfrm>
            <a:custGeom>
              <a:avLst/>
              <a:gdLst/>
              <a:ahLst/>
              <a:cxnLst/>
              <a:rect l="l" t="t" r="r" b="b"/>
              <a:pathLst>
                <a:path w="68579" h="816610">
                  <a:moveTo>
                    <a:pt x="68148" y="757123"/>
                  </a:moveTo>
                  <a:lnTo>
                    <a:pt x="0" y="757123"/>
                  </a:lnTo>
                  <a:lnTo>
                    <a:pt x="33985" y="816292"/>
                  </a:lnTo>
                  <a:lnTo>
                    <a:pt x="68148" y="757123"/>
                  </a:lnTo>
                  <a:close/>
                </a:path>
                <a:path w="68579" h="816610">
                  <a:moveTo>
                    <a:pt x="68148" y="59169"/>
                  </a:moveTo>
                  <a:lnTo>
                    <a:pt x="33985" y="0"/>
                  </a:lnTo>
                  <a:lnTo>
                    <a:pt x="0" y="59169"/>
                  </a:lnTo>
                  <a:lnTo>
                    <a:pt x="68148" y="591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598712" y="1223572"/>
            <a:ext cx="8064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I/O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operation; </a:t>
            </a:r>
            <a:r>
              <a:rPr sz="1000" dirty="0">
                <a:latin typeface="Times New Roman"/>
                <a:cs typeface="Times New Roman"/>
              </a:rPr>
              <a:t>processor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waits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115818" y="1241533"/>
            <a:ext cx="253689" cy="253518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5721705" y="1024128"/>
            <a:ext cx="67945" cy="1306195"/>
            <a:chOff x="5721705" y="1024128"/>
            <a:chExt cx="67945" cy="1306195"/>
          </a:xfrm>
        </p:grpSpPr>
        <p:sp>
          <p:nvSpPr>
            <p:cNvPr id="41" name="object 41"/>
            <p:cNvSpPr/>
            <p:nvPr/>
          </p:nvSpPr>
          <p:spPr>
            <a:xfrm>
              <a:off x="5755707" y="1072951"/>
              <a:ext cx="0" cy="1208405"/>
            </a:xfrm>
            <a:custGeom>
              <a:avLst/>
              <a:gdLst/>
              <a:ahLst/>
              <a:cxnLst/>
              <a:rect l="l" t="t" r="r" b="b"/>
              <a:pathLst>
                <a:path h="1208405">
                  <a:moveTo>
                    <a:pt x="0" y="0"/>
                  </a:moveTo>
                  <a:lnTo>
                    <a:pt x="0" y="0"/>
                  </a:lnTo>
                  <a:lnTo>
                    <a:pt x="0" y="1208092"/>
                  </a:lnTo>
                </a:path>
              </a:pathLst>
            </a:custGeom>
            <a:ln w="87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21705" y="1024127"/>
              <a:ext cx="67945" cy="1306195"/>
            </a:xfrm>
            <a:custGeom>
              <a:avLst/>
              <a:gdLst/>
              <a:ahLst/>
              <a:cxnLst/>
              <a:rect l="l" t="t" r="r" b="b"/>
              <a:pathLst>
                <a:path w="67945" h="1306195">
                  <a:moveTo>
                    <a:pt x="67208" y="1246886"/>
                  </a:moveTo>
                  <a:lnTo>
                    <a:pt x="0" y="1246886"/>
                  </a:lnTo>
                  <a:lnTo>
                    <a:pt x="33248" y="1306042"/>
                  </a:lnTo>
                  <a:lnTo>
                    <a:pt x="67208" y="1246886"/>
                  </a:lnTo>
                  <a:close/>
                </a:path>
                <a:path w="67945" h="1306195">
                  <a:moveTo>
                    <a:pt x="67843" y="59169"/>
                  </a:moveTo>
                  <a:lnTo>
                    <a:pt x="33947" y="0"/>
                  </a:lnTo>
                  <a:lnTo>
                    <a:pt x="0" y="59169"/>
                  </a:lnTo>
                  <a:lnTo>
                    <a:pt x="67843" y="591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4915936" y="2330805"/>
            <a:ext cx="653415" cy="407670"/>
          </a:xfrm>
          <a:custGeom>
            <a:avLst/>
            <a:gdLst/>
            <a:ahLst/>
            <a:cxnLst/>
            <a:rect l="l" t="t" r="r" b="b"/>
            <a:pathLst>
              <a:path w="653414" h="407669">
                <a:moveTo>
                  <a:pt x="653247" y="0"/>
                </a:moveTo>
                <a:lnTo>
                  <a:pt x="0" y="0"/>
                </a:lnTo>
                <a:lnTo>
                  <a:pt x="0" y="407548"/>
                </a:lnTo>
                <a:lnTo>
                  <a:pt x="653247" y="407548"/>
                </a:lnTo>
                <a:lnTo>
                  <a:pt x="653247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15818" y="2407412"/>
            <a:ext cx="253689" cy="253701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4915936" y="3145749"/>
            <a:ext cx="653415" cy="654050"/>
          </a:xfrm>
          <a:custGeom>
            <a:avLst/>
            <a:gdLst/>
            <a:ahLst/>
            <a:cxnLst/>
            <a:rect l="l" t="t" r="r" b="b"/>
            <a:pathLst>
              <a:path w="653414" h="654050">
                <a:moveTo>
                  <a:pt x="653247" y="0"/>
                </a:moveTo>
                <a:lnTo>
                  <a:pt x="0" y="0"/>
                </a:lnTo>
                <a:lnTo>
                  <a:pt x="0" y="653643"/>
                </a:lnTo>
                <a:lnTo>
                  <a:pt x="653247" y="653643"/>
                </a:lnTo>
                <a:lnTo>
                  <a:pt x="653247" y="0"/>
                </a:lnTo>
                <a:close/>
              </a:path>
            </a:pathLst>
          </a:custGeom>
          <a:solidFill>
            <a:srgbClr val="CBEB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15936" y="2739085"/>
            <a:ext cx="653415" cy="407670"/>
          </a:xfrm>
          <a:custGeom>
            <a:avLst/>
            <a:gdLst/>
            <a:ahLst/>
            <a:cxnLst/>
            <a:rect l="l" t="t" r="r" b="b"/>
            <a:pathLst>
              <a:path w="653414" h="407669">
                <a:moveTo>
                  <a:pt x="653247" y="0"/>
                </a:moveTo>
                <a:lnTo>
                  <a:pt x="0" y="0"/>
                </a:lnTo>
                <a:lnTo>
                  <a:pt x="0" y="407304"/>
                </a:lnTo>
                <a:lnTo>
                  <a:pt x="653247" y="407304"/>
                </a:lnTo>
                <a:lnTo>
                  <a:pt x="653247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15818" y="2815433"/>
            <a:ext cx="253689" cy="25370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115818" y="3363809"/>
            <a:ext cx="253689" cy="253670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3462253" y="3473043"/>
            <a:ext cx="68580" cy="816610"/>
            <a:chOff x="3462253" y="3473043"/>
            <a:chExt cx="68580" cy="816610"/>
          </a:xfrm>
        </p:grpSpPr>
        <p:sp>
          <p:nvSpPr>
            <p:cNvPr id="47" name="object 47"/>
            <p:cNvSpPr/>
            <p:nvPr/>
          </p:nvSpPr>
          <p:spPr>
            <a:xfrm>
              <a:off x="3496257" y="3521870"/>
              <a:ext cx="0" cy="718820"/>
            </a:xfrm>
            <a:custGeom>
              <a:avLst/>
              <a:gdLst/>
              <a:ahLst/>
              <a:cxnLst/>
              <a:rect l="l" t="t" r="r" b="b"/>
              <a:pathLst>
                <a:path h="718820">
                  <a:moveTo>
                    <a:pt x="0" y="0"/>
                  </a:moveTo>
                  <a:lnTo>
                    <a:pt x="0" y="0"/>
                  </a:lnTo>
                  <a:lnTo>
                    <a:pt x="0" y="718348"/>
                  </a:lnTo>
                </a:path>
              </a:pathLst>
            </a:custGeom>
            <a:ln w="87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62248" y="3473043"/>
              <a:ext cx="68580" cy="816610"/>
            </a:xfrm>
            <a:custGeom>
              <a:avLst/>
              <a:gdLst/>
              <a:ahLst/>
              <a:cxnLst/>
              <a:rect l="l" t="t" r="r" b="b"/>
              <a:pathLst>
                <a:path w="68579" h="816610">
                  <a:moveTo>
                    <a:pt x="68148" y="757123"/>
                  </a:moveTo>
                  <a:lnTo>
                    <a:pt x="0" y="757123"/>
                  </a:lnTo>
                  <a:lnTo>
                    <a:pt x="33985" y="816292"/>
                  </a:lnTo>
                  <a:lnTo>
                    <a:pt x="68148" y="757123"/>
                  </a:lnTo>
                  <a:close/>
                </a:path>
                <a:path w="68579" h="816610">
                  <a:moveTo>
                    <a:pt x="68148" y="59169"/>
                  </a:moveTo>
                  <a:lnTo>
                    <a:pt x="33985" y="0"/>
                  </a:lnTo>
                  <a:lnTo>
                    <a:pt x="0" y="59169"/>
                  </a:lnTo>
                  <a:lnTo>
                    <a:pt x="68148" y="591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5721705" y="3146389"/>
            <a:ext cx="67945" cy="1306195"/>
            <a:chOff x="5721705" y="3146389"/>
            <a:chExt cx="67945" cy="1306195"/>
          </a:xfrm>
        </p:grpSpPr>
        <p:sp>
          <p:nvSpPr>
            <p:cNvPr id="44" name="object 44"/>
            <p:cNvSpPr/>
            <p:nvPr/>
          </p:nvSpPr>
          <p:spPr>
            <a:xfrm>
              <a:off x="5755707" y="3195502"/>
              <a:ext cx="0" cy="1208405"/>
            </a:xfrm>
            <a:custGeom>
              <a:avLst/>
              <a:gdLst/>
              <a:ahLst/>
              <a:cxnLst/>
              <a:rect l="l" t="t" r="r" b="b"/>
              <a:pathLst>
                <a:path h="1208404">
                  <a:moveTo>
                    <a:pt x="0" y="0"/>
                  </a:moveTo>
                  <a:lnTo>
                    <a:pt x="0" y="0"/>
                  </a:lnTo>
                  <a:lnTo>
                    <a:pt x="0" y="1208083"/>
                  </a:lnTo>
                </a:path>
              </a:pathLst>
            </a:custGeom>
            <a:ln w="87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21705" y="3146399"/>
              <a:ext cx="67945" cy="1306195"/>
            </a:xfrm>
            <a:custGeom>
              <a:avLst/>
              <a:gdLst/>
              <a:ahLst/>
              <a:cxnLst/>
              <a:rect l="l" t="t" r="r" b="b"/>
              <a:pathLst>
                <a:path w="67945" h="1306195">
                  <a:moveTo>
                    <a:pt x="67208" y="1246873"/>
                  </a:moveTo>
                  <a:lnTo>
                    <a:pt x="0" y="1246873"/>
                  </a:lnTo>
                  <a:lnTo>
                    <a:pt x="33248" y="1305953"/>
                  </a:lnTo>
                  <a:lnTo>
                    <a:pt x="67208" y="1246873"/>
                  </a:lnTo>
                  <a:close/>
                </a:path>
                <a:path w="67945" h="1306195">
                  <a:moveTo>
                    <a:pt x="67843" y="59156"/>
                  </a:moveTo>
                  <a:lnTo>
                    <a:pt x="33947" y="0"/>
                  </a:lnTo>
                  <a:lnTo>
                    <a:pt x="0" y="59156"/>
                  </a:lnTo>
                  <a:lnTo>
                    <a:pt x="67843" y="591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4915936" y="4453066"/>
            <a:ext cx="653415" cy="407670"/>
          </a:xfrm>
          <a:custGeom>
            <a:avLst/>
            <a:gdLst/>
            <a:ahLst/>
            <a:cxnLst/>
            <a:rect l="l" t="t" r="r" b="b"/>
            <a:pathLst>
              <a:path w="653414" h="407670">
                <a:moveTo>
                  <a:pt x="653247" y="0"/>
                </a:moveTo>
                <a:lnTo>
                  <a:pt x="0" y="0"/>
                </a:lnTo>
                <a:lnTo>
                  <a:pt x="0" y="407563"/>
                </a:lnTo>
                <a:lnTo>
                  <a:pt x="653247" y="407563"/>
                </a:lnTo>
                <a:lnTo>
                  <a:pt x="653247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115818" y="4529679"/>
            <a:ext cx="253689" cy="253698"/>
          </a:xfrm>
          <a:prstGeom prst="rect">
            <a:avLst/>
          </a:prstGeom>
        </p:spPr>
      </p:pic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4915936" y="203513"/>
          <a:ext cx="653415" cy="4650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415"/>
              </a:tblGrid>
              <a:tr h="4076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996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996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2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996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2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25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6" name="object 56"/>
          <p:cNvSpPr txBox="1"/>
          <p:nvPr/>
        </p:nvSpPr>
        <p:spPr>
          <a:xfrm>
            <a:off x="5845712" y="1277291"/>
            <a:ext cx="1065530" cy="78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I/O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operation concurrent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with </a:t>
            </a:r>
            <a:r>
              <a:rPr sz="1000" dirty="0">
                <a:latin typeface="Times New Roman"/>
                <a:cs typeface="Times New Roman"/>
              </a:rPr>
              <a:t>processor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executing; </a:t>
            </a:r>
            <a:r>
              <a:rPr sz="1000" dirty="0">
                <a:latin typeface="Times New Roman"/>
                <a:cs typeface="Times New Roman"/>
              </a:rPr>
              <a:t>then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processor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200"/>
              </a:lnSpc>
            </a:pPr>
            <a:r>
              <a:rPr sz="1000" spc="-10" dirty="0">
                <a:latin typeface="Times New Roman"/>
                <a:cs typeface="Times New Roman"/>
              </a:rPr>
              <a:t>waits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598712" y="3732922"/>
            <a:ext cx="8064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I/O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operation; </a:t>
            </a:r>
            <a:r>
              <a:rPr sz="1000" dirty="0">
                <a:latin typeface="Times New Roman"/>
                <a:cs typeface="Times New Roman"/>
              </a:rPr>
              <a:t>processor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waits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45712" y="3426835"/>
            <a:ext cx="106553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I/O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operation concurrent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with </a:t>
            </a:r>
            <a:r>
              <a:rPr sz="1000" dirty="0">
                <a:latin typeface="Times New Roman"/>
                <a:cs typeface="Times New Roman"/>
              </a:rPr>
              <a:t>processor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executing; </a:t>
            </a:r>
            <a:r>
              <a:rPr sz="1000" dirty="0">
                <a:latin typeface="Times New Roman"/>
                <a:cs typeface="Times New Roman"/>
              </a:rPr>
              <a:t>then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processor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Times New Roman"/>
                <a:cs typeface="Times New Roman"/>
              </a:rPr>
              <a:t>waits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794927" y="4989219"/>
            <a:ext cx="9715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(b)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interrupts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17243" y="5632728"/>
            <a:ext cx="11245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(a)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Without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interrupts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33753" y="6042329"/>
            <a:ext cx="810260" cy="221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b="1" dirty="0">
                <a:latin typeface="Times New Roman"/>
                <a:cs typeface="Times New Roman"/>
              </a:rPr>
              <a:t>Figure</a:t>
            </a:r>
            <a:r>
              <a:rPr sz="1250" b="1" spc="45" dirty="0">
                <a:latin typeface="Times New Roman"/>
                <a:cs typeface="Times New Roman"/>
              </a:rPr>
              <a:t> </a:t>
            </a:r>
            <a:r>
              <a:rPr sz="1250" b="1" spc="-20" dirty="0">
                <a:latin typeface="Times New Roman"/>
                <a:cs typeface="Times New Roman"/>
              </a:rPr>
              <a:t>3.11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78907" y="6042329"/>
            <a:ext cx="2308225" cy="221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b="1" dirty="0">
                <a:latin typeface="Times New Roman"/>
                <a:cs typeface="Times New Roman"/>
              </a:rPr>
              <a:t>Program</a:t>
            </a:r>
            <a:r>
              <a:rPr sz="1250" b="1" spc="5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Timing:</a:t>
            </a:r>
            <a:r>
              <a:rPr sz="1250" b="1" spc="5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Long</a:t>
            </a:r>
            <a:r>
              <a:rPr sz="1250" b="1" spc="5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I/O</a:t>
            </a:r>
            <a:r>
              <a:rPr sz="1250" b="1" spc="55" dirty="0">
                <a:latin typeface="Times New Roman"/>
                <a:cs typeface="Times New Roman"/>
              </a:rPr>
              <a:t> </a:t>
            </a:r>
            <a:r>
              <a:rPr sz="1250" b="1" spc="-20" dirty="0">
                <a:latin typeface="Times New Roman"/>
                <a:cs typeface="Times New Roman"/>
              </a:rPr>
              <a:t>Wait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203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064" y="1021902"/>
            <a:ext cx="3462335" cy="273588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3732" y="1288127"/>
            <a:ext cx="749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Instruction fetch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99844" y="1281516"/>
            <a:ext cx="6064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Operand fetch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630" y="2989895"/>
            <a:ext cx="7499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Instruction address calculation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5169" y="2989895"/>
            <a:ext cx="7499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Instruction operation decoding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4492" y="2989895"/>
            <a:ext cx="7315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Operand address calculation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1217" y="1021902"/>
            <a:ext cx="4743435" cy="341875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545154" y="1288112"/>
            <a:ext cx="6064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Operand store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03479" y="2257703"/>
            <a:ext cx="6223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Multiple operands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5915" y="3082467"/>
            <a:ext cx="690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Times New Roman"/>
                <a:cs typeface="Times New Roman"/>
              </a:rPr>
              <a:t>Data </a:t>
            </a:r>
            <a:r>
              <a:rPr sz="1200" b="1" spc="-10" dirty="0">
                <a:latin typeface="Times New Roman"/>
                <a:cs typeface="Times New Roman"/>
              </a:rPr>
              <a:t>Operation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3393" y="2989895"/>
            <a:ext cx="7315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Operand address calculation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19155" y="3107939"/>
            <a:ext cx="6400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Interrupt </a:t>
            </a:r>
            <a:r>
              <a:rPr sz="1200" b="1" spc="-20" dirty="0">
                <a:latin typeface="Times New Roman"/>
                <a:cs typeface="Times New Roman"/>
              </a:rPr>
              <a:t>check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2508" y="4037595"/>
            <a:ext cx="1405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complete, </a:t>
            </a:r>
            <a:r>
              <a:rPr sz="1200" b="1" dirty="0">
                <a:latin typeface="Times New Roman"/>
                <a:cs typeface="Times New Roman"/>
              </a:rPr>
              <a:t>fetch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next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instruction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3241" y="4037589"/>
            <a:ext cx="1135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Return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string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vector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9840" y="3910134"/>
            <a:ext cx="622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No </a:t>
            </a:r>
            <a:r>
              <a:rPr sz="1200" b="1" spc="-10" dirty="0">
                <a:latin typeface="Times New Roman"/>
                <a:cs typeface="Times New Roman"/>
              </a:rPr>
              <a:t>interrupt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86622" y="1465350"/>
            <a:ext cx="6565265" cy="2984500"/>
            <a:chOff x="986622" y="1465350"/>
            <a:chExt cx="6565265" cy="2984500"/>
          </a:xfrm>
        </p:grpSpPr>
        <p:sp>
          <p:nvSpPr>
            <p:cNvPr id="21" name="object 21"/>
            <p:cNvSpPr/>
            <p:nvPr/>
          </p:nvSpPr>
          <p:spPr>
            <a:xfrm>
              <a:off x="1048641" y="3714047"/>
              <a:ext cx="6490970" cy="723265"/>
            </a:xfrm>
            <a:custGeom>
              <a:avLst/>
              <a:gdLst/>
              <a:ahLst/>
              <a:cxnLst/>
              <a:rect l="l" t="t" r="r" b="b"/>
              <a:pathLst>
                <a:path w="6490970" h="723264">
                  <a:moveTo>
                    <a:pt x="0" y="0"/>
                  </a:moveTo>
                  <a:lnTo>
                    <a:pt x="448210" y="722820"/>
                  </a:lnTo>
                  <a:lnTo>
                    <a:pt x="6490512" y="722820"/>
                  </a:lnTo>
                </a:path>
              </a:pathLst>
            </a:custGeom>
            <a:ln w="248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86622" y="3646444"/>
              <a:ext cx="121285" cy="123825"/>
            </a:xfrm>
            <a:custGeom>
              <a:avLst/>
              <a:gdLst/>
              <a:ahLst/>
              <a:cxnLst/>
              <a:rect l="l" t="t" r="r" b="b"/>
              <a:pathLst>
                <a:path w="121284" h="123825">
                  <a:moveTo>
                    <a:pt x="0" y="0"/>
                  </a:moveTo>
                  <a:lnTo>
                    <a:pt x="27706" y="123657"/>
                  </a:lnTo>
                  <a:lnTo>
                    <a:pt x="120883" y="38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07502" y="3714047"/>
              <a:ext cx="448309" cy="723265"/>
            </a:xfrm>
            <a:custGeom>
              <a:avLst/>
              <a:gdLst/>
              <a:ahLst/>
              <a:cxnLst/>
              <a:rect l="l" t="t" r="r" b="b"/>
              <a:pathLst>
                <a:path w="448310" h="723264">
                  <a:moveTo>
                    <a:pt x="0" y="0"/>
                  </a:moveTo>
                  <a:lnTo>
                    <a:pt x="0" y="0"/>
                  </a:lnTo>
                  <a:lnTo>
                    <a:pt x="448229" y="722820"/>
                  </a:lnTo>
                </a:path>
              </a:pathLst>
            </a:custGeom>
            <a:ln w="24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45494" y="3646444"/>
              <a:ext cx="121285" cy="123825"/>
            </a:xfrm>
            <a:custGeom>
              <a:avLst/>
              <a:gdLst/>
              <a:ahLst/>
              <a:cxnLst/>
              <a:rect l="l" t="t" r="r" b="b"/>
              <a:pathLst>
                <a:path w="121285" h="123825">
                  <a:moveTo>
                    <a:pt x="0" y="0"/>
                  </a:moveTo>
                  <a:lnTo>
                    <a:pt x="27767" y="123657"/>
                  </a:lnTo>
                  <a:lnTo>
                    <a:pt x="120822" y="38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98788" y="1478050"/>
              <a:ext cx="794385" cy="1285240"/>
            </a:xfrm>
            <a:custGeom>
              <a:avLst/>
              <a:gdLst/>
              <a:ahLst/>
              <a:cxnLst/>
              <a:rect l="l" t="t" r="r" b="b"/>
              <a:pathLst>
                <a:path w="794385" h="1285239">
                  <a:moveTo>
                    <a:pt x="0" y="0"/>
                  </a:moveTo>
                  <a:lnTo>
                    <a:pt x="380930" y="0"/>
                  </a:lnTo>
                  <a:lnTo>
                    <a:pt x="793925" y="1284696"/>
                  </a:lnTo>
                </a:path>
              </a:pathLst>
            </a:custGeom>
            <a:ln w="24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27158" y="2725582"/>
              <a:ext cx="120014" cy="123825"/>
            </a:xfrm>
            <a:custGeom>
              <a:avLst/>
              <a:gdLst/>
              <a:ahLst/>
              <a:cxnLst/>
              <a:rect l="l" t="t" r="r" b="b"/>
              <a:pathLst>
                <a:path w="120014" h="123825">
                  <a:moveTo>
                    <a:pt x="119938" y="0"/>
                  </a:moveTo>
                  <a:lnTo>
                    <a:pt x="0" y="39044"/>
                  </a:lnTo>
                  <a:lnTo>
                    <a:pt x="94213" y="123748"/>
                  </a:lnTo>
                  <a:lnTo>
                    <a:pt x="1199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962337" y="2257689"/>
            <a:ext cx="5803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Times New Roman"/>
                <a:cs typeface="Times New Roman"/>
              </a:rPr>
              <a:t>Multiple </a:t>
            </a:r>
            <a:r>
              <a:rPr sz="1200" b="1" spc="-10" dirty="0">
                <a:latin typeface="Times New Roman"/>
                <a:cs typeface="Times New Roman"/>
              </a:rPr>
              <a:t>results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245246" y="1465616"/>
            <a:ext cx="861060" cy="1384300"/>
            <a:chOff x="6245246" y="1465616"/>
            <a:chExt cx="861060" cy="1384300"/>
          </a:xfrm>
        </p:grpSpPr>
        <p:sp>
          <p:nvSpPr>
            <p:cNvPr id="29" name="object 29"/>
            <p:cNvSpPr/>
            <p:nvPr/>
          </p:nvSpPr>
          <p:spPr>
            <a:xfrm>
              <a:off x="6257680" y="1478050"/>
              <a:ext cx="794385" cy="1285240"/>
            </a:xfrm>
            <a:custGeom>
              <a:avLst/>
              <a:gdLst/>
              <a:ahLst/>
              <a:cxnLst/>
              <a:rect l="l" t="t" r="r" b="b"/>
              <a:pathLst>
                <a:path w="794384" h="1285239">
                  <a:moveTo>
                    <a:pt x="0" y="0"/>
                  </a:moveTo>
                  <a:lnTo>
                    <a:pt x="380900" y="0"/>
                  </a:lnTo>
                  <a:lnTo>
                    <a:pt x="793925" y="1284696"/>
                  </a:lnTo>
                </a:path>
              </a:pathLst>
            </a:custGeom>
            <a:ln w="24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86046" y="2725582"/>
              <a:ext cx="120014" cy="123825"/>
            </a:xfrm>
            <a:custGeom>
              <a:avLst/>
              <a:gdLst/>
              <a:ahLst/>
              <a:cxnLst/>
              <a:rect l="l" t="t" r="r" b="b"/>
              <a:pathLst>
                <a:path w="120015" h="123825">
                  <a:moveTo>
                    <a:pt x="119938" y="0"/>
                  </a:moveTo>
                  <a:lnTo>
                    <a:pt x="0" y="39044"/>
                  </a:lnTo>
                  <a:lnTo>
                    <a:pt x="94091" y="123748"/>
                  </a:lnTo>
                  <a:lnTo>
                    <a:pt x="1199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081363" y="3184151"/>
            <a:ext cx="6400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Interrupt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9737" y="5370751"/>
            <a:ext cx="1122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Figure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3.12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03754" y="5370751"/>
            <a:ext cx="4843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Instruction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Cycle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State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Diagram,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With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Interrupts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411" y="200603"/>
            <a:ext cx="286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62409" y="585592"/>
            <a:ext cx="3975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/>
              <a:t>Interrupts</a:t>
            </a:r>
          </a:p>
        </p:txBody>
      </p:sp>
      <p:sp>
        <p:nvSpPr>
          <p:cNvPr id="4" name="object 4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7398" y="1981315"/>
            <a:ext cx="7350125" cy="390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294005" algn="l"/>
              </a:tabLst>
            </a:pPr>
            <a:r>
              <a:rPr sz="1700" dirty="0">
                <a:solidFill>
                  <a:srgbClr val="772298"/>
                </a:solidFill>
                <a:latin typeface="Rockwell"/>
                <a:cs typeface="Rockwell"/>
              </a:rPr>
              <a:t>Disable</a:t>
            </a:r>
            <a:r>
              <a:rPr sz="1700" spc="-70" dirty="0">
                <a:solidFill>
                  <a:srgbClr val="772298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772298"/>
                </a:solidFill>
                <a:latin typeface="Rockwell"/>
                <a:cs typeface="Rockwell"/>
              </a:rPr>
              <a:t>interrupt</a:t>
            </a:r>
            <a:endParaRPr sz="17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Rockwell"/>
              <a:cs typeface="Rockwell"/>
            </a:endParaRPr>
          </a:p>
          <a:p>
            <a:pPr marL="241300" marR="855344" indent="-228600">
              <a:lnSpc>
                <a:spcPts val="1839"/>
              </a:lnSpc>
              <a:buFont typeface="Wingdings"/>
              <a:buChar char=""/>
              <a:tabLst>
                <a:tab pos="241300" algn="l"/>
                <a:tab pos="402590" algn="l"/>
              </a:tabLst>
            </a:pPr>
            <a:r>
              <a:rPr sz="1250" dirty="0">
                <a:solidFill>
                  <a:srgbClr val="653265"/>
                </a:solidFill>
                <a:latin typeface="Times New Roman"/>
                <a:cs typeface="Times New Roman"/>
              </a:rPr>
              <a:t>	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7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will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ignore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further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interrupts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whilst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processing</a:t>
            </a:r>
            <a:r>
              <a:rPr sz="17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one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endParaRPr sz="1700">
              <a:latin typeface="Rockwell"/>
              <a:cs typeface="Rockwell"/>
            </a:endParaRPr>
          </a:p>
          <a:p>
            <a:pPr marL="241300" marR="490220" indent="-228600">
              <a:lnSpc>
                <a:spcPts val="1839"/>
              </a:lnSpc>
              <a:spcBef>
                <a:spcPts val="1985"/>
              </a:spcBef>
              <a:buClr>
                <a:srgbClr val="653265"/>
              </a:buClr>
              <a:buSzPct val="73529"/>
              <a:buFont typeface="Wingdings"/>
              <a:buChar char=""/>
              <a:tabLst>
                <a:tab pos="24130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Interrupts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remain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pending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checked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after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first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has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been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processed</a:t>
            </a: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770"/>
              </a:spcBef>
              <a:buClr>
                <a:srgbClr val="653265"/>
              </a:buClr>
              <a:buSzPct val="73529"/>
              <a:buFont typeface="Wingdings"/>
              <a:buChar char=""/>
              <a:tabLst>
                <a:tab pos="2406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Interrupts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handled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sequence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they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occur</a:t>
            </a:r>
            <a:endParaRPr sz="1700">
              <a:latin typeface="Rockwell"/>
              <a:cs typeface="Rockwell"/>
            </a:endParaRPr>
          </a:p>
          <a:p>
            <a:pPr marL="294005" indent="-281305">
              <a:lnSpc>
                <a:spcPct val="100000"/>
              </a:lnSpc>
              <a:spcBef>
                <a:spcPts val="1800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294005" algn="l"/>
              </a:tabLst>
            </a:pPr>
            <a:r>
              <a:rPr sz="1700" dirty="0">
                <a:solidFill>
                  <a:srgbClr val="772298"/>
                </a:solidFill>
                <a:latin typeface="Rockwell"/>
                <a:cs typeface="Rockwell"/>
              </a:rPr>
              <a:t>Define</a:t>
            </a:r>
            <a:r>
              <a:rPr sz="1700" spc="-45" dirty="0">
                <a:solidFill>
                  <a:srgbClr val="772298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772298"/>
                </a:solidFill>
                <a:latin typeface="Rockwell"/>
                <a:cs typeface="Rockwell"/>
              </a:rPr>
              <a:t>priorities</a:t>
            </a:r>
            <a:endParaRPr sz="1700">
              <a:latin typeface="Rockwell"/>
              <a:cs typeface="Rockwell"/>
            </a:endParaRPr>
          </a:p>
          <a:p>
            <a:pPr marL="294005" indent="-281305">
              <a:lnSpc>
                <a:spcPct val="100000"/>
              </a:lnSpc>
              <a:spcBef>
                <a:spcPts val="1789"/>
              </a:spcBef>
              <a:buClr>
                <a:srgbClr val="653265"/>
              </a:buClr>
              <a:buSzPct val="73529"/>
              <a:buFont typeface="Wingdings"/>
              <a:buChar char=""/>
              <a:tabLst>
                <a:tab pos="29400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Low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priority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interrupts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interrupted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higher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priority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interrupts</a:t>
            </a:r>
            <a:endParaRPr sz="17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653265"/>
              </a:buClr>
              <a:buFont typeface="Wingdings"/>
              <a:buChar char=""/>
            </a:pPr>
            <a:endParaRPr sz="1700">
              <a:latin typeface="Rockwell"/>
              <a:cs typeface="Rockwell"/>
            </a:endParaRPr>
          </a:p>
          <a:p>
            <a:pPr marL="241300" marR="159385" indent="-228600">
              <a:lnSpc>
                <a:spcPts val="1839"/>
              </a:lnSpc>
              <a:buFont typeface="Wingdings"/>
              <a:buChar char=""/>
              <a:tabLst>
                <a:tab pos="241300" algn="l"/>
                <a:tab pos="277495" algn="l"/>
              </a:tabLst>
            </a:pPr>
            <a:r>
              <a:rPr sz="1250" dirty="0">
                <a:solidFill>
                  <a:srgbClr val="653265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higher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priority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has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been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processed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returns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previous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interrupt</a:t>
            </a:r>
            <a:endParaRPr sz="1700">
              <a:latin typeface="Rockwell"/>
              <a:cs typeface="Rockwel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2672361" y="251769"/>
            <a:ext cx="75755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latin typeface="Times New Roman"/>
                <a:cs typeface="Times New Roman"/>
              </a:rPr>
              <a:t>User</a:t>
            </a:r>
            <a:r>
              <a:rPr sz="950" b="1" spc="-25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program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41091" y="85403"/>
            <a:ext cx="548005" cy="318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240">
              <a:lnSpc>
                <a:spcPct val="101400"/>
              </a:lnSpc>
              <a:spcBef>
                <a:spcPts val="95"/>
              </a:spcBef>
            </a:pPr>
            <a:r>
              <a:rPr sz="950" b="1" spc="-10" dirty="0">
                <a:latin typeface="Times New Roman"/>
                <a:cs typeface="Times New Roman"/>
              </a:rPr>
              <a:t>Interrupt </a:t>
            </a:r>
            <a:r>
              <a:rPr sz="950" b="1" dirty="0">
                <a:latin typeface="Times New Roman"/>
                <a:cs typeface="Times New Roman"/>
              </a:rPr>
              <a:t>handler</a:t>
            </a:r>
            <a:r>
              <a:rPr sz="950" b="1" spc="-5" dirty="0">
                <a:latin typeface="Times New Roman"/>
                <a:cs typeface="Times New Roman"/>
              </a:rPr>
              <a:t> </a:t>
            </a:r>
            <a:r>
              <a:rPr sz="950" b="1" spc="-50" dirty="0">
                <a:latin typeface="Times New Roman"/>
                <a:cs typeface="Times New Roman"/>
              </a:rPr>
              <a:t>X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86768" y="451465"/>
            <a:ext cx="480695" cy="2209800"/>
            <a:chOff x="2786768" y="451465"/>
            <a:chExt cx="480695" cy="2209800"/>
          </a:xfrm>
        </p:grpSpPr>
        <p:sp>
          <p:nvSpPr>
            <p:cNvPr id="10" name="object 10"/>
            <p:cNvSpPr/>
            <p:nvPr/>
          </p:nvSpPr>
          <p:spPr>
            <a:xfrm>
              <a:off x="2791205" y="455919"/>
              <a:ext cx="471805" cy="2200910"/>
            </a:xfrm>
            <a:custGeom>
              <a:avLst/>
              <a:gdLst/>
              <a:ahLst/>
              <a:cxnLst/>
              <a:rect l="l" t="t" r="r" b="b"/>
              <a:pathLst>
                <a:path w="471804" h="2200910">
                  <a:moveTo>
                    <a:pt x="471708" y="0"/>
                  </a:moveTo>
                  <a:lnTo>
                    <a:pt x="0" y="0"/>
                  </a:lnTo>
                  <a:lnTo>
                    <a:pt x="0" y="2200473"/>
                  </a:lnTo>
                  <a:lnTo>
                    <a:pt x="471708" y="2200473"/>
                  </a:lnTo>
                  <a:lnTo>
                    <a:pt x="471708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91213" y="455910"/>
              <a:ext cx="471805" cy="2200910"/>
            </a:xfrm>
            <a:custGeom>
              <a:avLst/>
              <a:gdLst/>
              <a:ahLst/>
              <a:cxnLst/>
              <a:rect l="l" t="t" r="r" b="b"/>
              <a:pathLst>
                <a:path w="471804" h="2200910">
                  <a:moveTo>
                    <a:pt x="471707" y="0"/>
                  </a:moveTo>
                  <a:lnTo>
                    <a:pt x="0" y="0"/>
                  </a:lnTo>
                  <a:lnTo>
                    <a:pt x="0" y="2200474"/>
                  </a:lnTo>
                  <a:lnTo>
                    <a:pt x="471707" y="2200474"/>
                  </a:lnTo>
                  <a:lnTo>
                    <a:pt x="471707" y="0"/>
                  </a:lnTo>
                  <a:close/>
                </a:path>
              </a:pathLst>
            </a:custGeom>
            <a:ln w="8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" name="object 3"/>
          <p:cNvGrpSpPr/>
          <p:nvPr/>
        </p:nvGrpSpPr>
        <p:grpSpPr>
          <a:xfrm>
            <a:off x="4359546" y="451686"/>
            <a:ext cx="480695" cy="951865"/>
            <a:chOff x="4359546" y="451686"/>
            <a:chExt cx="480695" cy="951865"/>
          </a:xfrm>
        </p:grpSpPr>
        <p:sp>
          <p:nvSpPr>
            <p:cNvPr id="4" name="object 4"/>
            <p:cNvSpPr/>
            <p:nvPr/>
          </p:nvSpPr>
          <p:spPr>
            <a:xfrm>
              <a:off x="4363760" y="455919"/>
              <a:ext cx="471805" cy="943610"/>
            </a:xfrm>
            <a:custGeom>
              <a:avLst/>
              <a:gdLst/>
              <a:ahLst/>
              <a:cxnLst/>
              <a:rect l="l" t="t" r="r" b="b"/>
              <a:pathLst>
                <a:path w="471804" h="943610">
                  <a:moveTo>
                    <a:pt x="471708" y="0"/>
                  </a:moveTo>
                  <a:lnTo>
                    <a:pt x="0" y="0"/>
                  </a:lnTo>
                  <a:lnTo>
                    <a:pt x="0" y="943112"/>
                  </a:lnTo>
                  <a:lnTo>
                    <a:pt x="471708" y="943112"/>
                  </a:lnTo>
                  <a:lnTo>
                    <a:pt x="471708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63769" y="455909"/>
              <a:ext cx="471805" cy="943610"/>
            </a:xfrm>
            <a:custGeom>
              <a:avLst/>
              <a:gdLst/>
              <a:ahLst/>
              <a:cxnLst/>
              <a:rect l="l" t="t" r="r" b="b"/>
              <a:pathLst>
                <a:path w="471804" h="943610">
                  <a:moveTo>
                    <a:pt x="471692" y="0"/>
                  </a:moveTo>
                  <a:lnTo>
                    <a:pt x="0" y="0"/>
                  </a:lnTo>
                  <a:lnTo>
                    <a:pt x="0" y="943117"/>
                  </a:lnTo>
                  <a:lnTo>
                    <a:pt x="471692" y="943117"/>
                  </a:lnTo>
                  <a:lnTo>
                    <a:pt x="471692" y="0"/>
                  </a:lnTo>
                  <a:close/>
                </a:path>
              </a:pathLst>
            </a:custGeom>
            <a:ln w="8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887372" y="1378351"/>
            <a:ext cx="548005" cy="318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875">
              <a:lnSpc>
                <a:spcPct val="101200"/>
              </a:lnSpc>
              <a:spcBef>
                <a:spcPts val="95"/>
              </a:spcBef>
            </a:pPr>
            <a:r>
              <a:rPr sz="950" b="1" spc="-10" dirty="0">
                <a:latin typeface="Times New Roman"/>
                <a:cs typeface="Times New Roman"/>
              </a:rPr>
              <a:t>Interrupt </a:t>
            </a:r>
            <a:r>
              <a:rPr sz="950" b="1" dirty="0">
                <a:latin typeface="Times New Roman"/>
                <a:cs typeface="Times New Roman"/>
              </a:rPr>
              <a:t>handler</a:t>
            </a:r>
            <a:r>
              <a:rPr sz="950" b="1" spc="-5" dirty="0">
                <a:latin typeface="Times New Roman"/>
                <a:cs typeface="Times New Roman"/>
              </a:rPr>
              <a:t> </a:t>
            </a:r>
            <a:r>
              <a:rPr sz="950" b="1" spc="-50" dirty="0">
                <a:latin typeface="Times New Roman"/>
                <a:cs typeface="Times New Roman"/>
              </a:rPr>
              <a:t>Y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931813" y="1709044"/>
            <a:ext cx="480695" cy="951865"/>
            <a:chOff x="5931813" y="1709044"/>
            <a:chExt cx="480695" cy="951865"/>
          </a:xfrm>
        </p:grpSpPr>
        <p:sp>
          <p:nvSpPr>
            <p:cNvPr id="7" name="object 7"/>
            <p:cNvSpPr/>
            <p:nvPr/>
          </p:nvSpPr>
          <p:spPr>
            <a:xfrm>
              <a:off x="5936010" y="1713250"/>
              <a:ext cx="472440" cy="943610"/>
            </a:xfrm>
            <a:custGeom>
              <a:avLst/>
              <a:gdLst/>
              <a:ahLst/>
              <a:cxnLst/>
              <a:rect l="l" t="t" r="r" b="b"/>
              <a:pathLst>
                <a:path w="472439" h="943610">
                  <a:moveTo>
                    <a:pt x="471982" y="0"/>
                  </a:moveTo>
                  <a:lnTo>
                    <a:pt x="0" y="0"/>
                  </a:lnTo>
                  <a:lnTo>
                    <a:pt x="0" y="943142"/>
                  </a:lnTo>
                  <a:lnTo>
                    <a:pt x="471982" y="943142"/>
                  </a:lnTo>
                  <a:lnTo>
                    <a:pt x="471982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36036" y="1713267"/>
              <a:ext cx="472440" cy="943610"/>
            </a:xfrm>
            <a:custGeom>
              <a:avLst/>
              <a:gdLst/>
              <a:ahLst/>
              <a:cxnLst/>
              <a:rect l="l" t="t" r="r" b="b"/>
              <a:pathLst>
                <a:path w="472439" h="943610">
                  <a:moveTo>
                    <a:pt x="471996" y="0"/>
                  </a:moveTo>
                  <a:lnTo>
                    <a:pt x="0" y="0"/>
                  </a:lnTo>
                  <a:lnTo>
                    <a:pt x="0" y="943117"/>
                  </a:lnTo>
                  <a:lnTo>
                    <a:pt x="471996" y="943117"/>
                  </a:lnTo>
                  <a:lnTo>
                    <a:pt x="471996" y="0"/>
                  </a:lnTo>
                  <a:close/>
                </a:path>
              </a:pathLst>
            </a:custGeom>
            <a:ln w="8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983197" y="510863"/>
            <a:ext cx="3223895" cy="2097405"/>
            <a:chOff x="2983197" y="510863"/>
            <a:chExt cx="3223895" cy="2097405"/>
          </a:xfrm>
        </p:grpSpPr>
        <p:sp>
          <p:nvSpPr>
            <p:cNvPr id="16" name="object 16"/>
            <p:cNvSpPr/>
            <p:nvPr/>
          </p:nvSpPr>
          <p:spPr>
            <a:xfrm>
              <a:off x="3017958" y="510863"/>
              <a:ext cx="3154680" cy="2072005"/>
            </a:xfrm>
            <a:custGeom>
              <a:avLst/>
              <a:gdLst/>
              <a:ahLst/>
              <a:cxnLst/>
              <a:rect l="l" t="t" r="r" b="b"/>
              <a:pathLst>
                <a:path w="3154679" h="2072005">
                  <a:moveTo>
                    <a:pt x="0" y="32125"/>
                  </a:moveTo>
                  <a:lnTo>
                    <a:pt x="0" y="32125"/>
                  </a:lnTo>
                  <a:lnTo>
                    <a:pt x="0" y="40750"/>
                  </a:lnTo>
                </a:path>
                <a:path w="3154679" h="2072005">
                  <a:moveTo>
                    <a:pt x="0" y="92900"/>
                  </a:moveTo>
                  <a:lnTo>
                    <a:pt x="0" y="92900"/>
                  </a:lnTo>
                  <a:lnTo>
                    <a:pt x="0" y="102257"/>
                  </a:lnTo>
                </a:path>
                <a:path w="3154679" h="2072005">
                  <a:moveTo>
                    <a:pt x="0" y="154681"/>
                  </a:moveTo>
                  <a:lnTo>
                    <a:pt x="0" y="154681"/>
                  </a:lnTo>
                  <a:lnTo>
                    <a:pt x="0" y="163155"/>
                  </a:lnTo>
                </a:path>
                <a:path w="3154679" h="2072005">
                  <a:moveTo>
                    <a:pt x="0" y="215487"/>
                  </a:moveTo>
                  <a:lnTo>
                    <a:pt x="0" y="215487"/>
                  </a:lnTo>
                  <a:lnTo>
                    <a:pt x="0" y="223960"/>
                  </a:lnTo>
                </a:path>
                <a:path w="3154679" h="2072005">
                  <a:moveTo>
                    <a:pt x="0" y="276385"/>
                  </a:moveTo>
                  <a:lnTo>
                    <a:pt x="0" y="276385"/>
                  </a:lnTo>
                  <a:lnTo>
                    <a:pt x="0" y="285711"/>
                  </a:lnTo>
                </a:path>
                <a:path w="3154679" h="2072005">
                  <a:moveTo>
                    <a:pt x="0" y="338044"/>
                  </a:moveTo>
                  <a:lnTo>
                    <a:pt x="0" y="338044"/>
                  </a:lnTo>
                  <a:lnTo>
                    <a:pt x="0" y="346517"/>
                  </a:lnTo>
                </a:path>
                <a:path w="3154679" h="2072005">
                  <a:moveTo>
                    <a:pt x="0" y="398941"/>
                  </a:moveTo>
                  <a:lnTo>
                    <a:pt x="0" y="398941"/>
                  </a:lnTo>
                  <a:lnTo>
                    <a:pt x="0" y="407415"/>
                  </a:lnTo>
                </a:path>
                <a:path w="3154679" h="2072005">
                  <a:moveTo>
                    <a:pt x="0" y="459839"/>
                  </a:moveTo>
                  <a:lnTo>
                    <a:pt x="0" y="459839"/>
                  </a:lnTo>
                  <a:lnTo>
                    <a:pt x="0" y="468922"/>
                  </a:lnTo>
                </a:path>
                <a:path w="3154679" h="2072005">
                  <a:moveTo>
                    <a:pt x="0" y="521346"/>
                  </a:moveTo>
                  <a:lnTo>
                    <a:pt x="0" y="521346"/>
                  </a:lnTo>
                  <a:lnTo>
                    <a:pt x="0" y="529971"/>
                  </a:lnTo>
                </a:path>
                <a:path w="3154679" h="2072005">
                  <a:moveTo>
                    <a:pt x="0" y="582396"/>
                  </a:moveTo>
                  <a:lnTo>
                    <a:pt x="0" y="582396"/>
                  </a:lnTo>
                  <a:lnTo>
                    <a:pt x="0" y="590777"/>
                  </a:lnTo>
                </a:path>
                <a:path w="3154679" h="2072005">
                  <a:moveTo>
                    <a:pt x="0" y="643202"/>
                  </a:moveTo>
                  <a:lnTo>
                    <a:pt x="0" y="643202"/>
                  </a:lnTo>
                  <a:lnTo>
                    <a:pt x="0" y="652284"/>
                  </a:lnTo>
                </a:path>
                <a:path w="3154679" h="2072005">
                  <a:moveTo>
                    <a:pt x="0" y="704709"/>
                  </a:moveTo>
                  <a:lnTo>
                    <a:pt x="0" y="704709"/>
                  </a:lnTo>
                  <a:lnTo>
                    <a:pt x="0" y="713182"/>
                  </a:lnTo>
                </a:path>
                <a:path w="3154679" h="2072005">
                  <a:moveTo>
                    <a:pt x="0" y="765606"/>
                  </a:moveTo>
                  <a:lnTo>
                    <a:pt x="0" y="765606"/>
                  </a:lnTo>
                  <a:lnTo>
                    <a:pt x="0" y="774232"/>
                  </a:lnTo>
                </a:path>
                <a:path w="3154679" h="2072005">
                  <a:moveTo>
                    <a:pt x="0" y="826656"/>
                  </a:moveTo>
                  <a:lnTo>
                    <a:pt x="0" y="826656"/>
                  </a:lnTo>
                  <a:lnTo>
                    <a:pt x="0" y="835739"/>
                  </a:lnTo>
                </a:path>
                <a:path w="3154679" h="2072005">
                  <a:moveTo>
                    <a:pt x="0" y="888163"/>
                  </a:moveTo>
                  <a:lnTo>
                    <a:pt x="0" y="888163"/>
                  </a:lnTo>
                  <a:lnTo>
                    <a:pt x="0" y="896636"/>
                  </a:lnTo>
                </a:path>
                <a:path w="3154679" h="2072005">
                  <a:moveTo>
                    <a:pt x="0" y="948969"/>
                  </a:moveTo>
                  <a:lnTo>
                    <a:pt x="0" y="948969"/>
                  </a:lnTo>
                  <a:lnTo>
                    <a:pt x="0" y="957442"/>
                  </a:lnTo>
                </a:path>
                <a:path w="3154679" h="2072005">
                  <a:moveTo>
                    <a:pt x="0" y="1009866"/>
                  </a:moveTo>
                  <a:lnTo>
                    <a:pt x="0" y="1009866"/>
                  </a:lnTo>
                  <a:lnTo>
                    <a:pt x="0" y="1019193"/>
                  </a:lnTo>
                </a:path>
                <a:path w="3154679" h="2072005">
                  <a:moveTo>
                    <a:pt x="0" y="1071556"/>
                  </a:moveTo>
                  <a:lnTo>
                    <a:pt x="0" y="1071556"/>
                  </a:lnTo>
                  <a:lnTo>
                    <a:pt x="0" y="1079999"/>
                  </a:lnTo>
                </a:path>
                <a:path w="3154679" h="2072005">
                  <a:moveTo>
                    <a:pt x="0" y="1132423"/>
                  </a:moveTo>
                  <a:lnTo>
                    <a:pt x="0" y="1132423"/>
                  </a:lnTo>
                  <a:lnTo>
                    <a:pt x="0" y="1140896"/>
                  </a:lnTo>
                </a:path>
                <a:path w="3154679" h="2072005">
                  <a:moveTo>
                    <a:pt x="0" y="1193320"/>
                  </a:moveTo>
                  <a:lnTo>
                    <a:pt x="0" y="1193320"/>
                  </a:lnTo>
                  <a:lnTo>
                    <a:pt x="0" y="1202403"/>
                  </a:lnTo>
                </a:path>
                <a:path w="3154679" h="2072005">
                  <a:moveTo>
                    <a:pt x="0" y="1254827"/>
                  </a:moveTo>
                  <a:lnTo>
                    <a:pt x="0" y="1254827"/>
                  </a:lnTo>
                  <a:lnTo>
                    <a:pt x="0" y="1263453"/>
                  </a:lnTo>
                </a:path>
                <a:path w="3154679" h="2072005">
                  <a:moveTo>
                    <a:pt x="0" y="1315907"/>
                  </a:moveTo>
                  <a:lnTo>
                    <a:pt x="0" y="1315907"/>
                  </a:lnTo>
                  <a:lnTo>
                    <a:pt x="0" y="1324259"/>
                  </a:lnTo>
                </a:path>
                <a:path w="3154679" h="2072005">
                  <a:moveTo>
                    <a:pt x="0" y="1376713"/>
                  </a:moveTo>
                  <a:lnTo>
                    <a:pt x="0" y="1376713"/>
                  </a:lnTo>
                  <a:lnTo>
                    <a:pt x="0" y="1385766"/>
                  </a:lnTo>
                </a:path>
                <a:path w="3154679" h="2072005">
                  <a:moveTo>
                    <a:pt x="0" y="1438190"/>
                  </a:moveTo>
                  <a:lnTo>
                    <a:pt x="0" y="1438190"/>
                  </a:lnTo>
                  <a:lnTo>
                    <a:pt x="0" y="1446663"/>
                  </a:lnTo>
                </a:path>
                <a:path w="3154679" h="2072005">
                  <a:moveTo>
                    <a:pt x="0" y="1499087"/>
                  </a:moveTo>
                  <a:lnTo>
                    <a:pt x="0" y="1499087"/>
                  </a:lnTo>
                  <a:lnTo>
                    <a:pt x="0" y="1507743"/>
                  </a:lnTo>
                </a:path>
                <a:path w="3154679" h="2072005">
                  <a:moveTo>
                    <a:pt x="0" y="1560168"/>
                  </a:moveTo>
                  <a:lnTo>
                    <a:pt x="0" y="1560168"/>
                  </a:lnTo>
                  <a:lnTo>
                    <a:pt x="0" y="1569250"/>
                  </a:lnTo>
                </a:path>
                <a:path w="3154679" h="2072005">
                  <a:moveTo>
                    <a:pt x="0" y="1621675"/>
                  </a:moveTo>
                  <a:lnTo>
                    <a:pt x="0" y="1621675"/>
                  </a:lnTo>
                  <a:lnTo>
                    <a:pt x="0" y="1630117"/>
                  </a:lnTo>
                </a:path>
                <a:path w="3154679" h="2072005">
                  <a:moveTo>
                    <a:pt x="0" y="1682481"/>
                  </a:moveTo>
                  <a:lnTo>
                    <a:pt x="0" y="1682481"/>
                  </a:lnTo>
                  <a:lnTo>
                    <a:pt x="0" y="1690923"/>
                  </a:lnTo>
                </a:path>
                <a:path w="3154679" h="2072005">
                  <a:moveTo>
                    <a:pt x="0" y="1743347"/>
                  </a:moveTo>
                  <a:lnTo>
                    <a:pt x="0" y="1743347"/>
                  </a:lnTo>
                  <a:lnTo>
                    <a:pt x="0" y="1752705"/>
                  </a:lnTo>
                </a:path>
                <a:path w="3154679" h="2072005">
                  <a:moveTo>
                    <a:pt x="0" y="1805037"/>
                  </a:moveTo>
                  <a:lnTo>
                    <a:pt x="0" y="1805037"/>
                  </a:lnTo>
                  <a:lnTo>
                    <a:pt x="0" y="1813510"/>
                  </a:lnTo>
                </a:path>
                <a:path w="3154679" h="2072005">
                  <a:moveTo>
                    <a:pt x="0" y="1865935"/>
                  </a:moveTo>
                  <a:lnTo>
                    <a:pt x="0" y="1865935"/>
                  </a:lnTo>
                  <a:lnTo>
                    <a:pt x="0" y="1874408"/>
                  </a:lnTo>
                </a:path>
                <a:path w="3154679" h="2072005">
                  <a:moveTo>
                    <a:pt x="0" y="1926832"/>
                  </a:moveTo>
                  <a:lnTo>
                    <a:pt x="0" y="1926832"/>
                  </a:lnTo>
                  <a:lnTo>
                    <a:pt x="0" y="1935884"/>
                  </a:lnTo>
                </a:path>
                <a:path w="3154679" h="2072005">
                  <a:moveTo>
                    <a:pt x="0" y="1988339"/>
                  </a:moveTo>
                  <a:lnTo>
                    <a:pt x="0" y="1988339"/>
                  </a:lnTo>
                  <a:lnTo>
                    <a:pt x="0" y="1996965"/>
                  </a:lnTo>
                </a:path>
                <a:path w="3154679" h="2072005">
                  <a:moveTo>
                    <a:pt x="0" y="2049389"/>
                  </a:moveTo>
                  <a:lnTo>
                    <a:pt x="0" y="2049389"/>
                  </a:lnTo>
                  <a:lnTo>
                    <a:pt x="0" y="2057862"/>
                  </a:lnTo>
                </a:path>
                <a:path w="3154679" h="2072005">
                  <a:moveTo>
                    <a:pt x="1580301" y="0"/>
                  </a:moveTo>
                  <a:lnTo>
                    <a:pt x="1580301" y="0"/>
                  </a:lnTo>
                  <a:lnTo>
                    <a:pt x="1580301" y="8473"/>
                  </a:lnTo>
                </a:path>
                <a:path w="3154679" h="2072005">
                  <a:moveTo>
                    <a:pt x="1580301" y="60897"/>
                  </a:moveTo>
                  <a:lnTo>
                    <a:pt x="1580301" y="60897"/>
                  </a:lnTo>
                  <a:lnTo>
                    <a:pt x="1580301" y="69553"/>
                  </a:lnTo>
                </a:path>
                <a:path w="3154679" h="2072005">
                  <a:moveTo>
                    <a:pt x="1580301" y="121977"/>
                  </a:moveTo>
                  <a:lnTo>
                    <a:pt x="1580301" y="121977"/>
                  </a:lnTo>
                  <a:lnTo>
                    <a:pt x="1580301" y="131029"/>
                  </a:lnTo>
                </a:path>
                <a:path w="3154679" h="2072005">
                  <a:moveTo>
                    <a:pt x="1580301" y="183484"/>
                  </a:moveTo>
                  <a:lnTo>
                    <a:pt x="1580301" y="183484"/>
                  </a:lnTo>
                  <a:lnTo>
                    <a:pt x="1580301" y="191927"/>
                  </a:lnTo>
                </a:path>
                <a:path w="3154679" h="2072005">
                  <a:moveTo>
                    <a:pt x="1580301" y="244290"/>
                  </a:moveTo>
                  <a:lnTo>
                    <a:pt x="1580301" y="244290"/>
                  </a:lnTo>
                  <a:lnTo>
                    <a:pt x="1580301" y="252733"/>
                  </a:lnTo>
                </a:path>
                <a:path w="3154679" h="2072005">
                  <a:moveTo>
                    <a:pt x="1580301" y="305157"/>
                  </a:moveTo>
                  <a:lnTo>
                    <a:pt x="1580301" y="305157"/>
                  </a:lnTo>
                  <a:lnTo>
                    <a:pt x="1580301" y="314484"/>
                  </a:lnTo>
                </a:path>
                <a:path w="3154679" h="2072005">
                  <a:moveTo>
                    <a:pt x="1580301" y="366938"/>
                  </a:moveTo>
                  <a:lnTo>
                    <a:pt x="1580301" y="366938"/>
                  </a:lnTo>
                  <a:lnTo>
                    <a:pt x="1580301" y="375290"/>
                  </a:lnTo>
                </a:path>
                <a:path w="3154679" h="2072005">
                  <a:moveTo>
                    <a:pt x="1580301" y="427744"/>
                  </a:moveTo>
                  <a:lnTo>
                    <a:pt x="1580301" y="427744"/>
                  </a:lnTo>
                  <a:lnTo>
                    <a:pt x="1580301" y="436187"/>
                  </a:lnTo>
                </a:path>
                <a:path w="3154679" h="2072005">
                  <a:moveTo>
                    <a:pt x="1580301" y="488642"/>
                  </a:moveTo>
                  <a:lnTo>
                    <a:pt x="1580301" y="488642"/>
                  </a:lnTo>
                  <a:lnTo>
                    <a:pt x="1580301" y="497694"/>
                  </a:lnTo>
                </a:path>
                <a:path w="3154679" h="2072005">
                  <a:moveTo>
                    <a:pt x="1580301" y="550118"/>
                  </a:moveTo>
                  <a:lnTo>
                    <a:pt x="1580301" y="550118"/>
                  </a:lnTo>
                  <a:lnTo>
                    <a:pt x="1580301" y="558774"/>
                  </a:lnTo>
                </a:path>
                <a:path w="3154679" h="2072005">
                  <a:moveTo>
                    <a:pt x="1580301" y="611198"/>
                  </a:moveTo>
                  <a:lnTo>
                    <a:pt x="1580301" y="611198"/>
                  </a:lnTo>
                  <a:lnTo>
                    <a:pt x="1580301" y="619641"/>
                  </a:lnTo>
                </a:path>
                <a:path w="3154679" h="2072005">
                  <a:moveTo>
                    <a:pt x="1580301" y="672004"/>
                  </a:moveTo>
                  <a:lnTo>
                    <a:pt x="1580301" y="672004"/>
                  </a:lnTo>
                  <a:lnTo>
                    <a:pt x="1580301" y="681148"/>
                  </a:lnTo>
                </a:path>
                <a:path w="3154679" h="2072005">
                  <a:moveTo>
                    <a:pt x="1580301" y="733511"/>
                  </a:moveTo>
                  <a:lnTo>
                    <a:pt x="1580301" y="733511"/>
                  </a:lnTo>
                  <a:lnTo>
                    <a:pt x="1580301" y="741954"/>
                  </a:lnTo>
                </a:path>
                <a:path w="3154679" h="2072005">
                  <a:moveTo>
                    <a:pt x="1580301" y="794378"/>
                  </a:moveTo>
                  <a:lnTo>
                    <a:pt x="1580301" y="794378"/>
                  </a:lnTo>
                  <a:lnTo>
                    <a:pt x="1580301" y="803034"/>
                  </a:lnTo>
                </a:path>
                <a:path w="3154679" h="2072005">
                  <a:moveTo>
                    <a:pt x="3154152" y="1268604"/>
                  </a:moveTo>
                  <a:lnTo>
                    <a:pt x="3154152" y="1268604"/>
                  </a:lnTo>
                  <a:lnTo>
                    <a:pt x="3154152" y="1277077"/>
                  </a:lnTo>
                </a:path>
                <a:path w="3154679" h="2072005">
                  <a:moveTo>
                    <a:pt x="3154152" y="1329501"/>
                  </a:moveTo>
                  <a:lnTo>
                    <a:pt x="3154152" y="1329501"/>
                  </a:lnTo>
                  <a:lnTo>
                    <a:pt x="3154152" y="1337974"/>
                  </a:lnTo>
                </a:path>
                <a:path w="3154679" h="2072005">
                  <a:moveTo>
                    <a:pt x="3154152" y="1390399"/>
                  </a:moveTo>
                  <a:lnTo>
                    <a:pt x="3154152" y="1390399"/>
                  </a:lnTo>
                  <a:lnTo>
                    <a:pt x="3154152" y="1399634"/>
                  </a:lnTo>
                </a:path>
                <a:path w="3154679" h="2072005">
                  <a:moveTo>
                    <a:pt x="3154152" y="1452058"/>
                  </a:moveTo>
                  <a:lnTo>
                    <a:pt x="3154152" y="1452058"/>
                  </a:lnTo>
                  <a:lnTo>
                    <a:pt x="3154152" y="1460531"/>
                  </a:lnTo>
                </a:path>
                <a:path w="3154679" h="2072005">
                  <a:moveTo>
                    <a:pt x="3154152" y="1512955"/>
                  </a:moveTo>
                  <a:lnTo>
                    <a:pt x="3154152" y="1512955"/>
                  </a:lnTo>
                  <a:lnTo>
                    <a:pt x="3154152" y="1521337"/>
                  </a:lnTo>
                </a:path>
                <a:path w="3154679" h="2072005">
                  <a:moveTo>
                    <a:pt x="3154152" y="1573761"/>
                  </a:moveTo>
                  <a:lnTo>
                    <a:pt x="3154152" y="1573761"/>
                  </a:lnTo>
                  <a:lnTo>
                    <a:pt x="3154152" y="1582844"/>
                  </a:lnTo>
                </a:path>
                <a:path w="3154679" h="2072005">
                  <a:moveTo>
                    <a:pt x="3154152" y="1635268"/>
                  </a:moveTo>
                  <a:lnTo>
                    <a:pt x="3154152" y="1635268"/>
                  </a:lnTo>
                  <a:lnTo>
                    <a:pt x="3154152" y="1643985"/>
                  </a:lnTo>
                </a:path>
                <a:path w="3154679" h="2072005">
                  <a:moveTo>
                    <a:pt x="3154152" y="1696349"/>
                  </a:moveTo>
                  <a:lnTo>
                    <a:pt x="3154152" y="1696349"/>
                  </a:lnTo>
                  <a:lnTo>
                    <a:pt x="3154152" y="1704791"/>
                  </a:lnTo>
                </a:path>
                <a:path w="3154679" h="2072005">
                  <a:moveTo>
                    <a:pt x="3154152" y="1757215"/>
                  </a:moveTo>
                  <a:lnTo>
                    <a:pt x="3154152" y="1757215"/>
                  </a:lnTo>
                  <a:lnTo>
                    <a:pt x="3154152" y="1766298"/>
                  </a:lnTo>
                </a:path>
                <a:path w="3154679" h="2072005">
                  <a:moveTo>
                    <a:pt x="3154152" y="1818722"/>
                  </a:moveTo>
                  <a:lnTo>
                    <a:pt x="3154152" y="1818722"/>
                  </a:lnTo>
                  <a:lnTo>
                    <a:pt x="3154152" y="1827196"/>
                  </a:lnTo>
                </a:path>
                <a:path w="3154679" h="2072005">
                  <a:moveTo>
                    <a:pt x="3154152" y="1879528"/>
                  </a:moveTo>
                  <a:lnTo>
                    <a:pt x="3154152" y="1879528"/>
                  </a:lnTo>
                  <a:lnTo>
                    <a:pt x="3154152" y="1888276"/>
                  </a:lnTo>
                </a:path>
                <a:path w="3154679" h="2072005">
                  <a:moveTo>
                    <a:pt x="3154152" y="1940700"/>
                  </a:moveTo>
                  <a:lnTo>
                    <a:pt x="3154152" y="1940700"/>
                  </a:lnTo>
                  <a:lnTo>
                    <a:pt x="3154152" y="1949752"/>
                  </a:lnTo>
                </a:path>
                <a:path w="3154679" h="2072005">
                  <a:moveTo>
                    <a:pt x="3154152" y="2002207"/>
                  </a:moveTo>
                  <a:lnTo>
                    <a:pt x="3154152" y="2002207"/>
                  </a:lnTo>
                  <a:lnTo>
                    <a:pt x="3154152" y="2010558"/>
                  </a:lnTo>
                </a:path>
                <a:path w="3154679" h="2072005">
                  <a:moveTo>
                    <a:pt x="3154152" y="2063013"/>
                  </a:moveTo>
                  <a:lnTo>
                    <a:pt x="3154152" y="2063013"/>
                  </a:lnTo>
                  <a:lnTo>
                    <a:pt x="3154152" y="2071456"/>
                  </a:lnTo>
                </a:path>
              </a:pathLst>
            </a:custGeom>
            <a:ln w="69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48640" y="526054"/>
              <a:ext cx="1475740" cy="518795"/>
            </a:xfrm>
            <a:custGeom>
              <a:avLst/>
              <a:gdLst/>
              <a:ahLst/>
              <a:cxnLst/>
              <a:rect l="l" t="t" r="r" b="b"/>
              <a:pathLst>
                <a:path w="1475739" h="518794">
                  <a:moveTo>
                    <a:pt x="1475536" y="0"/>
                  </a:moveTo>
                  <a:lnTo>
                    <a:pt x="0" y="518708"/>
                  </a:lnTo>
                  <a:lnTo>
                    <a:pt x="1475536" y="0"/>
                  </a:lnTo>
                  <a:close/>
                </a:path>
              </a:pathLst>
            </a:custGeom>
            <a:solidFill>
              <a:srgbClr val="B1E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48670" y="526042"/>
              <a:ext cx="1475740" cy="518795"/>
            </a:xfrm>
            <a:custGeom>
              <a:avLst/>
              <a:gdLst/>
              <a:ahLst/>
              <a:cxnLst/>
              <a:rect l="l" t="t" r="r" b="b"/>
              <a:pathLst>
                <a:path w="1475739" h="518794">
                  <a:moveTo>
                    <a:pt x="0" y="518725"/>
                  </a:moveTo>
                  <a:lnTo>
                    <a:pt x="0" y="518725"/>
                  </a:lnTo>
                  <a:lnTo>
                    <a:pt x="1475520" y="0"/>
                  </a:lnTo>
                </a:path>
              </a:pathLst>
            </a:custGeom>
            <a:ln w="8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03846" y="512887"/>
              <a:ext cx="50165" cy="36830"/>
            </a:xfrm>
            <a:custGeom>
              <a:avLst/>
              <a:gdLst/>
              <a:ahLst/>
              <a:cxnLst/>
              <a:rect l="l" t="t" r="r" b="b"/>
              <a:pathLst>
                <a:path w="50164" h="36829">
                  <a:moveTo>
                    <a:pt x="0" y="0"/>
                  </a:moveTo>
                  <a:lnTo>
                    <a:pt x="14477" y="15788"/>
                  </a:lnTo>
                  <a:lnTo>
                    <a:pt x="13167" y="36545"/>
                  </a:lnTo>
                  <a:lnTo>
                    <a:pt x="49804" y="2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94634" y="1057686"/>
              <a:ext cx="1470660" cy="274955"/>
            </a:xfrm>
            <a:custGeom>
              <a:avLst/>
              <a:gdLst/>
              <a:ahLst/>
              <a:cxnLst/>
              <a:rect l="l" t="t" r="r" b="b"/>
              <a:pathLst>
                <a:path w="1470660" h="274955">
                  <a:moveTo>
                    <a:pt x="0" y="0"/>
                  </a:moveTo>
                  <a:lnTo>
                    <a:pt x="1470294" y="274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E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94635" y="1057690"/>
              <a:ext cx="1470660" cy="274955"/>
            </a:xfrm>
            <a:custGeom>
              <a:avLst/>
              <a:gdLst/>
              <a:ahLst/>
              <a:cxnLst/>
              <a:rect l="l" t="t" r="r" b="b"/>
              <a:pathLst>
                <a:path w="1470660" h="274955">
                  <a:moveTo>
                    <a:pt x="1470307" y="274434"/>
                  </a:moveTo>
                  <a:lnTo>
                    <a:pt x="1470307" y="274434"/>
                  </a:lnTo>
                  <a:lnTo>
                    <a:pt x="0" y="0"/>
                  </a:lnTo>
                </a:path>
              </a:pathLst>
            </a:custGeom>
            <a:ln w="8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63849" y="1041440"/>
              <a:ext cx="48895" cy="38100"/>
            </a:xfrm>
            <a:custGeom>
              <a:avLst/>
              <a:gdLst/>
              <a:ahLst/>
              <a:cxnLst/>
              <a:rect l="l" t="t" r="r" b="b"/>
              <a:pathLst>
                <a:path w="48894" h="38100">
                  <a:moveTo>
                    <a:pt x="48493" y="0"/>
                  </a:moveTo>
                  <a:lnTo>
                    <a:pt x="0" y="10393"/>
                  </a:lnTo>
                  <a:lnTo>
                    <a:pt x="41178" y="37947"/>
                  </a:lnTo>
                  <a:lnTo>
                    <a:pt x="36636" y="17556"/>
                  </a:lnTo>
                  <a:lnTo>
                    <a:pt x="484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48640" y="1072865"/>
              <a:ext cx="3049905" cy="703580"/>
            </a:xfrm>
            <a:custGeom>
              <a:avLst/>
              <a:gdLst/>
              <a:ahLst/>
              <a:cxnLst/>
              <a:rect l="l" t="t" r="r" b="b"/>
              <a:pathLst>
                <a:path w="3049904" h="703580">
                  <a:moveTo>
                    <a:pt x="0" y="0"/>
                  </a:moveTo>
                  <a:lnTo>
                    <a:pt x="3049371" y="703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E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48670" y="1072869"/>
              <a:ext cx="3049905" cy="703580"/>
            </a:xfrm>
            <a:custGeom>
              <a:avLst/>
              <a:gdLst/>
              <a:ahLst/>
              <a:cxnLst/>
              <a:rect l="l" t="t" r="r" b="b"/>
              <a:pathLst>
                <a:path w="3049904" h="703580">
                  <a:moveTo>
                    <a:pt x="0" y="0"/>
                  </a:moveTo>
                  <a:lnTo>
                    <a:pt x="0" y="0"/>
                  </a:lnTo>
                  <a:lnTo>
                    <a:pt x="3049371" y="703398"/>
                  </a:lnTo>
                </a:path>
              </a:pathLst>
            </a:custGeom>
            <a:ln w="8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79022" y="1754002"/>
              <a:ext cx="49530" cy="38100"/>
            </a:xfrm>
            <a:custGeom>
              <a:avLst/>
              <a:gdLst/>
              <a:ahLst/>
              <a:cxnLst/>
              <a:rect l="l" t="t" r="r" b="b"/>
              <a:pathLst>
                <a:path w="49529" h="38100">
                  <a:moveTo>
                    <a:pt x="8442" y="0"/>
                  </a:moveTo>
                  <a:lnTo>
                    <a:pt x="12283" y="20330"/>
                  </a:lnTo>
                  <a:lnTo>
                    <a:pt x="0" y="37856"/>
                  </a:lnTo>
                  <a:lnTo>
                    <a:pt x="49103" y="28803"/>
                  </a:lnTo>
                  <a:lnTo>
                    <a:pt x="84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86160" y="1106271"/>
              <a:ext cx="3051175" cy="1497965"/>
            </a:xfrm>
            <a:custGeom>
              <a:avLst/>
              <a:gdLst/>
              <a:ahLst/>
              <a:cxnLst/>
              <a:rect l="l" t="t" r="r" b="b"/>
              <a:pathLst>
                <a:path w="3051175" h="1497964">
                  <a:moveTo>
                    <a:pt x="0" y="0"/>
                  </a:moveTo>
                  <a:lnTo>
                    <a:pt x="3051139" y="14976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E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86192" y="1106274"/>
              <a:ext cx="3051175" cy="1497965"/>
            </a:xfrm>
            <a:custGeom>
              <a:avLst/>
              <a:gdLst/>
              <a:ahLst/>
              <a:cxnLst/>
              <a:rect l="l" t="t" r="r" b="b"/>
              <a:pathLst>
                <a:path w="3051175" h="1497964">
                  <a:moveTo>
                    <a:pt x="3051109" y="1497685"/>
                  </a:moveTo>
                  <a:lnTo>
                    <a:pt x="3051109" y="1497685"/>
                  </a:lnTo>
                  <a:lnTo>
                    <a:pt x="0" y="0"/>
                  </a:lnTo>
                </a:path>
              </a:pathLst>
            </a:custGeom>
            <a:ln w="8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57997" y="1092586"/>
              <a:ext cx="50165" cy="38100"/>
            </a:xfrm>
            <a:custGeom>
              <a:avLst/>
              <a:gdLst/>
              <a:ahLst/>
              <a:cxnLst/>
              <a:rect l="l" t="t" r="r" b="b"/>
              <a:pathLst>
                <a:path w="50164" h="38100">
                  <a:moveTo>
                    <a:pt x="0" y="0"/>
                  </a:moveTo>
                  <a:lnTo>
                    <a:pt x="32705" y="37947"/>
                  </a:lnTo>
                  <a:lnTo>
                    <a:pt x="34015" y="16215"/>
                  </a:lnTo>
                  <a:lnTo>
                    <a:pt x="49621" y="26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647456" y="2766727"/>
            <a:ext cx="182880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latin typeface="Times New Roman"/>
                <a:cs typeface="Times New Roman"/>
              </a:rPr>
              <a:t>(a)</a:t>
            </a:r>
            <a:r>
              <a:rPr sz="950" b="1" spc="5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Sequential interrupt</a:t>
            </a:r>
            <a:r>
              <a:rPr sz="950" b="1" spc="10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processing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72361" y="3238329"/>
            <a:ext cx="75755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latin typeface="Times New Roman"/>
                <a:cs typeface="Times New Roman"/>
              </a:rPr>
              <a:t>User</a:t>
            </a:r>
            <a:r>
              <a:rPr sz="950" b="1" spc="-25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program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41091" y="3072058"/>
            <a:ext cx="548005" cy="318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240">
              <a:lnSpc>
                <a:spcPct val="101200"/>
              </a:lnSpc>
              <a:spcBef>
                <a:spcPts val="95"/>
              </a:spcBef>
            </a:pPr>
            <a:r>
              <a:rPr sz="950" b="1" spc="-10" dirty="0">
                <a:latin typeface="Times New Roman"/>
                <a:cs typeface="Times New Roman"/>
              </a:rPr>
              <a:t>Interrupt </a:t>
            </a:r>
            <a:r>
              <a:rPr sz="950" b="1" dirty="0">
                <a:latin typeface="Times New Roman"/>
                <a:cs typeface="Times New Roman"/>
              </a:rPr>
              <a:t>handler</a:t>
            </a:r>
            <a:r>
              <a:rPr sz="950" b="1" spc="-5" dirty="0">
                <a:latin typeface="Times New Roman"/>
                <a:cs typeface="Times New Roman"/>
              </a:rPr>
              <a:t> </a:t>
            </a:r>
            <a:r>
              <a:rPr sz="950" b="1" spc="-50" dirty="0">
                <a:latin typeface="Times New Roman"/>
                <a:cs typeface="Times New Roman"/>
              </a:rPr>
              <a:t>X</a:t>
            </a:r>
            <a:endParaRPr sz="950">
              <a:latin typeface="Times New Roman"/>
              <a:cs typeface="Times New Roman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949" y="4487929"/>
            <a:ext cx="348651" cy="541269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2786768" y="3437875"/>
            <a:ext cx="3625850" cy="2209800"/>
            <a:chOff x="2786768" y="3437875"/>
            <a:chExt cx="3625850" cy="2209800"/>
          </a:xfrm>
        </p:grpSpPr>
        <p:sp>
          <p:nvSpPr>
            <p:cNvPr id="32" name="object 32"/>
            <p:cNvSpPr/>
            <p:nvPr/>
          </p:nvSpPr>
          <p:spPr>
            <a:xfrm>
              <a:off x="4363760" y="3442320"/>
              <a:ext cx="471805" cy="943610"/>
            </a:xfrm>
            <a:custGeom>
              <a:avLst/>
              <a:gdLst/>
              <a:ahLst/>
              <a:cxnLst/>
              <a:rect l="l" t="t" r="r" b="b"/>
              <a:pathLst>
                <a:path w="471804" h="943610">
                  <a:moveTo>
                    <a:pt x="471708" y="0"/>
                  </a:moveTo>
                  <a:lnTo>
                    <a:pt x="0" y="0"/>
                  </a:lnTo>
                  <a:lnTo>
                    <a:pt x="0" y="943109"/>
                  </a:lnTo>
                  <a:lnTo>
                    <a:pt x="471708" y="943109"/>
                  </a:lnTo>
                  <a:lnTo>
                    <a:pt x="471708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63769" y="3442320"/>
              <a:ext cx="471805" cy="943610"/>
            </a:xfrm>
            <a:custGeom>
              <a:avLst/>
              <a:gdLst/>
              <a:ahLst/>
              <a:cxnLst/>
              <a:rect l="l" t="t" r="r" b="b"/>
              <a:pathLst>
                <a:path w="471804" h="943610">
                  <a:moveTo>
                    <a:pt x="471692" y="0"/>
                  </a:moveTo>
                  <a:lnTo>
                    <a:pt x="0" y="0"/>
                  </a:lnTo>
                  <a:lnTo>
                    <a:pt x="0" y="943108"/>
                  </a:lnTo>
                  <a:lnTo>
                    <a:pt x="471692" y="943108"/>
                  </a:lnTo>
                  <a:lnTo>
                    <a:pt x="471692" y="0"/>
                  </a:lnTo>
                  <a:close/>
                </a:path>
              </a:pathLst>
            </a:custGeom>
            <a:ln w="8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36010" y="4699836"/>
              <a:ext cx="472440" cy="942975"/>
            </a:xfrm>
            <a:custGeom>
              <a:avLst/>
              <a:gdLst/>
              <a:ahLst/>
              <a:cxnLst/>
              <a:rect l="l" t="t" r="r" b="b"/>
              <a:pathLst>
                <a:path w="472439" h="942975">
                  <a:moveTo>
                    <a:pt x="471982" y="0"/>
                  </a:moveTo>
                  <a:lnTo>
                    <a:pt x="0" y="0"/>
                  </a:lnTo>
                  <a:lnTo>
                    <a:pt x="0" y="942953"/>
                  </a:lnTo>
                  <a:lnTo>
                    <a:pt x="471982" y="942953"/>
                  </a:lnTo>
                  <a:lnTo>
                    <a:pt x="471982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936036" y="4699836"/>
              <a:ext cx="472440" cy="942975"/>
            </a:xfrm>
            <a:custGeom>
              <a:avLst/>
              <a:gdLst/>
              <a:ahLst/>
              <a:cxnLst/>
              <a:rect l="l" t="t" r="r" b="b"/>
              <a:pathLst>
                <a:path w="472439" h="942975">
                  <a:moveTo>
                    <a:pt x="471996" y="0"/>
                  </a:moveTo>
                  <a:lnTo>
                    <a:pt x="0" y="0"/>
                  </a:lnTo>
                  <a:lnTo>
                    <a:pt x="0" y="942952"/>
                  </a:lnTo>
                  <a:lnTo>
                    <a:pt x="471996" y="942952"/>
                  </a:lnTo>
                  <a:lnTo>
                    <a:pt x="471996" y="0"/>
                  </a:lnTo>
                  <a:close/>
                </a:path>
              </a:pathLst>
            </a:custGeom>
            <a:ln w="8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91205" y="3442320"/>
              <a:ext cx="471805" cy="2200910"/>
            </a:xfrm>
            <a:custGeom>
              <a:avLst/>
              <a:gdLst/>
              <a:ahLst/>
              <a:cxnLst/>
              <a:rect l="l" t="t" r="r" b="b"/>
              <a:pathLst>
                <a:path w="471804" h="2200910">
                  <a:moveTo>
                    <a:pt x="471708" y="0"/>
                  </a:moveTo>
                  <a:lnTo>
                    <a:pt x="0" y="0"/>
                  </a:lnTo>
                  <a:lnTo>
                    <a:pt x="0" y="2200470"/>
                  </a:lnTo>
                  <a:lnTo>
                    <a:pt x="471708" y="2200470"/>
                  </a:lnTo>
                  <a:lnTo>
                    <a:pt x="471708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91213" y="3442320"/>
              <a:ext cx="471805" cy="2200910"/>
            </a:xfrm>
            <a:custGeom>
              <a:avLst/>
              <a:gdLst/>
              <a:ahLst/>
              <a:cxnLst/>
              <a:rect l="l" t="t" r="r" b="b"/>
              <a:pathLst>
                <a:path w="471804" h="2200910">
                  <a:moveTo>
                    <a:pt x="471707" y="0"/>
                  </a:moveTo>
                  <a:lnTo>
                    <a:pt x="0" y="0"/>
                  </a:lnTo>
                  <a:lnTo>
                    <a:pt x="0" y="2200468"/>
                  </a:lnTo>
                  <a:lnTo>
                    <a:pt x="471707" y="2200468"/>
                  </a:lnTo>
                  <a:lnTo>
                    <a:pt x="471707" y="0"/>
                  </a:lnTo>
                  <a:close/>
                </a:path>
              </a:pathLst>
            </a:custGeom>
            <a:ln w="8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962739" y="4364744"/>
            <a:ext cx="548005" cy="318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indent="14604">
              <a:lnSpc>
                <a:spcPct val="101400"/>
              </a:lnSpc>
              <a:spcBef>
                <a:spcPts val="95"/>
              </a:spcBef>
            </a:pPr>
            <a:r>
              <a:rPr sz="950" b="1" spc="-10" dirty="0">
                <a:latin typeface="Times New Roman"/>
                <a:cs typeface="Times New Roman"/>
              </a:rPr>
              <a:t>Interrupt </a:t>
            </a:r>
            <a:r>
              <a:rPr sz="950" b="1" dirty="0">
                <a:latin typeface="Times New Roman"/>
                <a:cs typeface="Times New Roman"/>
              </a:rPr>
              <a:t>handler</a:t>
            </a:r>
            <a:r>
              <a:rPr sz="950" b="1" spc="-5" dirty="0">
                <a:latin typeface="Times New Roman"/>
                <a:cs typeface="Times New Roman"/>
              </a:rPr>
              <a:t> </a:t>
            </a:r>
            <a:r>
              <a:rPr sz="950" b="1" spc="-50" dirty="0">
                <a:latin typeface="Times New Roman"/>
                <a:cs typeface="Times New Roman"/>
              </a:rPr>
              <a:t>Y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983197" y="3497274"/>
            <a:ext cx="3223895" cy="2101215"/>
            <a:chOff x="2983197" y="3497274"/>
            <a:chExt cx="3223895" cy="2101215"/>
          </a:xfrm>
        </p:grpSpPr>
        <p:sp>
          <p:nvSpPr>
            <p:cNvPr id="42" name="object 42"/>
            <p:cNvSpPr/>
            <p:nvPr/>
          </p:nvSpPr>
          <p:spPr>
            <a:xfrm>
              <a:off x="3017958" y="3497274"/>
              <a:ext cx="3154680" cy="2072005"/>
            </a:xfrm>
            <a:custGeom>
              <a:avLst/>
              <a:gdLst/>
              <a:ahLst/>
              <a:cxnLst/>
              <a:rect l="l" t="t" r="r" b="b"/>
              <a:pathLst>
                <a:path w="3154679" h="2072004">
                  <a:moveTo>
                    <a:pt x="0" y="32094"/>
                  </a:moveTo>
                  <a:lnTo>
                    <a:pt x="0" y="32094"/>
                  </a:lnTo>
                  <a:lnTo>
                    <a:pt x="0" y="40750"/>
                  </a:lnTo>
                </a:path>
                <a:path w="3154679" h="2072004">
                  <a:moveTo>
                    <a:pt x="0" y="93174"/>
                  </a:moveTo>
                  <a:lnTo>
                    <a:pt x="0" y="93174"/>
                  </a:lnTo>
                  <a:lnTo>
                    <a:pt x="0" y="102227"/>
                  </a:lnTo>
                </a:path>
                <a:path w="3154679" h="2072004">
                  <a:moveTo>
                    <a:pt x="0" y="154681"/>
                  </a:moveTo>
                  <a:lnTo>
                    <a:pt x="0" y="154681"/>
                  </a:lnTo>
                  <a:lnTo>
                    <a:pt x="0" y="163124"/>
                  </a:lnTo>
                </a:path>
                <a:path w="3154679" h="2072004">
                  <a:moveTo>
                    <a:pt x="0" y="215487"/>
                  </a:moveTo>
                  <a:lnTo>
                    <a:pt x="0" y="215487"/>
                  </a:lnTo>
                  <a:lnTo>
                    <a:pt x="0" y="224174"/>
                  </a:lnTo>
                </a:path>
                <a:path w="3154679" h="2072004">
                  <a:moveTo>
                    <a:pt x="0" y="276354"/>
                  </a:moveTo>
                  <a:lnTo>
                    <a:pt x="0" y="276354"/>
                  </a:lnTo>
                  <a:lnTo>
                    <a:pt x="0" y="285711"/>
                  </a:lnTo>
                </a:path>
                <a:path w="3154679" h="2072004">
                  <a:moveTo>
                    <a:pt x="0" y="338038"/>
                  </a:moveTo>
                  <a:lnTo>
                    <a:pt x="0" y="338038"/>
                  </a:lnTo>
                  <a:lnTo>
                    <a:pt x="0" y="346502"/>
                  </a:lnTo>
                </a:path>
                <a:path w="3154679" h="2072004">
                  <a:moveTo>
                    <a:pt x="0" y="398935"/>
                  </a:moveTo>
                  <a:lnTo>
                    <a:pt x="0" y="398935"/>
                  </a:lnTo>
                  <a:lnTo>
                    <a:pt x="0" y="407390"/>
                  </a:lnTo>
                </a:path>
                <a:path w="3154679" h="2072004">
                  <a:moveTo>
                    <a:pt x="0" y="459729"/>
                  </a:moveTo>
                  <a:lnTo>
                    <a:pt x="0" y="459729"/>
                  </a:lnTo>
                  <a:lnTo>
                    <a:pt x="0" y="469065"/>
                  </a:lnTo>
                </a:path>
                <a:path w="3154679" h="2072004">
                  <a:moveTo>
                    <a:pt x="0" y="521321"/>
                  </a:moveTo>
                  <a:lnTo>
                    <a:pt x="0" y="521321"/>
                  </a:lnTo>
                  <a:lnTo>
                    <a:pt x="0" y="529965"/>
                  </a:lnTo>
                </a:path>
                <a:path w="3154679" h="2072004">
                  <a:moveTo>
                    <a:pt x="0" y="582390"/>
                  </a:moveTo>
                  <a:lnTo>
                    <a:pt x="0" y="582390"/>
                  </a:lnTo>
                  <a:lnTo>
                    <a:pt x="0" y="590771"/>
                  </a:lnTo>
                </a:path>
                <a:path w="3154679" h="2072004">
                  <a:moveTo>
                    <a:pt x="0" y="643192"/>
                  </a:moveTo>
                  <a:lnTo>
                    <a:pt x="0" y="643192"/>
                  </a:lnTo>
                  <a:lnTo>
                    <a:pt x="0" y="652266"/>
                  </a:lnTo>
                </a:path>
                <a:path w="3154679" h="2072004">
                  <a:moveTo>
                    <a:pt x="0" y="704702"/>
                  </a:moveTo>
                  <a:lnTo>
                    <a:pt x="0" y="704702"/>
                  </a:lnTo>
                  <a:lnTo>
                    <a:pt x="0" y="713334"/>
                  </a:lnTo>
                </a:path>
                <a:path w="3154679" h="2072004">
                  <a:moveTo>
                    <a:pt x="0" y="765591"/>
                  </a:moveTo>
                  <a:lnTo>
                    <a:pt x="0" y="765591"/>
                  </a:lnTo>
                  <a:lnTo>
                    <a:pt x="0" y="774222"/>
                  </a:lnTo>
                </a:path>
                <a:path w="3154679" h="2072004">
                  <a:moveTo>
                    <a:pt x="0" y="826659"/>
                  </a:moveTo>
                  <a:lnTo>
                    <a:pt x="0" y="826659"/>
                  </a:lnTo>
                  <a:lnTo>
                    <a:pt x="0" y="835729"/>
                  </a:lnTo>
                </a:path>
                <a:path w="3154679" h="2072004">
                  <a:moveTo>
                    <a:pt x="0" y="888154"/>
                  </a:moveTo>
                  <a:lnTo>
                    <a:pt x="0" y="888154"/>
                  </a:lnTo>
                  <a:lnTo>
                    <a:pt x="0" y="896618"/>
                  </a:lnTo>
                </a:path>
                <a:path w="3154679" h="2072004">
                  <a:moveTo>
                    <a:pt x="0" y="948960"/>
                  </a:moveTo>
                  <a:lnTo>
                    <a:pt x="0" y="948960"/>
                  </a:lnTo>
                  <a:lnTo>
                    <a:pt x="0" y="957686"/>
                  </a:lnTo>
                </a:path>
                <a:path w="3154679" h="2072004">
                  <a:moveTo>
                    <a:pt x="0" y="1010025"/>
                  </a:moveTo>
                  <a:lnTo>
                    <a:pt x="0" y="1010025"/>
                  </a:lnTo>
                  <a:lnTo>
                    <a:pt x="0" y="1019193"/>
                  </a:lnTo>
                </a:path>
                <a:path w="3154679" h="2072004">
                  <a:moveTo>
                    <a:pt x="0" y="1071535"/>
                  </a:moveTo>
                  <a:lnTo>
                    <a:pt x="0" y="1071535"/>
                  </a:lnTo>
                  <a:lnTo>
                    <a:pt x="0" y="1079999"/>
                  </a:lnTo>
                </a:path>
                <a:path w="3154679" h="2072004">
                  <a:moveTo>
                    <a:pt x="0" y="1132423"/>
                  </a:moveTo>
                  <a:lnTo>
                    <a:pt x="0" y="1132423"/>
                  </a:lnTo>
                  <a:lnTo>
                    <a:pt x="0" y="1140887"/>
                  </a:lnTo>
                </a:path>
                <a:path w="3154679" h="2072004">
                  <a:moveTo>
                    <a:pt x="0" y="1193311"/>
                  </a:moveTo>
                  <a:lnTo>
                    <a:pt x="0" y="1193311"/>
                  </a:lnTo>
                  <a:lnTo>
                    <a:pt x="0" y="1202561"/>
                  </a:lnTo>
                </a:path>
                <a:path w="3154679" h="2072004">
                  <a:moveTo>
                    <a:pt x="0" y="1254998"/>
                  </a:moveTo>
                  <a:lnTo>
                    <a:pt x="0" y="1254998"/>
                  </a:lnTo>
                  <a:lnTo>
                    <a:pt x="0" y="1263450"/>
                  </a:lnTo>
                </a:path>
                <a:path w="3154679" h="2072004">
                  <a:moveTo>
                    <a:pt x="0" y="1315886"/>
                  </a:moveTo>
                  <a:lnTo>
                    <a:pt x="0" y="1315886"/>
                  </a:lnTo>
                  <a:lnTo>
                    <a:pt x="0" y="1324256"/>
                  </a:lnTo>
                </a:path>
                <a:path w="3154679" h="2072004">
                  <a:moveTo>
                    <a:pt x="0" y="1376689"/>
                  </a:moveTo>
                  <a:lnTo>
                    <a:pt x="0" y="1376689"/>
                  </a:lnTo>
                  <a:lnTo>
                    <a:pt x="0" y="1385763"/>
                  </a:lnTo>
                </a:path>
                <a:path w="3154679" h="2072004">
                  <a:moveTo>
                    <a:pt x="0" y="1438187"/>
                  </a:moveTo>
                  <a:lnTo>
                    <a:pt x="0" y="1438187"/>
                  </a:lnTo>
                  <a:lnTo>
                    <a:pt x="0" y="1446831"/>
                  </a:lnTo>
                </a:path>
                <a:path w="3154679" h="2072004">
                  <a:moveTo>
                    <a:pt x="0" y="1499255"/>
                  </a:moveTo>
                  <a:lnTo>
                    <a:pt x="0" y="1499255"/>
                  </a:lnTo>
                  <a:lnTo>
                    <a:pt x="0" y="1507719"/>
                  </a:lnTo>
                </a:path>
                <a:path w="3154679" h="2072004">
                  <a:moveTo>
                    <a:pt x="0" y="1560143"/>
                  </a:moveTo>
                  <a:lnTo>
                    <a:pt x="0" y="1560143"/>
                  </a:lnTo>
                  <a:lnTo>
                    <a:pt x="0" y="1569214"/>
                  </a:lnTo>
                </a:path>
                <a:path w="3154679" h="2072004">
                  <a:moveTo>
                    <a:pt x="0" y="1621650"/>
                  </a:moveTo>
                  <a:lnTo>
                    <a:pt x="0" y="1621650"/>
                  </a:lnTo>
                  <a:lnTo>
                    <a:pt x="0" y="1630114"/>
                  </a:lnTo>
                </a:path>
                <a:path w="3154679" h="2072004">
                  <a:moveTo>
                    <a:pt x="0" y="1682456"/>
                  </a:moveTo>
                  <a:lnTo>
                    <a:pt x="0" y="1682456"/>
                  </a:lnTo>
                  <a:lnTo>
                    <a:pt x="0" y="1691182"/>
                  </a:lnTo>
                </a:path>
                <a:path w="3154679" h="2072004">
                  <a:moveTo>
                    <a:pt x="0" y="1743521"/>
                  </a:moveTo>
                  <a:lnTo>
                    <a:pt x="0" y="1743521"/>
                  </a:lnTo>
                  <a:lnTo>
                    <a:pt x="0" y="1752677"/>
                  </a:lnTo>
                </a:path>
                <a:path w="3154679" h="2072004">
                  <a:moveTo>
                    <a:pt x="0" y="1805019"/>
                  </a:moveTo>
                  <a:lnTo>
                    <a:pt x="0" y="1805019"/>
                  </a:lnTo>
                  <a:lnTo>
                    <a:pt x="0" y="1813483"/>
                  </a:lnTo>
                </a:path>
                <a:path w="3154679" h="2072004">
                  <a:moveTo>
                    <a:pt x="0" y="1865919"/>
                  </a:moveTo>
                  <a:lnTo>
                    <a:pt x="0" y="1865919"/>
                  </a:lnTo>
                  <a:lnTo>
                    <a:pt x="0" y="1874371"/>
                  </a:lnTo>
                </a:path>
                <a:path w="3154679" h="2072004">
                  <a:moveTo>
                    <a:pt x="0" y="1926808"/>
                  </a:moveTo>
                  <a:lnTo>
                    <a:pt x="0" y="1926808"/>
                  </a:lnTo>
                  <a:lnTo>
                    <a:pt x="0" y="1936058"/>
                  </a:lnTo>
                </a:path>
                <a:path w="3154679" h="2072004">
                  <a:moveTo>
                    <a:pt x="0" y="1988482"/>
                  </a:moveTo>
                  <a:lnTo>
                    <a:pt x="0" y="1988482"/>
                  </a:lnTo>
                  <a:lnTo>
                    <a:pt x="0" y="1996946"/>
                  </a:lnTo>
                </a:path>
                <a:path w="3154679" h="2072004">
                  <a:moveTo>
                    <a:pt x="0" y="2049371"/>
                  </a:moveTo>
                  <a:lnTo>
                    <a:pt x="0" y="2049371"/>
                  </a:lnTo>
                  <a:lnTo>
                    <a:pt x="0" y="2057752"/>
                  </a:lnTo>
                </a:path>
                <a:path w="3154679" h="2072004">
                  <a:moveTo>
                    <a:pt x="1580301" y="0"/>
                  </a:moveTo>
                  <a:lnTo>
                    <a:pt x="1580301" y="0"/>
                  </a:lnTo>
                  <a:lnTo>
                    <a:pt x="1580301" y="8717"/>
                  </a:lnTo>
                </a:path>
                <a:path w="3154679" h="2072004">
                  <a:moveTo>
                    <a:pt x="1580301" y="60897"/>
                  </a:moveTo>
                  <a:lnTo>
                    <a:pt x="1580301" y="60897"/>
                  </a:lnTo>
                  <a:lnTo>
                    <a:pt x="1580301" y="69523"/>
                  </a:lnTo>
                </a:path>
                <a:path w="3154679" h="2072004">
                  <a:moveTo>
                    <a:pt x="1580301" y="121947"/>
                  </a:moveTo>
                  <a:lnTo>
                    <a:pt x="1580301" y="121947"/>
                  </a:lnTo>
                  <a:lnTo>
                    <a:pt x="1580301" y="131029"/>
                  </a:lnTo>
                </a:path>
                <a:path w="3154679" h="2072004">
                  <a:moveTo>
                    <a:pt x="1580301" y="183454"/>
                  </a:moveTo>
                  <a:lnTo>
                    <a:pt x="1580301" y="183454"/>
                  </a:lnTo>
                  <a:lnTo>
                    <a:pt x="1580301" y="191896"/>
                  </a:lnTo>
                </a:path>
                <a:path w="3154679" h="2072004">
                  <a:moveTo>
                    <a:pt x="1580301" y="244260"/>
                  </a:moveTo>
                  <a:lnTo>
                    <a:pt x="1580301" y="244260"/>
                  </a:lnTo>
                  <a:lnTo>
                    <a:pt x="1580301" y="252977"/>
                  </a:lnTo>
                </a:path>
                <a:path w="3154679" h="2072004">
                  <a:moveTo>
                    <a:pt x="1580301" y="305401"/>
                  </a:moveTo>
                  <a:lnTo>
                    <a:pt x="1580301" y="305401"/>
                  </a:lnTo>
                  <a:lnTo>
                    <a:pt x="1580301" y="314487"/>
                  </a:lnTo>
                </a:path>
                <a:path w="3154679" h="2072004">
                  <a:moveTo>
                    <a:pt x="1580301" y="366920"/>
                  </a:moveTo>
                  <a:lnTo>
                    <a:pt x="1580301" y="366920"/>
                  </a:lnTo>
                  <a:lnTo>
                    <a:pt x="1580301" y="375290"/>
                  </a:lnTo>
                </a:path>
                <a:path w="3154679" h="2072004">
                  <a:moveTo>
                    <a:pt x="1580301" y="427714"/>
                  </a:moveTo>
                  <a:lnTo>
                    <a:pt x="1580301" y="427714"/>
                  </a:lnTo>
                  <a:lnTo>
                    <a:pt x="1580301" y="436181"/>
                  </a:lnTo>
                </a:path>
                <a:path w="3154679" h="2072004">
                  <a:moveTo>
                    <a:pt x="1580301" y="488614"/>
                  </a:moveTo>
                  <a:lnTo>
                    <a:pt x="1580301" y="488614"/>
                  </a:lnTo>
                  <a:lnTo>
                    <a:pt x="1580301" y="497856"/>
                  </a:lnTo>
                </a:path>
                <a:path w="3154679" h="2072004">
                  <a:moveTo>
                    <a:pt x="1580301" y="550289"/>
                  </a:moveTo>
                  <a:lnTo>
                    <a:pt x="1580301" y="550289"/>
                  </a:lnTo>
                  <a:lnTo>
                    <a:pt x="1580301" y="558756"/>
                  </a:lnTo>
                </a:path>
                <a:path w="3154679" h="2072004">
                  <a:moveTo>
                    <a:pt x="1580301" y="611177"/>
                  </a:moveTo>
                  <a:lnTo>
                    <a:pt x="1580301" y="611177"/>
                  </a:lnTo>
                  <a:lnTo>
                    <a:pt x="1580301" y="619644"/>
                  </a:lnTo>
                </a:path>
                <a:path w="3154679" h="2072004">
                  <a:moveTo>
                    <a:pt x="1580301" y="671983"/>
                  </a:moveTo>
                  <a:lnTo>
                    <a:pt x="1580301" y="671983"/>
                  </a:lnTo>
                  <a:lnTo>
                    <a:pt x="1580301" y="681139"/>
                  </a:lnTo>
                </a:path>
                <a:path w="3154679" h="2072004">
                  <a:moveTo>
                    <a:pt x="1580301" y="733490"/>
                  </a:moveTo>
                  <a:lnTo>
                    <a:pt x="1580301" y="733490"/>
                  </a:lnTo>
                  <a:lnTo>
                    <a:pt x="1580301" y="742207"/>
                  </a:lnTo>
                </a:path>
                <a:path w="3154679" h="2072004">
                  <a:moveTo>
                    <a:pt x="1580301" y="794558"/>
                  </a:moveTo>
                  <a:lnTo>
                    <a:pt x="1580301" y="794558"/>
                  </a:lnTo>
                  <a:lnTo>
                    <a:pt x="1580301" y="803010"/>
                  </a:lnTo>
                </a:path>
                <a:path w="3154679" h="2072004">
                  <a:moveTo>
                    <a:pt x="3154152" y="1268607"/>
                  </a:moveTo>
                  <a:lnTo>
                    <a:pt x="3154152" y="1268607"/>
                  </a:lnTo>
                  <a:lnTo>
                    <a:pt x="3154152" y="1277059"/>
                  </a:lnTo>
                </a:path>
                <a:path w="3154679" h="2072004">
                  <a:moveTo>
                    <a:pt x="3154152" y="1329495"/>
                  </a:moveTo>
                  <a:lnTo>
                    <a:pt x="3154152" y="1329495"/>
                  </a:lnTo>
                  <a:lnTo>
                    <a:pt x="3154152" y="1338127"/>
                  </a:lnTo>
                </a:path>
                <a:path w="3154679" h="2072004">
                  <a:moveTo>
                    <a:pt x="3154152" y="1390560"/>
                  </a:moveTo>
                  <a:lnTo>
                    <a:pt x="3154152" y="1390560"/>
                  </a:lnTo>
                  <a:lnTo>
                    <a:pt x="3154152" y="1399634"/>
                  </a:lnTo>
                </a:path>
                <a:path w="3154679" h="2072004">
                  <a:moveTo>
                    <a:pt x="3154152" y="1452058"/>
                  </a:moveTo>
                  <a:lnTo>
                    <a:pt x="3154152" y="1452058"/>
                  </a:lnTo>
                  <a:lnTo>
                    <a:pt x="3154152" y="1460522"/>
                  </a:lnTo>
                </a:path>
                <a:path w="3154679" h="2072004">
                  <a:moveTo>
                    <a:pt x="3154152" y="1512958"/>
                  </a:moveTo>
                  <a:lnTo>
                    <a:pt x="3154152" y="1512958"/>
                  </a:lnTo>
                  <a:lnTo>
                    <a:pt x="3154152" y="1521328"/>
                  </a:lnTo>
                </a:path>
                <a:path w="3154679" h="2072004">
                  <a:moveTo>
                    <a:pt x="3154152" y="1573752"/>
                  </a:moveTo>
                  <a:lnTo>
                    <a:pt x="3154152" y="1573752"/>
                  </a:lnTo>
                  <a:lnTo>
                    <a:pt x="3154152" y="1583085"/>
                  </a:lnTo>
                </a:path>
                <a:path w="3154679" h="2072004">
                  <a:moveTo>
                    <a:pt x="3154152" y="1635521"/>
                  </a:moveTo>
                  <a:lnTo>
                    <a:pt x="3154152" y="1635521"/>
                  </a:lnTo>
                  <a:lnTo>
                    <a:pt x="3154152" y="1643985"/>
                  </a:lnTo>
                </a:path>
                <a:path w="3154679" h="2072004">
                  <a:moveTo>
                    <a:pt x="3154152" y="1696327"/>
                  </a:moveTo>
                  <a:lnTo>
                    <a:pt x="3154152" y="1696327"/>
                  </a:lnTo>
                  <a:lnTo>
                    <a:pt x="3154152" y="1704791"/>
                  </a:lnTo>
                </a:path>
                <a:path w="3154679" h="2072004">
                  <a:moveTo>
                    <a:pt x="3154152" y="1757215"/>
                  </a:moveTo>
                  <a:lnTo>
                    <a:pt x="3154152" y="1757215"/>
                  </a:lnTo>
                  <a:lnTo>
                    <a:pt x="3154152" y="1766286"/>
                  </a:lnTo>
                </a:path>
                <a:path w="3154679" h="2072004">
                  <a:moveTo>
                    <a:pt x="3154152" y="1818722"/>
                  </a:moveTo>
                  <a:lnTo>
                    <a:pt x="3154152" y="1818722"/>
                  </a:lnTo>
                  <a:lnTo>
                    <a:pt x="3154152" y="1827354"/>
                  </a:lnTo>
                </a:path>
                <a:path w="3154679" h="2072004">
                  <a:moveTo>
                    <a:pt x="3154152" y="1879790"/>
                  </a:moveTo>
                  <a:lnTo>
                    <a:pt x="3154152" y="1879790"/>
                  </a:lnTo>
                  <a:lnTo>
                    <a:pt x="3154152" y="1888242"/>
                  </a:lnTo>
                </a:path>
                <a:path w="3154679" h="2072004">
                  <a:moveTo>
                    <a:pt x="3154152" y="1940593"/>
                  </a:moveTo>
                  <a:lnTo>
                    <a:pt x="3154152" y="1940593"/>
                  </a:lnTo>
                  <a:lnTo>
                    <a:pt x="3154152" y="1949749"/>
                  </a:lnTo>
                </a:path>
                <a:path w="3154679" h="2072004">
                  <a:moveTo>
                    <a:pt x="3154152" y="2002091"/>
                  </a:moveTo>
                  <a:lnTo>
                    <a:pt x="3154152" y="2002091"/>
                  </a:lnTo>
                  <a:lnTo>
                    <a:pt x="3154152" y="2010555"/>
                  </a:lnTo>
                </a:path>
                <a:path w="3154679" h="2072004">
                  <a:moveTo>
                    <a:pt x="3154152" y="2062979"/>
                  </a:moveTo>
                  <a:lnTo>
                    <a:pt x="3154152" y="2062979"/>
                  </a:lnTo>
                  <a:lnTo>
                    <a:pt x="3154152" y="2071623"/>
                  </a:lnTo>
                </a:path>
              </a:pathLst>
            </a:custGeom>
            <a:ln w="69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48640" y="3512454"/>
              <a:ext cx="1475740" cy="518795"/>
            </a:xfrm>
            <a:custGeom>
              <a:avLst/>
              <a:gdLst/>
              <a:ahLst/>
              <a:cxnLst/>
              <a:rect l="l" t="t" r="r" b="b"/>
              <a:pathLst>
                <a:path w="1475739" h="518795">
                  <a:moveTo>
                    <a:pt x="1475536" y="0"/>
                  </a:moveTo>
                  <a:lnTo>
                    <a:pt x="0" y="518620"/>
                  </a:lnTo>
                  <a:lnTo>
                    <a:pt x="1475536" y="0"/>
                  </a:lnTo>
                  <a:close/>
                </a:path>
              </a:pathLst>
            </a:custGeom>
            <a:solidFill>
              <a:srgbClr val="B1E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48670" y="3512453"/>
              <a:ext cx="1475740" cy="518795"/>
            </a:xfrm>
            <a:custGeom>
              <a:avLst/>
              <a:gdLst/>
              <a:ahLst/>
              <a:cxnLst/>
              <a:rect l="l" t="t" r="r" b="b"/>
              <a:pathLst>
                <a:path w="1475739" h="518795">
                  <a:moveTo>
                    <a:pt x="0" y="518621"/>
                  </a:moveTo>
                  <a:lnTo>
                    <a:pt x="0" y="518621"/>
                  </a:lnTo>
                  <a:lnTo>
                    <a:pt x="1475520" y="0"/>
                  </a:lnTo>
                </a:path>
              </a:pathLst>
            </a:custGeom>
            <a:ln w="8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03846" y="3499286"/>
              <a:ext cx="50165" cy="36830"/>
            </a:xfrm>
            <a:custGeom>
              <a:avLst/>
              <a:gdLst/>
              <a:ahLst/>
              <a:cxnLst/>
              <a:rect l="l" t="t" r="r" b="b"/>
              <a:pathLst>
                <a:path w="50164" h="36829">
                  <a:moveTo>
                    <a:pt x="0" y="0"/>
                  </a:moveTo>
                  <a:lnTo>
                    <a:pt x="14477" y="15788"/>
                  </a:lnTo>
                  <a:lnTo>
                    <a:pt x="13167" y="36819"/>
                  </a:lnTo>
                  <a:lnTo>
                    <a:pt x="49804" y="2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94634" y="4044077"/>
              <a:ext cx="1470660" cy="274955"/>
            </a:xfrm>
            <a:custGeom>
              <a:avLst/>
              <a:gdLst/>
              <a:ahLst/>
              <a:cxnLst/>
              <a:rect l="l" t="t" r="r" b="b"/>
              <a:pathLst>
                <a:path w="1470660" h="274954">
                  <a:moveTo>
                    <a:pt x="0" y="0"/>
                  </a:moveTo>
                  <a:lnTo>
                    <a:pt x="1470294" y="27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E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94635" y="4044077"/>
              <a:ext cx="1470660" cy="274955"/>
            </a:xfrm>
            <a:custGeom>
              <a:avLst/>
              <a:gdLst/>
              <a:ahLst/>
              <a:cxnLst/>
              <a:rect l="l" t="t" r="r" b="b"/>
              <a:pathLst>
                <a:path w="1470660" h="274954">
                  <a:moveTo>
                    <a:pt x="1470307" y="274617"/>
                  </a:moveTo>
                  <a:lnTo>
                    <a:pt x="1470307" y="274617"/>
                  </a:lnTo>
                  <a:lnTo>
                    <a:pt x="0" y="0"/>
                  </a:lnTo>
                </a:path>
              </a:pathLst>
            </a:custGeom>
            <a:ln w="8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063849" y="4027849"/>
              <a:ext cx="48895" cy="38100"/>
            </a:xfrm>
            <a:custGeom>
              <a:avLst/>
              <a:gdLst/>
              <a:ahLst/>
              <a:cxnLst/>
              <a:rect l="l" t="t" r="r" b="b"/>
              <a:pathLst>
                <a:path w="48894" h="38100">
                  <a:moveTo>
                    <a:pt x="48493" y="0"/>
                  </a:moveTo>
                  <a:lnTo>
                    <a:pt x="0" y="10381"/>
                  </a:lnTo>
                  <a:lnTo>
                    <a:pt x="41178" y="37944"/>
                  </a:lnTo>
                  <a:lnTo>
                    <a:pt x="36636" y="17538"/>
                  </a:lnTo>
                  <a:lnTo>
                    <a:pt x="484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33569" y="3827382"/>
              <a:ext cx="1482725" cy="913765"/>
            </a:xfrm>
            <a:custGeom>
              <a:avLst/>
              <a:gdLst/>
              <a:ahLst/>
              <a:cxnLst/>
              <a:rect l="l" t="t" r="r" b="b"/>
              <a:pathLst>
                <a:path w="1482725" h="913764">
                  <a:moveTo>
                    <a:pt x="0" y="0"/>
                  </a:moveTo>
                  <a:lnTo>
                    <a:pt x="1482699" y="913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E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33586" y="3827382"/>
              <a:ext cx="1482725" cy="913765"/>
            </a:xfrm>
            <a:custGeom>
              <a:avLst/>
              <a:gdLst/>
              <a:ahLst/>
              <a:cxnLst/>
              <a:rect l="l" t="t" r="r" b="b"/>
              <a:pathLst>
                <a:path w="1482725" h="913764">
                  <a:moveTo>
                    <a:pt x="0" y="0"/>
                  </a:moveTo>
                  <a:lnTo>
                    <a:pt x="0" y="0"/>
                  </a:lnTo>
                  <a:lnTo>
                    <a:pt x="1482683" y="913625"/>
                  </a:lnTo>
                </a:path>
              </a:pathLst>
            </a:custGeom>
            <a:ln w="8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93498" y="4716767"/>
              <a:ext cx="49530" cy="41910"/>
            </a:xfrm>
            <a:custGeom>
              <a:avLst/>
              <a:gdLst/>
              <a:ahLst/>
              <a:cxnLst/>
              <a:rect l="l" t="t" r="r" b="b"/>
              <a:pathLst>
                <a:path w="49529" h="41910">
                  <a:moveTo>
                    <a:pt x="48920" y="41351"/>
                  </a:moveTo>
                  <a:lnTo>
                    <a:pt x="20751" y="0"/>
                  </a:lnTo>
                  <a:lnTo>
                    <a:pt x="17526" y="20332"/>
                  </a:lnTo>
                  <a:lnTo>
                    <a:pt x="0" y="32016"/>
                  </a:lnTo>
                  <a:lnTo>
                    <a:pt x="48920" y="41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654618" y="3876496"/>
              <a:ext cx="1480820" cy="1717675"/>
            </a:xfrm>
            <a:custGeom>
              <a:avLst/>
              <a:gdLst/>
              <a:ahLst/>
              <a:cxnLst/>
              <a:rect l="l" t="t" r="r" b="b"/>
              <a:pathLst>
                <a:path w="1480820" h="1717675">
                  <a:moveTo>
                    <a:pt x="1480671" y="1717346"/>
                  </a:moveTo>
                  <a:lnTo>
                    <a:pt x="1480671" y="1717346"/>
                  </a:lnTo>
                  <a:lnTo>
                    <a:pt x="0" y="0"/>
                  </a:lnTo>
                </a:path>
              </a:pathLst>
            </a:custGeom>
            <a:ln w="8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634209" y="3852242"/>
              <a:ext cx="45085" cy="48260"/>
            </a:xfrm>
            <a:custGeom>
              <a:avLst/>
              <a:gdLst/>
              <a:ahLst/>
              <a:cxnLst/>
              <a:rect l="l" t="t" r="r" b="b"/>
              <a:pathLst>
                <a:path w="45085" h="48260">
                  <a:moveTo>
                    <a:pt x="0" y="0"/>
                  </a:moveTo>
                  <a:lnTo>
                    <a:pt x="15179" y="47887"/>
                  </a:lnTo>
                  <a:lnTo>
                    <a:pt x="24231" y="28791"/>
                  </a:lnTo>
                  <a:lnTo>
                    <a:pt x="44653" y="229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492834" y="5753083"/>
            <a:ext cx="3857625" cy="5721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latin typeface="Times New Roman"/>
                <a:cs typeface="Times New Roman"/>
              </a:rPr>
              <a:t>(b) Nested interrupt</a:t>
            </a:r>
            <a:r>
              <a:rPr sz="950" b="1" spc="10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processing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Figure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3.13</a:t>
            </a:r>
            <a:r>
              <a:rPr sz="1200" b="1" spc="4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Transfer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Control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Multiple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Interrupts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3465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661646" y="253054"/>
            <a:ext cx="1084580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User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program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87457" y="134639"/>
            <a:ext cx="1868170" cy="450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5278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Times New Roman"/>
                <a:cs typeface="Times New Roman"/>
              </a:rPr>
              <a:t>Printer interrupt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service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routine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3390" y="134639"/>
            <a:ext cx="1868170" cy="450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175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Times New Roman"/>
                <a:cs typeface="Times New Roman"/>
              </a:rPr>
              <a:t>Communication interrupt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service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routine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755868" y="641948"/>
            <a:ext cx="2933065" cy="4256405"/>
            <a:chOff x="755868" y="641948"/>
            <a:chExt cx="2933065" cy="4256405"/>
          </a:xfrm>
        </p:grpSpPr>
        <p:sp>
          <p:nvSpPr>
            <p:cNvPr id="3" name="object 3"/>
            <p:cNvSpPr/>
            <p:nvPr/>
          </p:nvSpPr>
          <p:spPr>
            <a:xfrm>
              <a:off x="763810" y="649894"/>
              <a:ext cx="795655" cy="4240530"/>
            </a:xfrm>
            <a:custGeom>
              <a:avLst/>
              <a:gdLst/>
              <a:ahLst/>
              <a:cxnLst/>
              <a:rect l="l" t="t" r="r" b="b"/>
              <a:pathLst>
                <a:path w="795655" h="4240530">
                  <a:moveTo>
                    <a:pt x="795348" y="0"/>
                  </a:moveTo>
                  <a:lnTo>
                    <a:pt x="0" y="0"/>
                  </a:lnTo>
                  <a:lnTo>
                    <a:pt x="0" y="4240420"/>
                  </a:lnTo>
                  <a:lnTo>
                    <a:pt x="795348" y="4240420"/>
                  </a:lnTo>
                  <a:lnTo>
                    <a:pt x="795348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3805" y="649886"/>
              <a:ext cx="795655" cy="4240530"/>
            </a:xfrm>
            <a:custGeom>
              <a:avLst/>
              <a:gdLst/>
              <a:ahLst/>
              <a:cxnLst/>
              <a:rect l="l" t="t" r="r" b="b"/>
              <a:pathLst>
                <a:path w="795655" h="4240530">
                  <a:moveTo>
                    <a:pt x="795347" y="0"/>
                  </a:moveTo>
                  <a:lnTo>
                    <a:pt x="0" y="0"/>
                  </a:lnTo>
                  <a:lnTo>
                    <a:pt x="0" y="4240426"/>
                  </a:lnTo>
                  <a:lnTo>
                    <a:pt x="795347" y="4240426"/>
                  </a:lnTo>
                  <a:lnTo>
                    <a:pt x="795347" y="0"/>
                  </a:lnTo>
                  <a:close/>
                </a:path>
              </a:pathLst>
            </a:custGeom>
            <a:ln w="15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7234" y="809047"/>
              <a:ext cx="0" cy="3843020"/>
            </a:xfrm>
            <a:custGeom>
              <a:avLst/>
              <a:gdLst/>
              <a:ahLst/>
              <a:cxnLst/>
              <a:rect l="l" t="t" r="r" b="b"/>
              <a:pathLst>
                <a:path h="3843020">
                  <a:moveTo>
                    <a:pt x="0" y="0"/>
                  </a:moveTo>
                  <a:lnTo>
                    <a:pt x="0" y="0"/>
                  </a:lnTo>
                  <a:lnTo>
                    <a:pt x="0" y="15300"/>
                  </a:lnTo>
                </a:path>
                <a:path h="3843020">
                  <a:moveTo>
                    <a:pt x="0" y="147975"/>
                  </a:moveTo>
                  <a:lnTo>
                    <a:pt x="0" y="147975"/>
                  </a:lnTo>
                  <a:lnTo>
                    <a:pt x="0" y="162087"/>
                  </a:lnTo>
                </a:path>
                <a:path h="3843020">
                  <a:moveTo>
                    <a:pt x="0" y="294609"/>
                  </a:moveTo>
                  <a:lnTo>
                    <a:pt x="0" y="294609"/>
                  </a:lnTo>
                  <a:lnTo>
                    <a:pt x="0" y="309331"/>
                  </a:lnTo>
                </a:path>
                <a:path h="3843020">
                  <a:moveTo>
                    <a:pt x="0" y="441853"/>
                  </a:moveTo>
                  <a:lnTo>
                    <a:pt x="0" y="441853"/>
                  </a:lnTo>
                  <a:lnTo>
                    <a:pt x="0" y="457154"/>
                  </a:lnTo>
                </a:path>
                <a:path h="3843020">
                  <a:moveTo>
                    <a:pt x="0" y="589707"/>
                  </a:moveTo>
                  <a:lnTo>
                    <a:pt x="0" y="589707"/>
                  </a:lnTo>
                  <a:lnTo>
                    <a:pt x="0" y="603971"/>
                  </a:lnTo>
                </a:path>
                <a:path h="3843020">
                  <a:moveTo>
                    <a:pt x="0" y="736494"/>
                  </a:moveTo>
                  <a:lnTo>
                    <a:pt x="0" y="736494"/>
                  </a:lnTo>
                  <a:lnTo>
                    <a:pt x="0" y="750758"/>
                  </a:lnTo>
                </a:path>
                <a:path h="3843020">
                  <a:moveTo>
                    <a:pt x="0" y="883281"/>
                  </a:moveTo>
                  <a:lnTo>
                    <a:pt x="0" y="883281"/>
                  </a:lnTo>
                  <a:lnTo>
                    <a:pt x="0" y="899038"/>
                  </a:lnTo>
                </a:path>
                <a:path h="3843020">
                  <a:moveTo>
                    <a:pt x="0" y="1031287"/>
                  </a:moveTo>
                  <a:lnTo>
                    <a:pt x="0" y="1031287"/>
                  </a:lnTo>
                  <a:lnTo>
                    <a:pt x="0" y="1045825"/>
                  </a:lnTo>
                </a:path>
                <a:path h="3843020">
                  <a:moveTo>
                    <a:pt x="0" y="1178378"/>
                  </a:moveTo>
                  <a:lnTo>
                    <a:pt x="0" y="1178378"/>
                  </a:lnTo>
                  <a:lnTo>
                    <a:pt x="0" y="1192643"/>
                  </a:lnTo>
                </a:path>
                <a:path h="3843020">
                  <a:moveTo>
                    <a:pt x="0" y="1325165"/>
                  </a:moveTo>
                  <a:lnTo>
                    <a:pt x="0" y="1325165"/>
                  </a:lnTo>
                  <a:lnTo>
                    <a:pt x="0" y="1340466"/>
                  </a:lnTo>
                </a:path>
                <a:path h="3843020">
                  <a:moveTo>
                    <a:pt x="0" y="1472988"/>
                  </a:moveTo>
                  <a:lnTo>
                    <a:pt x="0" y="1472988"/>
                  </a:lnTo>
                  <a:lnTo>
                    <a:pt x="0" y="1487253"/>
                  </a:lnTo>
                </a:path>
                <a:path h="3843020">
                  <a:moveTo>
                    <a:pt x="0" y="1619806"/>
                  </a:moveTo>
                  <a:lnTo>
                    <a:pt x="0" y="1619806"/>
                  </a:lnTo>
                  <a:lnTo>
                    <a:pt x="0" y="1634497"/>
                  </a:lnTo>
                </a:path>
                <a:path h="3843020">
                  <a:moveTo>
                    <a:pt x="0" y="1767019"/>
                  </a:moveTo>
                  <a:lnTo>
                    <a:pt x="0" y="1767019"/>
                  </a:lnTo>
                  <a:lnTo>
                    <a:pt x="0" y="1782320"/>
                  </a:lnTo>
                </a:path>
                <a:path h="3843020">
                  <a:moveTo>
                    <a:pt x="0" y="1914873"/>
                  </a:moveTo>
                  <a:lnTo>
                    <a:pt x="0" y="1914873"/>
                  </a:lnTo>
                  <a:lnTo>
                    <a:pt x="0" y="1929137"/>
                  </a:lnTo>
                </a:path>
                <a:path h="3843020">
                  <a:moveTo>
                    <a:pt x="0" y="2061660"/>
                  </a:moveTo>
                  <a:lnTo>
                    <a:pt x="0" y="2061660"/>
                  </a:lnTo>
                  <a:lnTo>
                    <a:pt x="0" y="2075924"/>
                  </a:lnTo>
                </a:path>
                <a:path h="3843020">
                  <a:moveTo>
                    <a:pt x="0" y="2208477"/>
                  </a:moveTo>
                  <a:lnTo>
                    <a:pt x="0" y="2208477"/>
                  </a:lnTo>
                  <a:lnTo>
                    <a:pt x="0" y="2224204"/>
                  </a:lnTo>
                </a:path>
                <a:path h="3843020">
                  <a:moveTo>
                    <a:pt x="0" y="2356300"/>
                  </a:moveTo>
                  <a:lnTo>
                    <a:pt x="0" y="2356300"/>
                  </a:lnTo>
                  <a:lnTo>
                    <a:pt x="0" y="2370991"/>
                  </a:lnTo>
                </a:path>
                <a:path h="3843020">
                  <a:moveTo>
                    <a:pt x="0" y="2503544"/>
                  </a:moveTo>
                  <a:lnTo>
                    <a:pt x="0" y="2503544"/>
                  </a:lnTo>
                  <a:lnTo>
                    <a:pt x="0" y="2517808"/>
                  </a:lnTo>
                </a:path>
                <a:path h="3843020">
                  <a:moveTo>
                    <a:pt x="0" y="2650331"/>
                  </a:moveTo>
                  <a:lnTo>
                    <a:pt x="0" y="2650331"/>
                  </a:lnTo>
                  <a:lnTo>
                    <a:pt x="0" y="2665631"/>
                  </a:lnTo>
                </a:path>
                <a:path h="3843020">
                  <a:moveTo>
                    <a:pt x="0" y="2798154"/>
                  </a:moveTo>
                  <a:lnTo>
                    <a:pt x="0" y="2798154"/>
                  </a:lnTo>
                  <a:lnTo>
                    <a:pt x="0" y="2812418"/>
                  </a:lnTo>
                </a:path>
                <a:path h="3843020">
                  <a:moveTo>
                    <a:pt x="0" y="2944971"/>
                  </a:moveTo>
                  <a:lnTo>
                    <a:pt x="0" y="2944971"/>
                  </a:lnTo>
                  <a:lnTo>
                    <a:pt x="0" y="2959540"/>
                  </a:lnTo>
                </a:path>
                <a:path h="3843020">
                  <a:moveTo>
                    <a:pt x="0" y="3092057"/>
                  </a:moveTo>
                  <a:lnTo>
                    <a:pt x="0" y="3092057"/>
                  </a:lnTo>
                  <a:lnTo>
                    <a:pt x="0" y="3107501"/>
                  </a:lnTo>
                </a:path>
                <a:path h="3843020">
                  <a:moveTo>
                    <a:pt x="0" y="3240042"/>
                  </a:moveTo>
                  <a:lnTo>
                    <a:pt x="0" y="3240042"/>
                  </a:lnTo>
                  <a:lnTo>
                    <a:pt x="0" y="3254306"/>
                  </a:lnTo>
                </a:path>
                <a:path h="3843020">
                  <a:moveTo>
                    <a:pt x="0" y="3386831"/>
                  </a:moveTo>
                  <a:lnTo>
                    <a:pt x="0" y="3386831"/>
                  </a:lnTo>
                  <a:lnTo>
                    <a:pt x="0" y="3401108"/>
                  </a:lnTo>
                </a:path>
                <a:path h="3843020">
                  <a:moveTo>
                    <a:pt x="0" y="3533637"/>
                  </a:moveTo>
                  <a:lnTo>
                    <a:pt x="0" y="3533637"/>
                  </a:lnTo>
                  <a:lnTo>
                    <a:pt x="0" y="3549376"/>
                  </a:lnTo>
                </a:path>
                <a:path h="3843020">
                  <a:moveTo>
                    <a:pt x="0" y="3681466"/>
                  </a:moveTo>
                  <a:lnTo>
                    <a:pt x="0" y="3681466"/>
                  </a:lnTo>
                  <a:lnTo>
                    <a:pt x="0" y="3696026"/>
                  </a:lnTo>
                </a:path>
                <a:path h="3843020">
                  <a:moveTo>
                    <a:pt x="0" y="3828710"/>
                  </a:moveTo>
                  <a:lnTo>
                    <a:pt x="0" y="3828710"/>
                  </a:lnTo>
                  <a:lnTo>
                    <a:pt x="0" y="3842831"/>
                  </a:lnTo>
                </a:path>
              </a:pathLst>
            </a:custGeom>
            <a:ln w="117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5157" y="649894"/>
              <a:ext cx="795655" cy="2650490"/>
            </a:xfrm>
            <a:custGeom>
              <a:avLst/>
              <a:gdLst/>
              <a:ahLst/>
              <a:cxnLst/>
              <a:rect l="l" t="t" r="r" b="b"/>
              <a:pathLst>
                <a:path w="795654" h="2650490">
                  <a:moveTo>
                    <a:pt x="795241" y="0"/>
                  </a:moveTo>
                  <a:lnTo>
                    <a:pt x="0" y="0"/>
                  </a:lnTo>
                  <a:lnTo>
                    <a:pt x="0" y="2650174"/>
                  </a:lnTo>
                  <a:lnTo>
                    <a:pt x="795241" y="2650174"/>
                  </a:lnTo>
                  <a:lnTo>
                    <a:pt x="795241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5149" y="649886"/>
              <a:ext cx="795655" cy="2650490"/>
            </a:xfrm>
            <a:custGeom>
              <a:avLst/>
              <a:gdLst/>
              <a:ahLst/>
              <a:cxnLst/>
              <a:rect l="l" t="t" r="r" b="b"/>
              <a:pathLst>
                <a:path w="795654" h="2650490">
                  <a:moveTo>
                    <a:pt x="795237" y="0"/>
                  </a:moveTo>
                  <a:lnTo>
                    <a:pt x="0" y="0"/>
                  </a:lnTo>
                  <a:lnTo>
                    <a:pt x="0" y="2650179"/>
                  </a:lnTo>
                  <a:lnTo>
                    <a:pt x="795237" y="2650179"/>
                  </a:lnTo>
                  <a:lnTo>
                    <a:pt x="795237" y="0"/>
                  </a:lnTo>
                  <a:close/>
                </a:path>
              </a:pathLst>
            </a:custGeom>
            <a:ln w="15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41866" y="2443867"/>
            <a:ext cx="1868170" cy="4495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675"/>
              </a:lnSpc>
              <a:spcBef>
                <a:spcPts val="90"/>
              </a:spcBef>
            </a:pPr>
            <a:r>
              <a:rPr sz="1400" b="1" spc="-20" dirty="0">
                <a:latin typeface="Times New Roman"/>
                <a:cs typeface="Times New Roman"/>
              </a:rPr>
              <a:t>Disk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75"/>
              </a:lnSpc>
            </a:pPr>
            <a:r>
              <a:rPr sz="1400" b="1" spc="-10" dirty="0">
                <a:latin typeface="Times New Roman"/>
                <a:cs typeface="Times New Roman"/>
              </a:rPr>
              <a:t>interrupt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service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routine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93974" y="641948"/>
            <a:ext cx="6736715" cy="4256405"/>
            <a:chOff x="1193974" y="641948"/>
            <a:chExt cx="6736715" cy="4256405"/>
          </a:xfrm>
        </p:grpSpPr>
        <p:sp>
          <p:nvSpPr>
            <p:cNvPr id="13" name="object 13"/>
            <p:cNvSpPr/>
            <p:nvPr/>
          </p:nvSpPr>
          <p:spPr>
            <a:xfrm>
              <a:off x="3268194" y="809047"/>
              <a:ext cx="0" cy="2371090"/>
            </a:xfrm>
            <a:custGeom>
              <a:avLst/>
              <a:gdLst/>
              <a:ahLst/>
              <a:cxnLst/>
              <a:rect l="l" t="t" r="r" b="b"/>
              <a:pathLst>
                <a:path h="2371090">
                  <a:moveTo>
                    <a:pt x="0" y="0"/>
                  </a:moveTo>
                  <a:lnTo>
                    <a:pt x="0" y="0"/>
                  </a:lnTo>
                  <a:lnTo>
                    <a:pt x="0" y="15300"/>
                  </a:lnTo>
                </a:path>
                <a:path h="2371090">
                  <a:moveTo>
                    <a:pt x="0" y="147975"/>
                  </a:moveTo>
                  <a:lnTo>
                    <a:pt x="0" y="147975"/>
                  </a:lnTo>
                  <a:lnTo>
                    <a:pt x="0" y="162087"/>
                  </a:lnTo>
                </a:path>
                <a:path h="2371090">
                  <a:moveTo>
                    <a:pt x="0" y="294609"/>
                  </a:moveTo>
                  <a:lnTo>
                    <a:pt x="0" y="294609"/>
                  </a:lnTo>
                  <a:lnTo>
                    <a:pt x="0" y="309331"/>
                  </a:lnTo>
                </a:path>
                <a:path h="2371090">
                  <a:moveTo>
                    <a:pt x="0" y="441853"/>
                  </a:moveTo>
                  <a:lnTo>
                    <a:pt x="0" y="441853"/>
                  </a:lnTo>
                  <a:lnTo>
                    <a:pt x="0" y="457154"/>
                  </a:lnTo>
                </a:path>
                <a:path h="2371090">
                  <a:moveTo>
                    <a:pt x="0" y="589707"/>
                  </a:moveTo>
                  <a:lnTo>
                    <a:pt x="0" y="589707"/>
                  </a:lnTo>
                  <a:lnTo>
                    <a:pt x="0" y="603971"/>
                  </a:lnTo>
                </a:path>
                <a:path h="2371090">
                  <a:moveTo>
                    <a:pt x="0" y="736494"/>
                  </a:moveTo>
                  <a:lnTo>
                    <a:pt x="0" y="736494"/>
                  </a:lnTo>
                  <a:lnTo>
                    <a:pt x="0" y="750758"/>
                  </a:lnTo>
                </a:path>
                <a:path h="2371090">
                  <a:moveTo>
                    <a:pt x="0" y="883281"/>
                  </a:moveTo>
                  <a:lnTo>
                    <a:pt x="0" y="883281"/>
                  </a:lnTo>
                  <a:lnTo>
                    <a:pt x="0" y="899038"/>
                  </a:lnTo>
                </a:path>
                <a:path h="2371090">
                  <a:moveTo>
                    <a:pt x="0" y="1031287"/>
                  </a:moveTo>
                  <a:lnTo>
                    <a:pt x="0" y="1031287"/>
                  </a:lnTo>
                  <a:lnTo>
                    <a:pt x="0" y="1045825"/>
                  </a:lnTo>
                </a:path>
                <a:path h="2371090">
                  <a:moveTo>
                    <a:pt x="0" y="1178378"/>
                  </a:moveTo>
                  <a:lnTo>
                    <a:pt x="0" y="1178378"/>
                  </a:lnTo>
                  <a:lnTo>
                    <a:pt x="0" y="1192643"/>
                  </a:lnTo>
                </a:path>
                <a:path h="2371090">
                  <a:moveTo>
                    <a:pt x="0" y="1325165"/>
                  </a:moveTo>
                  <a:lnTo>
                    <a:pt x="0" y="1325165"/>
                  </a:lnTo>
                  <a:lnTo>
                    <a:pt x="0" y="1340466"/>
                  </a:lnTo>
                </a:path>
                <a:path h="2371090">
                  <a:moveTo>
                    <a:pt x="0" y="1472988"/>
                  </a:moveTo>
                  <a:lnTo>
                    <a:pt x="0" y="1472988"/>
                  </a:lnTo>
                  <a:lnTo>
                    <a:pt x="0" y="1487253"/>
                  </a:lnTo>
                </a:path>
                <a:path h="2371090">
                  <a:moveTo>
                    <a:pt x="0" y="1619806"/>
                  </a:moveTo>
                  <a:lnTo>
                    <a:pt x="0" y="1619806"/>
                  </a:lnTo>
                  <a:lnTo>
                    <a:pt x="0" y="1634497"/>
                  </a:lnTo>
                </a:path>
                <a:path h="2371090">
                  <a:moveTo>
                    <a:pt x="0" y="1767019"/>
                  </a:moveTo>
                  <a:lnTo>
                    <a:pt x="0" y="1767019"/>
                  </a:lnTo>
                  <a:lnTo>
                    <a:pt x="0" y="1782320"/>
                  </a:lnTo>
                </a:path>
                <a:path h="2371090">
                  <a:moveTo>
                    <a:pt x="0" y="1914873"/>
                  </a:moveTo>
                  <a:lnTo>
                    <a:pt x="0" y="1914873"/>
                  </a:lnTo>
                  <a:lnTo>
                    <a:pt x="0" y="1929137"/>
                  </a:lnTo>
                </a:path>
                <a:path h="2371090">
                  <a:moveTo>
                    <a:pt x="0" y="2061660"/>
                  </a:moveTo>
                  <a:lnTo>
                    <a:pt x="0" y="2061660"/>
                  </a:lnTo>
                  <a:lnTo>
                    <a:pt x="0" y="2075924"/>
                  </a:lnTo>
                </a:path>
                <a:path h="2371090">
                  <a:moveTo>
                    <a:pt x="0" y="2208477"/>
                  </a:moveTo>
                  <a:lnTo>
                    <a:pt x="0" y="2208477"/>
                  </a:lnTo>
                  <a:lnTo>
                    <a:pt x="0" y="2224204"/>
                  </a:lnTo>
                </a:path>
                <a:path h="2371090">
                  <a:moveTo>
                    <a:pt x="0" y="2356300"/>
                  </a:moveTo>
                  <a:lnTo>
                    <a:pt x="0" y="2356300"/>
                  </a:lnTo>
                  <a:lnTo>
                    <a:pt x="0" y="2370991"/>
                  </a:lnTo>
                </a:path>
              </a:pathLst>
            </a:custGeom>
            <a:ln w="117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06095" y="649894"/>
              <a:ext cx="795655" cy="1855470"/>
            </a:xfrm>
            <a:custGeom>
              <a:avLst/>
              <a:gdLst/>
              <a:ahLst/>
              <a:cxnLst/>
              <a:rect l="l" t="t" r="r" b="b"/>
              <a:pathLst>
                <a:path w="795654" h="1855470">
                  <a:moveTo>
                    <a:pt x="795406" y="0"/>
                  </a:moveTo>
                  <a:lnTo>
                    <a:pt x="0" y="0"/>
                  </a:lnTo>
                  <a:lnTo>
                    <a:pt x="0" y="1855287"/>
                  </a:lnTo>
                  <a:lnTo>
                    <a:pt x="795406" y="1855287"/>
                  </a:lnTo>
                  <a:lnTo>
                    <a:pt x="795406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06094" y="649886"/>
              <a:ext cx="795655" cy="1855470"/>
            </a:xfrm>
            <a:custGeom>
              <a:avLst/>
              <a:gdLst/>
              <a:ahLst/>
              <a:cxnLst/>
              <a:rect l="l" t="t" r="r" b="b"/>
              <a:pathLst>
                <a:path w="795654" h="1855470">
                  <a:moveTo>
                    <a:pt x="795369" y="0"/>
                  </a:moveTo>
                  <a:lnTo>
                    <a:pt x="0" y="0"/>
                  </a:lnTo>
                  <a:lnTo>
                    <a:pt x="0" y="1855286"/>
                  </a:lnTo>
                  <a:lnTo>
                    <a:pt x="795369" y="1855286"/>
                  </a:lnTo>
                  <a:lnTo>
                    <a:pt x="795369" y="0"/>
                  </a:lnTo>
                  <a:close/>
                </a:path>
              </a:pathLst>
            </a:custGeom>
            <a:ln w="15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89422" y="809047"/>
              <a:ext cx="0" cy="1487805"/>
            </a:xfrm>
            <a:custGeom>
              <a:avLst/>
              <a:gdLst/>
              <a:ahLst/>
              <a:cxnLst/>
              <a:rect l="l" t="t" r="r" b="b"/>
              <a:pathLst>
                <a:path h="1487805">
                  <a:moveTo>
                    <a:pt x="0" y="0"/>
                  </a:moveTo>
                  <a:lnTo>
                    <a:pt x="0" y="0"/>
                  </a:lnTo>
                  <a:lnTo>
                    <a:pt x="0" y="15300"/>
                  </a:lnTo>
                </a:path>
                <a:path h="1487805">
                  <a:moveTo>
                    <a:pt x="0" y="147975"/>
                  </a:moveTo>
                  <a:lnTo>
                    <a:pt x="0" y="147975"/>
                  </a:lnTo>
                  <a:lnTo>
                    <a:pt x="0" y="162087"/>
                  </a:lnTo>
                </a:path>
                <a:path h="1487805">
                  <a:moveTo>
                    <a:pt x="0" y="294609"/>
                  </a:moveTo>
                  <a:lnTo>
                    <a:pt x="0" y="294609"/>
                  </a:lnTo>
                  <a:lnTo>
                    <a:pt x="0" y="309331"/>
                  </a:lnTo>
                </a:path>
                <a:path h="1487805">
                  <a:moveTo>
                    <a:pt x="0" y="441853"/>
                  </a:moveTo>
                  <a:lnTo>
                    <a:pt x="0" y="441853"/>
                  </a:lnTo>
                  <a:lnTo>
                    <a:pt x="0" y="457154"/>
                  </a:lnTo>
                </a:path>
                <a:path h="1487805">
                  <a:moveTo>
                    <a:pt x="0" y="589707"/>
                  </a:moveTo>
                  <a:lnTo>
                    <a:pt x="0" y="589707"/>
                  </a:lnTo>
                  <a:lnTo>
                    <a:pt x="0" y="603971"/>
                  </a:lnTo>
                </a:path>
                <a:path h="1487805">
                  <a:moveTo>
                    <a:pt x="0" y="736494"/>
                  </a:moveTo>
                  <a:lnTo>
                    <a:pt x="0" y="736494"/>
                  </a:lnTo>
                  <a:lnTo>
                    <a:pt x="0" y="750758"/>
                  </a:lnTo>
                </a:path>
                <a:path h="1487805">
                  <a:moveTo>
                    <a:pt x="0" y="883281"/>
                  </a:moveTo>
                  <a:lnTo>
                    <a:pt x="0" y="883281"/>
                  </a:lnTo>
                  <a:lnTo>
                    <a:pt x="0" y="899038"/>
                  </a:lnTo>
                </a:path>
                <a:path h="1487805">
                  <a:moveTo>
                    <a:pt x="0" y="1031287"/>
                  </a:moveTo>
                  <a:lnTo>
                    <a:pt x="0" y="1031287"/>
                  </a:lnTo>
                  <a:lnTo>
                    <a:pt x="0" y="1045825"/>
                  </a:lnTo>
                </a:path>
                <a:path h="1487805">
                  <a:moveTo>
                    <a:pt x="0" y="1178378"/>
                  </a:moveTo>
                  <a:lnTo>
                    <a:pt x="0" y="1178378"/>
                  </a:lnTo>
                  <a:lnTo>
                    <a:pt x="0" y="1192643"/>
                  </a:lnTo>
                </a:path>
                <a:path h="1487805">
                  <a:moveTo>
                    <a:pt x="0" y="1325165"/>
                  </a:moveTo>
                  <a:lnTo>
                    <a:pt x="0" y="1325165"/>
                  </a:lnTo>
                  <a:lnTo>
                    <a:pt x="0" y="1340466"/>
                  </a:lnTo>
                </a:path>
                <a:path h="1487805">
                  <a:moveTo>
                    <a:pt x="0" y="1472988"/>
                  </a:moveTo>
                  <a:lnTo>
                    <a:pt x="0" y="1472988"/>
                  </a:lnTo>
                  <a:lnTo>
                    <a:pt x="0" y="1487253"/>
                  </a:lnTo>
                </a:path>
              </a:pathLst>
            </a:custGeom>
            <a:ln w="117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27321" y="3035472"/>
              <a:ext cx="795655" cy="1855470"/>
            </a:xfrm>
            <a:custGeom>
              <a:avLst/>
              <a:gdLst/>
              <a:ahLst/>
              <a:cxnLst/>
              <a:rect l="l" t="t" r="r" b="b"/>
              <a:pathLst>
                <a:path w="795654" h="1855470">
                  <a:moveTo>
                    <a:pt x="795406" y="0"/>
                  </a:moveTo>
                  <a:lnTo>
                    <a:pt x="0" y="0"/>
                  </a:lnTo>
                  <a:lnTo>
                    <a:pt x="0" y="1854842"/>
                  </a:lnTo>
                  <a:lnTo>
                    <a:pt x="795406" y="1854842"/>
                  </a:lnTo>
                  <a:lnTo>
                    <a:pt x="795406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27321" y="3035446"/>
              <a:ext cx="795655" cy="1855470"/>
            </a:xfrm>
            <a:custGeom>
              <a:avLst/>
              <a:gdLst/>
              <a:ahLst/>
              <a:cxnLst/>
              <a:rect l="l" t="t" r="r" b="b"/>
              <a:pathLst>
                <a:path w="795654" h="1855470">
                  <a:moveTo>
                    <a:pt x="795369" y="0"/>
                  </a:moveTo>
                  <a:lnTo>
                    <a:pt x="0" y="0"/>
                  </a:lnTo>
                  <a:lnTo>
                    <a:pt x="0" y="1854866"/>
                  </a:lnTo>
                  <a:lnTo>
                    <a:pt x="795369" y="1854866"/>
                  </a:lnTo>
                  <a:lnTo>
                    <a:pt x="795369" y="0"/>
                  </a:lnTo>
                  <a:close/>
                </a:path>
              </a:pathLst>
            </a:custGeom>
            <a:ln w="15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10375" y="3194181"/>
              <a:ext cx="0" cy="1487805"/>
            </a:xfrm>
            <a:custGeom>
              <a:avLst/>
              <a:gdLst/>
              <a:ahLst/>
              <a:cxnLst/>
              <a:rect l="l" t="t" r="r" b="b"/>
              <a:pathLst>
                <a:path h="1487804">
                  <a:moveTo>
                    <a:pt x="0" y="0"/>
                  </a:moveTo>
                  <a:lnTo>
                    <a:pt x="0" y="0"/>
                  </a:lnTo>
                  <a:lnTo>
                    <a:pt x="0" y="15422"/>
                  </a:lnTo>
                </a:path>
                <a:path h="1487804">
                  <a:moveTo>
                    <a:pt x="0" y="147975"/>
                  </a:moveTo>
                  <a:lnTo>
                    <a:pt x="0" y="147975"/>
                  </a:lnTo>
                  <a:lnTo>
                    <a:pt x="0" y="162544"/>
                  </a:lnTo>
                </a:path>
                <a:path h="1487804">
                  <a:moveTo>
                    <a:pt x="0" y="294762"/>
                  </a:moveTo>
                  <a:lnTo>
                    <a:pt x="0" y="294762"/>
                  </a:lnTo>
                  <a:lnTo>
                    <a:pt x="0" y="309331"/>
                  </a:lnTo>
                </a:path>
                <a:path h="1487804">
                  <a:moveTo>
                    <a:pt x="0" y="441853"/>
                  </a:moveTo>
                  <a:lnTo>
                    <a:pt x="0" y="441853"/>
                  </a:lnTo>
                  <a:lnTo>
                    <a:pt x="0" y="457306"/>
                  </a:lnTo>
                </a:path>
                <a:path h="1487804">
                  <a:moveTo>
                    <a:pt x="0" y="589829"/>
                  </a:moveTo>
                  <a:lnTo>
                    <a:pt x="0" y="589829"/>
                  </a:lnTo>
                  <a:lnTo>
                    <a:pt x="0" y="603971"/>
                  </a:lnTo>
                </a:path>
                <a:path h="1487804">
                  <a:moveTo>
                    <a:pt x="0" y="736643"/>
                  </a:moveTo>
                  <a:lnTo>
                    <a:pt x="0" y="736643"/>
                  </a:lnTo>
                  <a:lnTo>
                    <a:pt x="0" y="750764"/>
                  </a:lnTo>
                </a:path>
                <a:path h="1487804">
                  <a:moveTo>
                    <a:pt x="0" y="883433"/>
                  </a:moveTo>
                  <a:lnTo>
                    <a:pt x="0" y="883433"/>
                  </a:lnTo>
                  <a:lnTo>
                    <a:pt x="0" y="899032"/>
                  </a:lnTo>
                </a:path>
                <a:path h="1487804">
                  <a:moveTo>
                    <a:pt x="0" y="1031561"/>
                  </a:moveTo>
                  <a:lnTo>
                    <a:pt x="0" y="1031561"/>
                  </a:lnTo>
                  <a:lnTo>
                    <a:pt x="0" y="1045822"/>
                  </a:lnTo>
                </a:path>
                <a:path h="1487804">
                  <a:moveTo>
                    <a:pt x="0" y="1178363"/>
                  </a:moveTo>
                  <a:lnTo>
                    <a:pt x="0" y="1178363"/>
                  </a:lnTo>
                  <a:lnTo>
                    <a:pt x="0" y="1192627"/>
                  </a:lnTo>
                </a:path>
                <a:path h="1487804">
                  <a:moveTo>
                    <a:pt x="0" y="1325156"/>
                  </a:moveTo>
                  <a:lnTo>
                    <a:pt x="0" y="1325156"/>
                  </a:lnTo>
                  <a:lnTo>
                    <a:pt x="0" y="1340612"/>
                  </a:lnTo>
                </a:path>
                <a:path h="1487804">
                  <a:moveTo>
                    <a:pt x="0" y="1473138"/>
                  </a:moveTo>
                  <a:lnTo>
                    <a:pt x="0" y="1473138"/>
                  </a:lnTo>
                  <a:lnTo>
                    <a:pt x="0" y="1487701"/>
                  </a:lnTo>
                </a:path>
              </a:pathLst>
            </a:custGeom>
            <a:ln w="117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1277" y="852144"/>
              <a:ext cx="1938020" cy="1440180"/>
            </a:xfrm>
            <a:custGeom>
              <a:avLst/>
              <a:gdLst/>
              <a:ahLst/>
              <a:cxnLst/>
              <a:rect l="l" t="t" r="r" b="b"/>
              <a:pathLst>
                <a:path w="1938020" h="1440180">
                  <a:moveTo>
                    <a:pt x="0" y="1439766"/>
                  </a:moveTo>
                  <a:lnTo>
                    <a:pt x="0" y="1439766"/>
                  </a:lnTo>
                  <a:lnTo>
                    <a:pt x="1937921" y="0"/>
                  </a:lnTo>
                </a:path>
              </a:pathLst>
            </a:custGeom>
            <a:ln w="14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 rot="19440000">
            <a:off x="1887114" y="1404912"/>
            <a:ext cx="45266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b="1" i="1" dirty="0">
                <a:latin typeface="Times New Roman"/>
                <a:cs typeface="Times New Roman"/>
              </a:rPr>
              <a:t>t</a:t>
            </a:r>
            <a:r>
              <a:rPr sz="1400" b="1" i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=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35" dirty="0">
                <a:latin typeface="Times New Roman"/>
                <a:cs typeface="Times New Roman"/>
              </a:rPr>
              <a:t>1</a:t>
            </a:r>
            <a:r>
              <a:rPr sz="2100" b="1" spc="-52" baseline="1984" dirty="0">
                <a:latin typeface="Times New Roman"/>
                <a:cs typeface="Times New Roman"/>
              </a:rPr>
              <a:t>0</a:t>
            </a:r>
            <a:endParaRPr sz="2100" baseline="1984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48017" y="821100"/>
            <a:ext cx="1961514" cy="2410460"/>
            <a:chOff x="1248017" y="821100"/>
            <a:chExt cx="1961514" cy="2410460"/>
          </a:xfrm>
        </p:grpSpPr>
        <p:sp>
          <p:nvSpPr>
            <p:cNvPr id="25" name="object 25"/>
            <p:cNvSpPr/>
            <p:nvPr/>
          </p:nvSpPr>
          <p:spPr>
            <a:xfrm>
              <a:off x="3100516" y="821100"/>
              <a:ext cx="81915" cy="72390"/>
            </a:xfrm>
            <a:custGeom>
              <a:avLst/>
              <a:gdLst/>
              <a:ahLst/>
              <a:cxnLst/>
              <a:rect l="l" t="t" r="r" b="b"/>
              <a:pathLst>
                <a:path w="81914" h="72390">
                  <a:moveTo>
                    <a:pt x="81808" y="0"/>
                  </a:moveTo>
                  <a:lnTo>
                    <a:pt x="0" y="18989"/>
                  </a:lnTo>
                  <a:lnTo>
                    <a:pt x="30754" y="37673"/>
                  </a:lnTo>
                  <a:lnTo>
                    <a:pt x="38709" y="71932"/>
                  </a:lnTo>
                  <a:lnTo>
                    <a:pt x="818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55319" y="2360580"/>
              <a:ext cx="1946910" cy="863600"/>
            </a:xfrm>
            <a:custGeom>
              <a:avLst/>
              <a:gdLst/>
              <a:ahLst/>
              <a:cxnLst/>
              <a:rect l="l" t="t" r="r" b="b"/>
              <a:pathLst>
                <a:path w="1946910" h="863600">
                  <a:moveTo>
                    <a:pt x="0" y="0"/>
                  </a:moveTo>
                  <a:lnTo>
                    <a:pt x="0" y="0"/>
                  </a:lnTo>
                  <a:lnTo>
                    <a:pt x="1946700" y="863591"/>
                  </a:lnTo>
                </a:path>
              </a:pathLst>
            </a:custGeom>
            <a:ln w="14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206770" y="830273"/>
            <a:ext cx="4081145" cy="1571625"/>
            <a:chOff x="1206770" y="830273"/>
            <a:chExt cx="4081145" cy="1571625"/>
          </a:xfrm>
        </p:grpSpPr>
        <p:sp>
          <p:nvSpPr>
            <p:cNvPr id="29" name="object 29"/>
            <p:cNvSpPr/>
            <p:nvPr/>
          </p:nvSpPr>
          <p:spPr>
            <a:xfrm>
              <a:off x="1206770" y="2339401"/>
              <a:ext cx="85090" cy="62230"/>
            </a:xfrm>
            <a:custGeom>
              <a:avLst/>
              <a:gdLst/>
              <a:ahLst/>
              <a:cxnLst/>
              <a:rect l="l" t="t" r="r" b="b"/>
              <a:pathLst>
                <a:path w="85090" h="62230">
                  <a:moveTo>
                    <a:pt x="0" y="0"/>
                  </a:moveTo>
                  <a:lnTo>
                    <a:pt x="58780" y="62087"/>
                  </a:lnTo>
                  <a:lnTo>
                    <a:pt x="58780" y="25603"/>
                  </a:lnTo>
                  <a:lnTo>
                    <a:pt x="85081" y="2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25864" y="837575"/>
              <a:ext cx="1954530" cy="1181735"/>
            </a:xfrm>
            <a:custGeom>
              <a:avLst/>
              <a:gdLst/>
              <a:ahLst/>
              <a:cxnLst/>
              <a:rect l="l" t="t" r="r" b="b"/>
              <a:pathLst>
                <a:path w="1954529" h="1181735">
                  <a:moveTo>
                    <a:pt x="0" y="1181609"/>
                  </a:moveTo>
                  <a:lnTo>
                    <a:pt x="0" y="1181609"/>
                  </a:lnTo>
                  <a:lnTo>
                    <a:pt x="1954131" y="0"/>
                  </a:lnTo>
                </a:path>
              </a:pathLst>
            </a:custGeom>
            <a:ln w="14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208680" y="672561"/>
            <a:ext cx="35115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dirty="0">
                <a:latin typeface="Times New Roman"/>
                <a:cs typeface="Times New Roman"/>
              </a:rPr>
              <a:t>t</a:t>
            </a:r>
            <a:r>
              <a:rPr sz="1400" b="1" i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=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 rot="19740000">
            <a:off x="4027642" y="1255391"/>
            <a:ext cx="4510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1350" b="1" i="1" dirty="0">
                <a:latin typeface="Times New Roman"/>
                <a:cs typeface="Times New Roman"/>
              </a:rPr>
              <a:t>t</a:t>
            </a:r>
            <a:r>
              <a:rPr sz="1350" b="1" i="1" spc="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=</a:t>
            </a:r>
            <a:r>
              <a:rPr sz="1350" b="1" spc="20" dirty="0">
                <a:latin typeface="Times New Roman"/>
                <a:cs typeface="Times New Roman"/>
              </a:rPr>
              <a:t> </a:t>
            </a:r>
            <a:r>
              <a:rPr sz="1350" b="1" spc="-35" dirty="0">
                <a:latin typeface="Times New Roman"/>
                <a:cs typeface="Times New Roman"/>
              </a:rPr>
              <a:t>1</a:t>
            </a:r>
            <a:r>
              <a:rPr sz="1400" b="1" spc="-35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389033" y="811255"/>
            <a:ext cx="1946275" cy="1536700"/>
            <a:chOff x="3389033" y="811255"/>
            <a:chExt cx="1946275" cy="1536700"/>
          </a:xfrm>
        </p:grpSpPr>
        <p:sp>
          <p:nvSpPr>
            <p:cNvPr id="33" name="object 33"/>
            <p:cNvSpPr/>
            <p:nvPr/>
          </p:nvSpPr>
          <p:spPr>
            <a:xfrm>
              <a:off x="5242651" y="811255"/>
              <a:ext cx="83185" cy="67310"/>
            </a:xfrm>
            <a:custGeom>
              <a:avLst/>
              <a:gdLst/>
              <a:ahLst/>
              <a:cxnLst/>
              <a:rect l="l" t="t" r="r" b="b"/>
              <a:pathLst>
                <a:path w="83185" h="67309">
                  <a:moveTo>
                    <a:pt x="82966" y="0"/>
                  </a:moveTo>
                  <a:lnTo>
                    <a:pt x="0" y="10881"/>
                  </a:lnTo>
                  <a:lnTo>
                    <a:pt x="28529" y="32064"/>
                  </a:lnTo>
                  <a:lnTo>
                    <a:pt x="32948" y="67208"/>
                  </a:lnTo>
                  <a:lnTo>
                    <a:pt x="829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96335" y="2049207"/>
              <a:ext cx="1931670" cy="291465"/>
            </a:xfrm>
            <a:custGeom>
              <a:avLst/>
              <a:gdLst/>
              <a:ahLst/>
              <a:cxnLst/>
              <a:rect l="l" t="t" r="r" b="b"/>
              <a:pathLst>
                <a:path w="1931670" h="291464">
                  <a:moveTo>
                    <a:pt x="0" y="0"/>
                  </a:moveTo>
                  <a:lnTo>
                    <a:pt x="0" y="0"/>
                  </a:lnTo>
                  <a:lnTo>
                    <a:pt x="1931453" y="291379"/>
                  </a:lnTo>
                </a:path>
              </a:pathLst>
            </a:custGeom>
            <a:ln w="14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 rot="480000">
            <a:off x="4150114" y="2011228"/>
            <a:ext cx="451589" cy="175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2025" b="1" i="1" baseline="2057" dirty="0">
                <a:latin typeface="Times New Roman"/>
                <a:cs typeface="Times New Roman"/>
              </a:rPr>
              <a:t>t</a:t>
            </a:r>
            <a:r>
              <a:rPr sz="2025" b="1" i="1" spc="-7" baseline="2057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=</a:t>
            </a:r>
            <a:r>
              <a:rPr sz="1350" b="1" spc="10" dirty="0">
                <a:latin typeface="Times New Roman"/>
                <a:cs typeface="Times New Roman"/>
              </a:rPr>
              <a:t> </a:t>
            </a:r>
            <a:r>
              <a:rPr sz="1350" b="1" spc="-25" dirty="0">
                <a:latin typeface="Times New Roman"/>
                <a:cs typeface="Times New Roman"/>
              </a:rPr>
              <a:t>25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 rot="1380000">
            <a:off x="2044328" y="2617552"/>
            <a:ext cx="453344" cy="175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2025" b="1" i="1" baseline="2057" dirty="0">
                <a:latin typeface="Times New Roman"/>
                <a:cs typeface="Times New Roman"/>
              </a:rPr>
              <a:t>t</a:t>
            </a:r>
            <a:r>
              <a:rPr sz="2025" b="1" i="1" spc="-15" baseline="2057" dirty="0">
                <a:latin typeface="Times New Roman"/>
                <a:cs typeface="Times New Roman"/>
              </a:rPr>
              <a:t> </a:t>
            </a:r>
            <a:r>
              <a:rPr sz="2025" b="1" baseline="2057" dirty="0">
                <a:latin typeface="Times New Roman"/>
                <a:cs typeface="Times New Roman"/>
              </a:rPr>
              <a:t>=</a:t>
            </a:r>
            <a:r>
              <a:rPr sz="2025" b="1" spc="7" baseline="2057" dirty="0">
                <a:latin typeface="Times New Roman"/>
                <a:cs typeface="Times New Roman"/>
              </a:rPr>
              <a:t> </a:t>
            </a:r>
            <a:r>
              <a:rPr sz="1350" b="1" spc="-25" dirty="0">
                <a:latin typeface="Times New Roman"/>
                <a:cs typeface="Times New Roman"/>
              </a:rPr>
              <a:t>40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331668" y="2020214"/>
            <a:ext cx="4049395" cy="1183005"/>
            <a:chOff x="3331668" y="2020214"/>
            <a:chExt cx="4049395" cy="1183005"/>
          </a:xfrm>
        </p:grpSpPr>
        <p:sp>
          <p:nvSpPr>
            <p:cNvPr id="37" name="object 37"/>
            <p:cNvSpPr/>
            <p:nvPr/>
          </p:nvSpPr>
          <p:spPr>
            <a:xfrm>
              <a:off x="3343381" y="2020214"/>
              <a:ext cx="81915" cy="66040"/>
            </a:xfrm>
            <a:custGeom>
              <a:avLst/>
              <a:gdLst/>
              <a:ahLst/>
              <a:cxnLst/>
              <a:rect l="l" t="t" r="r" b="b"/>
              <a:pathLst>
                <a:path w="81914" h="66039">
                  <a:moveTo>
                    <a:pt x="81808" y="0"/>
                  </a:moveTo>
                  <a:lnTo>
                    <a:pt x="0" y="21183"/>
                  </a:lnTo>
                  <a:lnTo>
                    <a:pt x="73121" y="65471"/>
                  </a:lnTo>
                  <a:lnTo>
                    <a:pt x="63245" y="31028"/>
                  </a:lnTo>
                  <a:lnTo>
                    <a:pt x="818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38970" y="2081271"/>
              <a:ext cx="4034790" cy="1114425"/>
            </a:xfrm>
            <a:custGeom>
              <a:avLst/>
              <a:gdLst/>
              <a:ahLst/>
              <a:cxnLst/>
              <a:rect l="l" t="t" r="r" b="b"/>
              <a:pathLst>
                <a:path w="4034790" h="1114425">
                  <a:moveTo>
                    <a:pt x="0" y="0"/>
                  </a:moveTo>
                  <a:lnTo>
                    <a:pt x="0" y="0"/>
                  </a:lnTo>
                  <a:lnTo>
                    <a:pt x="4034453" y="1114068"/>
                  </a:lnTo>
                </a:path>
              </a:pathLst>
            </a:custGeom>
            <a:ln w="14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 rot="900000">
            <a:off x="5552879" y="2555126"/>
            <a:ext cx="372446" cy="175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1350" b="1" i="1" dirty="0">
                <a:latin typeface="Times New Roman"/>
                <a:cs typeface="Times New Roman"/>
              </a:rPr>
              <a:t>t </a:t>
            </a:r>
            <a:r>
              <a:rPr sz="1350" b="1" dirty="0">
                <a:latin typeface="Times New Roman"/>
                <a:cs typeface="Times New Roman"/>
              </a:rPr>
              <a:t>=</a:t>
            </a:r>
            <a:r>
              <a:rPr sz="1350" b="1" spc="20" dirty="0">
                <a:latin typeface="Times New Roman"/>
                <a:cs typeface="Times New Roman"/>
              </a:rPr>
              <a:t> </a:t>
            </a:r>
            <a:r>
              <a:rPr sz="1350" b="1" spc="-50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 rot="900000">
            <a:off x="5840409" y="2609587"/>
            <a:ext cx="197371" cy="175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1350" b="1" spc="-50" dirty="0">
                <a:latin typeface="Times New Roman"/>
                <a:cs typeface="Times New Roman"/>
              </a:rPr>
              <a:t>5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380346" y="2142210"/>
            <a:ext cx="4065904" cy="2602230"/>
            <a:chOff x="3380346" y="2142210"/>
            <a:chExt cx="4065904" cy="2602230"/>
          </a:xfrm>
        </p:grpSpPr>
        <p:sp>
          <p:nvSpPr>
            <p:cNvPr id="42" name="object 42"/>
            <p:cNvSpPr/>
            <p:nvPr/>
          </p:nvSpPr>
          <p:spPr>
            <a:xfrm>
              <a:off x="7340620" y="3156661"/>
              <a:ext cx="84455" cy="64769"/>
            </a:xfrm>
            <a:custGeom>
              <a:avLst/>
              <a:gdLst/>
              <a:ahLst/>
              <a:cxnLst/>
              <a:rect l="l" t="t" r="r" b="b"/>
              <a:pathLst>
                <a:path w="84454" h="64769">
                  <a:moveTo>
                    <a:pt x="17525" y="0"/>
                  </a:moveTo>
                  <a:lnTo>
                    <a:pt x="21945" y="35448"/>
                  </a:lnTo>
                  <a:lnTo>
                    <a:pt x="0" y="64282"/>
                  </a:lnTo>
                  <a:lnTo>
                    <a:pt x="84002" y="51785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7648" y="2149513"/>
              <a:ext cx="4051300" cy="2587625"/>
            </a:xfrm>
            <a:custGeom>
              <a:avLst/>
              <a:gdLst/>
              <a:ahLst/>
              <a:cxnLst/>
              <a:rect l="l" t="t" r="r" b="b"/>
              <a:pathLst>
                <a:path w="4051300" h="2587625">
                  <a:moveTo>
                    <a:pt x="0" y="0"/>
                  </a:moveTo>
                  <a:lnTo>
                    <a:pt x="0" y="0"/>
                  </a:lnTo>
                  <a:lnTo>
                    <a:pt x="4051218" y="2587529"/>
                  </a:lnTo>
                </a:path>
              </a:pathLst>
            </a:custGeom>
            <a:ln w="14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3343381" y="2121133"/>
            <a:ext cx="83185" cy="69850"/>
          </a:xfrm>
          <a:custGeom>
            <a:avLst/>
            <a:gdLst/>
            <a:ahLst/>
            <a:cxnLst/>
            <a:rect l="l" t="t" r="r" b="b"/>
            <a:pathLst>
              <a:path w="83185" h="69850">
                <a:moveTo>
                  <a:pt x="0" y="0"/>
                </a:moveTo>
                <a:lnTo>
                  <a:pt x="47518" y="69281"/>
                </a:lnTo>
                <a:lnTo>
                  <a:pt x="52974" y="33832"/>
                </a:lnTo>
                <a:lnTo>
                  <a:pt x="82966" y="1411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796168" y="2564897"/>
            <a:ext cx="360045" cy="2616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100" spc="-25" dirty="0">
                <a:latin typeface="Times New Roman"/>
                <a:cs typeface="Times New Roman"/>
              </a:rPr>
              <a:t>20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 rot="1920000">
            <a:off x="5407883" y="3379406"/>
            <a:ext cx="45325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400" b="1" i="1" dirty="0">
                <a:latin typeface="Times New Roman"/>
                <a:cs typeface="Times New Roman"/>
              </a:rPr>
              <a:t>t</a:t>
            </a:r>
            <a:r>
              <a:rPr sz="1400" b="1" i="1" spc="-20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=</a:t>
            </a:r>
            <a:r>
              <a:rPr sz="1350" b="1" spc="-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35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701" y="5972031"/>
            <a:ext cx="129921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b="1" dirty="0">
                <a:latin typeface="Times New Roman"/>
                <a:cs typeface="Times New Roman"/>
              </a:rPr>
              <a:t>Figure</a:t>
            </a:r>
            <a:r>
              <a:rPr sz="2050" b="1" spc="10" dirty="0">
                <a:latin typeface="Times New Roman"/>
                <a:cs typeface="Times New Roman"/>
              </a:rPr>
              <a:t> </a:t>
            </a:r>
            <a:r>
              <a:rPr sz="2050" b="1" spc="-20" dirty="0">
                <a:latin typeface="Times New Roman"/>
                <a:cs typeface="Times New Roman"/>
              </a:rPr>
              <a:t>3.14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83543" y="5972031"/>
            <a:ext cx="535051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b="1" dirty="0">
                <a:latin typeface="Times New Roman"/>
                <a:cs typeface="Times New Roman"/>
              </a:rPr>
              <a:t>Example</a:t>
            </a:r>
            <a:r>
              <a:rPr sz="2050" b="1" spc="35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Time</a:t>
            </a:r>
            <a:r>
              <a:rPr sz="2050" b="1" spc="3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Sequence</a:t>
            </a:r>
            <a:r>
              <a:rPr sz="2050" b="1" spc="25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of</a:t>
            </a:r>
            <a:r>
              <a:rPr sz="2050" b="1" spc="3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Multiple</a:t>
            </a:r>
            <a:r>
              <a:rPr sz="2050" b="1" spc="25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Interrupts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3465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76" y="432816"/>
            <a:ext cx="3232404" cy="101193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7711" y="551124"/>
            <a:ext cx="3239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79120" algn="l"/>
              </a:tabLst>
            </a:pPr>
            <a:r>
              <a:rPr sz="5400" b="1" spc="-75" baseline="42438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baseline="42438" dirty="0">
                <a:solidFill>
                  <a:srgbClr val="B86FB8"/>
                </a:solidFill>
                <a:latin typeface="Times New Roman"/>
                <a:cs typeface="Times New Roman"/>
              </a:rPr>
              <a:t>	</a:t>
            </a:r>
            <a:r>
              <a:rPr sz="3600" dirty="0"/>
              <a:t>I/O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10" dirty="0"/>
              <a:t>Function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6298" y="1509144"/>
            <a:ext cx="7269480" cy="4605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module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exchange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directly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read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write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module</a:t>
            </a:r>
            <a:endParaRPr sz="20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61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identifies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specific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device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controlled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endParaRPr sz="1800">
              <a:latin typeface="Rockwell"/>
              <a:cs typeface="Rockwell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particular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module</a:t>
            </a:r>
            <a:endParaRPr sz="18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instructions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rather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than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referencing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instructions</a:t>
            </a:r>
            <a:endParaRPr sz="1800">
              <a:latin typeface="Rockwell"/>
              <a:cs typeface="Rockwell"/>
            </a:endParaRPr>
          </a:p>
          <a:p>
            <a:pPr marL="241300" marR="5080" indent="-228600">
              <a:lnSpc>
                <a:spcPct val="100000"/>
              </a:lnSpc>
              <a:spcBef>
                <a:spcPts val="198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some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cases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desirable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allow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exchanges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occur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directly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2000">
              <a:latin typeface="Rockwell"/>
              <a:cs typeface="Rockwell"/>
            </a:endParaRPr>
          </a:p>
          <a:p>
            <a:pPr marL="469900" marR="14604" lvl="1" indent="-229235">
              <a:lnSpc>
                <a:spcPct val="100000"/>
              </a:lnSpc>
              <a:spcBef>
                <a:spcPts val="61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grants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module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authority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read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write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so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transfer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occur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without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tying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up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endParaRPr sz="18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module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issues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read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write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commands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800">
              <a:latin typeface="Rockwell"/>
              <a:cs typeface="Rockwell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relieving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responsibility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exchange</a:t>
            </a:r>
            <a:endParaRPr sz="18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operation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known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direct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(DMA)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228600"/>
            <a:ext cx="228599" cy="662939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005406" y="212195"/>
            <a:ext cx="31305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20" dirty="0">
                <a:latin typeface="Times New Roman"/>
                <a:cs typeface="Times New Roman"/>
              </a:rPr>
              <a:t>Read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88598" y="510910"/>
            <a:ext cx="34671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" dirty="0">
                <a:latin typeface="Times New Roman"/>
                <a:cs typeface="Times New Roman"/>
              </a:rPr>
              <a:t>Write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793498" y="660257"/>
            <a:ext cx="817880" cy="90805"/>
            <a:chOff x="2793498" y="660257"/>
            <a:chExt cx="817880" cy="90805"/>
          </a:xfrm>
        </p:grpSpPr>
        <p:sp>
          <p:nvSpPr>
            <p:cNvPr id="17" name="object 17"/>
            <p:cNvSpPr/>
            <p:nvPr/>
          </p:nvSpPr>
          <p:spPr>
            <a:xfrm>
              <a:off x="2802705" y="705650"/>
              <a:ext cx="730250" cy="0"/>
            </a:xfrm>
            <a:custGeom>
              <a:avLst/>
              <a:gdLst/>
              <a:ahLst/>
              <a:cxnLst/>
              <a:rect l="l" t="t" r="r" b="b"/>
              <a:pathLst>
                <a:path w="730250">
                  <a:moveTo>
                    <a:pt x="0" y="0"/>
                  </a:moveTo>
                  <a:lnTo>
                    <a:pt x="0" y="0"/>
                  </a:lnTo>
                  <a:lnTo>
                    <a:pt x="729671" y="0"/>
                  </a:lnTo>
                </a:path>
              </a:pathLst>
            </a:custGeom>
            <a:ln w="18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00353" y="660257"/>
              <a:ext cx="111125" cy="90805"/>
            </a:xfrm>
            <a:custGeom>
              <a:avLst/>
              <a:gdLst/>
              <a:ahLst/>
              <a:cxnLst/>
              <a:rect l="l" t="t" r="r" b="b"/>
              <a:pathLst>
                <a:path w="111125" h="90804">
                  <a:moveTo>
                    <a:pt x="0" y="0"/>
                  </a:moveTo>
                  <a:lnTo>
                    <a:pt x="25786" y="45384"/>
                  </a:lnTo>
                  <a:lnTo>
                    <a:pt x="0" y="90769"/>
                  </a:lnTo>
                  <a:lnTo>
                    <a:pt x="110794" y="45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2811682" y="899404"/>
            <a:ext cx="803275" cy="200660"/>
          </a:xfrm>
          <a:custGeom>
            <a:avLst/>
            <a:gdLst/>
            <a:ahLst/>
            <a:cxnLst/>
            <a:rect l="l" t="t" r="r" b="b"/>
            <a:pathLst>
              <a:path w="803275" h="200659">
                <a:moveTo>
                  <a:pt x="0" y="0"/>
                </a:moveTo>
                <a:lnTo>
                  <a:pt x="669273" y="0"/>
                </a:lnTo>
                <a:lnTo>
                  <a:pt x="802933" y="100123"/>
                </a:lnTo>
                <a:lnTo>
                  <a:pt x="669273" y="200642"/>
                </a:lnTo>
                <a:lnTo>
                  <a:pt x="0" y="200642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23174" y="901221"/>
            <a:ext cx="47815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" dirty="0">
                <a:latin typeface="Times New Roman"/>
                <a:cs typeface="Times New Roman"/>
              </a:rPr>
              <a:t>Address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5994" y="251399"/>
            <a:ext cx="1171575" cy="1337945"/>
          </a:xfrm>
          <a:custGeom>
            <a:avLst/>
            <a:gdLst/>
            <a:ahLst/>
            <a:cxnLst/>
            <a:rect l="l" t="t" r="r" b="b"/>
            <a:pathLst>
              <a:path w="1171575" h="1337945">
                <a:moveTo>
                  <a:pt x="1171011" y="0"/>
                </a:moveTo>
                <a:lnTo>
                  <a:pt x="0" y="0"/>
                </a:lnTo>
                <a:lnTo>
                  <a:pt x="0" y="1337706"/>
                </a:lnTo>
                <a:lnTo>
                  <a:pt x="1171011" y="1337706"/>
                </a:lnTo>
                <a:lnTo>
                  <a:pt x="117101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15987" y="251392"/>
            <a:ext cx="1171575" cy="1337945"/>
          </a:xfrm>
          <a:prstGeom prst="rect">
            <a:avLst/>
          </a:prstGeom>
          <a:ln w="1819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38735" algn="ctr">
              <a:lnSpc>
                <a:spcPts val="1545"/>
              </a:lnSpc>
            </a:pPr>
            <a:r>
              <a:rPr sz="1300" b="1" spc="-10" dirty="0">
                <a:latin typeface="Times New Roman"/>
                <a:cs typeface="Times New Roman"/>
              </a:rPr>
              <a:t>Memory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300">
              <a:latin typeface="Times New Roman"/>
              <a:cs typeface="Times New Roman"/>
            </a:endParaRPr>
          </a:p>
          <a:p>
            <a:pPr marR="20320" algn="ctr">
              <a:lnSpc>
                <a:spcPct val="100000"/>
              </a:lnSpc>
            </a:pPr>
            <a:r>
              <a:rPr sz="1000" b="1" i="1" dirty="0">
                <a:latin typeface="Times New Roman"/>
                <a:cs typeface="Times New Roman"/>
              </a:rPr>
              <a:t>N</a:t>
            </a:r>
            <a:r>
              <a:rPr sz="1000" b="1" i="1" spc="-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Words</a:t>
            </a:r>
            <a:endParaRPr sz="1000">
              <a:latin typeface="Times New Roman"/>
              <a:cs typeface="Times New Roman"/>
            </a:endParaRPr>
          </a:p>
          <a:p>
            <a:pPr marR="65405" algn="ctr">
              <a:lnSpc>
                <a:spcPct val="100000"/>
              </a:lnSpc>
              <a:spcBef>
                <a:spcPts val="240"/>
              </a:spcBef>
            </a:pPr>
            <a:r>
              <a:rPr sz="700" b="1" spc="-50" dirty="0">
                <a:latin typeface="Times New Roman"/>
                <a:cs typeface="Times New Roman"/>
              </a:rPr>
              <a:t>0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700">
              <a:latin typeface="Times New Roman"/>
              <a:cs typeface="Times New Roman"/>
            </a:endParaRPr>
          </a:p>
          <a:p>
            <a:pPr marL="365125">
              <a:lnSpc>
                <a:spcPct val="100000"/>
              </a:lnSpc>
            </a:pPr>
            <a:r>
              <a:rPr sz="700" b="1" i="1" dirty="0">
                <a:latin typeface="Times New Roman"/>
                <a:cs typeface="Times New Roman"/>
              </a:rPr>
              <a:t>N</a:t>
            </a:r>
            <a:r>
              <a:rPr sz="700" b="1" i="1" spc="30" dirty="0">
                <a:latin typeface="Times New Roman"/>
                <a:cs typeface="Times New Roman"/>
              </a:rPr>
              <a:t> </a:t>
            </a:r>
            <a:r>
              <a:rPr sz="700" b="1" dirty="0">
                <a:latin typeface="Times New Roman"/>
                <a:cs typeface="Times New Roman"/>
              </a:rPr>
              <a:t>–</a:t>
            </a:r>
            <a:r>
              <a:rPr sz="700" b="1" spc="15" dirty="0">
                <a:latin typeface="Times New Roman"/>
                <a:cs typeface="Times New Roman"/>
              </a:rPr>
              <a:t> </a:t>
            </a:r>
            <a:r>
              <a:rPr sz="700" b="1" spc="-50" dirty="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802705" y="360791"/>
            <a:ext cx="1381125" cy="913130"/>
            <a:chOff x="2802705" y="360791"/>
            <a:chExt cx="1381125" cy="913130"/>
          </a:xfrm>
        </p:grpSpPr>
        <p:sp>
          <p:nvSpPr>
            <p:cNvPr id="21" name="object 21"/>
            <p:cNvSpPr/>
            <p:nvPr/>
          </p:nvSpPr>
          <p:spPr>
            <a:xfrm>
              <a:off x="2802705" y="406164"/>
              <a:ext cx="730250" cy="0"/>
            </a:xfrm>
            <a:custGeom>
              <a:avLst/>
              <a:gdLst/>
              <a:ahLst/>
              <a:cxnLst/>
              <a:rect l="l" t="t" r="r" b="b"/>
              <a:pathLst>
                <a:path w="730250">
                  <a:moveTo>
                    <a:pt x="0" y="0"/>
                  </a:moveTo>
                  <a:lnTo>
                    <a:pt x="0" y="0"/>
                  </a:lnTo>
                  <a:lnTo>
                    <a:pt x="729671" y="0"/>
                  </a:lnTo>
                </a:path>
              </a:pathLst>
            </a:custGeom>
            <a:ln w="18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00348" y="360793"/>
              <a:ext cx="683260" cy="913130"/>
            </a:xfrm>
            <a:custGeom>
              <a:avLst/>
              <a:gdLst/>
              <a:ahLst/>
              <a:cxnLst/>
              <a:rect l="l" t="t" r="r" b="b"/>
              <a:pathLst>
                <a:path w="683260" h="913130">
                  <a:moveTo>
                    <a:pt x="110794" y="45389"/>
                  </a:moveTo>
                  <a:lnTo>
                    <a:pt x="0" y="0"/>
                  </a:lnTo>
                  <a:lnTo>
                    <a:pt x="25781" y="45389"/>
                  </a:lnTo>
                  <a:lnTo>
                    <a:pt x="0" y="90500"/>
                  </a:lnTo>
                  <a:lnTo>
                    <a:pt x="110794" y="45389"/>
                  </a:lnTo>
                  <a:close/>
                </a:path>
                <a:path w="683260" h="913130">
                  <a:moveTo>
                    <a:pt x="683056" y="891082"/>
                  </a:moveTo>
                  <a:lnTo>
                    <a:pt x="676808" y="884872"/>
                  </a:lnTo>
                  <a:lnTo>
                    <a:pt x="669213" y="884872"/>
                  </a:lnTo>
                  <a:lnTo>
                    <a:pt x="661416" y="884872"/>
                  </a:lnTo>
                  <a:lnTo>
                    <a:pt x="655193" y="891082"/>
                  </a:lnTo>
                  <a:lnTo>
                    <a:pt x="655193" y="906297"/>
                  </a:lnTo>
                  <a:lnTo>
                    <a:pt x="661416" y="912698"/>
                  </a:lnTo>
                  <a:lnTo>
                    <a:pt x="676808" y="912698"/>
                  </a:lnTo>
                  <a:lnTo>
                    <a:pt x="683056" y="906297"/>
                  </a:lnTo>
                  <a:lnTo>
                    <a:pt x="683056" y="891082"/>
                  </a:lnTo>
                  <a:close/>
                </a:path>
                <a:path w="683260" h="913130">
                  <a:moveTo>
                    <a:pt x="683056" y="805345"/>
                  </a:moveTo>
                  <a:lnTo>
                    <a:pt x="676808" y="799096"/>
                  </a:lnTo>
                  <a:lnTo>
                    <a:pt x="669213" y="799096"/>
                  </a:lnTo>
                  <a:lnTo>
                    <a:pt x="661416" y="799096"/>
                  </a:lnTo>
                  <a:lnTo>
                    <a:pt x="655193" y="805345"/>
                  </a:lnTo>
                  <a:lnTo>
                    <a:pt x="655193" y="820559"/>
                  </a:lnTo>
                  <a:lnTo>
                    <a:pt x="661416" y="827049"/>
                  </a:lnTo>
                  <a:lnTo>
                    <a:pt x="676808" y="827049"/>
                  </a:lnTo>
                  <a:lnTo>
                    <a:pt x="683056" y="820559"/>
                  </a:lnTo>
                  <a:lnTo>
                    <a:pt x="683056" y="805345"/>
                  </a:lnTo>
                  <a:close/>
                </a:path>
                <a:path w="683260" h="913130">
                  <a:moveTo>
                    <a:pt x="683056" y="719670"/>
                  </a:moveTo>
                  <a:lnTo>
                    <a:pt x="676808" y="713447"/>
                  </a:lnTo>
                  <a:lnTo>
                    <a:pt x="669213" y="713447"/>
                  </a:lnTo>
                  <a:lnTo>
                    <a:pt x="661416" y="713447"/>
                  </a:lnTo>
                  <a:lnTo>
                    <a:pt x="655193" y="719670"/>
                  </a:lnTo>
                  <a:lnTo>
                    <a:pt x="655193" y="734910"/>
                  </a:lnTo>
                  <a:lnTo>
                    <a:pt x="661416" y="741311"/>
                  </a:lnTo>
                  <a:lnTo>
                    <a:pt x="676808" y="741311"/>
                  </a:lnTo>
                  <a:lnTo>
                    <a:pt x="683056" y="734910"/>
                  </a:lnTo>
                  <a:lnTo>
                    <a:pt x="683056" y="7196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0" y="0"/>
            <a:ext cx="228599" cy="685799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243705" y="837224"/>
            <a:ext cx="1358265" cy="608330"/>
            <a:chOff x="4243705" y="837224"/>
            <a:chExt cx="1358265" cy="60833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3705" y="914205"/>
              <a:ext cx="477298" cy="760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43705" y="1369225"/>
              <a:ext cx="477298" cy="757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789818" y="846432"/>
              <a:ext cx="803275" cy="200660"/>
            </a:xfrm>
            <a:custGeom>
              <a:avLst/>
              <a:gdLst/>
              <a:ahLst/>
              <a:cxnLst/>
              <a:rect l="l" t="t" r="r" b="b"/>
              <a:pathLst>
                <a:path w="803275" h="200659">
                  <a:moveTo>
                    <a:pt x="0" y="0"/>
                  </a:moveTo>
                  <a:lnTo>
                    <a:pt x="669032" y="0"/>
                  </a:lnTo>
                  <a:lnTo>
                    <a:pt x="802875" y="100214"/>
                  </a:lnTo>
                  <a:lnTo>
                    <a:pt x="669032" y="200612"/>
                  </a:lnTo>
                  <a:lnTo>
                    <a:pt x="0" y="200612"/>
                  </a:lnTo>
                </a:path>
              </a:pathLst>
            </a:custGeom>
            <a:ln w="18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94545" y="848236"/>
            <a:ext cx="29146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20" dirty="0">
                <a:latin typeface="Times New Roman"/>
                <a:cs typeface="Times New Roman"/>
              </a:rPr>
              <a:t>Data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11682" y="1277647"/>
            <a:ext cx="803275" cy="200660"/>
          </a:xfrm>
          <a:custGeom>
            <a:avLst/>
            <a:gdLst/>
            <a:ahLst/>
            <a:cxnLst/>
            <a:rect l="l" t="t" r="r" b="b"/>
            <a:pathLst>
              <a:path w="803275" h="200659">
                <a:moveTo>
                  <a:pt x="0" y="0"/>
                </a:moveTo>
                <a:lnTo>
                  <a:pt x="669273" y="0"/>
                </a:lnTo>
                <a:lnTo>
                  <a:pt x="802933" y="100245"/>
                </a:lnTo>
                <a:lnTo>
                  <a:pt x="669273" y="200642"/>
                </a:lnTo>
                <a:lnTo>
                  <a:pt x="0" y="200642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15769" y="1278729"/>
            <a:ext cx="29146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20" dirty="0">
                <a:latin typeface="Times New Roman"/>
                <a:cs typeface="Times New Roman"/>
              </a:rPr>
              <a:t>Data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05406" y="2218415"/>
            <a:ext cx="31305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20" dirty="0">
                <a:latin typeface="Times New Roman"/>
                <a:cs typeface="Times New Roman"/>
              </a:rPr>
              <a:t>Read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802705" y="2367320"/>
            <a:ext cx="808990" cy="90805"/>
            <a:chOff x="2802705" y="2367320"/>
            <a:chExt cx="808990" cy="90805"/>
          </a:xfrm>
        </p:grpSpPr>
        <p:sp>
          <p:nvSpPr>
            <p:cNvPr id="38" name="object 38"/>
            <p:cNvSpPr/>
            <p:nvPr/>
          </p:nvSpPr>
          <p:spPr>
            <a:xfrm>
              <a:off x="2802705" y="2412408"/>
              <a:ext cx="730250" cy="0"/>
            </a:xfrm>
            <a:custGeom>
              <a:avLst/>
              <a:gdLst/>
              <a:ahLst/>
              <a:cxnLst/>
              <a:rect l="l" t="t" r="r" b="b"/>
              <a:pathLst>
                <a:path w="730250">
                  <a:moveTo>
                    <a:pt x="0" y="0"/>
                  </a:moveTo>
                  <a:lnTo>
                    <a:pt x="0" y="0"/>
                  </a:lnTo>
                  <a:lnTo>
                    <a:pt x="729671" y="0"/>
                  </a:lnTo>
                </a:path>
              </a:pathLst>
            </a:custGeom>
            <a:ln w="18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00353" y="2367320"/>
              <a:ext cx="111125" cy="90805"/>
            </a:xfrm>
            <a:custGeom>
              <a:avLst/>
              <a:gdLst/>
              <a:ahLst/>
              <a:cxnLst/>
              <a:rect l="l" t="t" r="r" b="b"/>
              <a:pathLst>
                <a:path w="111125" h="90805">
                  <a:moveTo>
                    <a:pt x="0" y="0"/>
                  </a:moveTo>
                  <a:lnTo>
                    <a:pt x="25786" y="45110"/>
                  </a:lnTo>
                  <a:lnTo>
                    <a:pt x="0" y="90464"/>
                  </a:lnTo>
                  <a:lnTo>
                    <a:pt x="110794" y="45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988586" y="2470739"/>
            <a:ext cx="34671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" dirty="0">
                <a:latin typeface="Times New Roman"/>
                <a:cs typeface="Times New Roman"/>
              </a:rPr>
              <a:t>Write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811682" y="2819240"/>
            <a:ext cx="803275" cy="768985"/>
          </a:xfrm>
          <a:custGeom>
            <a:avLst/>
            <a:gdLst/>
            <a:ahLst/>
            <a:cxnLst/>
            <a:rect l="l" t="t" r="r" b="b"/>
            <a:pathLst>
              <a:path w="803275" h="768985">
                <a:moveTo>
                  <a:pt x="0" y="534539"/>
                </a:moveTo>
                <a:lnTo>
                  <a:pt x="669273" y="534539"/>
                </a:lnTo>
                <a:lnTo>
                  <a:pt x="802933" y="651547"/>
                </a:lnTo>
                <a:lnTo>
                  <a:pt x="669273" y="768586"/>
                </a:lnTo>
                <a:lnTo>
                  <a:pt x="0" y="768586"/>
                </a:lnTo>
              </a:path>
              <a:path w="803275" h="768985">
                <a:moveTo>
                  <a:pt x="0" y="0"/>
                </a:moveTo>
                <a:lnTo>
                  <a:pt x="669273" y="0"/>
                </a:lnTo>
                <a:lnTo>
                  <a:pt x="802933" y="100488"/>
                </a:lnTo>
                <a:lnTo>
                  <a:pt x="669273" y="200734"/>
                </a:lnTo>
                <a:lnTo>
                  <a:pt x="0" y="200734"/>
                </a:lnTo>
              </a:path>
              <a:path w="803275" h="768985">
                <a:moveTo>
                  <a:pt x="0" y="261966"/>
                </a:moveTo>
                <a:lnTo>
                  <a:pt x="669273" y="261966"/>
                </a:lnTo>
                <a:lnTo>
                  <a:pt x="802933" y="379005"/>
                </a:lnTo>
                <a:lnTo>
                  <a:pt x="669273" y="496013"/>
                </a:lnTo>
                <a:lnTo>
                  <a:pt x="0" y="496013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23174" y="2820408"/>
            <a:ext cx="478155" cy="7670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000" b="1" spc="-10" dirty="0">
                <a:latin typeface="Times New Roman"/>
                <a:cs typeface="Times New Roman"/>
              </a:rPr>
              <a:t>Address</a:t>
            </a:r>
            <a:endParaRPr sz="1000">
              <a:latin typeface="Times New Roman"/>
              <a:cs typeface="Times New Roman"/>
            </a:endParaRPr>
          </a:p>
          <a:p>
            <a:pPr marL="32384" marR="80645" algn="ctr">
              <a:lnSpc>
                <a:spcPts val="810"/>
              </a:lnSpc>
              <a:spcBef>
                <a:spcPts val="915"/>
              </a:spcBef>
            </a:pPr>
            <a:r>
              <a:rPr sz="800" b="1" spc="-10" dirty="0">
                <a:latin typeface="Times New Roman"/>
                <a:cs typeface="Times New Roman"/>
              </a:rPr>
              <a:t>Internal</a:t>
            </a:r>
            <a:r>
              <a:rPr sz="800" b="1" spc="500" dirty="0">
                <a:latin typeface="Times New Roman"/>
                <a:cs typeface="Times New Roman"/>
              </a:rPr>
              <a:t> </a:t>
            </a:r>
            <a:r>
              <a:rPr sz="800" b="1" spc="-20" dirty="0">
                <a:latin typeface="Times New Roman"/>
                <a:cs typeface="Times New Roman"/>
              </a:rPr>
              <a:t>Data</a:t>
            </a:r>
            <a:endParaRPr sz="800">
              <a:latin typeface="Times New Roman"/>
              <a:cs typeface="Times New Roman"/>
            </a:endParaRPr>
          </a:p>
          <a:p>
            <a:pPr marL="26670" marR="64135" algn="ctr">
              <a:lnSpc>
                <a:spcPts val="800"/>
              </a:lnSpc>
              <a:spcBef>
                <a:spcPts val="480"/>
              </a:spcBef>
            </a:pPr>
            <a:r>
              <a:rPr sz="800" b="1" spc="-10" dirty="0">
                <a:latin typeface="Times New Roman"/>
                <a:cs typeface="Times New Roman"/>
              </a:rPr>
              <a:t>External</a:t>
            </a:r>
            <a:r>
              <a:rPr sz="800" b="1" spc="500" dirty="0">
                <a:latin typeface="Times New Roman"/>
                <a:cs typeface="Times New Roman"/>
              </a:rPr>
              <a:t> </a:t>
            </a:r>
            <a:r>
              <a:rPr sz="800" b="1" spc="-20" dirty="0">
                <a:latin typeface="Times New Roman"/>
                <a:cs typeface="Times New Roman"/>
              </a:rPr>
              <a:t>Data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15987" y="2257910"/>
            <a:ext cx="1171575" cy="1337945"/>
          </a:xfrm>
          <a:prstGeom prst="rect">
            <a:avLst/>
          </a:prstGeom>
          <a:solidFill>
            <a:srgbClr val="DCDCDC"/>
          </a:solidFill>
          <a:ln w="1819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40640" algn="ctr">
              <a:lnSpc>
                <a:spcPts val="1540"/>
              </a:lnSpc>
            </a:pPr>
            <a:r>
              <a:rPr sz="1300" b="1" dirty="0">
                <a:latin typeface="Times New Roman"/>
                <a:cs typeface="Times New Roman"/>
              </a:rPr>
              <a:t>I/O </a:t>
            </a:r>
            <a:r>
              <a:rPr sz="1300" b="1" spc="-10" dirty="0">
                <a:latin typeface="Times New Roman"/>
                <a:cs typeface="Times New Roman"/>
              </a:rPr>
              <a:t>Module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00" b="1" i="1" dirty="0">
                <a:latin typeface="Times New Roman"/>
                <a:cs typeface="Times New Roman"/>
              </a:rPr>
              <a:t>M</a:t>
            </a:r>
            <a:r>
              <a:rPr sz="1000" b="1" i="1" spc="1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Ports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792592" y="2368701"/>
            <a:ext cx="803275" cy="234315"/>
          </a:xfrm>
          <a:custGeom>
            <a:avLst/>
            <a:gdLst/>
            <a:ahLst/>
            <a:cxnLst/>
            <a:rect l="l" t="t" r="r" b="b"/>
            <a:pathLst>
              <a:path w="803275" h="234314">
                <a:moveTo>
                  <a:pt x="0" y="0"/>
                </a:moveTo>
                <a:lnTo>
                  <a:pt x="669062" y="0"/>
                </a:lnTo>
                <a:lnTo>
                  <a:pt x="802875" y="117038"/>
                </a:lnTo>
                <a:lnTo>
                  <a:pt x="669062" y="234047"/>
                </a:lnTo>
                <a:lnTo>
                  <a:pt x="0" y="234047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924111" y="2359233"/>
            <a:ext cx="381635" cy="25019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85725" marR="5080" indent="-73660">
              <a:lnSpc>
                <a:spcPts val="810"/>
              </a:lnSpc>
              <a:spcBef>
                <a:spcPts val="250"/>
              </a:spcBef>
            </a:pPr>
            <a:r>
              <a:rPr sz="800" b="1" spc="-10" dirty="0">
                <a:latin typeface="Times New Roman"/>
                <a:cs typeface="Times New Roman"/>
              </a:rPr>
              <a:t>Internal</a:t>
            </a:r>
            <a:r>
              <a:rPr sz="800" b="1" spc="500" dirty="0">
                <a:latin typeface="Times New Roman"/>
                <a:cs typeface="Times New Roman"/>
              </a:rPr>
              <a:t> </a:t>
            </a:r>
            <a:r>
              <a:rPr sz="800" b="1" spc="-20" dirty="0">
                <a:latin typeface="Times New Roman"/>
                <a:cs typeface="Times New Roman"/>
              </a:rPr>
              <a:t>Data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02705" y="2619999"/>
            <a:ext cx="808990" cy="90805"/>
            <a:chOff x="2802705" y="2619999"/>
            <a:chExt cx="808990" cy="90805"/>
          </a:xfrm>
        </p:grpSpPr>
        <p:sp>
          <p:nvSpPr>
            <p:cNvPr id="34" name="object 34"/>
            <p:cNvSpPr/>
            <p:nvPr/>
          </p:nvSpPr>
          <p:spPr>
            <a:xfrm>
              <a:off x="2802705" y="2665383"/>
              <a:ext cx="730250" cy="0"/>
            </a:xfrm>
            <a:custGeom>
              <a:avLst/>
              <a:gdLst/>
              <a:ahLst/>
              <a:cxnLst/>
              <a:rect l="l" t="t" r="r" b="b"/>
              <a:pathLst>
                <a:path w="730250">
                  <a:moveTo>
                    <a:pt x="0" y="0"/>
                  </a:moveTo>
                  <a:lnTo>
                    <a:pt x="0" y="0"/>
                  </a:lnTo>
                  <a:lnTo>
                    <a:pt x="729671" y="0"/>
                  </a:lnTo>
                </a:path>
              </a:pathLst>
            </a:custGeom>
            <a:ln w="18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00353" y="2619999"/>
              <a:ext cx="111125" cy="90805"/>
            </a:xfrm>
            <a:custGeom>
              <a:avLst/>
              <a:gdLst/>
              <a:ahLst/>
              <a:cxnLst/>
              <a:rect l="l" t="t" r="r" b="b"/>
              <a:pathLst>
                <a:path w="111125" h="90805">
                  <a:moveTo>
                    <a:pt x="0" y="0"/>
                  </a:moveTo>
                  <a:lnTo>
                    <a:pt x="25786" y="45384"/>
                  </a:lnTo>
                  <a:lnTo>
                    <a:pt x="0" y="90769"/>
                  </a:lnTo>
                  <a:lnTo>
                    <a:pt x="110794" y="45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4792592" y="2771998"/>
            <a:ext cx="803275" cy="234315"/>
          </a:xfrm>
          <a:custGeom>
            <a:avLst/>
            <a:gdLst/>
            <a:ahLst/>
            <a:cxnLst/>
            <a:rect l="l" t="t" r="r" b="b"/>
            <a:pathLst>
              <a:path w="803275" h="234314">
                <a:moveTo>
                  <a:pt x="0" y="0"/>
                </a:moveTo>
                <a:lnTo>
                  <a:pt x="669062" y="0"/>
                </a:lnTo>
                <a:lnTo>
                  <a:pt x="802875" y="117130"/>
                </a:lnTo>
                <a:lnTo>
                  <a:pt x="669062" y="234138"/>
                </a:lnTo>
                <a:lnTo>
                  <a:pt x="0" y="234138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918536" y="2756324"/>
            <a:ext cx="403860" cy="24955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97155" marR="5080" indent="-85090">
              <a:lnSpc>
                <a:spcPts val="800"/>
              </a:lnSpc>
              <a:spcBef>
                <a:spcPts val="260"/>
              </a:spcBef>
            </a:pPr>
            <a:r>
              <a:rPr sz="800" b="1" spc="-10" dirty="0">
                <a:latin typeface="Times New Roman"/>
                <a:cs typeface="Times New Roman"/>
              </a:rPr>
              <a:t>External</a:t>
            </a:r>
            <a:r>
              <a:rPr sz="800" b="1" spc="500" dirty="0">
                <a:latin typeface="Times New Roman"/>
                <a:cs typeface="Times New Roman"/>
              </a:rPr>
              <a:t> </a:t>
            </a:r>
            <a:r>
              <a:rPr sz="800" b="1" spc="-20" dirty="0">
                <a:latin typeface="Times New Roman"/>
                <a:cs typeface="Times New Roman"/>
              </a:rPr>
              <a:t>Data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92592" y="3192668"/>
            <a:ext cx="803275" cy="234315"/>
          </a:xfrm>
          <a:custGeom>
            <a:avLst/>
            <a:gdLst/>
            <a:ahLst/>
            <a:cxnLst/>
            <a:rect l="l" t="t" r="r" b="b"/>
            <a:pathLst>
              <a:path w="803275" h="234314">
                <a:moveTo>
                  <a:pt x="0" y="0"/>
                </a:moveTo>
                <a:lnTo>
                  <a:pt x="669062" y="0"/>
                </a:lnTo>
                <a:lnTo>
                  <a:pt x="802875" y="117038"/>
                </a:lnTo>
                <a:lnTo>
                  <a:pt x="669062" y="234138"/>
                </a:lnTo>
                <a:lnTo>
                  <a:pt x="0" y="234138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901924" y="3177253"/>
            <a:ext cx="438150" cy="24955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62865" marR="5080" indent="-50800">
              <a:lnSpc>
                <a:spcPts val="800"/>
              </a:lnSpc>
              <a:spcBef>
                <a:spcPts val="260"/>
              </a:spcBef>
            </a:pPr>
            <a:r>
              <a:rPr sz="800" b="1" spc="-10" dirty="0">
                <a:latin typeface="Times New Roman"/>
                <a:cs typeface="Times New Roman"/>
              </a:rPr>
              <a:t>Interrupt</a:t>
            </a:r>
            <a:r>
              <a:rPr sz="800" b="1" spc="500" dirty="0">
                <a:latin typeface="Times New Roman"/>
                <a:cs typeface="Times New Roman"/>
              </a:rPr>
              <a:t> </a:t>
            </a:r>
            <a:r>
              <a:rPr sz="800" b="1" spc="-10" dirty="0">
                <a:latin typeface="Times New Roman"/>
                <a:cs typeface="Times New Roman"/>
              </a:rPr>
              <a:t>Signals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811682" y="4416883"/>
            <a:ext cx="803275" cy="200660"/>
          </a:xfrm>
          <a:custGeom>
            <a:avLst/>
            <a:gdLst/>
            <a:ahLst/>
            <a:cxnLst/>
            <a:rect l="l" t="t" r="r" b="b"/>
            <a:pathLst>
              <a:path w="803275" h="200660">
                <a:moveTo>
                  <a:pt x="0" y="0"/>
                </a:moveTo>
                <a:lnTo>
                  <a:pt x="669273" y="0"/>
                </a:lnTo>
                <a:lnTo>
                  <a:pt x="802933" y="100226"/>
                </a:lnTo>
                <a:lnTo>
                  <a:pt x="669273" y="200633"/>
                </a:lnTo>
                <a:lnTo>
                  <a:pt x="0" y="200633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813725" y="4418692"/>
            <a:ext cx="69342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" dirty="0">
                <a:latin typeface="Times New Roman"/>
                <a:cs typeface="Times New Roman"/>
              </a:rPr>
              <a:t>Instructions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811682" y="4856474"/>
            <a:ext cx="803275" cy="200660"/>
          </a:xfrm>
          <a:custGeom>
            <a:avLst/>
            <a:gdLst/>
            <a:ahLst/>
            <a:cxnLst/>
            <a:rect l="l" t="t" r="r" b="b"/>
            <a:pathLst>
              <a:path w="803275" h="200660">
                <a:moveTo>
                  <a:pt x="0" y="0"/>
                </a:moveTo>
                <a:lnTo>
                  <a:pt x="669273" y="0"/>
                </a:lnTo>
                <a:lnTo>
                  <a:pt x="802933" y="100226"/>
                </a:lnTo>
                <a:lnTo>
                  <a:pt x="669273" y="200633"/>
                </a:lnTo>
                <a:lnTo>
                  <a:pt x="0" y="200633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015769" y="4858290"/>
            <a:ext cx="29146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20" dirty="0">
                <a:latin typeface="Times New Roman"/>
                <a:cs typeface="Times New Roman"/>
              </a:rPr>
              <a:t>Data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811682" y="5275005"/>
            <a:ext cx="803275" cy="234315"/>
          </a:xfrm>
          <a:custGeom>
            <a:avLst/>
            <a:gdLst/>
            <a:ahLst/>
            <a:cxnLst/>
            <a:rect l="l" t="t" r="r" b="b"/>
            <a:pathLst>
              <a:path w="803275" h="234314">
                <a:moveTo>
                  <a:pt x="0" y="0"/>
                </a:moveTo>
                <a:lnTo>
                  <a:pt x="669273" y="0"/>
                </a:lnTo>
                <a:lnTo>
                  <a:pt x="802933" y="117298"/>
                </a:lnTo>
                <a:lnTo>
                  <a:pt x="669273" y="234303"/>
                </a:lnTo>
                <a:lnTo>
                  <a:pt x="0" y="234303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615987" y="4264138"/>
            <a:ext cx="1171575" cy="1337945"/>
          </a:xfrm>
          <a:prstGeom prst="rect">
            <a:avLst/>
          </a:prstGeom>
          <a:solidFill>
            <a:srgbClr val="CBEBCC"/>
          </a:solidFill>
          <a:ln w="1819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300">
              <a:latin typeface="Times New Roman"/>
              <a:cs typeface="Times New Roman"/>
            </a:endParaRPr>
          </a:p>
          <a:p>
            <a:pPr marR="1905" algn="ctr">
              <a:lnSpc>
                <a:spcPct val="100000"/>
              </a:lnSpc>
            </a:pPr>
            <a:r>
              <a:rPr sz="1300" b="1" spc="-25" dirty="0">
                <a:latin typeface="Times New Roman"/>
                <a:cs typeface="Times New Roman"/>
              </a:rPr>
              <a:t>CPU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917868" y="4400507"/>
            <a:ext cx="47815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" dirty="0">
                <a:latin typeface="Times New Roman"/>
                <a:cs typeface="Times New Roman"/>
              </a:rPr>
              <a:t>Address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792592" y="4391833"/>
            <a:ext cx="803275" cy="200660"/>
          </a:xfrm>
          <a:custGeom>
            <a:avLst/>
            <a:gdLst/>
            <a:ahLst/>
            <a:cxnLst/>
            <a:rect l="l" t="t" r="r" b="b"/>
            <a:pathLst>
              <a:path w="803275" h="200660">
                <a:moveTo>
                  <a:pt x="0" y="0"/>
                </a:moveTo>
                <a:lnTo>
                  <a:pt x="669062" y="0"/>
                </a:lnTo>
                <a:lnTo>
                  <a:pt x="802875" y="100120"/>
                </a:lnTo>
                <a:lnTo>
                  <a:pt x="669062" y="200633"/>
                </a:lnTo>
                <a:lnTo>
                  <a:pt x="0" y="200633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92592" y="4778335"/>
            <a:ext cx="803275" cy="234315"/>
          </a:xfrm>
          <a:custGeom>
            <a:avLst/>
            <a:gdLst/>
            <a:ahLst/>
            <a:cxnLst/>
            <a:rect l="l" t="t" r="r" b="b"/>
            <a:pathLst>
              <a:path w="803275" h="234314">
                <a:moveTo>
                  <a:pt x="0" y="0"/>
                </a:moveTo>
                <a:lnTo>
                  <a:pt x="669062" y="0"/>
                </a:lnTo>
                <a:lnTo>
                  <a:pt x="802875" y="117023"/>
                </a:lnTo>
                <a:lnTo>
                  <a:pt x="669062" y="234038"/>
                </a:lnTo>
                <a:lnTo>
                  <a:pt x="0" y="234038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939503" y="4762926"/>
            <a:ext cx="363855" cy="24955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5400" marR="5080" indent="-13335">
              <a:lnSpc>
                <a:spcPts val="800"/>
              </a:lnSpc>
              <a:spcBef>
                <a:spcPts val="260"/>
              </a:spcBef>
            </a:pPr>
            <a:r>
              <a:rPr sz="800" b="1" spc="-10" dirty="0">
                <a:latin typeface="Times New Roman"/>
                <a:cs typeface="Times New Roman"/>
              </a:rPr>
              <a:t>Control</a:t>
            </a:r>
            <a:r>
              <a:rPr sz="800" b="1" spc="500" dirty="0">
                <a:latin typeface="Times New Roman"/>
                <a:cs typeface="Times New Roman"/>
              </a:rPr>
              <a:t> </a:t>
            </a:r>
            <a:r>
              <a:rPr sz="800" b="1" spc="-10" dirty="0">
                <a:latin typeface="Times New Roman"/>
                <a:cs typeface="Times New Roman"/>
              </a:rPr>
              <a:t>Signals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36305" y="5248536"/>
            <a:ext cx="438150" cy="25019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63500" marR="5080" indent="-51435">
              <a:lnSpc>
                <a:spcPts val="810"/>
              </a:lnSpc>
              <a:spcBef>
                <a:spcPts val="250"/>
              </a:spcBef>
            </a:pPr>
            <a:r>
              <a:rPr sz="800" b="1" spc="-10" dirty="0">
                <a:latin typeface="Times New Roman"/>
                <a:cs typeface="Times New Roman"/>
              </a:rPr>
              <a:t>Interrupt</a:t>
            </a:r>
            <a:r>
              <a:rPr sz="800" b="1" spc="500" dirty="0">
                <a:latin typeface="Times New Roman"/>
                <a:cs typeface="Times New Roman"/>
              </a:rPr>
              <a:t> </a:t>
            </a:r>
            <a:r>
              <a:rPr sz="800" b="1" spc="-10" dirty="0">
                <a:latin typeface="Times New Roman"/>
                <a:cs typeface="Times New Roman"/>
              </a:rPr>
              <a:t>Signals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98711" y="5216966"/>
            <a:ext cx="29146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20" dirty="0">
                <a:latin typeface="Times New Roman"/>
                <a:cs typeface="Times New Roman"/>
              </a:rPr>
              <a:t>Data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792592" y="5215793"/>
            <a:ext cx="803275" cy="200660"/>
          </a:xfrm>
          <a:custGeom>
            <a:avLst/>
            <a:gdLst/>
            <a:ahLst/>
            <a:cxnLst/>
            <a:rect l="l" t="t" r="r" b="b"/>
            <a:pathLst>
              <a:path w="803275" h="200660">
                <a:moveTo>
                  <a:pt x="0" y="0"/>
                </a:moveTo>
                <a:lnTo>
                  <a:pt x="669062" y="0"/>
                </a:lnTo>
                <a:lnTo>
                  <a:pt x="802875" y="100501"/>
                </a:lnTo>
                <a:lnTo>
                  <a:pt x="669062" y="200633"/>
                </a:lnTo>
                <a:lnTo>
                  <a:pt x="0" y="200633"/>
                </a:lnTo>
              </a:path>
            </a:pathLst>
          </a:custGeom>
          <a:ln w="18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026369" y="6024605"/>
            <a:ext cx="82804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latin typeface="Times New Roman"/>
                <a:cs typeface="Times New Roman"/>
              </a:rPr>
              <a:t>Figure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3.15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52111" y="6024605"/>
            <a:ext cx="141351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latin typeface="Times New Roman"/>
                <a:cs typeface="Times New Roman"/>
              </a:rPr>
              <a:t>Computer</a:t>
            </a:r>
            <a:r>
              <a:rPr sz="1300" b="1" spc="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Modules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940" y="250946"/>
            <a:ext cx="656653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/>
              <a:t>interconnection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/>
              <a:t>structure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/>
              <a:t>must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/>
              <a:t>support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/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/>
              <a:t>following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/>
              <a:t>types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/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/>
              <a:t>transfers: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52984" y="1156716"/>
            <a:ext cx="1961514" cy="5323840"/>
            <a:chOff x="252984" y="1156716"/>
            <a:chExt cx="1961514" cy="53238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60" y="1156716"/>
              <a:ext cx="1734312" cy="53233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984" y="1331976"/>
              <a:ext cx="1961388" cy="13990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6239" y="1200912"/>
              <a:ext cx="1597151" cy="51846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7632" y="1202314"/>
              <a:ext cx="1594485" cy="5181600"/>
            </a:xfrm>
            <a:custGeom>
              <a:avLst/>
              <a:gdLst/>
              <a:ahLst/>
              <a:cxnLst/>
              <a:rect l="l" t="t" r="r" b="b"/>
              <a:pathLst>
                <a:path w="1594485" h="5181600">
                  <a:moveTo>
                    <a:pt x="0" y="159379"/>
                  </a:moveTo>
                  <a:lnTo>
                    <a:pt x="8127" y="109002"/>
                  </a:lnTo>
                  <a:lnTo>
                    <a:pt x="30760" y="65250"/>
                  </a:lnTo>
                  <a:lnTo>
                    <a:pt x="65271" y="30750"/>
                  </a:lnTo>
                  <a:lnTo>
                    <a:pt x="109035" y="8124"/>
                  </a:lnTo>
                  <a:lnTo>
                    <a:pt x="159425" y="0"/>
                  </a:lnTo>
                  <a:lnTo>
                    <a:pt x="1434727" y="0"/>
                  </a:lnTo>
                  <a:lnTo>
                    <a:pt x="1485157" y="8124"/>
                  </a:lnTo>
                  <a:lnTo>
                    <a:pt x="1528945" y="30750"/>
                  </a:lnTo>
                  <a:lnTo>
                    <a:pt x="1563469" y="65250"/>
                  </a:lnTo>
                  <a:lnTo>
                    <a:pt x="1586106" y="109002"/>
                  </a:lnTo>
                  <a:lnTo>
                    <a:pt x="1594235" y="159379"/>
                  </a:lnTo>
                  <a:lnTo>
                    <a:pt x="1594235" y="5022131"/>
                  </a:lnTo>
                  <a:lnTo>
                    <a:pt x="1586106" y="5072520"/>
                  </a:lnTo>
                  <a:lnTo>
                    <a:pt x="1563469" y="5116283"/>
                  </a:lnTo>
                  <a:lnTo>
                    <a:pt x="1528945" y="5150794"/>
                  </a:lnTo>
                  <a:lnTo>
                    <a:pt x="1485157" y="5173426"/>
                  </a:lnTo>
                  <a:lnTo>
                    <a:pt x="1434727" y="5181554"/>
                  </a:lnTo>
                  <a:lnTo>
                    <a:pt x="159425" y="5181554"/>
                  </a:lnTo>
                  <a:lnTo>
                    <a:pt x="109035" y="5173426"/>
                  </a:lnTo>
                  <a:lnTo>
                    <a:pt x="65271" y="5150794"/>
                  </a:lnTo>
                  <a:lnTo>
                    <a:pt x="30760" y="5116283"/>
                  </a:lnTo>
                  <a:lnTo>
                    <a:pt x="8127" y="5072520"/>
                  </a:lnTo>
                  <a:lnTo>
                    <a:pt x="0" y="5022131"/>
                  </a:lnTo>
                  <a:lnTo>
                    <a:pt x="0" y="159379"/>
                  </a:lnTo>
                  <a:close/>
                </a:path>
              </a:pathLst>
            </a:custGeom>
            <a:ln w="9524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3814" y="1431742"/>
            <a:ext cx="1423670" cy="10350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065" marR="5080" indent="-2540" algn="ctr">
              <a:lnSpc>
                <a:spcPts val="2530"/>
              </a:lnSpc>
              <a:spcBef>
                <a:spcPts val="475"/>
              </a:spcBef>
            </a:pPr>
            <a:r>
              <a:rPr sz="2400" spc="-10" dirty="0">
                <a:latin typeface="Rockwell"/>
                <a:cs typeface="Rockwell"/>
              </a:rPr>
              <a:t>Memory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Rockwell"/>
                <a:cs typeface="Rockwell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Rockwell"/>
                <a:cs typeface="Rockwell"/>
              </a:rPr>
              <a:t>processor</a:t>
            </a:r>
            <a:endParaRPr sz="2400">
              <a:latin typeface="Rockwell"/>
              <a:cs typeface="Rockwel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6155" y="2711195"/>
            <a:ext cx="1473835" cy="3510279"/>
            <a:chOff x="486155" y="2711195"/>
            <a:chExt cx="1473835" cy="3510279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155" y="2711195"/>
              <a:ext cx="1415795" cy="35097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6823" y="3715511"/>
              <a:ext cx="1463039" cy="15544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259" y="2755391"/>
              <a:ext cx="1277112" cy="337108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57058" y="2756794"/>
              <a:ext cx="1275715" cy="3368040"/>
            </a:xfrm>
            <a:custGeom>
              <a:avLst/>
              <a:gdLst/>
              <a:ahLst/>
              <a:cxnLst/>
              <a:rect l="l" t="t" r="r" b="b"/>
              <a:pathLst>
                <a:path w="1275714" h="3368040">
                  <a:moveTo>
                    <a:pt x="0" y="127497"/>
                  </a:moveTo>
                  <a:lnTo>
                    <a:pt x="10022" y="77846"/>
                  </a:lnTo>
                  <a:lnTo>
                    <a:pt x="37355" y="37322"/>
                  </a:lnTo>
                  <a:lnTo>
                    <a:pt x="77894" y="10011"/>
                  </a:lnTo>
                  <a:lnTo>
                    <a:pt x="127537" y="0"/>
                  </a:lnTo>
                  <a:lnTo>
                    <a:pt x="1147785" y="0"/>
                  </a:lnTo>
                  <a:lnTo>
                    <a:pt x="1197445" y="10011"/>
                  </a:lnTo>
                  <a:lnTo>
                    <a:pt x="1237975" y="37322"/>
                  </a:lnTo>
                  <a:lnTo>
                    <a:pt x="1265289" y="77846"/>
                  </a:lnTo>
                  <a:lnTo>
                    <a:pt x="1275301" y="127497"/>
                  </a:lnTo>
                  <a:lnTo>
                    <a:pt x="1275301" y="3240465"/>
                  </a:lnTo>
                  <a:lnTo>
                    <a:pt x="1265289" y="3290103"/>
                  </a:lnTo>
                  <a:lnTo>
                    <a:pt x="1237975" y="3330640"/>
                  </a:lnTo>
                  <a:lnTo>
                    <a:pt x="1197445" y="3357971"/>
                  </a:lnTo>
                  <a:lnTo>
                    <a:pt x="1147785" y="3367994"/>
                  </a:lnTo>
                  <a:lnTo>
                    <a:pt x="127537" y="3367994"/>
                  </a:lnTo>
                  <a:lnTo>
                    <a:pt x="77894" y="3357971"/>
                  </a:lnTo>
                  <a:lnTo>
                    <a:pt x="37355" y="3330640"/>
                  </a:lnTo>
                  <a:lnTo>
                    <a:pt x="10022" y="3290103"/>
                  </a:lnTo>
                  <a:lnTo>
                    <a:pt x="0" y="3240465"/>
                  </a:lnTo>
                  <a:lnTo>
                    <a:pt x="0" y="127497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2647" y="3753611"/>
              <a:ext cx="1228343" cy="4206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6655" y="3954779"/>
              <a:ext cx="1101852" cy="4206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0831" y="4155947"/>
              <a:ext cx="1335023" cy="4206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9119" y="4357116"/>
              <a:ext cx="1298448" cy="4206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4839" y="4558283"/>
              <a:ext cx="1207008" cy="4206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3607" y="4759451"/>
              <a:ext cx="1060704" cy="42062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65480" y="3792674"/>
            <a:ext cx="1057275" cy="126047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-635" algn="ctr">
              <a:lnSpc>
                <a:spcPts val="1580"/>
              </a:lnSpc>
              <a:spcBef>
                <a:spcPts val="335"/>
              </a:spcBef>
            </a:pP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Processor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reads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Rockwell"/>
                <a:cs typeface="Rockwell"/>
              </a:rPr>
              <a:t>an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instruction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or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unit</a:t>
            </a:r>
            <a:r>
              <a:rPr sz="1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Rockwell"/>
                <a:cs typeface="Rockwell"/>
              </a:rPr>
              <a:t>from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memory</a:t>
            </a:r>
            <a:endParaRPr sz="1500">
              <a:latin typeface="Rockwell"/>
              <a:cs typeface="Rockwel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73579" y="1156716"/>
            <a:ext cx="1945005" cy="5323840"/>
            <a:chOff x="1973579" y="1156716"/>
            <a:chExt cx="1945005" cy="5323840"/>
          </a:xfrm>
        </p:grpSpPr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40635" y="1156716"/>
              <a:ext cx="1735836" cy="53233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73579" y="1331976"/>
              <a:ext cx="1944623" cy="13990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09215" y="1200912"/>
              <a:ext cx="1597152" cy="518464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111370" y="1202314"/>
              <a:ext cx="1594485" cy="5181600"/>
            </a:xfrm>
            <a:custGeom>
              <a:avLst/>
              <a:gdLst/>
              <a:ahLst/>
              <a:cxnLst/>
              <a:rect l="l" t="t" r="r" b="b"/>
              <a:pathLst>
                <a:path w="1594485" h="5181600">
                  <a:moveTo>
                    <a:pt x="0" y="159379"/>
                  </a:moveTo>
                  <a:lnTo>
                    <a:pt x="8127" y="109002"/>
                  </a:lnTo>
                  <a:lnTo>
                    <a:pt x="30757" y="65250"/>
                  </a:lnTo>
                  <a:lnTo>
                    <a:pt x="65263" y="30750"/>
                  </a:lnTo>
                  <a:lnTo>
                    <a:pt x="109016" y="8124"/>
                  </a:lnTo>
                  <a:lnTo>
                    <a:pt x="159389" y="0"/>
                  </a:lnTo>
                  <a:lnTo>
                    <a:pt x="1434733" y="0"/>
                  </a:lnTo>
                  <a:lnTo>
                    <a:pt x="1485158" y="8124"/>
                  </a:lnTo>
                  <a:lnTo>
                    <a:pt x="1528944" y="30750"/>
                  </a:lnTo>
                  <a:lnTo>
                    <a:pt x="1563468" y="65250"/>
                  </a:lnTo>
                  <a:lnTo>
                    <a:pt x="1586106" y="109002"/>
                  </a:lnTo>
                  <a:lnTo>
                    <a:pt x="1594235" y="159379"/>
                  </a:lnTo>
                  <a:lnTo>
                    <a:pt x="1594235" y="5022131"/>
                  </a:lnTo>
                  <a:lnTo>
                    <a:pt x="1586106" y="5072520"/>
                  </a:lnTo>
                  <a:lnTo>
                    <a:pt x="1563468" y="5116283"/>
                  </a:lnTo>
                  <a:lnTo>
                    <a:pt x="1528944" y="5150794"/>
                  </a:lnTo>
                  <a:lnTo>
                    <a:pt x="1485158" y="5173426"/>
                  </a:lnTo>
                  <a:lnTo>
                    <a:pt x="1434733" y="5181554"/>
                  </a:lnTo>
                  <a:lnTo>
                    <a:pt x="159389" y="5181554"/>
                  </a:lnTo>
                  <a:lnTo>
                    <a:pt x="109016" y="5173426"/>
                  </a:lnTo>
                  <a:lnTo>
                    <a:pt x="65263" y="5150794"/>
                  </a:lnTo>
                  <a:lnTo>
                    <a:pt x="30757" y="5116283"/>
                  </a:lnTo>
                  <a:lnTo>
                    <a:pt x="8127" y="5072520"/>
                  </a:lnTo>
                  <a:lnTo>
                    <a:pt x="0" y="5022131"/>
                  </a:lnTo>
                  <a:lnTo>
                    <a:pt x="0" y="159379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205610" y="1431742"/>
            <a:ext cx="1406525" cy="10350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algn="ctr">
              <a:lnSpc>
                <a:spcPts val="2530"/>
              </a:lnSpc>
              <a:spcBef>
                <a:spcPts val="475"/>
              </a:spcBef>
            </a:pPr>
            <a:r>
              <a:rPr sz="2400" spc="-20" dirty="0">
                <a:latin typeface="Rockwell"/>
                <a:cs typeface="Rockwell"/>
              </a:rPr>
              <a:t>Processor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Rockwell"/>
                <a:cs typeface="Rockwell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Rockwell"/>
                <a:cs typeface="Rockwell"/>
              </a:rPr>
              <a:t>memory</a:t>
            </a:r>
            <a:endParaRPr sz="2400">
              <a:latin typeface="Rockwell"/>
              <a:cs typeface="Rockwel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200655" y="2711195"/>
            <a:ext cx="1480185" cy="3510279"/>
            <a:chOff x="2200655" y="2711195"/>
            <a:chExt cx="1480185" cy="3510279"/>
          </a:xfrm>
        </p:grpSpPr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00655" y="2711195"/>
              <a:ext cx="1415795" cy="350977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00655" y="3916679"/>
              <a:ext cx="1479804" cy="115214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69235" y="2755391"/>
              <a:ext cx="1278636" cy="337108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270759" y="2756794"/>
              <a:ext cx="1275715" cy="3368040"/>
            </a:xfrm>
            <a:custGeom>
              <a:avLst/>
              <a:gdLst/>
              <a:ahLst/>
              <a:cxnLst/>
              <a:rect l="l" t="t" r="r" b="b"/>
              <a:pathLst>
                <a:path w="1275714" h="3368040">
                  <a:moveTo>
                    <a:pt x="0" y="127497"/>
                  </a:moveTo>
                  <a:lnTo>
                    <a:pt x="10028" y="77846"/>
                  </a:lnTo>
                  <a:lnTo>
                    <a:pt x="37369" y="37322"/>
                  </a:lnTo>
                  <a:lnTo>
                    <a:pt x="77900" y="10011"/>
                  </a:lnTo>
                  <a:lnTo>
                    <a:pt x="127503" y="0"/>
                  </a:lnTo>
                  <a:lnTo>
                    <a:pt x="1147815" y="0"/>
                  </a:lnTo>
                  <a:lnTo>
                    <a:pt x="1197484" y="10011"/>
                  </a:lnTo>
                  <a:lnTo>
                    <a:pt x="1238017" y="37322"/>
                  </a:lnTo>
                  <a:lnTo>
                    <a:pt x="1265331" y="77846"/>
                  </a:lnTo>
                  <a:lnTo>
                    <a:pt x="1275344" y="127497"/>
                  </a:lnTo>
                  <a:lnTo>
                    <a:pt x="1275344" y="3240465"/>
                  </a:lnTo>
                  <a:lnTo>
                    <a:pt x="1265331" y="3290103"/>
                  </a:lnTo>
                  <a:lnTo>
                    <a:pt x="1238017" y="3330640"/>
                  </a:lnTo>
                  <a:lnTo>
                    <a:pt x="1197484" y="3357971"/>
                  </a:lnTo>
                  <a:lnTo>
                    <a:pt x="1147815" y="3367994"/>
                  </a:lnTo>
                  <a:lnTo>
                    <a:pt x="127503" y="3367994"/>
                  </a:lnTo>
                  <a:lnTo>
                    <a:pt x="77900" y="3357971"/>
                  </a:lnTo>
                  <a:lnTo>
                    <a:pt x="37369" y="3330640"/>
                  </a:lnTo>
                  <a:lnTo>
                    <a:pt x="10028" y="3290103"/>
                  </a:lnTo>
                  <a:lnTo>
                    <a:pt x="0" y="3240465"/>
                  </a:lnTo>
                  <a:lnTo>
                    <a:pt x="0" y="127497"/>
                  </a:lnTo>
                  <a:close/>
                </a:path>
              </a:pathLst>
            </a:custGeom>
            <a:ln w="9524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25623" y="3954779"/>
              <a:ext cx="1228344" cy="4206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18587" y="4155947"/>
              <a:ext cx="1045463" cy="4206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64663" y="4357116"/>
              <a:ext cx="1351788" cy="4206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75331" y="4558283"/>
              <a:ext cx="1283208" cy="420624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370583" y="3994147"/>
            <a:ext cx="1075690" cy="8578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-635" algn="ctr">
              <a:lnSpc>
                <a:spcPct val="88100"/>
              </a:lnSpc>
              <a:spcBef>
                <a:spcPts val="315"/>
              </a:spcBef>
            </a:pP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Processor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writes</a:t>
            </a:r>
            <a:r>
              <a:rPr sz="15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5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unit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1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to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memory</a:t>
            </a:r>
            <a:endParaRPr sz="1500">
              <a:latin typeface="Rockwell"/>
              <a:cs typeface="Rockwel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680459" y="1156716"/>
            <a:ext cx="1961514" cy="5323840"/>
            <a:chOff x="3680459" y="1156716"/>
            <a:chExt cx="1961514" cy="5323840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5135" y="1156716"/>
              <a:ext cx="1734312" cy="53233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680459" y="1493520"/>
              <a:ext cx="1961388" cy="107746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823715" y="1200912"/>
              <a:ext cx="1597152" cy="518464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25117" y="1202314"/>
              <a:ext cx="1594485" cy="5181600"/>
            </a:xfrm>
            <a:custGeom>
              <a:avLst/>
              <a:gdLst/>
              <a:ahLst/>
              <a:cxnLst/>
              <a:rect l="l" t="t" r="r" b="b"/>
              <a:pathLst>
                <a:path w="1594485" h="5181600">
                  <a:moveTo>
                    <a:pt x="0" y="159379"/>
                  </a:moveTo>
                  <a:lnTo>
                    <a:pt x="8127" y="109002"/>
                  </a:lnTo>
                  <a:lnTo>
                    <a:pt x="30758" y="65250"/>
                  </a:lnTo>
                  <a:lnTo>
                    <a:pt x="65264" y="30750"/>
                  </a:lnTo>
                  <a:lnTo>
                    <a:pt x="109014" y="8124"/>
                  </a:lnTo>
                  <a:lnTo>
                    <a:pt x="159379" y="0"/>
                  </a:lnTo>
                  <a:lnTo>
                    <a:pt x="1434724" y="0"/>
                  </a:lnTo>
                  <a:lnTo>
                    <a:pt x="1485089" y="8124"/>
                  </a:lnTo>
                  <a:lnTo>
                    <a:pt x="1528839" y="30750"/>
                  </a:lnTo>
                  <a:lnTo>
                    <a:pt x="1563345" y="65250"/>
                  </a:lnTo>
                  <a:lnTo>
                    <a:pt x="1585976" y="109002"/>
                  </a:lnTo>
                  <a:lnTo>
                    <a:pt x="1594103" y="159379"/>
                  </a:lnTo>
                  <a:lnTo>
                    <a:pt x="1594103" y="5022131"/>
                  </a:lnTo>
                  <a:lnTo>
                    <a:pt x="1585976" y="5072520"/>
                  </a:lnTo>
                  <a:lnTo>
                    <a:pt x="1563345" y="5116283"/>
                  </a:lnTo>
                  <a:lnTo>
                    <a:pt x="1528839" y="5150794"/>
                  </a:lnTo>
                  <a:lnTo>
                    <a:pt x="1485089" y="5173426"/>
                  </a:lnTo>
                  <a:lnTo>
                    <a:pt x="1434724" y="5181554"/>
                  </a:lnTo>
                  <a:lnTo>
                    <a:pt x="159379" y="5181554"/>
                  </a:lnTo>
                  <a:lnTo>
                    <a:pt x="109014" y="5173426"/>
                  </a:lnTo>
                  <a:lnTo>
                    <a:pt x="65264" y="5150794"/>
                  </a:lnTo>
                  <a:lnTo>
                    <a:pt x="30758" y="5116283"/>
                  </a:lnTo>
                  <a:lnTo>
                    <a:pt x="8127" y="5072520"/>
                  </a:lnTo>
                  <a:lnTo>
                    <a:pt x="0" y="5022131"/>
                  </a:lnTo>
                  <a:lnTo>
                    <a:pt x="0" y="159379"/>
                  </a:lnTo>
                  <a:close/>
                </a:path>
              </a:pathLst>
            </a:custGeom>
            <a:ln w="9524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911856" y="1593337"/>
            <a:ext cx="1423670" cy="71310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indent="289560">
              <a:lnSpc>
                <a:spcPts val="2530"/>
              </a:lnSpc>
              <a:spcBef>
                <a:spcPts val="475"/>
              </a:spcBef>
            </a:pPr>
            <a:r>
              <a:rPr sz="2400" dirty="0">
                <a:latin typeface="Rockwell"/>
                <a:cs typeface="Rockwell"/>
              </a:rPr>
              <a:t>I/O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Rockwell"/>
                <a:cs typeface="Rockwell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Rockwell"/>
                <a:cs typeface="Rockwell"/>
              </a:rPr>
              <a:t>processor</a:t>
            </a:r>
            <a:endParaRPr sz="2400">
              <a:latin typeface="Rockwell"/>
              <a:cs typeface="Rockwel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883152" y="2711195"/>
            <a:ext cx="1546860" cy="3510279"/>
            <a:chOff x="3883152" y="2711195"/>
            <a:chExt cx="1546860" cy="3510279"/>
          </a:xfrm>
        </p:grpSpPr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3632" y="2711195"/>
              <a:ext cx="1415796" cy="350977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883152" y="3715511"/>
              <a:ext cx="1546860" cy="155448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983736" y="2755391"/>
              <a:ext cx="1277112" cy="337108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984498" y="2756794"/>
              <a:ext cx="1275715" cy="3368040"/>
            </a:xfrm>
            <a:custGeom>
              <a:avLst/>
              <a:gdLst/>
              <a:ahLst/>
              <a:cxnLst/>
              <a:rect l="l" t="t" r="r" b="b"/>
              <a:pathLst>
                <a:path w="1275714" h="3368040">
                  <a:moveTo>
                    <a:pt x="0" y="127497"/>
                  </a:moveTo>
                  <a:lnTo>
                    <a:pt x="10028" y="77846"/>
                  </a:lnTo>
                  <a:lnTo>
                    <a:pt x="37368" y="37322"/>
                  </a:lnTo>
                  <a:lnTo>
                    <a:pt x="77898" y="10011"/>
                  </a:lnTo>
                  <a:lnTo>
                    <a:pt x="127497" y="0"/>
                  </a:lnTo>
                  <a:lnTo>
                    <a:pt x="1147815" y="0"/>
                  </a:lnTo>
                  <a:lnTo>
                    <a:pt x="1197484" y="10011"/>
                  </a:lnTo>
                  <a:lnTo>
                    <a:pt x="1238017" y="37322"/>
                  </a:lnTo>
                  <a:lnTo>
                    <a:pt x="1265331" y="77846"/>
                  </a:lnTo>
                  <a:lnTo>
                    <a:pt x="1275344" y="127497"/>
                  </a:lnTo>
                  <a:lnTo>
                    <a:pt x="1275344" y="3240465"/>
                  </a:lnTo>
                  <a:lnTo>
                    <a:pt x="1265331" y="3290103"/>
                  </a:lnTo>
                  <a:lnTo>
                    <a:pt x="1238017" y="3330640"/>
                  </a:lnTo>
                  <a:lnTo>
                    <a:pt x="1197484" y="3357971"/>
                  </a:lnTo>
                  <a:lnTo>
                    <a:pt x="1147815" y="3367994"/>
                  </a:lnTo>
                  <a:lnTo>
                    <a:pt x="127497" y="3367994"/>
                  </a:lnTo>
                  <a:lnTo>
                    <a:pt x="77898" y="3357971"/>
                  </a:lnTo>
                  <a:lnTo>
                    <a:pt x="37368" y="3330640"/>
                  </a:lnTo>
                  <a:lnTo>
                    <a:pt x="10028" y="3290103"/>
                  </a:lnTo>
                  <a:lnTo>
                    <a:pt x="0" y="3240465"/>
                  </a:lnTo>
                  <a:lnTo>
                    <a:pt x="0" y="127497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040124" y="3753611"/>
              <a:ext cx="1228344" cy="42062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015740" y="3954779"/>
              <a:ext cx="1278636" cy="42062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947160" y="4155947"/>
              <a:ext cx="1418843" cy="42062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026408" y="4357116"/>
              <a:ext cx="1258824" cy="42062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195572" y="4558283"/>
              <a:ext cx="920496" cy="4206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148328" y="4759451"/>
              <a:ext cx="967739" cy="420624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4052446" y="3792674"/>
            <a:ext cx="1140460" cy="126047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-1270" algn="ctr">
              <a:lnSpc>
                <a:spcPts val="1580"/>
              </a:lnSpc>
              <a:spcBef>
                <a:spcPts val="335"/>
              </a:spcBef>
            </a:pP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Processor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reads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from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an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Rockwell"/>
                <a:cs typeface="Rockwell"/>
              </a:rPr>
              <a:t>I/O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device</a:t>
            </a:r>
            <a:r>
              <a:rPr sz="15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Rockwell"/>
                <a:cs typeface="Rockwell"/>
              </a:rPr>
              <a:t>via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an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Rockwell"/>
                <a:cs typeface="Rockwell"/>
              </a:rPr>
              <a:t>I/O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module</a:t>
            </a:r>
            <a:endParaRPr sz="1500">
              <a:latin typeface="Rockwell"/>
              <a:cs typeface="Rockwel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401055" y="1156716"/>
            <a:ext cx="1945005" cy="5323840"/>
            <a:chOff x="5401055" y="1156716"/>
            <a:chExt cx="1945005" cy="5323840"/>
          </a:xfrm>
        </p:grpSpPr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68111" y="1156716"/>
              <a:ext cx="1735836" cy="532333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401055" y="1493520"/>
              <a:ext cx="1944624" cy="1077467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536691" y="1200912"/>
              <a:ext cx="1597152" cy="5184648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538855" y="1202314"/>
              <a:ext cx="1594485" cy="5181600"/>
            </a:xfrm>
            <a:custGeom>
              <a:avLst/>
              <a:gdLst/>
              <a:ahLst/>
              <a:cxnLst/>
              <a:rect l="l" t="t" r="r" b="b"/>
              <a:pathLst>
                <a:path w="1594484" h="5181600">
                  <a:moveTo>
                    <a:pt x="0" y="159379"/>
                  </a:moveTo>
                  <a:lnTo>
                    <a:pt x="8127" y="109002"/>
                  </a:lnTo>
                  <a:lnTo>
                    <a:pt x="30758" y="65250"/>
                  </a:lnTo>
                  <a:lnTo>
                    <a:pt x="65264" y="30750"/>
                  </a:lnTo>
                  <a:lnTo>
                    <a:pt x="109014" y="8124"/>
                  </a:lnTo>
                  <a:lnTo>
                    <a:pt x="159379" y="0"/>
                  </a:lnTo>
                  <a:lnTo>
                    <a:pt x="1434724" y="0"/>
                  </a:lnTo>
                  <a:lnTo>
                    <a:pt x="1485089" y="8124"/>
                  </a:lnTo>
                  <a:lnTo>
                    <a:pt x="1528839" y="30750"/>
                  </a:lnTo>
                  <a:lnTo>
                    <a:pt x="1563345" y="65250"/>
                  </a:lnTo>
                  <a:lnTo>
                    <a:pt x="1585976" y="109002"/>
                  </a:lnTo>
                  <a:lnTo>
                    <a:pt x="1594103" y="159379"/>
                  </a:lnTo>
                  <a:lnTo>
                    <a:pt x="1594103" y="5022131"/>
                  </a:lnTo>
                  <a:lnTo>
                    <a:pt x="1585976" y="5072520"/>
                  </a:lnTo>
                  <a:lnTo>
                    <a:pt x="1563345" y="5116283"/>
                  </a:lnTo>
                  <a:lnTo>
                    <a:pt x="1528839" y="5150794"/>
                  </a:lnTo>
                  <a:lnTo>
                    <a:pt x="1485089" y="5173426"/>
                  </a:lnTo>
                  <a:lnTo>
                    <a:pt x="1434724" y="5181554"/>
                  </a:lnTo>
                  <a:lnTo>
                    <a:pt x="159379" y="5181554"/>
                  </a:lnTo>
                  <a:lnTo>
                    <a:pt x="109014" y="5173426"/>
                  </a:lnTo>
                  <a:lnTo>
                    <a:pt x="65264" y="5150794"/>
                  </a:lnTo>
                  <a:lnTo>
                    <a:pt x="30758" y="5116283"/>
                  </a:lnTo>
                  <a:lnTo>
                    <a:pt x="8127" y="5072520"/>
                  </a:lnTo>
                  <a:lnTo>
                    <a:pt x="0" y="5022131"/>
                  </a:lnTo>
                  <a:lnTo>
                    <a:pt x="0" y="159379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5633724" y="1593337"/>
            <a:ext cx="1405890" cy="71310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94640" marR="5080" indent="-281940">
              <a:lnSpc>
                <a:spcPts val="2530"/>
              </a:lnSpc>
              <a:spcBef>
                <a:spcPts val="475"/>
              </a:spcBef>
            </a:pPr>
            <a:r>
              <a:rPr sz="2400" spc="-20" dirty="0">
                <a:latin typeface="Rockwell"/>
                <a:cs typeface="Rockwell"/>
              </a:rPr>
              <a:t>Processor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Rockwell"/>
                <a:cs typeface="Rockwell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Rockwell"/>
                <a:cs typeface="Rockwell"/>
              </a:rPr>
              <a:t>I/O</a:t>
            </a:r>
            <a:endParaRPr sz="2400">
              <a:latin typeface="Rockwell"/>
              <a:cs typeface="Rockwel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628132" y="2711195"/>
            <a:ext cx="1454150" cy="3510279"/>
            <a:chOff x="5628132" y="2711195"/>
            <a:chExt cx="1454150" cy="3510279"/>
          </a:xfrm>
        </p:grpSpPr>
        <p:pic>
          <p:nvPicPr>
            <p:cNvPr id="63" name="object 6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28132" y="2711195"/>
              <a:ext cx="1415796" cy="350977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655564" y="3916679"/>
              <a:ext cx="1426464" cy="115214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696712" y="2755391"/>
              <a:ext cx="1278636" cy="337108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698235" y="2756794"/>
              <a:ext cx="1275715" cy="3368040"/>
            </a:xfrm>
            <a:custGeom>
              <a:avLst/>
              <a:gdLst/>
              <a:ahLst/>
              <a:cxnLst/>
              <a:rect l="l" t="t" r="r" b="b"/>
              <a:pathLst>
                <a:path w="1275715" h="3368040">
                  <a:moveTo>
                    <a:pt x="0" y="127497"/>
                  </a:moveTo>
                  <a:lnTo>
                    <a:pt x="10028" y="77846"/>
                  </a:lnTo>
                  <a:lnTo>
                    <a:pt x="37368" y="37322"/>
                  </a:lnTo>
                  <a:lnTo>
                    <a:pt x="77898" y="10011"/>
                  </a:lnTo>
                  <a:lnTo>
                    <a:pt x="127497" y="0"/>
                  </a:lnTo>
                  <a:lnTo>
                    <a:pt x="1147815" y="0"/>
                  </a:lnTo>
                  <a:lnTo>
                    <a:pt x="1197484" y="10011"/>
                  </a:lnTo>
                  <a:lnTo>
                    <a:pt x="1238017" y="37322"/>
                  </a:lnTo>
                  <a:lnTo>
                    <a:pt x="1265331" y="77846"/>
                  </a:lnTo>
                  <a:lnTo>
                    <a:pt x="1275344" y="127497"/>
                  </a:lnTo>
                  <a:lnTo>
                    <a:pt x="1275344" y="3240465"/>
                  </a:lnTo>
                  <a:lnTo>
                    <a:pt x="1265331" y="3290103"/>
                  </a:lnTo>
                  <a:lnTo>
                    <a:pt x="1238017" y="3330640"/>
                  </a:lnTo>
                  <a:lnTo>
                    <a:pt x="1197484" y="3357971"/>
                  </a:lnTo>
                  <a:lnTo>
                    <a:pt x="1147815" y="3367994"/>
                  </a:lnTo>
                  <a:lnTo>
                    <a:pt x="127497" y="3367994"/>
                  </a:lnTo>
                  <a:lnTo>
                    <a:pt x="77898" y="3357971"/>
                  </a:lnTo>
                  <a:lnTo>
                    <a:pt x="37368" y="3330640"/>
                  </a:lnTo>
                  <a:lnTo>
                    <a:pt x="10028" y="3290103"/>
                  </a:lnTo>
                  <a:lnTo>
                    <a:pt x="0" y="3240465"/>
                  </a:lnTo>
                  <a:lnTo>
                    <a:pt x="0" y="127497"/>
                  </a:lnTo>
                  <a:close/>
                </a:path>
              </a:pathLst>
            </a:custGeom>
            <a:ln w="9524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753100" y="3954779"/>
              <a:ext cx="1228344" cy="42062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719572" y="4155947"/>
              <a:ext cx="1298447" cy="42062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765292" y="4357116"/>
              <a:ext cx="1207008" cy="420624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907024" y="4558283"/>
              <a:ext cx="876300" cy="420624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826002" y="3994147"/>
            <a:ext cx="1022350" cy="8578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-1905" algn="ctr">
              <a:lnSpc>
                <a:spcPct val="88100"/>
              </a:lnSpc>
              <a:spcBef>
                <a:spcPts val="315"/>
              </a:spcBef>
            </a:pP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Processor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sends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to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Rockwell"/>
                <a:cs typeface="Rockwell"/>
              </a:rPr>
              <a:t>I/O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device</a:t>
            </a:r>
            <a:endParaRPr sz="1500">
              <a:latin typeface="Rockwell"/>
              <a:cs typeface="Rockwel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7182611" y="1156716"/>
            <a:ext cx="1786255" cy="5323840"/>
            <a:chOff x="7182611" y="1156716"/>
            <a:chExt cx="1786255" cy="5323840"/>
          </a:xfrm>
        </p:grpSpPr>
        <p:pic>
          <p:nvPicPr>
            <p:cNvPr id="73" name="object 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82611" y="1156716"/>
              <a:ext cx="1734311" cy="532333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208519" y="1331976"/>
              <a:ext cx="1760220" cy="139903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251191" y="1200912"/>
              <a:ext cx="1597152" cy="5184648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252593" y="1202314"/>
              <a:ext cx="1594485" cy="5181600"/>
            </a:xfrm>
            <a:custGeom>
              <a:avLst/>
              <a:gdLst/>
              <a:ahLst/>
              <a:cxnLst/>
              <a:rect l="l" t="t" r="r" b="b"/>
              <a:pathLst>
                <a:path w="1594484" h="5181600">
                  <a:moveTo>
                    <a:pt x="0" y="159379"/>
                  </a:moveTo>
                  <a:lnTo>
                    <a:pt x="8127" y="109002"/>
                  </a:lnTo>
                  <a:lnTo>
                    <a:pt x="30758" y="65250"/>
                  </a:lnTo>
                  <a:lnTo>
                    <a:pt x="65264" y="30750"/>
                  </a:lnTo>
                  <a:lnTo>
                    <a:pt x="109014" y="8124"/>
                  </a:lnTo>
                  <a:lnTo>
                    <a:pt x="159379" y="0"/>
                  </a:lnTo>
                  <a:lnTo>
                    <a:pt x="1434724" y="0"/>
                  </a:lnTo>
                  <a:lnTo>
                    <a:pt x="1485089" y="8124"/>
                  </a:lnTo>
                  <a:lnTo>
                    <a:pt x="1528839" y="30750"/>
                  </a:lnTo>
                  <a:lnTo>
                    <a:pt x="1563345" y="65250"/>
                  </a:lnTo>
                  <a:lnTo>
                    <a:pt x="1585976" y="109002"/>
                  </a:lnTo>
                  <a:lnTo>
                    <a:pt x="1594103" y="159379"/>
                  </a:lnTo>
                  <a:lnTo>
                    <a:pt x="1594103" y="5022131"/>
                  </a:lnTo>
                  <a:lnTo>
                    <a:pt x="1585976" y="5072520"/>
                  </a:lnTo>
                  <a:lnTo>
                    <a:pt x="1563345" y="5116283"/>
                  </a:lnTo>
                  <a:lnTo>
                    <a:pt x="1528839" y="5150794"/>
                  </a:lnTo>
                  <a:lnTo>
                    <a:pt x="1485089" y="5173426"/>
                  </a:lnTo>
                  <a:lnTo>
                    <a:pt x="1434724" y="5181554"/>
                  </a:lnTo>
                  <a:lnTo>
                    <a:pt x="159379" y="5181554"/>
                  </a:lnTo>
                  <a:lnTo>
                    <a:pt x="109014" y="5173426"/>
                  </a:lnTo>
                  <a:lnTo>
                    <a:pt x="65264" y="5150794"/>
                  </a:lnTo>
                  <a:lnTo>
                    <a:pt x="30758" y="5116283"/>
                  </a:lnTo>
                  <a:lnTo>
                    <a:pt x="8127" y="5072520"/>
                  </a:lnTo>
                  <a:lnTo>
                    <a:pt x="0" y="5022131"/>
                  </a:lnTo>
                  <a:lnTo>
                    <a:pt x="0" y="159379"/>
                  </a:lnTo>
                  <a:close/>
                </a:path>
              </a:pathLst>
            </a:custGeom>
            <a:ln w="9524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7440555" y="1431742"/>
            <a:ext cx="1219200" cy="10350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065" marR="5080" algn="ctr">
              <a:lnSpc>
                <a:spcPts val="2530"/>
              </a:lnSpc>
              <a:spcBef>
                <a:spcPts val="475"/>
              </a:spcBef>
            </a:pPr>
            <a:r>
              <a:rPr sz="2400" dirty="0">
                <a:latin typeface="Rockwell"/>
                <a:cs typeface="Rockwell"/>
              </a:rPr>
              <a:t>I/O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Rockwell"/>
                <a:cs typeface="Rockwell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Rockwell"/>
                <a:cs typeface="Rockwell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Rockwell"/>
                <a:cs typeface="Rockwell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Rockwell"/>
                <a:cs typeface="Rockwell"/>
              </a:rPr>
              <a:t>memory</a:t>
            </a:r>
            <a:endParaRPr sz="2400">
              <a:latin typeface="Rockwell"/>
              <a:cs typeface="Rockwel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7306056" y="2711195"/>
            <a:ext cx="1553210" cy="3510279"/>
            <a:chOff x="7306056" y="2711195"/>
            <a:chExt cx="1553210" cy="3510279"/>
          </a:xfrm>
        </p:grpSpPr>
        <p:pic>
          <p:nvPicPr>
            <p:cNvPr id="79" name="object 7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41108" y="2711195"/>
              <a:ext cx="1415796" cy="350977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306056" y="2808731"/>
              <a:ext cx="1552955" cy="3366516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411212" y="2755391"/>
              <a:ext cx="1277111" cy="3371087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7411974" y="2756794"/>
              <a:ext cx="1275715" cy="3368040"/>
            </a:xfrm>
            <a:custGeom>
              <a:avLst/>
              <a:gdLst/>
              <a:ahLst/>
              <a:cxnLst/>
              <a:rect l="l" t="t" r="r" b="b"/>
              <a:pathLst>
                <a:path w="1275715" h="3368040">
                  <a:moveTo>
                    <a:pt x="0" y="127497"/>
                  </a:moveTo>
                  <a:lnTo>
                    <a:pt x="10028" y="77846"/>
                  </a:lnTo>
                  <a:lnTo>
                    <a:pt x="37368" y="37322"/>
                  </a:lnTo>
                  <a:lnTo>
                    <a:pt x="77898" y="10011"/>
                  </a:lnTo>
                  <a:lnTo>
                    <a:pt x="127497" y="0"/>
                  </a:lnTo>
                  <a:lnTo>
                    <a:pt x="1147815" y="0"/>
                  </a:lnTo>
                  <a:lnTo>
                    <a:pt x="1197484" y="10011"/>
                  </a:lnTo>
                  <a:lnTo>
                    <a:pt x="1238017" y="37322"/>
                  </a:lnTo>
                  <a:lnTo>
                    <a:pt x="1265331" y="77846"/>
                  </a:lnTo>
                  <a:lnTo>
                    <a:pt x="1275344" y="127497"/>
                  </a:lnTo>
                  <a:lnTo>
                    <a:pt x="1275344" y="3240465"/>
                  </a:lnTo>
                  <a:lnTo>
                    <a:pt x="1265331" y="3290103"/>
                  </a:lnTo>
                  <a:lnTo>
                    <a:pt x="1238017" y="3330640"/>
                  </a:lnTo>
                  <a:lnTo>
                    <a:pt x="1197484" y="3357971"/>
                  </a:lnTo>
                  <a:lnTo>
                    <a:pt x="1147815" y="3367994"/>
                  </a:lnTo>
                  <a:lnTo>
                    <a:pt x="127497" y="3367994"/>
                  </a:lnTo>
                  <a:lnTo>
                    <a:pt x="77898" y="3357971"/>
                  </a:lnTo>
                  <a:lnTo>
                    <a:pt x="37368" y="3330640"/>
                  </a:lnTo>
                  <a:lnTo>
                    <a:pt x="10028" y="3290103"/>
                  </a:lnTo>
                  <a:lnTo>
                    <a:pt x="0" y="3240465"/>
                  </a:lnTo>
                  <a:lnTo>
                    <a:pt x="0" y="127497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612380" y="2848355"/>
              <a:ext cx="941831" cy="420624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469124" y="3049523"/>
              <a:ext cx="1226820" cy="42062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455408" y="3250691"/>
              <a:ext cx="1255776" cy="420623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482840" y="3451859"/>
              <a:ext cx="1199387" cy="420624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728204" y="3653027"/>
              <a:ext cx="708659" cy="42062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566660" y="3854195"/>
              <a:ext cx="1033272" cy="420624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728204" y="4055363"/>
              <a:ext cx="708659" cy="42062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528560" y="4256531"/>
              <a:ext cx="1107948" cy="42062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581900" y="4459223"/>
              <a:ext cx="1002792" cy="420624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667244" y="4660391"/>
              <a:ext cx="832103" cy="42062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392924" y="4861560"/>
              <a:ext cx="1380744" cy="42062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472172" y="5062727"/>
              <a:ext cx="1220724" cy="420623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370064" y="5263895"/>
              <a:ext cx="1424940" cy="420623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528560" y="5465063"/>
              <a:ext cx="1107948" cy="420624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616952" y="5666231"/>
              <a:ext cx="883920" cy="420624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7475987" y="2886579"/>
            <a:ext cx="1148715" cy="30727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1270" algn="ctr">
              <a:lnSpc>
                <a:spcPct val="88100"/>
              </a:lnSpc>
              <a:spcBef>
                <a:spcPts val="315"/>
              </a:spcBef>
            </a:pP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An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Rockwell"/>
                <a:cs typeface="Rockwell"/>
              </a:rPr>
              <a:t>I/O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module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Rockwell"/>
                <a:cs typeface="Rockwell"/>
              </a:rPr>
              <a:t>is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allowed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35" dirty="0">
                <a:solidFill>
                  <a:srgbClr val="FFFFFF"/>
                </a:solidFill>
                <a:latin typeface="Rockwell"/>
                <a:cs typeface="Rockwell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exchange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directly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Rockwell"/>
                <a:cs typeface="Rockwell"/>
              </a:rPr>
              <a:t>with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memory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without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going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through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processor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FFFFFF"/>
                </a:solidFill>
                <a:latin typeface="Rockwell"/>
                <a:cs typeface="Rockwell"/>
              </a:rPr>
              <a:t>using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direct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memory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Rockwell"/>
                <a:cs typeface="Rockwell"/>
              </a:rPr>
              <a:t>access</a:t>
            </a:r>
            <a:endParaRPr sz="1500">
              <a:latin typeface="Rockwell"/>
              <a:cs typeface="Rockwell"/>
            </a:endParaRPr>
          </a:p>
        </p:txBody>
      </p:sp>
      <p:sp>
        <p:nvSpPr>
          <p:cNvPr id="99" name="object 9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41736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object 33"/>
          <p:cNvGrpSpPr/>
          <p:nvPr/>
        </p:nvGrpSpPr>
        <p:grpSpPr>
          <a:xfrm>
            <a:off x="487680" y="161544"/>
            <a:ext cx="3435985" cy="1789430"/>
            <a:chOff x="487680" y="161544"/>
            <a:chExt cx="3435985" cy="1789430"/>
          </a:xfrm>
        </p:grpSpPr>
        <p:sp>
          <p:nvSpPr>
            <p:cNvPr id="34" name="object 34"/>
            <p:cNvSpPr/>
            <p:nvPr/>
          </p:nvSpPr>
          <p:spPr>
            <a:xfrm>
              <a:off x="3318753" y="978925"/>
              <a:ext cx="605155" cy="103505"/>
            </a:xfrm>
            <a:custGeom>
              <a:avLst/>
              <a:gdLst/>
              <a:ahLst/>
              <a:cxnLst/>
              <a:rect l="l" t="t" r="r" b="b"/>
              <a:pathLst>
                <a:path w="605154" h="103505">
                  <a:moveTo>
                    <a:pt x="579648" y="51678"/>
                  </a:moveTo>
                  <a:lnTo>
                    <a:pt x="509778" y="92445"/>
                  </a:lnTo>
                  <a:lnTo>
                    <a:pt x="508772" y="96255"/>
                  </a:lnTo>
                  <a:lnTo>
                    <a:pt x="510540" y="99303"/>
                  </a:lnTo>
                  <a:lnTo>
                    <a:pt x="512338" y="102351"/>
                  </a:lnTo>
                  <a:lnTo>
                    <a:pt x="516270" y="103357"/>
                  </a:lnTo>
                  <a:lnTo>
                    <a:pt x="519196" y="101589"/>
                  </a:lnTo>
                  <a:lnTo>
                    <a:pt x="594001" y="58015"/>
                  </a:lnTo>
                  <a:lnTo>
                    <a:pt x="592205" y="58015"/>
                  </a:lnTo>
                  <a:lnTo>
                    <a:pt x="592205" y="57150"/>
                  </a:lnTo>
                  <a:lnTo>
                    <a:pt x="589026" y="57150"/>
                  </a:lnTo>
                  <a:lnTo>
                    <a:pt x="579648" y="51678"/>
                  </a:lnTo>
                  <a:close/>
                </a:path>
                <a:path w="605154" h="103505">
                  <a:moveTo>
                    <a:pt x="568756" y="45323"/>
                  </a:moveTo>
                  <a:lnTo>
                    <a:pt x="0" y="45323"/>
                  </a:lnTo>
                  <a:lnTo>
                    <a:pt x="0" y="58015"/>
                  </a:lnTo>
                  <a:lnTo>
                    <a:pt x="568787" y="58015"/>
                  </a:lnTo>
                  <a:lnTo>
                    <a:pt x="579648" y="51678"/>
                  </a:lnTo>
                  <a:lnTo>
                    <a:pt x="568756" y="45323"/>
                  </a:lnTo>
                  <a:close/>
                </a:path>
                <a:path w="605154" h="103505">
                  <a:moveTo>
                    <a:pt x="594015" y="45323"/>
                  </a:moveTo>
                  <a:lnTo>
                    <a:pt x="592205" y="45323"/>
                  </a:lnTo>
                  <a:lnTo>
                    <a:pt x="592205" y="58015"/>
                  </a:lnTo>
                  <a:lnTo>
                    <a:pt x="594001" y="58015"/>
                  </a:lnTo>
                  <a:lnTo>
                    <a:pt x="604879" y="51678"/>
                  </a:lnTo>
                  <a:lnTo>
                    <a:pt x="594015" y="45323"/>
                  </a:lnTo>
                  <a:close/>
                </a:path>
                <a:path w="605154" h="103505">
                  <a:moveTo>
                    <a:pt x="589026" y="46207"/>
                  </a:moveTo>
                  <a:lnTo>
                    <a:pt x="579648" y="51678"/>
                  </a:lnTo>
                  <a:lnTo>
                    <a:pt x="589026" y="57150"/>
                  </a:lnTo>
                  <a:lnTo>
                    <a:pt x="589026" y="46207"/>
                  </a:lnTo>
                  <a:close/>
                </a:path>
                <a:path w="605154" h="103505">
                  <a:moveTo>
                    <a:pt x="592205" y="46207"/>
                  </a:moveTo>
                  <a:lnTo>
                    <a:pt x="589026" y="46207"/>
                  </a:lnTo>
                  <a:lnTo>
                    <a:pt x="589026" y="57150"/>
                  </a:lnTo>
                  <a:lnTo>
                    <a:pt x="592205" y="57150"/>
                  </a:lnTo>
                  <a:lnTo>
                    <a:pt x="592205" y="46207"/>
                  </a:lnTo>
                  <a:close/>
                </a:path>
                <a:path w="605154" h="103505">
                  <a:moveTo>
                    <a:pt x="516270" y="0"/>
                  </a:moveTo>
                  <a:lnTo>
                    <a:pt x="512338" y="1005"/>
                  </a:lnTo>
                  <a:lnTo>
                    <a:pt x="510540" y="4053"/>
                  </a:lnTo>
                  <a:lnTo>
                    <a:pt x="508772" y="7101"/>
                  </a:lnTo>
                  <a:lnTo>
                    <a:pt x="509778" y="10911"/>
                  </a:lnTo>
                  <a:lnTo>
                    <a:pt x="579648" y="51678"/>
                  </a:lnTo>
                  <a:lnTo>
                    <a:pt x="589026" y="46207"/>
                  </a:lnTo>
                  <a:lnTo>
                    <a:pt x="592205" y="46207"/>
                  </a:lnTo>
                  <a:lnTo>
                    <a:pt x="592205" y="45323"/>
                  </a:lnTo>
                  <a:lnTo>
                    <a:pt x="594015" y="45323"/>
                  </a:lnTo>
                  <a:lnTo>
                    <a:pt x="519196" y="1767"/>
                  </a:lnTo>
                  <a:lnTo>
                    <a:pt x="516270" y="0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252" y="161544"/>
              <a:ext cx="2894076" cy="178917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680" y="192024"/>
              <a:ext cx="2708147" cy="130149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260" y="199644"/>
              <a:ext cx="2766059" cy="166116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51764" y="263773"/>
            <a:ext cx="2329815" cy="1057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1590"/>
              </a:lnSpc>
              <a:spcBef>
                <a:spcPts val="325"/>
              </a:spcBef>
            </a:pP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communication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pathway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connecting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two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or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Rockwell"/>
                <a:cs typeface="Rockwell"/>
              </a:rPr>
              <a:t>more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devices</a:t>
            </a:r>
            <a:endParaRPr sz="1500">
              <a:latin typeface="Rockwell"/>
              <a:cs typeface="Rockwell"/>
            </a:endParaRPr>
          </a:p>
          <a:p>
            <a:pPr marL="127000" marR="96520" indent="-114300">
              <a:lnSpc>
                <a:spcPts val="1260"/>
              </a:lnSpc>
              <a:spcBef>
                <a:spcPts val="620"/>
              </a:spcBef>
              <a:buChar char="•"/>
              <a:tabLst>
                <a:tab pos="127000" algn="l"/>
              </a:tabLst>
            </a:pPr>
            <a:r>
              <a:rPr sz="1200" spc="-10" dirty="0">
                <a:solidFill>
                  <a:srgbClr val="FFFFFF"/>
                </a:solidFill>
                <a:latin typeface="Rockwell"/>
                <a:cs typeface="Rockwell"/>
              </a:rPr>
              <a:t>Key</a:t>
            </a:r>
            <a:r>
              <a:rPr sz="1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characteristic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is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that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it</a:t>
            </a:r>
            <a:r>
              <a:rPr sz="1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is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1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ckwell"/>
                <a:cs typeface="Rockwell"/>
              </a:rPr>
              <a:t>shared</a:t>
            </a:r>
            <a:r>
              <a:rPr sz="1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ckwell"/>
                <a:cs typeface="Rockwell"/>
              </a:rPr>
              <a:t>transmission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ckwell"/>
                <a:cs typeface="Rockwell"/>
              </a:rPr>
              <a:t>medium</a:t>
            </a:r>
            <a:endParaRPr sz="1200">
              <a:latin typeface="Rockwell"/>
              <a:cs typeface="Rockwel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887342" y="161544"/>
            <a:ext cx="4902200" cy="2301240"/>
            <a:chOff x="1887342" y="161544"/>
            <a:chExt cx="4902200" cy="2301240"/>
          </a:xfrm>
        </p:grpSpPr>
        <p:sp>
          <p:nvSpPr>
            <p:cNvPr id="40" name="object 40"/>
            <p:cNvSpPr/>
            <p:nvPr/>
          </p:nvSpPr>
          <p:spPr>
            <a:xfrm>
              <a:off x="1887342" y="1857633"/>
              <a:ext cx="3456940" cy="605155"/>
            </a:xfrm>
            <a:custGeom>
              <a:avLst/>
              <a:gdLst/>
              <a:ahLst/>
              <a:cxnLst/>
              <a:rect l="l" t="t" r="r" b="b"/>
              <a:pathLst>
                <a:path w="3456940" h="605155">
                  <a:moveTo>
                    <a:pt x="7120" y="508894"/>
                  </a:moveTo>
                  <a:lnTo>
                    <a:pt x="1024" y="512429"/>
                  </a:lnTo>
                  <a:lnTo>
                    <a:pt x="0" y="516239"/>
                  </a:lnTo>
                  <a:lnTo>
                    <a:pt x="51697" y="604906"/>
                  </a:lnTo>
                  <a:lnTo>
                    <a:pt x="59052" y="592317"/>
                  </a:lnTo>
                  <a:lnTo>
                    <a:pt x="45339" y="592317"/>
                  </a:lnTo>
                  <a:lnTo>
                    <a:pt x="45339" y="568677"/>
                  </a:lnTo>
                  <a:lnTo>
                    <a:pt x="11049" y="509899"/>
                  </a:lnTo>
                  <a:lnTo>
                    <a:pt x="7120" y="508894"/>
                  </a:lnTo>
                  <a:close/>
                </a:path>
                <a:path w="3456940" h="605155">
                  <a:moveTo>
                    <a:pt x="45339" y="568677"/>
                  </a:moveTo>
                  <a:lnTo>
                    <a:pt x="45339" y="592317"/>
                  </a:lnTo>
                  <a:lnTo>
                    <a:pt x="58043" y="592317"/>
                  </a:lnTo>
                  <a:lnTo>
                    <a:pt x="58043" y="589147"/>
                  </a:lnTo>
                  <a:lnTo>
                    <a:pt x="46232" y="589147"/>
                  </a:lnTo>
                  <a:lnTo>
                    <a:pt x="51756" y="579678"/>
                  </a:lnTo>
                  <a:lnTo>
                    <a:pt x="45339" y="568677"/>
                  </a:lnTo>
                  <a:close/>
                </a:path>
                <a:path w="3456940" h="605155">
                  <a:moveTo>
                    <a:pt x="96393" y="508894"/>
                  </a:moveTo>
                  <a:lnTo>
                    <a:pt x="92464" y="509899"/>
                  </a:lnTo>
                  <a:lnTo>
                    <a:pt x="58043" y="568902"/>
                  </a:lnTo>
                  <a:lnTo>
                    <a:pt x="58043" y="592317"/>
                  </a:lnTo>
                  <a:lnTo>
                    <a:pt x="59052" y="592317"/>
                  </a:lnTo>
                  <a:lnTo>
                    <a:pt x="103513" y="516239"/>
                  </a:lnTo>
                  <a:lnTo>
                    <a:pt x="102489" y="512429"/>
                  </a:lnTo>
                  <a:lnTo>
                    <a:pt x="96393" y="508894"/>
                  </a:lnTo>
                  <a:close/>
                </a:path>
                <a:path w="3456940" h="605155">
                  <a:moveTo>
                    <a:pt x="51756" y="579678"/>
                  </a:moveTo>
                  <a:lnTo>
                    <a:pt x="46232" y="589147"/>
                  </a:lnTo>
                  <a:lnTo>
                    <a:pt x="57281" y="589147"/>
                  </a:lnTo>
                  <a:lnTo>
                    <a:pt x="51756" y="579678"/>
                  </a:lnTo>
                  <a:close/>
                </a:path>
                <a:path w="3456940" h="605155">
                  <a:moveTo>
                    <a:pt x="58043" y="568902"/>
                  </a:moveTo>
                  <a:lnTo>
                    <a:pt x="51756" y="579678"/>
                  </a:lnTo>
                  <a:lnTo>
                    <a:pt x="57281" y="589147"/>
                  </a:lnTo>
                  <a:lnTo>
                    <a:pt x="58043" y="589147"/>
                  </a:lnTo>
                  <a:lnTo>
                    <a:pt x="58043" y="568902"/>
                  </a:lnTo>
                  <a:close/>
                </a:path>
                <a:path w="3456940" h="605155">
                  <a:moveTo>
                    <a:pt x="3443731" y="313182"/>
                  </a:moveTo>
                  <a:lnTo>
                    <a:pt x="48268" y="313182"/>
                  </a:lnTo>
                  <a:lnTo>
                    <a:pt x="45339" y="316108"/>
                  </a:lnTo>
                  <a:lnTo>
                    <a:pt x="45339" y="568677"/>
                  </a:lnTo>
                  <a:lnTo>
                    <a:pt x="51756" y="579678"/>
                  </a:lnTo>
                  <a:lnTo>
                    <a:pt x="58043" y="568902"/>
                  </a:lnTo>
                  <a:lnTo>
                    <a:pt x="58043" y="325861"/>
                  </a:lnTo>
                  <a:lnTo>
                    <a:pt x="51697" y="325861"/>
                  </a:lnTo>
                  <a:lnTo>
                    <a:pt x="58043" y="319521"/>
                  </a:lnTo>
                  <a:lnTo>
                    <a:pt x="3443731" y="319521"/>
                  </a:lnTo>
                  <a:lnTo>
                    <a:pt x="3443731" y="313182"/>
                  </a:lnTo>
                  <a:close/>
                </a:path>
                <a:path w="3456940" h="605155">
                  <a:moveTo>
                    <a:pt x="58043" y="319521"/>
                  </a:moveTo>
                  <a:lnTo>
                    <a:pt x="51697" y="325861"/>
                  </a:lnTo>
                  <a:lnTo>
                    <a:pt x="58043" y="325861"/>
                  </a:lnTo>
                  <a:lnTo>
                    <a:pt x="58043" y="319521"/>
                  </a:lnTo>
                  <a:close/>
                </a:path>
                <a:path w="3456940" h="605155">
                  <a:moveTo>
                    <a:pt x="3456441" y="313182"/>
                  </a:moveTo>
                  <a:lnTo>
                    <a:pt x="3450101" y="313182"/>
                  </a:lnTo>
                  <a:lnTo>
                    <a:pt x="3443731" y="319521"/>
                  </a:lnTo>
                  <a:lnTo>
                    <a:pt x="58043" y="319521"/>
                  </a:lnTo>
                  <a:lnTo>
                    <a:pt x="58043" y="325861"/>
                  </a:lnTo>
                  <a:lnTo>
                    <a:pt x="3453515" y="325861"/>
                  </a:lnTo>
                  <a:lnTo>
                    <a:pt x="3456441" y="323088"/>
                  </a:lnTo>
                  <a:lnTo>
                    <a:pt x="3456441" y="313182"/>
                  </a:lnTo>
                  <a:close/>
                </a:path>
                <a:path w="3456940" h="605155">
                  <a:moveTo>
                    <a:pt x="3456441" y="0"/>
                  </a:moveTo>
                  <a:lnTo>
                    <a:pt x="3443731" y="0"/>
                  </a:lnTo>
                  <a:lnTo>
                    <a:pt x="3443731" y="319521"/>
                  </a:lnTo>
                  <a:lnTo>
                    <a:pt x="3450101" y="313182"/>
                  </a:lnTo>
                  <a:lnTo>
                    <a:pt x="3456441" y="313182"/>
                  </a:lnTo>
                  <a:lnTo>
                    <a:pt x="3456441" y="0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0772" y="161544"/>
              <a:ext cx="2894076" cy="178917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86200" y="192024"/>
              <a:ext cx="2903220" cy="166420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54779" y="199644"/>
              <a:ext cx="2766059" cy="1661160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4050541" y="263773"/>
            <a:ext cx="2555875" cy="142049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106680">
              <a:lnSpc>
                <a:spcPct val="88000"/>
              </a:lnSpc>
              <a:spcBef>
                <a:spcPts val="315"/>
              </a:spcBef>
            </a:pP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Signals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transmitted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by</a:t>
            </a:r>
            <a:r>
              <a:rPr sz="15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ckwell"/>
                <a:cs typeface="Rockwell"/>
              </a:rPr>
              <a:t>any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one</a:t>
            </a:r>
            <a:r>
              <a:rPr sz="1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device</a:t>
            </a:r>
            <a:r>
              <a:rPr sz="15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are</a:t>
            </a:r>
            <a:r>
              <a:rPr sz="15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available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ckwell"/>
                <a:cs typeface="Rockwell"/>
              </a:rPr>
              <a:t>for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Rockwell"/>
                <a:cs typeface="Rockwell"/>
              </a:rPr>
              <a:t>reception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by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all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other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devices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attached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to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ckwell"/>
                <a:cs typeface="Rockwell"/>
              </a:rPr>
              <a:t>bus</a:t>
            </a:r>
            <a:endParaRPr sz="1500">
              <a:latin typeface="Rockwell"/>
              <a:cs typeface="Rockwell"/>
            </a:endParaRPr>
          </a:p>
          <a:p>
            <a:pPr marL="127000" marR="5080" indent="-114300">
              <a:lnSpc>
                <a:spcPct val="87900"/>
              </a:lnSpc>
              <a:spcBef>
                <a:spcPts val="630"/>
              </a:spcBef>
              <a:buChar char="•"/>
              <a:tabLst>
                <a:tab pos="127000" algn="l"/>
              </a:tabLst>
            </a:pP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If</a:t>
            </a:r>
            <a:r>
              <a:rPr sz="1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two</a:t>
            </a:r>
            <a:r>
              <a:rPr sz="1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devices</a:t>
            </a:r>
            <a:r>
              <a:rPr sz="1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transmit</a:t>
            </a:r>
            <a:r>
              <a:rPr sz="1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during</a:t>
            </a:r>
            <a:r>
              <a:rPr sz="1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same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time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period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their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signals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Rockwell"/>
                <a:cs typeface="Rockwell"/>
              </a:rPr>
              <a:t>will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ckwell"/>
                <a:cs typeface="Rockwell"/>
              </a:rPr>
              <a:t>overlap</a:t>
            </a:r>
            <a:r>
              <a:rPr sz="1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and</a:t>
            </a:r>
            <a:r>
              <a:rPr sz="1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become</a:t>
            </a:r>
            <a:r>
              <a:rPr sz="1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ckwell"/>
                <a:cs typeface="Rockwell"/>
              </a:rPr>
              <a:t>garbled</a:t>
            </a:r>
            <a:endParaRPr sz="1200">
              <a:latin typeface="Rockwell"/>
              <a:cs typeface="Rockwel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7383780" y="2622804"/>
            <a:ext cx="1353820" cy="2455545"/>
            <a:chOff x="7383780" y="2622804"/>
            <a:chExt cx="1353820" cy="2455545"/>
          </a:xfrm>
        </p:grpSpPr>
        <p:pic>
          <p:nvPicPr>
            <p:cNvPr id="3" name="object 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83780" y="2622804"/>
              <a:ext cx="1324355" cy="9982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8352" y="3351276"/>
              <a:ext cx="1324355" cy="9982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12736" y="4079748"/>
              <a:ext cx="1324355" cy="99821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651248" y="2551172"/>
            <a:ext cx="292100" cy="2212340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B</a:t>
            </a:r>
            <a:endParaRPr sz="3600">
              <a:latin typeface="Rockwell"/>
              <a:cs typeface="Rockwell"/>
            </a:endParaRPr>
          </a:p>
          <a:p>
            <a:pPr marL="41275" marR="9525" indent="-24765">
              <a:lnSpc>
                <a:spcPct val="132800"/>
              </a:lnSpc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u</a:t>
            </a:r>
            <a:r>
              <a:rPr sz="3600" spc="-5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s</a:t>
            </a:r>
            <a:endParaRPr sz="3600">
              <a:latin typeface="Rockwell"/>
              <a:cs typeface="Rockwel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3192" y="810768"/>
            <a:ext cx="1130935" cy="6047740"/>
            <a:chOff x="8013192" y="810768"/>
            <a:chExt cx="1130935" cy="6047740"/>
          </a:xfrm>
        </p:grpSpPr>
        <p:pic>
          <p:nvPicPr>
            <p:cNvPr id="7" name="object 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72628" y="810768"/>
              <a:ext cx="1071372" cy="99821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13192" y="1539240"/>
              <a:ext cx="1130807" cy="9982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74152" y="2267712"/>
              <a:ext cx="1069848" cy="9982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13192" y="2996184"/>
              <a:ext cx="1130807" cy="9982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48244" y="3724656"/>
              <a:ext cx="1095755" cy="9982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25384" y="4434839"/>
              <a:ext cx="1118616" cy="9982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13192" y="5163312"/>
              <a:ext cx="1130807" cy="9982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013192" y="5891782"/>
              <a:ext cx="1130807" cy="9662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639556" y="1165859"/>
              <a:ext cx="504444" cy="9982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39556" y="1894331"/>
              <a:ext cx="504444" cy="99822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51748" y="2622803"/>
              <a:ext cx="492251" cy="9982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700516" y="3351275"/>
              <a:ext cx="443483" cy="9982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703564" y="4079747"/>
              <a:ext cx="440435" cy="99821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39556" y="4808220"/>
              <a:ext cx="504444" cy="99821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639556" y="5536691"/>
              <a:ext cx="504444" cy="99821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280910" y="739421"/>
            <a:ext cx="287655" cy="148272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515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I</a:t>
            </a:r>
            <a:endParaRPr sz="3600">
              <a:latin typeface="Rockwell"/>
              <a:cs typeface="Rockwell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n</a:t>
            </a:r>
            <a:endParaRPr sz="3600">
              <a:latin typeface="Rockwell"/>
              <a:cs typeface="Rockwel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07275" y="1274178"/>
            <a:ext cx="287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n</a:t>
            </a:r>
            <a:endParaRPr sz="3600">
              <a:latin typeface="Rockwell"/>
              <a:cs typeface="Rockwel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93610" y="2196508"/>
            <a:ext cx="262255" cy="292227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indent="60960" algn="just">
              <a:lnSpc>
                <a:spcPct val="131700"/>
              </a:lnSpc>
              <a:spcBef>
                <a:spcPts val="145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t</a:t>
            </a:r>
            <a:r>
              <a:rPr sz="3600" spc="-5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e</a:t>
            </a:r>
            <a:r>
              <a:rPr sz="3600" spc="-5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r</a:t>
            </a:r>
            <a:r>
              <a:rPr sz="3600" spc="-5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c</a:t>
            </a:r>
            <a:endParaRPr sz="3600">
              <a:latin typeface="Rockwell"/>
              <a:cs typeface="Rockwel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07275" y="2002913"/>
            <a:ext cx="287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e</a:t>
            </a:r>
            <a:endParaRPr sz="3600">
              <a:latin typeface="Rockwell"/>
              <a:cs typeface="Rockwel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87680" y="2455164"/>
            <a:ext cx="3436620" cy="1788160"/>
            <a:chOff x="487680" y="2455164"/>
            <a:chExt cx="3436620" cy="1788160"/>
          </a:xfrm>
        </p:grpSpPr>
        <p:sp>
          <p:nvSpPr>
            <p:cNvPr id="46" name="object 46"/>
            <p:cNvSpPr/>
            <p:nvPr/>
          </p:nvSpPr>
          <p:spPr>
            <a:xfrm>
              <a:off x="3318753" y="3272027"/>
              <a:ext cx="605155" cy="103505"/>
            </a:xfrm>
            <a:custGeom>
              <a:avLst/>
              <a:gdLst/>
              <a:ahLst/>
              <a:cxnLst/>
              <a:rect l="l" t="t" r="r" b="b"/>
              <a:pathLst>
                <a:path w="605154" h="103504">
                  <a:moveTo>
                    <a:pt x="579565" y="51754"/>
                  </a:moveTo>
                  <a:lnTo>
                    <a:pt x="509778" y="92445"/>
                  </a:lnTo>
                  <a:lnTo>
                    <a:pt x="508772" y="96377"/>
                  </a:lnTo>
                  <a:lnTo>
                    <a:pt x="510540" y="99425"/>
                  </a:lnTo>
                  <a:lnTo>
                    <a:pt x="512338" y="102351"/>
                  </a:lnTo>
                  <a:lnTo>
                    <a:pt x="516270" y="103510"/>
                  </a:lnTo>
                  <a:lnTo>
                    <a:pt x="519196" y="101711"/>
                  </a:lnTo>
                  <a:lnTo>
                    <a:pt x="594052" y="58027"/>
                  </a:lnTo>
                  <a:lnTo>
                    <a:pt x="592205" y="58027"/>
                  </a:lnTo>
                  <a:lnTo>
                    <a:pt x="592205" y="57271"/>
                  </a:lnTo>
                  <a:lnTo>
                    <a:pt x="589026" y="57271"/>
                  </a:lnTo>
                  <a:lnTo>
                    <a:pt x="579565" y="51754"/>
                  </a:lnTo>
                  <a:close/>
                </a:path>
                <a:path w="605154" h="103504">
                  <a:moveTo>
                    <a:pt x="568538" y="45323"/>
                  </a:moveTo>
                  <a:lnTo>
                    <a:pt x="0" y="45323"/>
                  </a:lnTo>
                  <a:lnTo>
                    <a:pt x="0" y="58027"/>
                  </a:lnTo>
                  <a:lnTo>
                    <a:pt x="568806" y="58027"/>
                  </a:lnTo>
                  <a:lnTo>
                    <a:pt x="579565" y="51754"/>
                  </a:lnTo>
                  <a:lnTo>
                    <a:pt x="568538" y="45323"/>
                  </a:lnTo>
                  <a:close/>
                </a:path>
                <a:path w="605154" h="103504">
                  <a:moveTo>
                    <a:pt x="593969" y="45323"/>
                  </a:moveTo>
                  <a:lnTo>
                    <a:pt x="592205" y="45323"/>
                  </a:lnTo>
                  <a:lnTo>
                    <a:pt x="592205" y="58027"/>
                  </a:lnTo>
                  <a:lnTo>
                    <a:pt x="594052" y="58027"/>
                  </a:lnTo>
                  <a:lnTo>
                    <a:pt x="604802" y="51754"/>
                  </a:lnTo>
                  <a:lnTo>
                    <a:pt x="605009" y="51754"/>
                  </a:lnTo>
                  <a:lnTo>
                    <a:pt x="593969" y="45323"/>
                  </a:lnTo>
                  <a:close/>
                </a:path>
                <a:path w="605154" h="103504">
                  <a:moveTo>
                    <a:pt x="589026" y="46238"/>
                  </a:moveTo>
                  <a:lnTo>
                    <a:pt x="579565" y="51754"/>
                  </a:lnTo>
                  <a:lnTo>
                    <a:pt x="589026" y="57271"/>
                  </a:lnTo>
                  <a:lnTo>
                    <a:pt x="589026" y="46238"/>
                  </a:lnTo>
                  <a:close/>
                </a:path>
                <a:path w="605154" h="103504">
                  <a:moveTo>
                    <a:pt x="592205" y="46238"/>
                  </a:moveTo>
                  <a:lnTo>
                    <a:pt x="589026" y="46238"/>
                  </a:lnTo>
                  <a:lnTo>
                    <a:pt x="589026" y="57271"/>
                  </a:lnTo>
                  <a:lnTo>
                    <a:pt x="592205" y="57271"/>
                  </a:lnTo>
                  <a:lnTo>
                    <a:pt x="592205" y="46238"/>
                  </a:lnTo>
                  <a:close/>
                </a:path>
                <a:path w="605154" h="103504">
                  <a:moveTo>
                    <a:pt x="516270" y="0"/>
                  </a:moveTo>
                  <a:lnTo>
                    <a:pt x="512338" y="1005"/>
                  </a:lnTo>
                  <a:lnTo>
                    <a:pt x="510540" y="4053"/>
                  </a:lnTo>
                  <a:lnTo>
                    <a:pt x="508772" y="7101"/>
                  </a:lnTo>
                  <a:lnTo>
                    <a:pt x="509778" y="11033"/>
                  </a:lnTo>
                  <a:lnTo>
                    <a:pt x="579565" y="51754"/>
                  </a:lnTo>
                  <a:lnTo>
                    <a:pt x="589026" y="46238"/>
                  </a:lnTo>
                  <a:lnTo>
                    <a:pt x="592205" y="46238"/>
                  </a:lnTo>
                  <a:lnTo>
                    <a:pt x="592205" y="45323"/>
                  </a:lnTo>
                  <a:lnTo>
                    <a:pt x="593969" y="45323"/>
                  </a:lnTo>
                  <a:lnTo>
                    <a:pt x="519196" y="1767"/>
                  </a:lnTo>
                  <a:lnTo>
                    <a:pt x="516270" y="0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2252" y="2455164"/>
              <a:ext cx="2894076" cy="178765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87680" y="2485644"/>
              <a:ext cx="2933699" cy="126187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6260" y="2493264"/>
              <a:ext cx="2766059" cy="1661159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651764" y="2557344"/>
            <a:ext cx="2553970" cy="101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89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Typically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consists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multiple</a:t>
            </a:r>
            <a:endParaRPr sz="1500">
              <a:latin typeface="Rockwell"/>
              <a:cs typeface="Rockwell"/>
            </a:endParaRPr>
          </a:p>
          <a:p>
            <a:pPr marL="12700">
              <a:lnSpc>
                <a:spcPts val="1689"/>
              </a:lnSpc>
            </a:pP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communication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lines</a:t>
            </a:r>
            <a:endParaRPr sz="1500">
              <a:latin typeface="Rockwell"/>
              <a:cs typeface="Rockwell"/>
            </a:endParaRPr>
          </a:p>
          <a:p>
            <a:pPr marL="127000" marR="113030" indent="-114300">
              <a:lnSpc>
                <a:spcPts val="1270"/>
              </a:lnSpc>
              <a:spcBef>
                <a:spcPts val="630"/>
              </a:spcBef>
              <a:buChar char="•"/>
              <a:tabLst>
                <a:tab pos="127000" algn="l"/>
              </a:tabLst>
            </a:pP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Each</a:t>
            </a:r>
            <a:r>
              <a:rPr sz="1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line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is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capable</a:t>
            </a:r>
            <a:r>
              <a:rPr sz="1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transmitting</a:t>
            </a:r>
            <a:r>
              <a:rPr sz="1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signals</a:t>
            </a:r>
            <a:r>
              <a:rPr sz="1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ckwell"/>
                <a:cs typeface="Rockwell"/>
              </a:rPr>
              <a:t>representing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binary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1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binary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Rockwell"/>
                <a:cs typeface="Rockwell"/>
              </a:rPr>
              <a:t>0</a:t>
            </a:r>
            <a:endParaRPr sz="1200">
              <a:latin typeface="Rockwell"/>
              <a:cs typeface="Rockwel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887342" y="2455164"/>
            <a:ext cx="4914265" cy="2300605"/>
            <a:chOff x="1887342" y="2455164"/>
            <a:chExt cx="4914265" cy="2300605"/>
          </a:xfrm>
        </p:grpSpPr>
        <p:sp>
          <p:nvSpPr>
            <p:cNvPr id="52" name="object 52"/>
            <p:cNvSpPr/>
            <p:nvPr/>
          </p:nvSpPr>
          <p:spPr>
            <a:xfrm>
              <a:off x="1887342" y="4150863"/>
              <a:ext cx="3456940" cy="605155"/>
            </a:xfrm>
            <a:custGeom>
              <a:avLst/>
              <a:gdLst/>
              <a:ahLst/>
              <a:cxnLst/>
              <a:rect l="l" t="t" r="r" b="b"/>
              <a:pathLst>
                <a:path w="3456940" h="605154">
                  <a:moveTo>
                    <a:pt x="7120" y="508766"/>
                  </a:moveTo>
                  <a:lnTo>
                    <a:pt x="1024" y="512326"/>
                  </a:lnTo>
                  <a:lnTo>
                    <a:pt x="0" y="516255"/>
                  </a:lnTo>
                  <a:lnTo>
                    <a:pt x="1786" y="519184"/>
                  </a:lnTo>
                  <a:lnTo>
                    <a:pt x="51697" y="604778"/>
                  </a:lnTo>
                  <a:lnTo>
                    <a:pt x="59046" y="592205"/>
                  </a:lnTo>
                  <a:lnTo>
                    <a:pt x="45339" y="592205"/>
                  </a:lnTo>
                  <a:lnTo>
                    <a:pt x="45339" y="568555"/>
                  </a:lnTo>
                  <a:lnTo>
                    <a:pt x="11049" y="509778"/>
                  </a:lnTo>
                  <a:lnTo>
                    <a:pt x="7120" y="508766"/>
                  </a:lnTo>
                  <a:close/>
                </a:path>
                <a:path w="3456940" h="605154">
                  <a:moveTo>
                    <a:pt x="45339" y="568555"/>
                  </a:moveTo>
                  <a:lnTo>
                    <a:pt x="45339" y="592205"/>
                  </a:lnTo>
                  <a:lnTo>
                    <a:pt x="58043" y="592205"/>
                  </a:lnTo>
                  <a:lnTo>
                    <a:pt x="58043" y="589026"/>
                  </a:lnTo>
                  <a:lnTo>
                    <a:pt x="46232" y="589026"/>
                  </a:lnTo>
                  <a:lnTo>
                    <a:pt x="51756" y="579556"/>
                  </a:lnTo>
                  <a:lnTo>
                    <a:pt x="45339" y="568555"/>
                  </a:lnTo>
                  <a:close/>
                </a:path>
                <a:path w="3456940" h="605154">
                  <a:moveTo>
                    <a:pt x="96393" y="508766"/>
                  </a:moveTo>
                  <a:lnTo>
                    <a:pt x="92464" y="509778"/>
                  </a:lnTo>
                  <a:lnTo>
                    <a:pt x="58043" y="568780"/>
                  </a:lnTo>
                  <a:lnTo>
                    <a:pt x="58043" y="592205"/>
                  </a:lnTo>
                  <a:lnTo>
                    <a:pt x="59046" y="592205"/>
                  </a:lnTo>
                  <a:lnTo>
                    <a:pt x="101727" y="519184"/>
                  </a:lnTo>
                  <a:lnTo>
                    <a:pt x="103513" y="516255"/>
                  </a:lnTo>
                  <a:lnTo>
                    <a:pt x="102489" y="512326"/>
                  </a:lnTo>
                  <a:lnTo>
                    <a:pt x="96393" y="508766"/>
                  </a:lnTo>
                  <a:close/>
                </a:path>
                <a:path w="3456940" h="605154">
                  <a:moveTo>
                    <a:pt x="51756" y="579556"/>
                  </a:moveTo>
                  <a:lnTo>
                    <a:pt x="46232" y="589026"/>
                  </a:lnTo>
                  <a:lnTo>
                    <a:pt x="57281" y="589026"/>
                  </a:lnTo>
                  <a:lnTo>
                    <a:pt x="51756" y="579556"/>
                  </a:lnTo>
                  <a:close/>
                </a:path>
                <a:path w="3456940" h="605154">
                  <a:moveTo>
                    <a:pt x="58043" y="568780"/>
                  </a:moveTo>
                  <a:lnTo>
                    <a:pt x="51756" y="579556"/>
                  </a:lnTo>
                  <a:lnTo>
                    <a:pt x="57281" y="589026"/>
                  </a:lnTo>
                  <a:lnTo>
                    <a:pt x="58043" y="589026"/>
                  </a:lnTo>
                  <a:lnTo>
                    <a:pt x="58043" y="568780"/>
                  </a:lnTo>
                  <a:close/>
                </a:path>
                <a:path w="3456940" h="605154">
                  <a:moveTo>
                    <a:pt x="3443731" y="313182"/>
                  </a:moveTo>
                  <a:lnTo>
                    <a:pt x="48268" y="313182"/>
                  </a:lnTo>
                  <a:lnTo>
                    <a:pt x="45339" y="315980"/>
                  </a:lnTo>
                  <a:lnTo>
                    <a:pt x="45339" y="568555"/>
                  </a:lnTo>
                  <a:lnTo>
                    <a:pt x="51756" y="579556"/>
                  </a:lnTo>
                  <a:lnTo>
                    <a:pt x="58043" y="568780"/>
                  </a:lnTo>
                  <a:lnTo>
                    <a:pt x="58043" y="325886"/>
                  </a:lnTo>
                  <a:lnTo>
                    <a:pt x="51697" y="325886"/>
                  </a:lnTo>
                  <a:lnTo>
                    <a:pt x="58043" y="319540"/>
                  </a:lnTo>
                  <a:lnTo>
                    <a:pt x="3443731" y="319540"/>
                  </a:lnTo>
                  <a:lnTo>
                    <a:pt x="3443731" y="313182"/>
                  </a:lnTo>
                  <a:close/>
                </a:path>
                <a:path w="3456940" h="605154">
                  <a:moveTo>
                    <a:pt x="58043" y="319540"/>
                  </a:moveTo>
                  <a:lnTo>
                    <a:pt x="51697" y="325886"/>
                  </a:lnTo>
                  <a:lnTo>
                    <a:pt x="58043" y="325886"/>
                  </a:lnTo>
                  <a:lnTo>
                    <a:pt x="58043" y="319540"/>
                  </a:lnTo>
                  <a:close/>
                </a:path>
                <a:path w="3456940" h="605154">
                  <a:moveTo>
                    <a:pt x="3456441" y="313182"/>
                  </a:moveTo>
                  <a:lnTo>
                    <a:pt x="3450101" y="313182"/>
                  </a:lnTo>
                  <a:lnTo>
                    <a:pt x="3443731" y="319540"/>
                  </a:lnTo>
                  <a:lnTo>
                    <a:pt x="58043" y="319540"/>
                  </a:lnTo>
                  <a:lnTo>
                    <a:pt x="58043" y="325886"/>
                  </a:lnTo>
                  <a:lnTo>
                    <a:pt x="3453515" y="325886"/>
                  </a:lnTo>
                  <a:lnTo>
                    <a:pt x="3456441" y="322969"/>
                  </a:lnTo>
                  <a:lnTo>
                    <a:pt x="3456441" y="313182"/>
                  </a:lnTo>
                  <a:close/>
                </a:path>
                <a:path w="3456940" h="605154">
                  <a:moveTo>
                    <a:pt x="3456441" y="0"/>
                  </a:moveTo>
                  <a:lnTo>
                    <a:pt x="3443731" y="0"/>
                  </a:lnTo>
                  <a:lnTo>
                    <a:pt x="3443731" y="319540"/>
                  </a:lnTo>
                  <a:lnTo>
                    <a:pt x="3450101" y="313182"/>
                  </a:lnTo>
                  <a:lnTo>
                    <a:pt x="3456441" y="313182"/>
                  </a:lnTo>
                  <a:lnTo>
                    <a:pt x="3456441" y="0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890772" y="2455164"/>
              <a:ext cx="2894076" cy="178765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922775" y="2602992"/>
              <a:ext cx="2878835" cy="152704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954779" y="2493264"/>
              <a:ext cx="2766059" cy="1661159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4087117" y="2675632"/>
            <a:ext cx="2501265" cy="126047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88000"/>
              </a:lnSpc>
              <a:spcBef>
                <a:spcPts val="315"/>
              </a:spcBef>
            </a:pP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Computer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systems</a:t>
            </a:r>
            <a:r>
              <a:rPr sz="1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contain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number</a:t>
            </a:r>
            <a:r>
              <a:rPr sz="15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15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different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buses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that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provide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pathways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between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components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ckwell"/>
                <a:cs typeface="Rockwell"/>
              </a:rPr>
              <a:t>at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various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levels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computer</a:t>
            </a:r>
            <a:r>
              <a:rPr sz="15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system</a:t>
            </a:r>
            <a:r>
              <a:rPr sz="15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hierarchy</a:t>
            </a:r>
            <a:endParaRPr sz="1500">
              <a:latin typeface="Rockwell"/>
              <a:cs typeface="Rockwel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19467" y="2731385"/>
            <a:ext cx="2641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c</a:t>
            </a:r>
            <a:endParaRPr sz="3600">
              <a:latin typeface="Rockwell"/>
              <a:cs typeface="Rockwel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968235" y="3280581"/>
            <a:ext cx="163830" cy="148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5080" indent="-3175">
              <a:lnSpc>
                <a:spcPct val="132800"/>
              </a:lnSpc>
              <a:spcBef>
                <a:spcPts val="95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t</a:t>
            </a:r>
            <a:r>
              <a:rPr sz="3600" spc="-5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i</a:t>
            </a:r>
            <a:endParaRPr sz="3600">
              <a:latin typeface="Rockwell"/>
              <a:cs typeface="Rockwel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87680" y="4747259"/>
            <a:ext cx="3435985" cy="1789430"/>
            <a:chOff x="487680" y="4747259"/>
            <a:chExt cx="3435985" cy="1789430"/>
          </a:xfrm>
        </p:grpSpPr>
        <p:sp>
          <p:nvSpPr>
            <p:cNvPr id="58" name="object 58"/>
            <p:cNvSpPr/>
            <p:nvPr/>
          </p:nvSpPr>
          <p:spPr>
            <a:xfrm>
              <a:off x="3318753" y="5565266"/>
              <a:ext cx="605155" cy="103505"/>
            </a:xfrm>
            <a:custGeom>
              <a:avLst/>
              <a:gdLst/>
              <a:ahLst/>
              <a:cxnLst/>
              <a:rect l="l" t="t" r="r" b="b"/>
              <a:pathLst>
                <a:path w="605154" h="103504">
                  <a:moveTo>
                    <a:pt x="579616" y="51660"/>
                  </a:moveTo>
                  <a:lnTo>
                    <a:pt x="509778" y="92390"/>
                  </a:lnTo>
                  <a:lnTo>
                    <a:pt x="508772" y="96274"/>
                  </a:lnTo>
                  <a:lnTo>
                    <a:pt x="510540" y="99309"/>
                  </a:lnTo>
                  <a:lnTo>
                    <a:pt x="512338" y="102333"/>
                  </a:lnTo>
                  <a:lnTo>
                    <a:pt x="516270" y="103369"/>
                  </a:lnTo>
                  <a:lnTo>
                    <a:pt x="519196" y="101595"/>
                  </a:lnTo>
                  <a:lnTo>
                    <a:pt x="593993" y="58018"/>
                  </a:lnTo>
                  <a:lnTo>
                    <a:pt x="592205" y="58018"/>
                  </a:lnTo>
                  <a:lnTo>
                    <a:pt x="592205" y="57150"/>
                  </a:lnTo>
                  <a:lnTo>
                    <a:pt x="589026" y="57150"/>
                  </a:lnTo>
                  <a:lnTo>
                    <a:pt x="579616" y="51660"/>
                  </a:lnTo>
                  <a:close/>
                </a:path>
                <a:path w="605154" h="103504">
                  <a:moveTo>
                    <a:pt x="568738" y="45314"/>
                  </a:moveTo>
                  <a:lnTo>
                    <a:pt x="0" y="45314"/>
                  </a:lnTo>
                  <a:lnTo>
                    <a:pt x="0" y="58018"/>
                  </a:lnTo>
                  <a:lnTo>
                    <a:pt x="568719" y="58018"/>
                  </a:lnTo>
                  <a:lnTo>
                    <a:pt x="579616" y="51660"/>
                  </a:lnTo>
                  <a:lnTo>
                    <a:pt x="568738" y="45314"/>
                  </a:lnTo>
                  <a:close/>
                </a:path>
                <a:path w="605154" h="103504">
                  <a:moveTo>
                    <a:pt x="594003" y="45314"/>
                  </a:moveTo>
                  <a:lnTo>
                    <a:pt x="592205" y="45314"/>
                  </a:lnTo>
                  <a:lnTo>
                    <a:pt x="592205" y="58018"/>
                  </a:lnTo>
                  <a:lnTo>
                    <a:pt x="593993" y="58018"/>
                  </a:lnTo>
                  <a:lnTo>
                    <a:pt x="604905" y="51660"/>
                  </a:lnTo>
                  <a:lnTo>
                    <a:pt x="594003" y="45314"/>
                  </a:lnTo>
                  <a:close/>
                </a:path>
                <a:path w="605154" h="103504">
                  <a:moveTo>
                    <a:pt x="589026" y="46171"/>
                  </a:moveTo>
                  <a:lnTo>
                    <a:pt x="579616" y="51660"/>
                  </a:lnTo>
                  <a:lnTo>
                    <a:pt x="589026" y="57150"/>
                  </a:lnTo>
                  <a:lnTo>
                    <a:pt x="589026" y="46171"/>
                  </a:lnTo>
                  <a:close/>
                </a:path>
                <a:path w="605154" h="103504">
                  <a:moveTo>
                    <a:pt x="592205" y="46171"/>
                  </a:moveTo>
                  <a:lnTo>
                    <a:pt x="589026" y="46171"/>
                  </a:lnTo>
                  <a:lnTo>
                    <a:pt x="589026" y="57150"/>
                  </a:lnTo>
                  <a:lnTo>
                    <a:pt x="592205" y="57150"/>
                  </a:lnTo>
                  <a:lnTo>
                    <a:pt x="592205" y="46171"/>
                  </a:lnTo>
                  <a:close/>
                </a:path>
                <a:path w="605154" h="103504">
                  <a:moveTo>
                    <a:pt x="516270" y="0"/>
                  </a:moveTo>
                  <a:lnTo>
                    <a:pt x="512338" y="1011"/>
                  </a:lnTo>
                  <a:lnTo>
                    <a:pt x="510540" y="4059"/>
                  </a:lnTo>
                  <a:lnTo>
                    <a:pt x="508772" y="6989"/>
                  </a:lnTo>
                  <a:lnTo>
                    <a:pt x="509778" y="10917"/>
                  </a:lnTo>
                  <a:lnTo>
                    <a:pt x="579616" y="51660"/>
                  </a:lnTo>
                  <a:lnTo>
                    <a:pt x="589026" y="46171"/>
                  </a:lnTo>
                  <a:lnTo>
                    <a:pt x="592205" y="46171"/>
                  </a:lnTo>
                  <a:lnTo>
                    <a:pt x="592205" y="45314"/>
                  </a:lnTo>
                  <a:lnTo>
                    <a:pt x="594003" y="45314"/>
                  </a:lnTo>
                  <a:lnTo>
                    <a:pt x="519196" y="1773"/>
                  </a:lnTo>
                  <a:lnTo>
                    <a:pt x="516270" y="0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252" y="4747259"/>
              <a:ext cx="2894076" cy="178917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87680" y="4777739"/>
              <a:ext cx="2874263" cy="106070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6260" y="4786883"/>
              <a:ext cx="2766059" cy="1661159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651764" y="4780786"/>
            <a:ext cx="2541905" cy="88709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500" i="1" dirty="0">
                <a:solidFill>
                  <a:srgbClr val="FFFFFF"/>
                </a:solidFill>
                <a:latin typeface="Rockwell"/>
                <a:cs typeface="Rockwell"/>
              </a:rPr>
              <a:t>System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i="1" spc="-25" dirty="0">
                <a:solidFill>
                  <a:srgbClr val="FFFFFF"/>
                </a:solidFill>
                <a:latin typeface="Rockwell"/>
                <a:cs typeface="Rockwell"/>
              </a:rPr>
              <a:t>bus</a:t>
            </a:r>
            <a:endParaRPr sz="1500">
              <a:latin typeface="Rockwell"/>
              <a:cs typeface="Rockwell"/>
            </a:endParaRPr>
          </a:p>
          <a:p>
            <a:pPr marL="127000" marR="5080" indent="-114300">
              <a:lnSpc>
                <a:spcPts val="1270"/>
              </a:lnSpc>
              <a:spcBef>
                <a:spcPts val="625"/>
              </a:spcBef>
              <a:buChar char="•"/>
              <a:tabLst>
                <a:tab pos="127000" algn="l"/>
              </a:tabLst>
            </a:pP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1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bus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that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connects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ckwell"/>
                <a:cs typeface="Rockwell"/>
              </a:rPr>
              <a:t>major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computer</a:t>
            </a:r>
            <a:r>
              <a:rPr sz="1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Rockwell"/>
                <a:cs typeface="Rockwell"/>
              </a:rPr>
              <a:t>components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Rockwell"/>
                <a:cs typeface="Rockwell"/>
              </a:rPr>
              <a:t>(processor,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Rockwell"/>
                <a:cs typeface="Rockwell"/>
              </a:rPr>
              <a:t>memory,</a:t>
            </a:r>
            <a:r>
              <a:rPr sz="1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Rockwell"/>
                <a:cs typeface="Rockwell"/>
              </a:rPr>
              <a:t>I/O)</a:t>
            </a:r>
            <a:endParaRPr sz="1200">
              <a:latin typeface="Rockwell"/>
              <a:cs typeface="Rockwel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890771" y="4747259"/>
            <a:ext cx="2920365" cy="1789430"/>
            <a:chOff x="3890771" y="4747259"/>
            <a:chExt cx="2920365" cy="1789430"/>
          </a:xfrm>
        </p:grpSpPr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0771" y="4747259"/>
              <a:ext cx="2894076" cy="178917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913631" y="5097779"/>
              <a:ext cx="2897124" cy="112471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954779" y="4786883"/>
              <a:ext cx="2766059" cy="1661159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2985516" y="1912620"/>
            <a:ext cx="1123315" cy="2840990"/>
            <a:chOff x="2985516" y="1912620"/>
            <a:chExt cx="1123315" cy="2840990"/>
          </a:xfrm>
        </p:grpSpPr>
        <p:pic>
          <p:nvPicPr>
            <p:cNvPr id="69" name="object 6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985516" y="4216908"/>
              <a:ext cx="690372" cy="536447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416808" y="1912620"/>
              <a:ext cx="691896" cy="53797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8907275" y="4917434"/>
            <a:ext cx="287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o</a:t>
            </a:r>
            <a:endParaRPr sz="3600">
              <a:latin typeface="Rockwell"/>
              <a:cs typeface="Rockwel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077973" y="5170676"/>
            <a:ext cx="2519680" cy="85788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ctr">
              <a:lnSpc>
                <a:spcPts val="1580"/>
              </a:lnSpc>
              <a:spcBef>
                <a:spcPts val="335"/>
              </a:spcBef>
            </a:pP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most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common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computer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interconnection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structures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are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based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on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use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ckwell"/>
                <a:cs typeface="Rockwell"/>
              </a:rPr>
              <a:t>one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or</a:t>
            </a:r>
            <a:r>
              <a:rPr sz="15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ckwell"/>
                <a:cs typeface="Rockwell"/>
              </a:rPr>
              <a:t>more</a:t>
            </a:r>
            <a:r>
              <a:rPr sz="15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Rockwell"/>
                <a:cs typeface="Rockwell"/>
              </a:rPr>
              <a:t>system</a:t>
            </a:r>
            <a:r>
              <a:rPr sz="15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Rockwell"/>
                <a:cs typeface="Rockwell"/>
              </a:rPr>
              <a:t>buses</a:t>
            </a:r>
            <a:endParaRPr sz="1500">
              <a:latin typeface="Rockwell"/>
              <a:cs typeface="Rockwel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93610" y="5272530"/>
            <a:ext cx="262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o</a:t>
            </a:r>
            <a:endParaRPr sz="3600">
              <a:latin typeface="Rockwell"/>
              <a:cs typeface="Rockwel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907275" y="5645912"/>
            <a:ext cx="2876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n</a:t>
            </a:r>
            <a:endParaRPr sz="3600">
              <a:latin typeface="Rockwell"/>
              <a:cs typeface="Rockwel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93610" y="6001313"/>
            <a:ext cx="262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solidFill>
                  <a:srgbClr val="653265"/>
                </a:solidFill>
                <a:latin typeface="Rockwell"/>
                <a:cs typeface="Rockwell"/>
              </a:rPr>
              <a:t>n</a:t>
            </a:r>
            <a:endParaRPr sz="3600">
              <a:latin typeface="Rockwell"/>
              <a:cs typeface="Rockwell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41736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176" y="280415"/>
            <a:ext cx="2404872" cy="101193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17250" y="398723"/>
            <a:ext cx="18313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25" dirty="0"/>
              <a:t>Bus</a:t>
            </a:r>
          </a:p>
        </p:txBody>
      </p:sp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1050" y="1243325"/>
            <a:ext cx="7371080" cy="4091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74930" indent="-228600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provide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path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moving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among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system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modules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May</a:t>
            </a:r>
            <a:r>
              <a:rPr sz="20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consist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32,</a:t>
            </a:r>
            <a:r>
              <a:rPr sz="2000" spc="-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64,</a:t>
            </a:r>
            <a:r>
              <a:rPr sz="2000" spc="-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128,</a:t>
            </a:r>
            <a:r>
              <a:rPr sz="2000" spc="-1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more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separate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989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referred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595959"/>
                </a:solidFill>
                <a:latin typeface="Rockwell"/>
                <a:cs typeface="Rockwell"/>
              </a:rPr>
              <a:t>width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bus</a:t>
            </a:r>
            <a:endParaRPr sz="2000">
              <a:latin typeface="Rockwell"/>
              <a:cs typeface="Rockwell"/>
            </a:endParaRPr>
          </a:p>
          <a:p>
            <a:pPr marL="241300" marR="811530" indent="-228600">
              <a:lnSpc>
                <a:spcPct val="100000"/>
              </a:lnSpc>
              <a:spcBef>
                <a:spcPts val="201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determines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how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many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transferred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at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time</a:t>
            </a:r>
            <a:endParaRPr sz="2000">
              <a:latin typeface="Rockwell"/>
              <a:cs typeface="Rockwell"/>
            </a:endParaRPr>
          </a:p>
          <a:p>
            <a:pPr marL="240029" marR="4197350" indent="-227965">
              <a:lnSpc>
                <a:spcPct val="100000"/>
              </a:lnSpc>
              <a:spcBef>
                <a:spcPts val="20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667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width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bus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	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key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factor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	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determining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overall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	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system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performance</a:t>
            </a:r>
            <a:endParaRPr sz="2000">
              <a:latin typeface="Rockwell"/>
              <a:cs typeface="Rockwel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1537" y="3844695"/>
            <a:ext cx="5031821" cy="270337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411" y="200603"/>
            <a:ext cx="286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89198" y="206496"/>
            <a:ext cx="2613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Address</a:t>
            </a:r>
            <a:r>
              <a:rPr spc="-210" dirty="0">
                <a:latin typeface="Times New Roman"/>
                <a:cs typeface="Times New Roman"/>
              </a:rPr>
              <a:t> </a:t>
            </a:r>
            <a:r>
              <a:rPr spc="-25" dirty="0"/>
              <a:t>Bus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90861" y="206496"/>
            <a:ext cx="2451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53265"/>
                </a:solidFill>
                <a:latin typeface="Rockwell"/>
                <a:cs typeface="Rockwell"/>
              </a:rPr>
              <a:t>Control</a:t>
            </a:r>
            <a:r>
              <a:rPr sz="3600" spc="-22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3600" spc="-25" dirty="0">
                <a:solidFill>
                  <a:srgbClr val="653265"/>
                </a:solidFill>
                <a:latin typeface="Rockwell"/>
                <a:cs typeface="Rockwell"/>
              </a:rPr>
              <a:t>Bus</a:t>
            </a:r>
            <a:endParaRPr sz="3600">
              <a:latin typeface="Rockwell"/>
              <a:cs typeface="Rockwel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836654"/>
            <a:ext cx="4125595" cy="1156335"/>
            <a:chOff x="0" y="836654"/>
            <a:chExt cx="4125595" cy="1156335"/>
          </a:xfrm>
        </p:grpSpPr>
        <p:sp>
          <p:nvSpPr>
            <p:cNvPr id="8" name="object 8"/>
            <p:cNvSpPr/>
            <p:nvPr/>
          </p:nvSpPr>
          <p:spPr>
            <a:xfrm>
              <a:off x="467535" y="836654"/>
              <a:ext cx="3657600" cy="869950"/>
            </a:xfrm>
            <a:custGeom>
              <a:avLst/>
              <a:gdLst/>
              <a:ahLst/>
              <a:cxnLst/>
              <a:rect l="l" t="t" r="r" b="b"/>
              <a:pathLst>
                <a:path w="3657600" h="869950">
                  <a:moveTo>
                    <a:pt x="3657599" y="0"/>
                  </a:moveTo>
                  <a:lnTo>
                    <a:pt x="0" y="0"/>
                  </a:lnTo>
                  <a:lnTo>
                    <a:pt x="0" y="869585"/>
                  </a:lnTo>
                  <a:lnTo>
                    <a:pt x="3657599" y="869585"/>
                  </a:lnTo>
                  <a:lnTo>
                    <a:pt x="3657599" y="0"/>
                  </a:lnTo>
                  <a:close/>
                </a:path>
              </a:pathLst>
            </a:custGeom>
            <a:solidFill>
              <a:srgbClr val="656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36685"/>
              <a:ext cx="1964372" cy="1155701"/>
            </a:xfrm>
            <a:prstGeom prst="rect">
              <a:avLst/>
            </a:prstGeom>
          </p:spPr>
        </p:pic>
      </p:grpSp>
      <p:sp>
        <p:nvSpPr>
          <p:cNvPr id="2" name="object 2"/>
          <p:cNvSpPr/>
          <p:nvPr/>
        </p:nvSpPr>
        <p:spPr>
          <a:xfrm>
            <a:off x="8166872" y="282580"/>
            <a:ext cx="685800" cy="1600200"/>
          </a:xfrm>
          <a:custGeom>
            <a:avLst/>
            <a:gdLst/>
            <a:ahLst/>
            <a:cxnLst/>
            <a:rect l="l" t="t" r="r" b="b"/>
            <a:pathLst>
              <a:path w="685800" h="1600200">
                <a:moveTo>
                  <a:pt x="685799" y="0"/>
                </a:moveTo>
                <a:lnTo>
                  <a:pt x="0" y="0"/>
                </a:lnTo>
                <a:lnTo>
                  <a:pt x="0" y="1600199"/>
                </a:lnTo>
                <a:lnTo>
                  <a:pt x="685799" y="1600199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79420" y="2107815"/>
            <a:ext cx="3323590" cy="441198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1630"/>
              </a:lnSpc>
              <a:spcBef>
                <a:spcPts val="500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use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endParaRPr sz="17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653265"/>
              </a:buClr>
              <a:buFont typeface="Wingdings"/>
              <a:buChar char=""/>
            </a:pPr>
            <a:endParaRPr sz="1700">
              <a:latin typeface="Rockwell"/>
              <a:cs typeface="Rockwell"/>
            </a:endParaRPr>
          </a:p>
          <a:p>
            <a:pPr marL="241300" marR="130810" indent="-228600">
              <a:lnSpc>
                <a:spcPct val="80000"/>
              </a:lnSpc>
              <a:buClr>
                <a:srgbClr val="653265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Because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17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7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shared</a:t>
            </a:r>
            <a:r>
              <a:rPr sz="17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7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all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components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there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must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5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means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controlling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their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use</a:t>
            </a:r>
            <a:endParaRPr sz="1700">
              <a:latin typeface="Rockwell"/>
              <a:cs typeface="Rockwell"/>
            </a:endParaRPr>
          </a:p>
          <a:p>
            <a:pPr marL="241300" marR="214629" indent="-228600">
              <a:lnSpc>
                <a:spcPct val="80000"/>
              </a:lnSpc>
              <a:spcBef>
                <a:spcPts val="1989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signals</a:t>
            </a:r>
            <a:r>
              <a:rPr sz="17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transmit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both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command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timing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information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among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system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modules</a:t>
            </a:r>
            <a:endParaRPr sz="17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653265"/>
              </a:buClr>
              <a:buFont typeface="Wingdings"/>
              <a:buChar char=""/>
            </a:pPr>
            <a:endParaRPr sz="1700">
              <a:latin typeface="Rockwell"/>
              <a:cs typeface="Rockwell"/>
            </a:endParaRPr>
          </a:p>
          <a:p>
            <a:pPr marL="241300" marR="341630" indent="-228600" algn="just">
              <a:lnSpc>
                <a:spcPct val="80000"/>
              </a:lnSpc>
              <a:buClr>
                <a:srgbClr val="653265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Timing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signals</a:t>
            </a:r>
            <a:r>
              <a:rPr sz="17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indicate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validity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information</a:t>
            </a: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ts val="1835"/>
              </a:lnSpc>
              <a:spcBef>
                <a:spcPts val="1595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Command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signals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specify</a:t>
            </a:r>
            <a:endParaRPr sz="1700">
              <a:latin typeface="Rockwell"/>
              <a:cs typeface="Rockwell"/>
            </a:endParaRPr>
          </a:p>
          <a:p>
            <a:pPr marL="241300">
              <a:lnSpc>
                <a:spcPts val="1835"/>
              </a:lnSpc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operations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performed</a:t>
            </a:r>
            <a:endParaRPr sz="1700">
              <a:latin typeface="Rockwell"/>
              <a:cs typeface="Rockwel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27982" y="980672"/>
            <a:ext cx="3793490" cy="1261745"/>
            <a:chOff x="4427982" y="980672"/>
            <a:chExt cx="3793490" cy="1261745"/>
          </a:xfrm>
        </p:grpSpPr>
        <p:sp>
          <p:nvSpPr>
            <p:cNvPr id="11" name="object 11"/>
            <p:cNvSpPr/>
            <p:nvPr/>
          </p:nvSpPr>
          <p:spPr>
            <a:xfrm>
              <a:off x="4427982" y="980672"/>
              <a:ext cx="3657600" cy="869950"/>
            </a:xfrm>
            <a:custGeom>
              <a:avLst/>
              <a:gdLst/>
              <a:ahLst/>
              <a:cxnLst/>
              <a:rect l="l" t="t" r="r" b="b"/>
              <a:pathLst>
                <a:path w="3657600" h="869950">
                  <a:moveTo>
                    <a:pt x="3657599" y="0"/>
                  </a:moveTo>
                  <a:lnTo>
                    <a:pt x="0" y="0"/>
                  </a:lnTo>
                  <a:lnTo>
                    <a:pt x="0" y="869585"/>
                  </a:lnTo>
                  <a:lnTo>
                    <a:pt x="3657599" y="869585"/>
                  </a:lnTo>
                  <a:lnTo>
                    <a:pt x="3657599" y="0"/>
                  </a:lnTo>
                  <a:close/>
                </a:path>
              </a:pathLst>
            </a:custGeom>
            <a:solidFill>
              <a:srgbClr val="A2A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67506" y="1138854"/>
              <a:ext cx="2053376" cy="110319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20162" y="1988930"/>
            <a:ext cx="3832225" cy="47961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567055" marR="123189" indent="-228600">
              <a:lnSpc>
                <a:spcPts val="1839"/>
              </a:lnSpc>
              <a:spcBef>
                <a:spcPts val="330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56705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designate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source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destination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on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bus</a:t>
            </a:r>
            <a:endParaRPr sz="1700">
              <a:latin typeface="Rockwell"/>
              <a:cs typeface="Rockwell"/>
            </a:endParaRPr>
          </a:p>
          <a:p>
            <a:pPr marL="796290" marR="85725" lvl="1" indent="-229235">
              <a:lnSpc>
                <a:spcPct val="90000"/>
              </a:lnSpc>
              <a:spcBef>
                <a:spcPts val="56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79629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If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wishes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read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7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puts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desired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on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endParaRPr sz="1700">
              <a:latin typeface="Rockwell"/>
              <a:cs typeface="Rockwell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B86FB8"/>
              </a:buClr>
              <a:buFont typeface="Wingdings"/>
              <a:buChar char=""/>
            </a:pPr>
            <a:endParaRPr sz="1700">
              <a:latin typeface="Rockwell"/>
              <a:cs typeface="Rockwell"/>
            </a:endParaRPr>
          </a:p>
          <a:p>
            <a:pPr marL="567055" marR="20320" indent="-228600" algn="just">
              <a:lnSpc>
                <a:spcPct val="90100"/>
              </a:lnSpc>
              <a:buClr>
                <a:srgbClr val="653265"/>
              </a:buClr>
              <a:buSzPct val="73529"/>
              <a:buFont typeface="Wingdings"/>
              <a:buChar char=""/>
              <a:tabLst>
                <a:tab pos="56705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Width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determines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maximum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possible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capacity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system</a:t>
            </a:r>
            <a:endParaRPr sz="1700">
              <a:latin typeface="Rockwell"/>
              <a:cs typeface="Rockwell"/>
            </a:endParaRPr>
          </a:p>
          <a:p>
            <a:pPr marL="566420" indent="-227965">
              <a:lnSpc>
                <a:spcPct val="100000"/>
              </a:lnSpc>
              <a:spcBef>
                <a:spcPts val="1790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56642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Also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ports</a:t>
            </a:r>
            <a:endParaRPr sz="1700">
              <a:latin typeface="Rockwell"/>
              <a:cs typeface="Rockwell"/>
            </a:endParaRPr>
          </a:p>
          <a:p>
            <a:pPr marL="796290" marR="215265" lvl="1" indent="-229235">
              <a:lnSpc>
                <a:spcPct val="90000"/>
              </a:lnSpc>
              <a:spcBef>
                <a:spcPts val="600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79629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higher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order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select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particular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module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on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bus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lower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order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select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5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location</a:t>
            </a:r>
            <a:r>
              <a:rPr sz="17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port</a:t>
            </a:r>
            <a:endParaRPr sz="1700">
              <a:latin typeface="Rockwell"/>
              <a:cs typeface="Rockwell"/>
            </a:endParaRPr>
          </a:p>
          <a:p>
            <a:pPr marL="50800">
              <a:lnSpc>
                <a:spcPts val="940"/>
              </a:lnSpc>
            </a:pP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1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2016</a:t>
            </a:r>
            <a:r>
              <a:rPr sz="11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spc="-5" dirty="0">
                <a:solidFill>
                  <a:srgbClr val="595959"/>
                </a:solidFill>
                <a:latin typeface="Times New Roman"/>
                <a:cs typeface="Times New Roman"/>
              </a:rPr>
              <a:t>Pea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100" spc="-12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550" spc="-1807" baseline="-29411" dirty="0">
                <a:solidFill>
                  <a:srgbClr val="595959"/>
                </a:solidFill>
                <a:latin typeface="Rockwell"/>
                <a:cs typeface="Rockwell"/>
              </a:rPr>
              <a:t>w</a:t>
            </a:r>
            <a:r>
              <a:rPr sz="1100" spc="-5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1100" spc="-1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550" spc="-540" baseline="-29411" dirty="0">
                <a:solidFill>
                  <a:srgbClr val="595959"/>
                </a:solidFill>
                <a:latin typeface="Rockwell"/>
                <a:cs typeface="Rockwell"/>
              </a:rPr>
              <a:t>i</a:t>
            </a:r>
            <a:r>
              <a:rPr sz="1100" spc="-34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550" spc="-277" baseline="-29411" dirty="0">
                <a:solidFill>
                  <a:srgbClr val="595959"/>
                </a:solidFill>
                <a:latin typeface="Rockwell"/>
                <a:cs typeface="Rockwell"/>
              </a:rPr>
              <a:t>t</a:t>
            </a:r>
            <a:r>
              <a:rPr sz="1100" spc="-38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550" spc="-914" baseline="-29411" dirty="0">
                <a:solidFill>
                  <a:srgbClr val="595959"/>
                </a:solidFill>
                <a:latin typeface="Rockwell"/>
                <a:cs typeface="Rockwell"/>
              </a:rPr>
              <a:t>h</a:t>
            </a:r>
            <a:r>
              <a:rPr sz="1100" spc="-5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100" spc="-44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550" spc="-112" baseline="-29411" dirty="0">
                <a:solidFill>
                  <a:srgbClr val="595959"/>
                </a:solidFill>
                <a:latin typeface="Rockwell"/>
                <a:cs typeface="Rockwell"/>
              </a:rPr>
              <a:t>i</a:t>
            </a:r>
            <a:r>
              <a:rPr sz="1100" spc="-44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550" spc="-817" baseline="-29411" dirty="0">
                <a:solidFill>
                  <a:srgbClr val="595959"/>
                </a:solidFill>
                <a:latin typeface="Rockwell"/>
                <a:cs typeface="Rockwell"/>
              </a:rPr>
              <a:t>n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100" spc="-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100" spc="-20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550" spc="-480" baseline="-29411" dirty="0">
                <a:solidFill>
                  <a:srgbClr val="595959"/>
                </a:solidFill>
                <a:latin typeface="Rockwell"/>
                <a:cs typeface="Rockwell"/>
              </a:rPr>
              <a:t>t</a:t>
            </a:r>
            <a:r>
              <a:rPr sz="1100" spc="-24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550" spc="-1117" baseline="-29411" dirty="0">
                <a:solidFill>
                  <a:srgbClr val="595959"/>
                </a:solidFill>
                <a:latin typeface="Rockwell"/>
                <a:cs typeface="Rockwell"/>
              </a:rPr>
              <a:t>h</a:t>
            </a:r>
            <a:r>
              <a:rPr sz="1100" spc="-5" dirty="0">
                <a:solidFill>
                  <a:srgbClr val="595959"/>
                </a:solidFill>
                <a:latin typeface="Times New Roman"/>
                <a:cs typeface="Times New Roman"/>
              </a:rPr>
              <a:t>, </a:t>
            </a:r>
            <a:r>
              <a:rPr sz="1100" spc="-14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550" spc="-1282" baseline="-29411" dirty="0">
                <a:solidFill>
                  <a:srgbClr val="595959"/>
                </a:solidFill>
                <a:latin typeface="Rockwell"/>
                <a:cs typeface="Rockwell"/>
              </a:rPr>
              <a:t>e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100" spc="-45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2550" spc="-2175" baseline="-29411" dirty="0">
                <a:solidFill>
                  <a:srgbClr val="595959"/>
                </a:solidFill>
                <a:latin typeface="Rockwell"/>
                <a:cs typeface="Rockwell"/>
              </a:rPr>
              <a:t>m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1100" spc="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100" spc="-49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550" spc="-772" baseline="-29411" dirty="0">
                <a:solidFill>
                  <a:srgbClr val="595959"/>
                </a:solidFill>
                <a:latin typeface="Rockwell"/>
                <a:cs typeface="Rockwell"/>
              </a:rPr>
              <a:t>o</a:t>
            </a:r>
            <a:r>
              <a:rPr sz="1100" spc="-65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550" spc="-1537" baseline="-29411" dirty="0">
                <a:solidFill>
                  <a:srgbClr val="595959"/>
                </a:solidFill>
                <a:latin typeface="Rockwell"/>
                <a:cs typeface="Rockwell"/>
              </a:rPr>
              <a:t>d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100" spc="-105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550" spc="-1350" baseline="-29411" dirty="0">
                <a:solidFill>
                  <a:srgbClr val="595959"/>
                </a:solidFill>
                <a:latin typeface="Rockwell"/>
                <a:cs typeface="Rockwell"/>
              </a:rPr>
              <a:t>u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100" spc="-17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550" spc="-525" baseline="-29411" dirty="0">
                <a:solidFill>
                  <a:srgbClr val="595959"/>
                </a:solidFill>
                <a:latin typeface="Rockwell"/>
                <a:cs typeface="Rockwell"/>
              </a:rPr>
              <a:t>l</a:t>
            </a:r>
            <a:r>
              <a:rPr sz="1100" spc="45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2550" spc="-1155" baseline="-29411" dirty="0">
                <a:solidFill>
                  <a:srgbClr val="595959"/>
                </a:solidFill>
                <a:latin typeface="Rockwell"/>
                <a:cs typeface="Rockwell"/>
              </a:rPr>
              <a:t>e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J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1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r>
              <a:rPr sz="11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rights</a:t>
            </a:r>
            <a:r>
              <a:rPr sz="11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reserved.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51789" y="2275581"/>
            <a:ext cx="7944484" cy="2247900"/>
            <a:chOff x="251789" y="2275581"/>
            <a:chExt cx="7944484" cy="2247900"/>
          </a:xfrm>
        </p:grpSpPr>
        <p:sp>
          <p:nvSpPr>
            <p:cNvPr id="4" name="object 4"/>
            <p:cNvSpPr/>
            <p:nvPr/>
          </p:nvSpPr>
          <p:spPr>
            <a:xfrm>
              <a:off x="331330" y="3041649"/>
              <a:ext cx="7133590" cy="1463040"/>
            </a:xfrm>
            <a:custGeom>
              <a:avLst/>
              <a:gdLst/>
              <a:ahLst/>
              <a:cxnLst/>
              <a:rect l="l" t="t" r="r" b="b"/>
              <a:pathLst>
                <a:path w="7133590" h="1463039">
                  <a:moveTo>
                    <a:pt x="7133120" y="0"/>
                  </a:moveTo>
                  <a:lnTo>
                    <a:pt x="6911441" y="0"/>
                  </a:lnTo>
                  <a:lnTo>
                    <a:pt x="6911441" y="1240790"/>
                  </a:lnTo>
                  <a:lnTo>
                    <a:pt x="5400700" y="1240790"/>
                  </a:lnTo>
                  <a:lnTo>
                    <a:pt x="5400700" y="0"/>
                  </a:lnTo>
                  <a:lnTo>
                    <a:pt x="5179873" y="0"/>
                  </a:lnTo>
                  <a:lnTo>
                    <a:pt x="5179873" y="1240790"/>
                  </a:lnTo>
                  <a:lnTo>
                    <a:pt x="3676485" y="1240790"/>
                  </a:lnTo>
                  <a:lnTo>
                    <a:pt x="3676485" y="0"/>
                  </a:lnTo>
                  <a:lnTo>
                    <a:pt x="3455682" y="0"/>
                  </a:lnTo>
                  <a:lnTo>
                    <a:pt x="3455682" y="1240790"/>
                  </a:lnTo>
                  <a:lnTo>
                    <a:pt x="1943811" y="1240790"/>
                  </a:lnTo>
                  <a:lnTo>
                    <a:pt x="1943811" y="0"/>
                  </a:lnTo>
                  <a:lnTo>
                    <a:pt x="1728774" y="0"/>
                  </a:lnTo>
                  <a:lnTo>
                    <a:pt x="1728774" y="1240790"/>
                  </a:lnTo>
                  <a:lnTo>
                    <a:pt x="221399" y="1240790"/>
                  </a:lnTo>
                  <a:lnTo>
                    <a:pt x="221399" y="0"/>
                  </a:lnTo>
                  <a:lnTo>
                    <a:pt x="0" y="0"/>
                  </a:lnTo>
                  <a:lnTo>
                    <a:pt x="0" y="1240790"/>
                  </a:lnTo>
                  <a:lnTo>
                    <a:pt x="0" y="1463040"/>
                  </a:lnTo>
                  <a:lnTo>
                    <a:pt x="7133120" y="1463040"/>
                  </a:lnTo>
                  <a:lnTo>
                    <a:pt x="7133120" y="1240790"/>
                  </a:lnTo>
                  <a:lnTo>
                    <a:pt x="7133120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1339" y="3041644"/>
              <a:ext cx="7133590" cy="1463040"/>
            </a:xfrm>
            <a:custGeom>
              <a:avLst/>
              <a:gdLst/>
              <a:ahLst/>
              <a:cxnLst/>
              <a:rect l="l" t="t" r="r" b="b"/>
              <a:pathLst>
                <a:path w="7133590" h="1463039">
                  <a:moveTo>
                    <a:pt x="0" y="0"/>
                  </a:moveTo>
                  <a:lnTo>
                    <a:pt x="0" y="1462593"/>
                  </a:lnTo>
                  <a:lnTo>
                    <a:pt x="7133108" y="1462593"/>
                  </a:lnTo>
                  <a:lnTo>
                    <a:pt x="7133108" y="0"/>
                  </a:lnTo>
                  <a:lnTo>
                    <a:pt x="6911462" y="0"/>
                  </a:lnTo>
                  <a:lnTo>
                    <a:pt x="6911462" y="1240789"/>
                  </a:lnTo>
                  <a:lnTo>
                    <a:pt x="5400687" y="1240789"/>
                  </a:lnTo>
                  <a:lnTo>
                    <a:pt x="5400687" y="0"/>
                  </a:lnTo>
                  <a:lnTo>
                    <a:pt x="5179863" y="0"/>
                  </a:lnTo>
                  <a:lnTo>
                    <a:pt x="5179863" y="1240789"/>
                  </a:lnTo>
                  <a:lnTo>
                    <a:pt x="3676495" y="1240789"/>
                  </a:lnTo>
                  <a:lnTo>
                    <a:pt x="3676495" y="0"/>
                  </a:lnTo>
                  <a:lnTo>
                    <a:pt x="3455671" y="0"/>
                  </a:lnTo>
                  <a:lnTo>
                    <a:pt x="3455671" y="1240789"/>
                  </a:lnTo>
                  <a:lnTo>
                    <a:pt x="1943802" y="1240789"/>
                  </a:lnTo>
                  <a:lnTo>
                    <a:pt x="1943802" y="0"/>
                  </a:lnTo>
                  <a:lnTo>
                    <a:pt x="1728776" y="0"/>
                  </a:lnTo>
                  <a:lnTo>
                    <a:pt x="1728776" y="1240789"/>
                  </a:lnTo>
                  <a:lnTo>
                    <a:pt x="221396" y="1240789"/>
                  </a:lnTo>
                  <a:lnTo>
                    <a:pt x="221396" y="0"/>
                  </a:lnTo>
                  <a:lnTo>
                    <a:pt x="0" y="0"/>
                  </a:lnTo>
                  <a:close/>
                </a:path>
              </a:pathLst>
            </a:custGeom>
            <a:ln w="36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8561" y="3041649"/>
              <a:ext cx="7144384" cy="1018540"/>
            </a:xfrm>
            <a:custGeom>
              <a:avLst/>
              <a:gdLst/>
              <a:ahLst/>
              <a:cxnLst/>
              <a:rect l="l" t="t" r="r" b="b"/>
              <a:pathLst>
                <a:path w="7144384" h="1018539">
                  <a:moveTo>
                    <a:pt x="7144372" y="0"/>
                  </a:moveTo>
                  <a:lnTo>
                    <a:pt x="6922694" y="0"/>
                  </a:lnTo>
                  <a:lnTo>
                    <a:pt x="6922694" y="797560"/>
                  </a:lnTo>
                  <a:lnTo>
                    <a:pt x="5415356" y="797560"/>
                  </a:lnTo>
                  <a:lnTo>
                    <a:pt x="5415356" y="0"/>
                  </a:lnTo>
                  <a:lnTo>
                    <a:pt x="5193957" y="0"/>
                  </a:lnTo>
                  <a:lnTo>
                    <a:pt x="5193957" y="797560"/>
                  </a:lnTo>
                  <a:lnTo>
                    <a:pt x="3686505" y="797560"/>
                  </a:lnTo>
                  <a:lnTo>
                    <a:pt x="3686505" y="0"/>
                  </a:lnTo>
                  <a:lnTo>
                    <a:pt x="3464826" y="0"/>
                  </a:lnTo>
                  <a:lnTo>
                    <a:pt x="3464826" y="797560"/>
                  </a:lnTo>
                  <a:lnTo>
                    <a:pt x="1957755" y="797560"/>
                  </a:lnTo>
                  <a:lnTo>
                    <a:pt x="1957755" y="0"/>
                  </a:lnTo>
                  <a:lnTo>
                    <a:pt x="1736077" y="0"/>
                  </a:lnTo>
                  <a:lnTo>
                    <a:pt x="1736077" y="797560"/>
                  </a:lnTo>
                  <a:lnTo>
                    <a:pt x="229019" y="797560"/>
                  </a:lnTo>
                  <a:lnTo>
                    <a:pt x="229019" y="0"/>
                  </a:lnTo>
                  <a:lnTo>
                    <a:pt x="0" y="0"/>
                  </a:lnTo>
                  <a:lnTo>
                    <a:pt x="0" y="797560"/>
                  </a:lnTo>
                  <a:lnTo>
                    <a:pt x="0" y="1018540"/>
                  </a:lnTo>
                  <a:lnTo>
                    <a:pt x="7144372" y="1018540"/>
                  </a:lnTo>
                  <a:lnTo>
                    <a:pt x="7144372" y="797560"/>
                  </a:lnTo>
                  <a:lnTo>
                    <a:pt x="7144372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8560" y="3041644"/>
              <a:ext cx="7144384" cy="1019175"/>
            </a:xfrm>
            <a:custGeom>
              <a:avLst/>
              <a:gdLst/>
              <a:ahLst/>
              <a:cxnLst/>
              <a:rect l="l" t="t" r="r" b="b"/>
              <a:pathLst>
                <a:path w="7144384" h="1019175">
                  <a:moveTo>
                    <a:pt x="0" y="0"/>
                  </a:moveTo>
                  <a:lnTo>
                    <a:pt x="0" y="1019106"/>
                  </a:lnTo>
                  <a:lnTo>
                    <a:pt x="7144355" y="1019106"/>
                  </a:lnTo>
                  <a:lnTo>
                    <a:pt x="7144355" y="0"/>
                  </a:lnTo>
                  <a:lnTo>
                    <a:pt x="6922709" y="0"/>
                  </a:lnTo>
                  <a:lnTo>
                    <a:pt x="6922709" y="797424"/>
                  </a:lnTo>
                  <a:lnTo>
                    <a:pt x="5415378" y="797424"/>
                  </a:lnTo>
                  <a:lnTo>
                    <a:pt x="5415378" y="0"/>
                  </a:lnTo>
                  <a:lnTo>
                    <a:pt x="5193945" y="0"/>
                  </a:lnTo>
                  <a:lnTo>
                    <a:pt x="5193945" y="797424"/>
                  </a:lnTo>
                  <a:lnTo>
                    <a:pt x="3686523" y="797424"/>
                  </a:lnTo>
                  <a:lnTo>
                    <a:pt x="3686523" y="0"/>
                  </a:lnTo>
                  <a:lnTo>
                    <a:pt x="3464815" y="0"/>
                  </a:lnTo>
                  <a:lnTo>
                    <a:pt x="3464815" y="797424"/>
                  </a:lnTo>
                  <a:lnTo>
                    <a:pt x="1957756" y="797424"/>
                  </a:lnTo>
                  <a:lnTo>
                    <a:pt x="1957756" y="0"/>
                  </a:lnTo>
                  <a:lnTo>
                    <a:pt x="1736085" y="0"/>
                  </a:lnTo>
                  <a:lnTo>
                    <a:pt x="1736085" y="797424"/>
                  </a:lnTo>
                  <a:lnTo>
                    <a:pt x="229028" y="797424"/>
                  </a:lnTo>
                  <a:lnTo>
                    <a:pt x="229028" y="0"/>
                  </a:lnTo>
                  <a:lnTo>
                    <a:pt x="0" y="0"/>
                  </a:lnTo>
                  <a:close/>
                </a:path>
              </a:pathLst>
            </a:custGeom>
            <a:ln w="36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40434" y="3041649"/>
              <a:ext cx="7137400" cy="575310"/>
            </a:xfrm>
            <a:custGeom>
              <a:avLst/>
              <a:gdLst/>
              <a:ahLst/>
              <a:cxnLst/>
              <a:rect l="l" t="t" r="r" b="b"/>
              <a:pathLst>
                <a:path w="7137400" h="575310">
                  <a:moveTo>
                    <a:pt x="7137006" y="0"/>
                  </a:moveTo>
                  <a:lnTo>
                    <a:pt x="6915353" y="0"/>
                  </a:lnTo>
                  <a:lnTo>
                    <a:pt x="6915353" y="354330"/>
                  </a:lnTo>
                  <a:lnTo>
                    <a:pt x="5408269" y="354330"/>
                  </a:lnTo>
                  <a:lnTo>
                    <a:pt x="5408269" y="0"/>
                  </a:lnTo>
                  <a:lnTo>
                    <a:pt x="5183911" y="0"/>
                  </a:lnTo>
                  <a:lnTo>
                    <a:pt x="5183911" y="354330"/>
                  </a:lnTo>
                  <a:lnTo>
                    <a:pt x="3666375" y="354330"/>
                  </a:lnTo>
                  <a:lnTo>
                    <a:pt x="3666375" y="0"/>
                  </a:lnTo>
                  <a:lnTo>
                    <a:pt x="3457854" y="0"/>
                  </a:lnTo>
                  <a:lnTo>
                    <a:pt x="3457854" y="354330"/>
                  </a:lnTo>
                  <a:lnTo>
                    <a:pt x="1950415" y="354330"/>
                  </a:lnTo>
                  <a:lnTo>
                    <a:pt x="1950415" y="0"/>
                  </a:lnTo>
                  <a:lnTo>
                    <a:pt x="1728736" y="0"/>
                  </a:lnTo>
                  <a:lnTo>
                    <a:pt x="1728736" y="354330"/>
                  </a:lnTo>
                  <a:lnTo>
                    <a:pt x="222643" y="354330"/>
                  </a:lnTo>
                  <a:lnTo>
                    <a:pt x="222643" y="0"/>
                  </a:lnTo>
                  <a:lnTo>
                    <a:pt x="0" y="0"/>
                  </a:lnTo>
                  <a:lnTo>
                    <a:pt x="0" y="354330"/>
                  </a:lnTo>
                  <a:lnTo>
                    <a:pt x="0" y="575310"/>
                  </a:lnTo>
                  <a:lnTo>
                    <a:pt x="7137006" y="575310"/>
                  </a:lnTo>
                  <a:lnTo>
                    <a:pt x="7137006" y="354330"/>
                  </a:lnTo>
                  <a:lnTo>
                    <a:pt x="7137006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40440" y="3041644"/>
              <a:ext cx="7137400" cy="575945"/>
            </a:xfrm>
            <a:custGeom>
              <a:avLst/>
              <a:gdLst/>
              <a:ahLst/>
              <a:cxnLst/>
              <a:rect l="l" t="t" r="r" b="b"/>
              <a:pathLst>
                <a:path w="7137400" h="575945">
                  <a:moveTo>
                    <a:pt x="0" y="0"/>
                  </a:moveTo>
                  <a:lnTo>
                    <a:pt x="0" y="575748"/>
                  </a:lnTo>
                  <a:lnTo>
                    <a:pt x="7137013" y="575748"/>
                  </a:lnTo>
                  <a:lnTo>
                    <a:pt x="7137013" y="0"/>
                  </a:lnTo>
                  <a:lnTo>
                    <a:pt x="6915366" y="0"/>
                  </a:lnTo>
                  <a:lnTo>
                    <a:pt x="6915366" y="353940"/>
                  </a:lnTo>
                  <a:lnTo>
                    <a:pt x="5408279" y="353940"/>
                  </a:lnTo>
                  <a:lnTo>
                    <a:pt x="5408279" y="0"/>
                  </a:lnTo>
                  <a:lnTo>
                    <a:pt x="5183890" y="0"/>
                  </a:lnTo>
                  <a:lnTo>
                    <a:pt x="5183890" y="353940"/>
                  </a:lnTo>
                  <a:lnTo>
                    <a:pt x="3666348" y="353940"/>
                  </a:lnTo>
                  <a:lnTo>
                    <a:pt x="3666348" y="0"/>
                  </a:lnTo>
                  <a:lnTo>
                    <a:pt x="3457838" y="0"/>
                  </a:lnTo>
                  <a:lnTo>
                    <a:pt x="3457838" y="353940"/>
                  </a:lnTo>
                  <a:lnTo>
                    <a:pt x="1950410" y="353940"/>
                  </a:lnTo>
                  <a:lnTo>
                    <a:pt x="1950410" y="0"/>
                  </a:lnTo>
                  <a:lnTo>
                    <a:pt x="1728739" y="0"/>
                  </a:lnTo>
                  <a:lnTo>
                    <a:pt x="1728739" y="353940"/>
                  </a:lnTo>
                  <a:lnTo>
                    <a:pt x="222646" y="353940"/>
                  </a:lnTo>
                  <a:lnTo>
                    <a:pt x="222646" y="0"/>
                  </a:lnTo>
                  <a:lnTo>
                    <a:pt x="0" y="0"/>
                  </a:lnTo>
                  <a:close/>
                </a:path>
              </a:pathLst>
            </a:custGeom>
            <a:ln w="36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3854" y="2376464"/>
              <a:ext cx="1064260" cy="665480"/>
            </a:xfrm>
            <a:custGeom>
              <a:avLst/>
              <a:gdLst/>
              <a:ahLst/>
              <a:cxnLst/>
              <a:rect l="l" t="t" r="r" b="b"/>
              <a:pathLst>
                <a:path w="1064260" h="665480">
                  <a:moveTo>
                    <a:pt x="1063942" y="0"/>
                  </a:moveTo>
                  <a:lnTo>
                    <a:pt x="0" y="0"/>
                  </a:lnTo>
                  <a:lnTo>
                    <a:pt x="0" y="665195"/>
                  </a:lnTo>
                  <a:lnTo>
                    <a:pt x="1063942" y="665195"/>
                  </a:lnTo>
                  <a:lnTo>
                    <a:pt x="1063942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3854" y="2376466"/>
              <a:ext cx="1064260" cy="665480"/>
            </a:xfrm>
            <a:custGeom>
              <a:avLst/>
              <a:gdLst/>
              <a:ahLst/>
              <a:cxnLst/>
              <a:rect l="l" t="t" r="r" b="b"/>
              <a:pathLst>
                <a:path w="1064260" h="665480">
                  <a:moveTo>
                    <a:pt x="1063943" y="0"/>
                  </a:moveTo>
                  <a:lnTo>
                    <a:pt x="0" y="0"/>
                  </a:lnTo>
                  <a:lnTo>
                    <a:pt x="0" y="665178"/>
                  </a:lnTo>
                  <a:lnTo>
                    <a:pt x="1063943" y="665178"/>
                  </a:lnTo>
                  <a:lnTo>
                    <a:pt x="1063943" y="0"/>
                  </a:lnTo>
                  <a:close/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3854" y="2287645"/>
              <a:ext cx="1152525" cy="754380"/>
            </a:xfrm>
            <a:custGeom>
              <a:avLst/>
              <a:gdLst/>
              <a:ahLst/>
              <a:cxnLst/>
              <a:rect l="l" t="t" r="r" b="b"/>
              <a:pathLst>
                <a:path w="1152525" h="754380">
                  <a:moveTo>
                    <a:pt x="1152514" y="0"/>
                  </a:moveTo>
                  <a:lnTo>
                    <a:pt x="88558" y="0"/>
                  </a:lnTo>
                  <a:lnTo>
                    <a:pt x="0" y="88818"/>
                  </a:lnTo>
                  <a:lnTo>
                    <a:pt x="1063942" y="88818"/>
                  </a:lnTo>
                  <a:lnTo>
                    <a:pt x="1063942" y="754014"/>
                  </a:lnTo>
                  <a:lnTo>
                    <a:pt x="1152514" y="665439"/>
                  </a:lnTo>
                  <a:lnTo>
                    <a:pt x="1152514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3854" y="2287646"/>
              <a:ext cx="1152525" cy="754380"/>
            </a:xfrm>
            <a:custGeom>
              <a:avLst/>
              <a:gdLst/>
              <a:ahLst/>
              <a:cxnLst/>
              <a:rect l="l" t="t" r="r" b="b"/>
              <a:pathLst>
                <a:path w="1152525" h="754380">
                  <a:moveTo>
                    <a:pt x="1063943" y="753998"/>
                  </a:moveTo>
                  <a:lnTo>
                    <a:pt x="1063943" y="88820"/>
                  </a:lnTo>
                  <a:lnTo>
                    <a:pt x="0" y="88820"/>
                  </a:lnTo>
                  <a:lnTo>
                    <a:pt x="88558" y="0"/>
                  </a:lnTo>
                  <a:lnTo>
                    <a:pt x="1152513" y="0"/>
                  </a:lnTo>
                  <a:lnTo>
                    <a:pt x="1152513" y="665422"/>
                  </a:lnTo>
                  <a:lnTo>
                    <a:pt x="1063943" y="753998"/>
                  </a:lnTo>
                  <a:close/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27797" y="2287645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571" y="0"/>
                  </a:moveTo>
                  <a:lnTo>
                    <a:pt x="0" y="88818"/>
                  </a:lnTo>
                  <a:lnTo>
                    <a:pt x="88571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27797" y="2287646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88820"/>
                  </a:moveTo>
                  <a:lnTo>
                    <a:pt x="0" y="88820"/>
                  </a:lnTo>
                  <a:lnTo>
                    <a:pt x="88570" y="0"/>
                  </a:lnTo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3401" y="2376464"/>
            <a:ext cx="984885" cy="647065"/>
          </a:xfrm>
          <a:prstGeom prst="rect">
            <a:avLst/>
          </a:prstGeom>
          <a:solidFill>
            <a:srgbClr val="CBEBCC"/>
          </a:solidFill>
        </p:spPr>
        <p:txBody>
          <a:bodyPr vert="horz" wrap="square" lIns="0" tIns="190500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1500"/>
              </a:spcBef>
            </a:pPr>
            <a:r>
              <a:rPr sz="1750" b="1" spc="-25" dirty="0">
                <a:latin typeface="Times New Roman"/>
                <a:cs typeface="Times New Roman"/>
              </a:rPr>
              <a:t>CPU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80504" y="2275581"/>
            <a:ext cx="1177290" cy="778510"/>
            <a:chOff x="1980504" y="2275581"/>
            <a:chExt cx="1177290" cy="778510"/>
          </a:xfrm>
        </p:grpSpPr>
        <p:sp>
          <p:nvSpPr>
            <p:cNvPr id="18" name="object 18"/>
            <p:cNvSpPr/>
            <p:nvPr/>
          </p:nvSpPr>
          <p:spPr>
            <a:xfrm>
              <a:off x="1992569" y="2376466"/>
              <a:ext cx="1064260" cy="665480"/>
            </a:xfrm>
            <a:custGeom>
              <a:avLst/>
              <a:gdLst/>
              <a:ahLst/>
              <a:cxnLst/>
              <a:rect l="l" t="t" r="r" b="b"/>
              <a:pathLst>
                <a:path w="1064260" h="665480">
                  <a:moveTo>
                    <a:pt x="1063970" y="0"/>
                  </a:moveTo>
                  <a:lnTo>
                    <a:pt x="0" y="0"/>
                  </a:lnTo>
                  <a:lnTo>
                    <a:pt x="0" y="665178"/>
                  </a:lnTo>
                  <a:lnTo>
                    <a:pt x="1063970" y="665178"/>
                  </a:lnTo>
                  <a:lnTo>
                    <a:pt x="1063970" y="0"/>
                  </a:lnTo>
                  <a:close/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92568" y="2287645"/>
              <a:ext cx="1153160" cy="754380"/>
            </a:xfrm>
            <a:custGeom>
              <a:avLst/>
              <a:gdLst/>
              <a:ahLst/>
              <a:cxnLst/>
              <a:rect l="l" t="t" r="r" b="b"/>
              <a:pathLst>
                <a:path w="1153160" h="754380">
                  <a:moveTo>
                    <a:pt x="1152540" y="0"/>
                  </a:moveTo>
                  <a:lnTo>
                    <a:pt x="88571" y="0"/>
                  </a:lnTo>
                  <a:lnTo>
                    <a:pt x="0" y="88818"/>
                  </a:lnTo>
                  <a:lnTo>
                    <a:pt x="1063965" y="88818"/>
                  </a:lnTo>
                  <a:lnTo>
                    <a:pt x="1063965" y="754014"/>
                  </a:lnTo>
                  <a:lnTo>
                    <a:pt x="1152540" y="665439"/>
                  </a:lnTo>
                  <a:lnTo>
                    <a:pt x="1152540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92569" y="2287646"/>
              <a:ext cx="1153160" cy="754380"/>
            </a:xfrm>
            <a:custGeom>
              <a:avLst/>
              <a:gdLst/>
              <a:ahLst/>
              <a:cxnLst/>
              <a:rect l="l" t="t" r="r" b="b"/>
              <a:pathLst>
                <a:path w="1153160" h="754380">
                  <a:moveTo>
                    <a:pt x="1063970" y="753998"/>
                  </a:moveTo>
                  <a:lnTo>
                    <a:pt x="1063970" y="88820"/>
                  </a:lnTo>
                  <a:lnTo>
                    <a:pt x="0" y="88820"/>
                  </a:lnTo>
                  <a:lnTo>
                    <a:pt x="88570" y="0"/>
                  </a:lnTo>
                  <a:lnTo>
                    <a:pt x="1152543" y="0"/>
                  </a:lnTo>
                  <a:lnTo>
                    <a:pt x="1152543" y="665422"/>
                  </a:lnTo>
                  <a:lnTo>
                    <a:pt x="1063970" y="753998"/>
                  </a:lnTo>
                  <a:close/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56534" y="2287645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574" y="0"/>
                  </a:moveTo>
                  <a:lnTo>
                    <a:pt x="0" y="88818"/>
                  </a:lnTo>
                  <a:lnTo>
                    <a:pt x="88574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56540" y="2287646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88820"/>
                  </a:moveTo>
                  <a:lnTo>
                    <a:pt x="0" y="88820"/>
                  </a:lnTo>
                  <a:lnTo>
                    <a:pt x="88573" y="0"/>
                  </a:lnTo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1992569" y="2376464"/>
            <a:ext cx="1064260" cy="665480"/>
          </a:xfrm>
          <a:prstGeom prst="rect">
            <a:avLst/>
          </a:prstGeom>
          <a:solidFill>
            <a:srgbClr val="CBEBCC"/>
          </a:solidFill>
        </p:spPr>
        <p:txBody>
          <a:bodyPr vert="horz" wrap="square" lIns="0" tIns="19050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1500"/>
              </a:spcBef>
            </a:pPr>
            <a:r>
              <a:rPr sz="17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Memory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709262" y="2275581"/>
            <a:ext cx="1176655" cy="778510"/>
            <a:chOff x="3709262" y="2275581"/>
            <a:chExt cx="1176655" cy="778510"/>
          </a:xfrm>
        </p:grpSpPr>
        <p:sp>
          <p:nvSpPr>
            <p:cNvPr id="25" name="object 25"/>
            <p:cNvSpPr/>
            <p:nvPr/>
          </p:nvSpPr>
          <p:spPr>
            <a:xfrm>
              <a:off x="3721327" y="2376466"/>
              <a:ext cx="1064260" cy="665480"/>
            </a:xfrm>
            <a:custGeom>
              <a:avLst/>
              <a:gdLst/>
              <a:ahLst/>
              <a:cxnLst/>
              <a:rect l="l" t="t" r="r" b="b"/>
              <a:pathLst>
                <a:path w="1064260" h="665480">
                  <a:moveTo>
                    <a:pt x="1063976" y="0"/>
                  </a:moveTo>
                  <a:lnTo>
                    <a:pt x="0" y="0"/>
                  </a:lnTo>
                  <a:lnTo>
                    <a:pt x="0" y="665178"/>
                  </a:lnTo>
                  <a:lnTo>
                    <a:pt x="1063976" y="665178"/>
                  </a:lnTo>
                  <a:lnTo>
                    <a:pt x="1063976" y="0"/>
                  </a:lnTo>
                  <a:close/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21333" y="2287645"/>
              <a:ext cx="1153160" cy="754380"/>
            </a:xfrm>
            <a:custGeom>
              <a:avLst/>
              <a:gdLst/>
              <a:ahLst/>
              <a:cxnLst/>
              <a:rect l="l" t="t" r="r" b="b"/>
              <a:pathLst>
                <a:path w="1153160" h="754380">
                  <a:moveTo>
                    <a:pt x="1152540" y="0"/>
                  </a:moveTo>
                  <a:lnTo>
                    <a:pt x="88940" y="0"/>
                  </a:lnTo>
                  <a:lnTo>
                    <a:pt x="0" y="88818"/>
                  </a:lnTo>
                  <a:lnTo>
                    <a:pt x="1063965" y="88818"/>
                  </a:lnTo>
                  <a:lnTo>
                    <a:pt x="1063965" y="754014"/>
                  </a:lnTo>
                  <a:lnTo>
                    <a:pt x="1152540" y="665439"/>
                  </a:lnTo>
                  <a:lnTo>
                    <a:pt x="1152540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21327" y="2287646"/>
              <a:ext cx="1152525" cy="754380"/>
            </a:xfrm>
            <a:custGeom>
              <a:avLst/>
              <a:gdLst/>
              <a:ahLst/>
              <a:cxnLst/>
              <a:rect l="l" t="t" r="r" b="b"/>
              <a:pathLst>
                <a:path w="1152525" h="754380">
                  <a:moveTo>
                    <a:pt x="1063976" y="753998"/>
                  </a:moveTo>
                  <a:lnTo>
                    <a:pt x="1063976" y="88820"/>
                  </a:lnTo>
                  <a:lnTo>
                    <a:pt x="0" y="88820"/>
                  </a:lnTo>
                  <a:lnTo>
                    <a:pt x="88939" y="0"/>
                  </a:lnTo>
                  <a:lnTo>
                    <a:pt x="1152519" y="0"/>
                  </a:lnTo>
                  <a:lnTo>
                    <a:pt x="1152519" y="665422"/>
                  </a:lnTo>
                  <a:lnTo>
                    <a:pt x="1063976" y="753998"/>
                  </a:lnTo>
                  <a:close/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85299" y="2287645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574" y="0"/>
                  </a:moveTo>
                  <a:lnTo>
                    <a:pt x="0" y="88818"/>
                  </a:lnTo>
                  <a:lnTo>
                    <a:pt x="88574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85304" y="2287646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88820"/>
                  </a:moveTo>
                  <a:lnTo>
                    <a:pt x="0" y="88820"/>
                  </a:lnTo>
                  <a:lnTo>
                    <a:pt x="88542" y="0"/>
                  </a:lnTo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21333" y="2376464"/>
            <a:ext cx="1064260" cy="665480"/>
          </a:xfrm>
          <a:prstGeom prst="rect">
            <a:avLst/>
          </a:prstGeom>
          <a:solidFill>
            <a:srgbClr val="CBEBCC"/>
          </a:solidFill>
        </p:spPr>
        <p:txBody>
          <a:bodyPr vert="horz" wrap="square" lIns="0" tIns="1905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500"/>
              </a:spcBef>
            </a:pPr>
            <a:r>
              <a:rPr sz="1750" b="1" spc="-10" dirty="0">
                <a:latin typeface="Times New Roman"/>
                <a:cs typeface="Times New Roman"/>
              </a:rPr>
              <a:t>Memory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38118" y="2275581"/>
            <a:ext cx="1177290" cy="778510"/>
            <a:chOff x="5438118" y="2275581"/>
            <a:chExt cx="1177290" cy="778510"/>
          </a:xfrm>
        </p:grpSpPr>
        <p:sp>
          <p:nvSpPr>
            <p:cNvPr id="41" name="object 41"/>
            <p:cNvSpPr/>
            <p:nvPr/>
          </p:nvSpPr>
          <p:spPr>
            <a:xfrm>
              <a:off x="5450183" y="2376466"/>
              <a:ext cx="1064260" cy="665480"/>
            </a:xfrm>
            <a:custGeom>
              <a:avLst/>
              <a:gdLst/>
              <a:ahLst/>
              <a:cxnLst/>
              <a:rect l="l" t="t" r="r" b="b"/>
              <a:pathLst>
                <a:path w="1064259" h="665480">
                  <a:moveTo>
                    <a:pt x="1063854" y="0"/>
                  </a:moveTo>
                  <a:lnTo>
                    <a:pt x="0" y="0"/>
                  </a:lnTo>
                  <a:lnTo>
                    <a:pt x="0" y="665178"/>
                  </a:lnTo>
                  <a:lnTo>
                    <a:pt x="1063854" y="665178"/>
                  </a:lnTo>
                  <a:lnTo>
                    <a:pt x="1063854" y="0"/>
                  </a:lnTo>
                  <a:close/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450189" y="2287645"/>
              <a:ext cx="1153160" cy="754380"/>
            </a:xfrm>
            <a:custGeom>
              <a:avLst/>
              <a:gdLst/>
              <a:ahLst/>
              <a:cxnLst/>
              <a:rect l="l" t="t" r="r" b="b"/>
              <a:pathLst>
                <a:path w="1153159" h="754380">
                  <a:moveTo>
                    <a:pt x="1152784" y="0"/>
                  </a:moveTo>
                  <a:lnTo>
                    <a:pt x="88818" y="0"/>
                  </a:lnTo>
                  <a:lnTo>
                    <a:pt x="0" y="88818"/>
                  </a:lnTo>
                  <a:lnTo>
                    <a:pt x="1063843" y="88818"/>
                  </a:lnTo>
                  <a:lnTo>
                    <a:pt x="1063843" y="754014"/>
                  </a:lnTo>
                  <a:lnTo>
                    <a:pt x="1152784" y="665439"/>
                  </a:lnTo>
                  <a:lnTo>
                    <a:pt x="1152784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450183" y="2287646"/>
              <a:ext cx="1153160" cy="754380"/>
            </a:xfrm>
            <a:custGeom>
              <a:avLst/>
              <a:gdLst/>
              <a:ahLst/>
              <a:cxnLst/>
              <a:rect l="l" t="t" r="r" b="b"/>
              <a:pathLst>
                <a:path w="1153159" h="754380">
                  <a:moveTo>
                    <a:pt x="1063854" y="753998"/>
                  </a:moveTo>
                  <a:lnTo>
                    <a:pt x="1063854" y="88820"/>
                  </a:lnTo>
                  <a:lnTo>
                    <a:pt x="0" y="88820"/>
                  </a:lnTo>
                  <a:lnTo>
                    <a:pt x="88817" y="0"/>
                  </a:lnTo>
                  <a:lnTo>
                    <a:pt x="1152793" y="0"/>
                  </a:lnTo>
                  <a:lnTo>
                    <a:pt x="1152793" y="665422"/>
                  </a:lnTo>
                  <a:lnTo>
                    <a:pt x="1063854" y="753998"/>
                  </a:lnTo>
                  <a:close/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14033" y="2287645"/>
              <a:ext cx="89535" cy="88900"/>
            </a:xfrm>
            <a:custGeom>
              <a:avLst/>
              <a:gdLst/>
              <a:ahLst/>
              <a:cxnLst/>
              <a:rect l="l" t="t" r="r" b="b"/>
              <a:pathLst>
                <a:path w="89534" h="88900">
                  <a:moveTo>
                    <a:pt x="88940" y="0"/>
                  </a:moveTo>
                  <a:lnTo>
                    <a:pt x="0" y="88818"/>
                  </a:lnTo>
                  <a:lnTo>
                    <a:pt x="8894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14037" y="2287646"/>
              <a:ext cx="89535" cy="88900"/>
            </a:xfrm>
            <a:custGeom>
              <a:avLst/>
              <a:gdLst/>
              <a:ahLst/>
              <a:cxnLst/>
              <a:rect l="l" t="t" r="r" b="b"/>
              <a:pathLst>
                <a:path w="89534" h="88900">
                  <a:moveTo>
                    <a:pt x="0" y="88820"/>
                  </a:moveTo>
                  <a:lnTo>
                    <a:pt x="0" y="88820"/>
                  </a:lnTo>
                  <a:lnTo>
                    <a:pt x="88939" y="0"/>
                  </a:lnTo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450189" y="2376464"/>
            <a:ext cx="1064260" cy="665480"/>
          </a:xfrm>
          <a:prstGeom prst="rect">
            <a:avLst/>
          </a:prstGeom>
          <a:solidFill>
            <a:srgbClr val="CBEBCC"/>
          </a:solidFill>
        </p:spPr>
        <p:txBody>
          <a:bodyPr vert="horz" wrap="square" lIns="0" tIns="190500" rIns="0" bIns="0" rtlCol="0">
            <a:spAutoFit/>
          </a:bodyPr>
          <a:lstStyle/>
          <a:p>
            <a:pPr marL="345440">
              <a:lnSpc>
                <a:spcPct val="100000"/>
              </a:lnSpc>
              <a:spcBef>
                <a:spcPts val="1500"/>
              </a:spcBef>
            </a:pPr>
            <a:r>
              <a:rPr sz="1750" b="1" spc="-25" dirty="0">
                <a:latin typeface="Times New Roman"/>
                <a:cs typeface="Times New Roman"/>
              </a:rPr>
              <a:t>I/O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167126" y="2275581"/>
            <a:ext cx="1176655" cy="778510"/>
            <a:chOff x="7167126" y="2275581"/>
            <a:chExt cx="1176655" cy="778510"/>
          </a:xfrm>
        </p:grpSpPr>
        <p:sp>
          <p:nvSpPr>
            <p:cNvPr id="32" name="object 32"/>
            <p:cNvSpPr/>
            <p:nvPr/>
          </p:nvSpPr>
          <p:spPr>
            <a:xfrm>
              <a:off x="7179191" y="2376466"/>
              <a:ext cx="1064260" cy="665480"/>
            </a:xfrm>
            <a:custGeom>
              <a:avLst/>
              <a:gdLst/>
              <a:ahLst/>
              <a:cxnLst/>
              <a:rect l="l" t="t" r="r" b="b"/>
              <a:pathLst>
                <a:path w="1064259" h="665480">
                  <a:moveTo>
                    <a:pt x="1063946" y="0"/>
                  </a:moveTo>
                  <a:lnTo>
                    <a:pt x="0" y="0"/>
                  </a:lnTo>
                  <a:lnTo>
                    <a:pt x="0" y="665178"/>
                  </a:lnTo>
                  <a:lnTo>
                    <a:pt x="1063946" y="665178"/>
                  </a:lnTo>
                  <a:lnTo>
                    <a:pt x="1063946" y="0"/>
                  </a:lnTo>
                  <a:close/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79198" y="2287645"/>
              <a:ext cx="1152525" cy="754380"/>
            </a:xfrm>
            <a:custGeom>
              <a:avLst/>
              <a:gdLst/>
              <a:ahLst/>
              <a:cxnLst/>
              <a:rect l="l" t="t" r="r" b="b"/>
              <a:pathLst>
                <a:path w="1152525" h="754380">
                  <a:moveTo>
                    <a:pt x="1152509" y="0"/>
                  </a:moveTo>
                  <a:lnTo>
                    <a:pt x="88544" y="0"/>
                  </a:lnTo>
                  <a:lnTo>
                    <a:pt x="0" y="88818"/>
                  </a:lnTo>
                  <a:lnTo>
                    <a:pt x="1063965" y="88818"/>
                  </a:lnTo>
                  <a:lnTo>
                    <a:pt x="1063965" y="754014"/>
                  </a:lnTo>
                  <a:lnTo>
                    <a:pt x="1152509" y="665439"/>
                  </a:lnTo>
                  <a:lnTo>
                    <a:pt x="1152509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79191" y="2287646"/>
              <a:ext cx="1152525" cy="754380"/>
            </a:xfrm>
            <a:custGeom>
              <a:avLst/>
              <a:gdLst/>
              <a:ahLst/>
              <a:cxnLst/>
              <a:rect l="l" t="t" r="r" b="b"/>
              <a:pathLst>
                <a:path w="1152525" h="754380">
                  <a:moveTo>
                    <a:pt x="1063946" y="753998"/>
                  </a:moveTo>
                  <a:lnTo>
                    <a:pt x="1063946" y="88820"/>
                  </a:lnTo>
                  <a:lnTo>
                    <a:pt x="0" y="88820"/>
                  </a:lnTo>
                  <a:lnTo>
                    <a:pt x="88573" y="0"/>
                  </a:lnTo>
                  <a:lnTo>
                    <a:pt x="1152519" y="0"/>
                  </a:lnTo>
                  <a:lnTo>
                    <a:pt x="1152519" y="665422"/>
                  </a:lnTo>
                  <a:lnTo>
                    <a:pt x="1063946" y="753998"/>
                  </a:lnTo>
                  <a:close/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243163" y="2287645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544" y="0"/>
                  </a:moveTo>
                  <a:lnTo>
                    <a:pt x="0" y="88818"/>
                  </a:lnTo>
                  <a:lnTo>
                    <a:pt x="88544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243137" y="2287646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88820"/>
                  </a:moveTo>
                  <a:lnTo>
                    <a:pt x="0" y="88820"/>
                  </a:lnTo>
                  <a:lnTo>
                    <a:pt x="88573" y="0"/>
                  </a:lnTo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179198" y="2376464"/>
            <a:ext cx="1064260" cy="665480"/>
          </a:xfrm>
          <a:prstGeom prst="rect">
            <a:avLst/>
          </a:prstGeom>
          <a:solidFill>
            <a:srgbClr val="CBEBCC"/>
          </a:solidFill>
        </p:spPr>
        <p:txBody>
          <a:bodyPr vert="horz" wrap="square" lIns="0" tIns="1905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00"/>
              </a:spcBef>
            </a:pPr>
            <a:r>
              <a:rPr sz="1750" b="1" spc="-25" dirty="0">
                <a:latin typeface="Times New Roman"/>
                <a:cs typeface="Times New Roman"/>
              </a:rPr>
              <a:t>I/O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05811" y="3387474"/>
            <a:ext cx="97091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latin typeface="Times New Roman"/>
                <a:cs typeface="Times New Roman"/>
              </a:rPr>
              <a:t>Control</a:t>
            </a:r>
            <a:r>
              <a:rPr sz="1350" b="1" spc="-40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lines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90810" y="3830970"/>
            <a:ext cx="99885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latin typeface="Times New Roman"/>
                <a:cs typeface="Times New Roman"/>
              </a:rPr>
              <a:t>Address</a:t>
            </a:r>
            <a:r>
              <a:rPr sz="1350" b="1" spc="-40" dirty="0">
                <a:latin typeface="Times New Roman"/>
                <a:cs typeface="Times New Roman"/>
              </a:rPr>
              <a:t> </a:t>
            </a:r>
            <a:r>
              <a:rPr sz="1350" b="1" spc="-20" dirty="0">
                <a:latin typeface="Times New Roman"/>
                <a:cs typeface="Times New Roman"/>
              </a:rPr>
              <a:t>lines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523980" y="3774420"/>
            <a:ext cx="382905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b="1" spc="-25" dirty="0">
                <a:latin typeface="Times New Roman"/>
                <a:cs typeface="Times New Roman"/>
              </a:rPr>
              <a:t>Bus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13944" y="4274335"/>
            <a:ext cx="75311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latin typeface="Times New Roman"/>
                <a:cs typeface="Times New Roman"/>
              </a:rPr>
              <a:t>Data</a:t>
            </a:r>
            <a:r>
              <a:rPr sz="1350" b="1" spc="-25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lines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233684" y="2685867"/>
            <a:ext cx="5274945" cy="1814830"/>
            <a:chOff x="3233684" y="2685867"/>
            <a:chExt cx="5274945" cy="1814830"/>
          </a:xfrm>
        </p:grpSpPr>
        <p:sp>
          <p:nvSpPr>
            <p:cNvPr id="51" name="object 51"/>
            <p:cNvSpPr/>
            <p:nvPr/>
          </p:nvSpPr>
          <p:spPr>
            <a:xfrm>
              <a:off x="8249568" y="3379705"/>
              <a:ext cx="247015" cy="1109345"/>
            </a:xfrm>
            <a:custGeom>
              <a:avLst/>
              <a:gdLst/>
              <a:ahLst/>
              <a:cxnLst/>
              <a:rect l="l" t="t" r="r" b="b"/>
              <a:pathLst>
                <a:path w="247015" h="1109345">
                  <a:moveTo>
                    <a:pt x="246517" y="554329"/>
                  </a:moveTo>
                  <a:lnTo>
                    <a:pt x="207121" y="552522"/>
                  </a:lnTo>
                  <a:lnTo>
                    <a:pt x="173646" y="547266"/>
                  </a:lnTo>
                  <a:lnTo>
                    <a:pt x="122842" y="527393"/>
                  </a:lnTo>
                  <a:lnTo>
                    <a:pt x="90873" y="496679"/>
                  </a:lnTo>
                  <a:lnTo>
                    <a:pt x="74508" y="457095"/>
                  </a:lnTo>
                  <a:lnTo>
                    <a:pt x="70515" y="410614"/>
                  </a:lnTo>
                  <a:lnTo>
                    <a:pt x="72148" y="385402"/>
                  </a:lnTo>
                  <a:lnTo>
                    <a:pt x="80653" y="332269"/>
                  </a:lnTo>
                  <a:lnTo>
                    <a:pt x="93449" y="277164"/>
                  </a:lnTo>
                  <a:lnTo>
                    <a:pt x="100447" y="249489"/>
                  </a:lnTo>
                  <a:lnTo>
                    <a:pt x="107306" y="222060"/>
                  </a:lnTo>
                  <a:lnTo>
                    <a:pt x="118990" y="168926"/>
                  </a:lnTo>
                  <a:lnTo>
                    <a:pt x="125270" y="119735"/>
                  </a:lnTo>
                  <a:lnTo>
                    <a:pt x="125374" y="97233"/>
                  </a:lnTo>
                  <a:lnTo>
                    <a:pt x="122915" y="76456"/>
                  </a:lnTo>
                  <a:lnTo>
                    <a:pt x="108691" y="41061"/>
                  </a:lnTo>
                  <a:lnTo>
                    <a:pt x="79367" y="15521"/>
                  </a:lnTo>
                  <a:lnTo>
                    <a:pt x="31712" y="1806"/>
                  </a:lnTo>
                  <a:lnTo>
                    <a:pt x="0" y="0"/>
                  </a:lnTo>
                </a:path>
                <a:path w="247015" h="1109345">
                  <a:moveTo>
                    <a:pt x="246517" y="554329"/>
                  </a:moveTo>
                  <a:lnTo>
                    <a:pt x="207121" y="556137"/>
                  </a:lnTo>
                  <a:lnTo>
                    <a:pt x="173646" y="561395"/>
                  </a:lnTo>
                  <a:lnTo>
                    <a:pt x="122842" y="581278"/>
                  </a:lnTo>
                  <a:lnTo>
                    <a:pt x="90873" y="612006"/>
                  </a:lnTo>
                  <a:lnTo>
                    <a:pt x="74508" y="651607"/>
                  </a:lnTo>
                  <a:lnTo>
                    <a:pt x="70515" y="698110"/>
                  </a:lnTo>
                  <a:lnTo>
                    <a:pt x="72148" y="723333"/>
                  </a:lnTo>
                  <a:lnTo>
                    <a:pt x="80653" y="776491"/>
                  </a:lnTo>
                  <a:lnTo>
                    <a:pt x="93449" y="831620"/>
                  </a:lnTo>
                  <a:lnTo>
                    <a:pt x="100447" y="859308"/>
                  </a:lnTo>
                  <a:lnTo>
                    <a:pt x="107306" y="886750"/>
                  </a:lnTo>
                  <a:lnTo>
                    <a:pt x="118990" y="939908"/>
                  </a:lnTo>
                  <a:lnTo>
                    <a:pt x="125270" y="989122"/>
                  </a:lnTo>
                  <a:lnTo>
                    <a:pt x="125374" y="1011634"/>
                  </a:lnTo>
                  <a:lnTo>
                    <a:pt x="122915" y="1032420"/>
                  </a:lnTo>
                  <a:lnTo>
                    <a:pt x="108691" y="1067831"/>
                  </a:lnTo>
                  <a:lnTo>
                    <a:pt x="79367" y="1093383"/>
                  </a:lnTo>
                  <a:lnTo>
                    <a:pt x="31712" y="1107104"/>
                  </a:lnTo>
                  <a:lnTo>
                    <a:pt x="0" y="1108911"/>
                  </a:lnTo>
                </a:path>
              </a:pathLst>
            </a:custGeom>
            <a:ln w="24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33674" y="2685872"/>
              <a:ext cx="3870325" cy="57785"/>
            </a:xfrm>
            <a:custGeom>
              <a:avLst/>
              <a:gdLst/>
              <a:ahLst/>
              <a:cxnLst/>
              <a:rect l="l" t="t" r="r" b="b"/>
              <a:pathLst>
                <a:path w="3870325" h="57785">
                  <a:moveTo>
                    <a:pt x="58318" y="28676"/>
                  </a:moveTo>
                  <a:lnTo>
                    <a:pt x="56070" y="17653"/>
                  </a:lnTo>
                  <a:lnTo>
                    <a:pt x="49936" y="8521"/>
                  </a:lnTo>
                  <a:lnTo>
                    <a:pt x="40830" y="2298"/>
                  </a:lnTo>
                  <a:lnTo>
                    <a:pt x="29667" y="0"/>
                  </a:lnTo>
                  <a:lnTo>
                    <a:pt x="18072" y="2298"/>
                  </a:lnTo>
                  <a:lnTo>
                    <a:pt x="8648" y="8521"/>
                  </a:lnTo>
                  <a:lnTo>
                    <a:pt x="2324" y="17653"/>
                  </a:lnTo>
                  <a:lnTo>
                    <a:pt x="0" y="28676"/>
                  </a:lnTo>
                  <a:lnTo>
                    <a:pt x="2324" y="39763"/>
                  </a:lnTo>
                  <a:lnTo>
                    <a:pt x="8648" y="48920"/>
                  </a:lnTo>
                  <a:lnTo>
                    <a:pt x="18072" y="55156"/>
                  </a:lnTo>
                  <a:lnTo>
                    <a:pt x="29667" y="57454"/>
                  </a:lnTo>
                  <a:lnTo>
                    <a:pt x="40830" y="55156"/>
                  </a:lnTo>
                  <a:lnTo>
                    <a:pt x="49936" y="48920"/>
                  </a:lnTo>
                  <a:lnTo>
                    <a:pt x="56070" y="39763"/>
                  </a:lnTo>
                  <a:lnTo>
                    <a:pt x="58318" y="28676"/>
                  </a:lnTo>
                  <a:close/>
                </a:path>
                <a:path w="3870325" h="57785">
                  <a:moveTo>
                    <a:pt x="222656" y="28676"/>
                  </a:moveTo>
                  <a:lnTo>
                    <a:pt x="220535" y="17653"/>
                  </a:lnTo>
                  <a:lnTo>
                    <a:pt x="214630" y="8521"/>
                  </a:lnTo>
                  <a:lnTo>
                    <a:pt x="205638" y="2298"/>
                  </a:lnTo>
                  <a:lnTo>
                    <a:pt x="194259" y="0"/>
                  </a:lnTo>
                  <a:lnTo>
                    <a:pt x="183057" y="2298"/>
                  </a:lnTo>
                  <a:lnTo>
                    <a:pt x="173901" y="8521"/>
                  </a:lnTo>
                  <a:lnTo>
                    <a:pt x="167716" y="17653"/>
                  </a:lnTo>
                  <a:lnTo>
                    <a:pt x="165455" y="28676"/>
                  </a:lnTo>
                  <a:lnTo>
                    <a:pt x="167716" y="39763"/>
                  </a:lnTo>
                  <a:lnTo>
                    <a:pt x="173901" y="48920"/>
                  </a:lnTo>
                  <a:lnTo>
                    <a:pt x="183057" y="55156"/>
                  </a:lnTo>
                  <a:lnTo>
                    <a:pt x="194259" y="57454"/>
                  </a:lnTo>
                  <a:lnTo>
                    <a:pt x="205638" y="55156"/>
                  </a:lnTo>
                  <a:lnTo>
                    <a:pt x="214630" y="48920"/>
                  </a:lnTo>
                  <a:lnTo>
                    <a:pt x="220535" y="39763"/>
                  </a:lnTo>
                  <a:lnTo>
                    <a:pt x="222656" y="28676"/>
                  </a:lnTo>
                  <a:close/>
                </a:path>
                <a:path w="3870325" h="57785">
                  <a:moveTo>
                    <a:pt x="388112" y="28676"/>
                  </a:moveTo>
                  <a:lnTo>
                    <a:pt x="385813" y="17653"/>
                  </a:lnTo>
                  <a:lnTo>
                    <a:pt x="379603" y="8521"/>
                  </a:lnTo>
                  <a:lnTo>
                    <a:pt x="370471" y="2298"/>
                  </a:lnTo>
                  <a:lnTo>
                    <a:pt x="359460" y="0"/>
                  </a:lnTo>
                  <a:lnTo>
                    <a:pt x="348259" y="2298"/>
                  </a:lnTo>
                  <a:lnTo>
                    <a:pt x="339115" y="8521"/>
                  </a:lnTo>
                  <a:lnTo>
                    <a:pt x="332943" y="17653"/>
                  </a:lnTo>
                  <a:lnTo>
                    <a:pt x="330682" y="28676"/>
                  </a:lnTo>
                  <a:lnTo>
                    <a:pt x="332943" y="39763"/>
                  </a:lnTo>
                  <a:lnTo>
                    <a:pt x="339115" y="48920"/>
                  </a:lnTo>
                  <a:lnTo>
                    <a:pt x="348259" y="55156"/>
                  </a:lnTo>
                  <a:lnTo>
                    <a:pt x="359460" y="57454"/>
                  </a:lnTo>
                  <a:lnTo>
                    <a:pt x="370471" y="55156"/>
                  </a:lnTo>
                  <a:lnTo>
                    <a:pt x="379603" y="48920"/>
                  </a:lnTo>
                  <a:lnTo>
                    <a:pt x="385813" y="39763"/>
                  </a:lnTo>
                  <a:lnTo>
                    <a:pt x="388112" y="28676"/>
                  </a:lnTo>
                  <a:close/>
                </a:path>
                <a:path w="3870325" h="57785">
                  <a:moveTo>
                    <a:pt x="3540048" y="28676"/>
                  </a:moveTo>
                  <a:lnTo>
                    <a:pt x="3537775" y="17653"/>
                  </a:lnTo>
                  <a:lnTo>
                    <a:pt x="3531603" y="8521"/>
                  </a:lnTo>
                  <a:lnTo>
                    <a:pt x="3522446" y="2298"/>
                  </a:lnTo>
                  <a:lnTo>
                    <a:pt x="3511270" y="0"/>
                  </a:lnTo>
                  <a:lnTo>
                    <a:pt x="3500285" y="2298"/>
                  </a:lnTo>
                  <a:lnTo>
                    <a:pt x="3491230" y="8521"/>
                  </a:lnTo>
                  <a:lnTo>
                    <a:pt x="3485096" y="17653"/>
                  </a:lnTo>
                  <a:lnTo>
                    <a:pt x="3482835" y="28676"/>
                  </a:lnTo>
                  <a:lnTo>
                    <a:pt x="3485096" y="39763"/>
                  </a:lnTo>
                  <a:lnTo>
                    <a:pt x="3491230" y="48920"/>
                  </a:lnTo>
                  <a:lnTo>
                    <a:pt x="3500285" y="55156"/>
                  </a:lnTo>
                  <a:lnTo>
                    <a:pt x="3511270" y="57454"/>
                  </a:lnTo>
                  <a:lnTo>
                    <a:pt x="3522446" y="55156"/>
                  </a:lnTo>
                  <a:lnTo>
                    <a:pt x="3531603" y="48920"/>
                  </a:lnTo>
                  <a:lnTo>
                    <a:pt x="3537775" y="39763"/>
                  </a:lnTo>
                  <a:lnTo>
                    <a:pt x="3540048" y="28676"/>
                  </a:lnTo>
                  <a:close/>
                </a:path>
                <a:path w="3870325" h="57785">
                  <a:moveTo>
                    <a:pt x="3705250" y="28676"/>
                  </a:moveTo>
                  <a:lnTo>
                    <a:pt x="3702989" y="17653"/>
                  </a:lnTo>
                  <a:lnTo>
                    <a:pt x="3696855" y="8521"/>
                  </a:lnTo>
                  <a:lnTo>
                    <a:pt x="3687826" y="2298"/>
                  </a:lnTo>
                  <a:lnTo>
                    <a:pt x="3676840" y="0"/>
                  </a:lnTo>
                  <a:lnTo>
                    <a:pt x="3665093" y="2298"/>
                  </a:lnTo>
                  <a:lnTo>
                    <a:pt x="3655682" y="8521"/>
                  </a:lnTo>
                  <a:lnTo>
                    <a:pt x="3649446" y="17653"/>
                  </a:lnTo>
                  <a:lnTo>
                    <a:pt x="3647186" y="28676"/>
                  </a:lnTo>
                  <a:lnTo>
                    <a:pt x="3649446" y="39763"/>
                  </a:lnTo>
                  <a:lnTo>
                    <a:pt x="3655682" y="48920"/>
                  </a:lnTo>
                  <a:lnTo>
                    <a:pt x="3665093" y="55156"/>
                  </a:lnTo>
                  <a:lnTo>
                    <a:pt x="3676840" y="57454"/>
                  </a:lnTo>
                  <a:lnTo>
                    <a:pt x="3687826" y="55156"/>
                  </a:lnTo>
                  <a:lnTo>
                    <a:pt x="3696855" y="48920"/>
                  </a:lnTo>
                  <a:lnTo>
                    <a:pt x="3702989" y="39763"/>
                  </a:lnTo>
                  <a:lnTo>
                    <a:pt x="3705250" y="28676"/>
                  </a:lnTo>
                  <a:close/>
                </a:path>
                <a:path w="3870325" h="57785">
                  <a:moveTo>
                    <a:pt x="3869842" y="28676"/>
                  </a:moveTo>
                  <a:lnTo>
                    <a:pt x="3867531" y="17653"/>
                  </a:lnTo>
                  <a:lnTo>
                    <a:pt x="3861308" y="8521"/>
                  </a:lnTo>
                  <a:lnTo>
                    <a:pt x="3852138" y="2298"/>
                  </a:lnTo>
                  <a:lnTo>
                    <a:pt x="3841064" y="0"/>
                  </a:lnTo>
                  <a:lnTo>
                    <a:pt x="3830040" y="2298"/>
                  </a:lnTo>
                  <a:lnTo>
                    <a:pt x="3820922" y="8521"/>
                  </a:lnTo>
                  <a:lnTo>
                    <a:pt x="3814711" y="17653"/>
                  </a:lnTo>
                  <a:lnTo>
                    <a:pt x="3812413" y="28676"/>
                  </a:lnTo>
                  <a:lnTo>
                    <a:pt x="3814711" y="39763"/>
                  </a:lnTo>
                  <a:lnTo>
                    <a:pt x="3820922" y="48920"/>
                  </a:lnTo>
                  <a:lnTo>
                    <a:pt x="3830040" y="55156"/>
                  </a:lnTo>
                  <a:lnTo>
                    <a:pt x="3841064" y="57454"/>
                  </a:lnTo>
                  <a:lnTo>
                    <a:pt x="3852138" y="55156"/>
                  </a:lnTo>
                  <a:lnTo>
                    <a:pt x="3861308" y="48920"/>
                  </a:lnTo>
                  <a:lnTo>
                    <a:pt x="3867531" y="39763"/>
                  </a:lnTo>
                  <a:lnTo>
                    <a:pt x="3869842" y="28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170177" y="5448587"/>
            <a:ext cx="3886835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b="1" dirty="0">
                <a:latin typeface="Times New Roman"/>
                <a:cs typeface="Times New Roman"/>
              </a:rPr>
              <a:t>Figure</a:t>
            </a:r>
            <a:r>
              <a:rPr sz="1750" b="1" spc="-45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3.16</a:t>
            </a:r>
            <a:r>
              <a:rPr sz="1750" b="1" spc="35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Bus</a:t>
            </a:r>
            <a:r>
              <a:rPr sz="1750" b="1" spc="-50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Interconnection</a:t>
            </a:r>
            <a:r>
              <a:rPr sz="1750" b="1" spc="-40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Scheme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411" y="200603"/>
            <a:ext cx="286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9976" y="356615"/>
            <a:ext cx="6167755" cy="1012190"/>
            <a:chOff x="569976" y="356615"/>
            <a:chExt cx="6167755" cy="10121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976" y="356615"/>
              <a:ext cx="1645920" cy="10119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5440" y="356615"/>
              <a:ext cx="762000" cy="10119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6984" y="356615"/>
              <a:ext cx="1001268" cy="10119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7795" y="356615"/>
              <a:ext cx="762000" cy="10119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9340" y="356615"/>
              <a:ext cx="4398264" cy="1011936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841050" y="474923"/>
            <a:ext cx="55956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Point-</a:t>
            </a:r>
            <a:r>
              <a:rPr spc="-10" dirty="0"/>
              <a:t>to-</a:t>
            </a:r>
            <a:r>
              <a:rPr dirty="0"/>
              <a:t>Point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10" dirty="0"/>
              <a:t>Interconnect</a:t>
            </a:r>
          </a:p>
        </p:txBody>
      </p:sp>
      <p:sp>
        <p:nvSpPr>
          <p:cNvPr id="4" name="object 4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496823" y="1373124"/>
            <a:ext cx="4059554" cy="2094230"/>
            <a:chOff x="496823" y="1373124"/>
            <a:chExt cx="4059554" cy="2094230"/>
          </a:xfrm>
        </p:grpSpPr>
        <p:sp>
          <p:nvSpPr>
            <p:cNvPr id="13" name="object 13"/>
            <p:cNvSpPr/>
            <p:nvPr/>
          </p:nvSpPr>
          <p:spPr>
            <a:xfrm>
              <a:off x="3833743" y="2343149"/>
              <a:ext cx="722630" cy="103505"/>
            </a:xfrm>
            <a:custGeom>
              <a:avLst/>
              <a:gdLst/>
              <a:ahLst/>
              <a:cxnLst/>
              <a:rect l="l" t="t" r="r" b="b"/>
              <a:pathLst>
                <a:path w="722629" h="103505">
                  <a:moveTo>
                    <a:pt x="697018" y="51694"/>
                  </a:moveTo>
                  <a:lnTo>
                    <a:pt x="627126" y="92445"/>
                  </a:lnTo>
                  <a:lnTo>
                    <a:pt x="626120" y="96377"/>
                  </a:lnTo>
                  <a:lnTo>
                    <a:pt x="627888" y="99303"/>
                  </a:lnTo>
                  <a:lnTo>
                    <a:pt x="629686" y="102351"/>
                  </a:lnTo>
                  <a:lnTo>
                    <a:pt x="633618" y="103388"/>
                  </a:lnTo>
                  <a:lnTo>
                    <a:pt x="711389" y="58027"/>
                  </a:lnTo>
                  <a:lnTo>
                    <a:pt x="709540" y="58027"/>
                  </a:lnTo>
                  <a:lnTo>
                    <a:pt x="709540" y="57150"/>
                  </a:lnTo>
                  <a:lnTo>
                    <a:pt x="706374" y="57150"/>
                  </a:lnTo>
                  <a:lnTo>
                    <a:pt x="697018" y="51694"/>
                  </a:lnTo>
                  <a:close/>
                </a:path>
                <a:path w="722629" h="103505">
                  <a:moveTo>
                    <a:pt x="686095" y="45323"/>
                  </a:moveTo>
                  <a:lnTo>
                    <a:pt x="0" y="45323"/>
                  </a:lnTo>
                  <a:lnTo>
                    <a:pt x="0" y="58027"/>
                  </a:lnTo>
                  <a:lnTo>
                    <a:pt x="686154" y="58027"/>
                  </a:lnTo>
                  <a:lnTo>
                    <a:pt x="697016" y="51694"/>
                  </a:lnTo>
                  <a:lnTo>
                    <a:pt x="686095" y="45323"/>
                  </a:lnTo>
                  <a:close/>
                </a:path>
                <a:path w="722629" h="103505">
                  <a:moveTo>
                    <a:pt x="711333" y="45323"/>
                  </a:moveTo>
                  <a:lnTo>
                    <a:pt x="709540" y="45323"/>
                  </a:lnTo>
                  <a:lnTo>
                    <a:pt x="709540" y="58027"/>
                  </a:lnTo>
                  <a:lnTo>
                    <a:pt x="711389" y="58027"/>
                  </a:lnTo>
                  <a:lnTo>
                    <a:pt x="722254" y="51694"/>
                  </a:lnTo>
                  <a:lnTo>
                    <a:pt x="711333" y="45323"/>
                  </a:lnTo>
                  <a:close/>
                </a:path>
                <a:path w="722629" h="103505">
                  <a:moveTo>
                    <a:pt x="706374" y="46238"/>
                  </a:moveTo>
                  <a:lnTo>
                    <a:pt x="697018" y="51694"/>
                  </a:lnTo>
                  <a:lnTo>
                    <a:pt x="706374" y="57150"/>
                  </a:lnTo>
                  <a:lnTo>
                    <a:pt x="706374" y="46238"/>
                  </a:lnTo>
                  <a:close/>
                </a:path>
                <a:path w="722629" h="103505">
                  <a:moveTo>
                    <a:pt x="709540" y="46238"/>
                  </a:moveTo>
                  <a:lnTo>
                    <a:pt x="706374" y="46238"/>
                  </a:lnTo>
                  <a:lnTo>
                    <a:pt x="706374" y="57150"/>
                  </a:lnTo>
                  <a:lnTo>
                    <a:pt x="709540" y="57150"/>
                  </a:lnTo>
                  <a:lnTo>
                    <a:pt x="709540" y="46238"/>
                  </a:lnTo>
                  <a:close/>
                </a:path>
                <a:path w="722629" h="103505">
                  <a:moveTo>
                    <a:pt x="633618" y="0"/>
                  </a:moveTo>
                  <a:lnTo>
                    <a:pt x="629686" y="1005"/>
                  </a:lnTo>
                  <a:lnTo>
                    <a:pt x="627888" y="4053"/>
                  </a:lnTo>
                  <a:lnTo>
                    <a:pt x="626120" y="7101"/>
                  </a:lnTo>
                  <a:lnTo>
                    <a:pt x="627126" y="10911"/>
                  </a:lnTo>
                  <a:lnTo>
                    <a:pt x="697018" y="51694"/>
                  </a:lnTo>
                  <a:lnTo>
                    <a:pt x="706374" y="46238"/>
                  </a:lnTo>
                  <a:lnTo>
                    <a:pt x="709540" y="46238"/>
                  </a:lnTo>
                  <a:lnTo>
                    <a:pt x="709540" y="45323"/>
                  </a:lnTo>
                  <a:lnTo>
                    <a:pt x="711333" y="45323"/>
                  </a:lnTo>
                  <a:lnTo>
                    <a:pt x="633618" y="0"/>
                  </a:lnTo>
                  <a:close/>
                </a:path>
              </a:pathLst>
            </a:custGeom>
            <a:solidFill>
              <a:srgbClr val="9898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6823" y="1373124"/>
              <a:ext cx="3404616" cy="20939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211" y="1534668"/>
              <a:ext cx="3346704" cy="18089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831" y="1411224"/>
              <a:ext cx="3276600" cy="196748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40763" y="1617975"/>
            <a:ext cx="2915920" cy="15087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algn="ctr">
              <a:lnSpc>
                <a:spcPct val="88100"/>
              </a:lnSpc>
              <a:spcBef>
                <a:spcPts val="355"/>
              </a:spcBef>
            </a:pPr>
            <a:r>
              <a:rPr sz="1800" dirty="0">
                <a:latin typeface="Rockwell"/>
                <a:cs typeface="Rockwell"/>
              </a:rPr>
              <a:t>Principal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reason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change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was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electrical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constraints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encountered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with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increasing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Rockwell"/>
                <a:cs typeface="Rockwell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frequency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Rockwell"/>
                <a:cs typeface="Rockwell"/>
              </a:rPr>
              <a:t>wide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synchronous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buses</a:t>
            </a:r>
            <a:endParaRPr sz="1800">
              <a:latin typeface="Rockwell"/>
              <a:cs typeface="Rockwel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47566" y="1373124"/>
            <a:ext cx="5833745" cy="2724150"/>
            <a:chOff x="2147566" y="1373124"/>
            <a:chExt cx="5833745" cy="2724150"/>
          </a:xfrm>
        </p:grpSpPr>
        <p:sp>
          <p:nvSpPr>
            <p:cNvPr id="19" name="object 19"/>
            <p:cNvSpPr/>
            <p:nvPr/>
          </p:nvSpPr>
          <p:spPr>
            <a:xfrm>
              <a:off x="2147566" y="3374897"/>
              <a:ext cx="4083685" cy="722630"/>
            </a:xfrm>
            <a:custGeom>
              <a:avLst/>
              <a:gdLst/>
              <a:ahLst/>
              <a:cxnLst/>
              <a:rect l="l" t="t" r="r" b="b"/>
              <a:pathLst>
                <a:path w="4083685" h="722629">
                  <a:moveTo>
                    <a:pt x="7120" y="626114"/>
                  </a:moveTo>
                  <a:lnTo>
                    <a:pt x="1024" y="629661"/>
                  </a:lnTo>
                  <a:lnTo>
                    <a:pt x="0" y="633471"/>
                  </a:lnTo>
                  <a:lnTo>
                    <a:pt x="51697" y="722126"/>
                  </a:lnTo>
                  <a:lnTo>
                    <a:pt x="59027" y="709553"/>
                  </a:lnTo>
                  <a:lnTo>
                    <a:pt x="45339" y="709553"/>
                  </a:lnTo>
                  <a:lnTo>
                    <a:pt x="45339" y="686128"/>
                  </a:lnTo>
                  <a:lnTo>
                    <a:pt x="10930" y="627126"/>
                  </a:lnTo>
                  <a:lnTo>
                    <a:pt x="7120" y="626114"/>
                  </a:lnTo>
                  <a:close/>
                </a:path>
                <a:path w="4083685" h="722629">
                  <a:moveTo>
                    <a:pt x="45342" y="686128"/>
                  </a:moveTo>
                  <a:lnTo>
                    <a:pt x="45339" y="709553"/>
                  </a:lnTo>
                  <a:lnTo>
                    <a:pt x="58043" y="709553"/>
                  </a:lnTo>
                  <a:lnTo>
                    <a:pt x="58043" y="706374"/>
                  </a:lnTo>
                  <a:lnTo>
                    <a:pt x="46232" y="706374"/>
                  </a:lnTo>
                  <a:lnTo>
                    <a:pt x="51691" y="697015"/>
                  </a:lnTo>
                  <a:lnTo>
                    <a:pt x="45342" y="686128"/>
                  </a:lnTo>
                  <a:close/>
                </a:path>
                <a:path w="4083685" h="722629">
                  <a:moveTo>
                    <a:pt x="96274" y="626114"/>
                  </a:moveTo>
                  <a:lnTo>
                    <a:pt x="92464" y="627126"/>
                  </a:lnTo>
                  <a:lnTo>
                    <a:pt x="58043" y="686128"/>
                  </a:lnTo>
                  <a:lnTo>
                    <a:pt x="58043" y="709553"/>
                  </a:lnTo>
                  <a:lnTo>
                    <a:pt x="59027" y="709553"/>
                  </a:lnTo>
                  <a:lnTo>
                    <a:pt x="103382" y="633471"/>
                  </a:lnTo>
                  <a:lnTo>
                    <a:pt x="102370" y="629661"/>
                  </a:lnTo>
                  <a:lnTo>
                    <a:pt x="96274" y="626114"/>
                  </a:lnTo>
                  <a:close/>
                </a:path>
                <a:path w="4083685" h="722629">
                  <a:moveTo>
                    <a:pt x="51691" y="697015"/>
                  </a:moveTo>
                  <a:lnTo>
                    <a:pt x="46232" y="706374"/>
                  </a:lnTo>
                  <a:lnTo>
                    <a:pt x="57150" y="706374"/>
                  </a:lnTo>
                  <a:lnTo>
                    <a:pt x="51691" y="697015"/>
                  </a:lnTo>
                  <a:close/>
                </a:path>
                <a:path w="4083685" h="722629">
                  <a:moveTo>
                    <a:pt x="58043" y="686128"/>
                  </a:moveTo>
                  <a:lnTo>
                    <a:pt x="51691" y="697015"/>
                  </a:lnTo>
                  <a:lnTo>
                    <a:pt x="57150" y="706374"/>
                  </a:lnTo>
                  <a:lnTo>
                    <a:pt x="58043" y="706374"/>
                  </a:lnTo>
                  <a:lnTo>
                    <a:pt x="58043" y="686128"/>
                  </a:lnTo>
                  <a:close/>
                </a:path>
                <a:path w="4083685" h="722629">
                  <a:moveTo>
                    <a:pt x="4070750" y="371734"/>
                  </a:moveTo>
                  <a:lnTo>
                    <a:pt x="48137" y="371734"/>
                  </a:lnTo>
                  <a:lnTo>
                    <a:pt x="45339" y="374660"/>
                  </a:lnTo>
                  <a:lnTo>
                    <a:pt x="45342" y="686128"/>
                  </a:lnTo>
                  <a:lnTo>
                    <a:pt x="51691" y="697015"/>
                  </a:lnTo>
                  <a:lnTo>
                    <a:pt x="58043" y="686128"/>
                  </a:lnTo>
                  <a:lnTo>
                    <a:pt x="58043" y="384413"/>
                  </a:lnTo>
                  <a:lnTo>
                    <a:pt x="51697" y="384413"/>
                  </a:lnTo>
                  <a:lnTo>
                    <a:pt x="58043" y="378073"/>
                  </a:lnTo>
                  <a:lnTo>
                    <a:pt x="4070750" y="378073"/>
                  </a:lnTo>
                  <a:lnTo>
                    <a:pt x="4070750" y="371734"/>
                  </a:lnTo>
                  <a:close/>
                </a:path>
                <a:path w="4083685" h="722629">
                  <a:moveTo>
                    <a:pt x="58043" y="378073"/>
                  </a:moveTo>
                  <a:lnTo>
                    <a:pt x="51697" y="384413"/>
                  </a:lnTo>
                  <a:lnTo>
                    <a:pt x="58043" y="384413"/>
                  </a:lnTo>
                  <a:lnTo>
                    <a:pt x="58043" y="378073"/>
                  </a:lnTo>
                  <a:close/>
                </a:path>
                <a:path w="4083685" h="722629">
                  <a:moveTo>
                    <a:pt x="4083430" y="371734"/>
                  </a:moveTo>
                  <a:lnTo>
                    <a:pt x="4077090" y="371734"/>
                  </a:lnTo>
                  <a:lnTo>
                    <a:pt x="4070750" y="378073"/>
                  </a:lnTo>
                  <a:lnTo>
                    <a:pt x="58043" y="378073"/>
                  </a:lnTo>
                  <a:lnTo>
                    <a:pt x="58043" y="384413"/>
                  </a:lnTo>
                  <a:lnTo>
                    <a:pt x="4080656" y="384413"/>
                  </a:lnTo>
                  <a:lnTo>
                    <a:pt x="4083430" y="381640"/>
                  </a:lnTo>
                  <a:lnTo>
                    <a:pt x="4083430" y="371734"/>
                  </a:lnTo>
                  <a:close/>
                </a:path>
                <a:path w="4083685" h="722629">
                  <a:moveTo>
                    <a:pt x="4083430" y="0"/>
                  </a:moveTo>
                  <a:lnTo>
                    <a:pt x="4070750" y="0"/>
                  </a:lnTo>
                  <a:lnTo>
                    <a:pt x="4070750" y="378073"/>
                  </a:lnTo>
                  <a:lnTo>
                    <a:pt x="4077090" y="371734"/>
                  </a:lnTo>
                  <a:lnTo>
                    <a:pt x="4083430" y="371734"/>
                  </a:lnTo>
                  <a:lnTo>
                    <a:pt x="4083430" y="0"/>
                  </a:lnTo>
                  <a:close/>
                </a:path>
              </a:pathLst>
            </a:custGeom>
            <a:solidFill>
              <a:srgbClr val="CAA8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3232" y="1373124"/>
              <a:ext cx="3403091" cy="209397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4755" y="1534668"/>
              <a:ext cx="3456431" cy="180898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87239" y="1411224"/>
              <a:ext cx="3275075" cy="196748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711957" y="1617975"/>
            <a:ext cx="3025140" cy="15087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065" marR="5080" indent="635" algn="ctr">
              <a:lnSpc>
                <a:spcPct val="88100"/>
              </a:lnSpc>
              <a:spcBef>
                <a:spcPts val="355"/>
              </a:spcBef>
            </a:pPr>
            <a:r>
              <a:rPr sz="1800" dirty="0">
                <a:latin typeface="Rockwell"/>
                <a:cs typeface="Rockwell"/>
              </a:rPr>
              <a:t>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higher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higher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Rockwell"/>
                <a:cs typeface="Rockwell"/>
              </a:rPr>
              <a:t>data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rates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it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becomes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increasingly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difficult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Rockwell"/>
                <a:cs typeface="Rockwell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perform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synchronization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arbitration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functions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Rockwell"/>
                <a:cs typeface="Rockwell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timely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fashion</a:t>
            </a:r>
            <a:endParaRPr sz="1800">
              <a:latin typeface="Rockwell"/>
              <a:cs typeface="Rockwel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6823" y="4088891"/>
            <a:ext cx="4059554" cy="2095500"/>
            <a:chOff x="496823" y="4088891"/>
            <a:chExt cx="4059554" cy="2095500"/>
          </a:xfrm>
        </p:grpSpPr>
        <p:sp>
          <p:nvSpPr>
            <p:cNvPr id="25" name="object 25"/>
            <p:cNvSpPr/>
            <p:nvPr/>
          </p:nvSpPr>
          <p:spPr>
            <a:xfrm>
              <a:off x="3833743" y="5059548"/>
              <a:ext cx="722630" cy="103505"/>
            </a:xfrm>
            <a:custGeom>
              <a:avLst/>
              <a:gdLst/>
              <a:ahLst/>
              <a:cxnLst/>
              <a:rect l="l" t="t" r="r" b="b"/>
              <a:pathLst>
                <a:path w="722629" h="103504">
                  <a:moveTo>
                    <a:pt x="697024" y="51697"/>
                  </a:moveTo>
                  <a:lnTo>
                    <a:pt x="630174" y="90678"/>
                  </a:lnTo>
                  <a:lnTo>
                    <a:pt x="627126" y="92333"/>
                  </a:lnTo>
                  <a:lnTo>
                    <a:pt x="626120" y="96274"/>
                  </a:lnTo>
                  <a:lnTo>
                    <a:pt x="627888" y="99322"/>
                  </a:lnTo>
                  <a:lnTo>
                    <a:pt x="629686" y="102370"/>
                  </a:lnTo>
                  <a:lnTo>
                    <a:pt x="633618" y="103382"/>
                  </a:lnTo>
                  <a:lnTo>
                    <a:pt x="711371" y="58042"/>
                  </a:lnTo>
                  <a:lnTo>
                    <a:pt x="709540" y="58042"/>
                  </a:lnTo>
                  <a:lnTo>
                    <a:pt x="709540" y="57150"/>
                  </a:lnTo>
                  <a:lnTo>
                    <a:pt x="706374" y="57150"/>
                  </a:lnTo>
                  <a:lnTo>
                    <a:pt x="697024" y="51697"/>
                  </a:lnTo>
                  <a:close/>
                </a:path>
                <a:path w="722629" h="103504">
                  <a:moveTo>
                    <a:pt x="686123" y="45339"/>
                  </a:moveTo>
                  <a:lnTo>
                    <a:pt x="0" y="45339"/>
                  </a:lnTo>
                  <a:lnTo>
                    <a:pt x="0" y="58042"/>
                  </a:lnTo>
                  <a:lnTo>
                    <a:pt x="686124" y="58042"/>
                  </a:lnTo>
                  <a:lnTo>
                    <a:pt x="697004" y="51697"/>
                  </a:lnTo>
                  <a:lnTo>
                    <a:pt x="686123" y="45339"/>
                  </a:lnTo>
                  <a:close/>
                </a:path>
                <a:path w="722629" h="103504">
                  <a:moveTo>
                    <a:pt x="711351" y="45339"/>
                  </a:moveTo>
                  <a:lnTo>
                    <a:pt x="709540" y="45339"/>
                  </a:lnTo>
                  <a:lnTo>
                    <a:pt x="709540" y="58042"/>
                  </a:lnTo>
                  <a:lnTo>
                    <a:pt x="711371" y="58042"/>
                  </a:lnTo>
                  <a:lnTo>
                    <a:pt x="722254" y="51697"/>
                  </a:lnTo>
                  <a:lnTo>
                    <a:pt x="711351" y="45339"/>
                  </a:lnTo>
                  <a:close/>
                </a:path>
                <a:path w="722629" h="103504">
                  <a:moveTo>
                    <a:pt x="706374" y="46232"/>
                  </a:moveTo>
                  <a:lnTo>
                    <a:pt x="697024" y="51697"/>
                  </a:lnTo>
                  <a:lnTo>
                    <a:pt x="706374" y="57150"/>
                  </a:lnTo>
                  <a:lnTo>
                    <a:pt x="706374" y="46232"/>
                  </a:lnTo>
                  <a:close/>
                </a:path>
                <a:path w="722629" h="103504">
                  <a:moveTo>
                    <a:pt x="709540" y="46232"/>
                  </a:moveTo>
                  <a:lnTo>
                    <a:pt x="706374" y="46232"/>
                  </a:lnTo>
                  <a:lnTo>
                    <a:pt x="706374" y="57150"/>
                  </a:lnTo>
                  <a:lnTo>
                    <a:pt x="709540" y="57150"/>
                  </a:lnTo>
                  <a:lnTo>
                    <a:pt x="709540" y="46232"/>
                  </a:lnTo>
                  <a:close/>
                </a:path>
                <a:path w="722629" h="103504">
                  <a:moveTo>
                    <a:pt x="633618" y="0"/>
                  </a:moveTo>
                  <a:lnTo>
                    <a:pt x="629686" y="1024"/>
                  </a:lnTo>
                  <a:lnTo>
                    <a:pt x="627888" y="4072"/>
                  </a:lnTo>
                  <a:lnTo>
                    <a:pt x="626120" y="6989"/>
                  </a:lnTo>
                  <a:lnTo>
                    <a:pt x="627126" y="10930"/>
                  </a:lnTo>
                  <a:lnTo>
                    <a:pt x="697024" y="51697"/>
                  </a:lnTo>
                  <a:lnTo>
                    <a:pt x="706374" y="46232"/>
                  </a:lnTo>
                  <a:lnTo>
                    <a:pt x="709540" y="46232"/>
                  </a:lnTo>
                  <a:lnTo>
                    <a:pt x="709540" y="45339"/>
                  </a:lnTo>
                  <a:lnTo>
                    <a:pt x="711351" y="45339"/>
                  </a:lnTo>
                  <a:lnTo>
                    <a:pt x="633618" y="0"/>
                  </a:lnTo>
                  <a:close/>
                </a:path>
              </a:pathLst>
            </a:custGeom>
            <a:solidFill>
              <a:srgbClr val="F78F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6823" y="4088891"/>
              <a:ext cx="3404616" cy="20955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5591" y="4251959"/>
              <a:ext cx="3361943" cy="18089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0831" y="4128515"/>
              <a:ext cx="3276600" cy="196595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33143" y="4335016"/>
            <a:ext cx="2932430" cy="15087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algn="ctr">
              <a:lnSpc>
                <a:spcPct val="88100"/>
              </a:lnSpc>
              <a:spcBef>
                <a:spcPts val="355"/>
              </a:spcBef>
            </a:pPr>
            <a:r>
              <a:rPr sz="1800" dirty="0">
                <a:latin typeface="Rockwell"/>
                <a:cs typeface="Rockwell"/>
              </a:rPr>
              <a:t>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conventional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shared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Rockwell"/>
                <a:cs typeface="Rockwell"/>
              </a:rPr>
              <a:t>bus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same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chip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magnified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difficulties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increasing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bus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data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rate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reducing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bus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latency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keep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up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Rockwell"/>
                <a:cs typeface="Rockwell"/>
              </a:rPr>
              <a:t>with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processors</a:t>
            </a:r>
            <a:endParaRPr sz="1800">
              <a:latin typeface="Rockwell"/>
              <a:cs typeface="Rockwel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23232" y="4088891"/>
            <a:ext cx="3403600" cy="2095500"/>
            <a:chOff x="4523232" y="4088891"/>
            <a:chExt cx="3403600" cy="2095500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23232" y="4088891"/>
              <a:ext cx="3403091" cy="20955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07636" y="4614671"/>
              <a:ext cx="3090671" cy="108356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87240" y="4128515"/>
              <a:ext cx="3275075" cy="196595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894838" y="4697728"/>
            <a:ext cx="2660650" cy="78295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algn="ctr">
              <a:lnSpc>
                <a:spcPct val="88100"/>
              </a:lnSpc>
              <a:spcBef>
                <a:spcPts val="355"/>
              </a:spcBef>
            </a:pPr>
            <a:r>
              <a:rPr sz="1800" dirty="0">
                <a:latin typeface="Rockwell"/>
                <a:cs typeface="Rockwell"/>
              </a:rPr>
              <a:t>Has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Rockwell"/>
                <a:cs typeface="Rockwell"/>
              </a:rPr>
              <a:t>lower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Rockwell"/>
                <a:cs typeface="Rockwell"/>
              </a:rPr>
              <a:t>latency,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higher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data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Rockwell"/>
                <a:cs typeface="Rockwell"/>
              </a:rPr>
              <a:t>rate,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Rockwell"/>
                <a:cs typeface="Rockwell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better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Rockwell"/>
                <a:cs typeface="Rockwell"/>
              </a:rPr>
              <a:t>scalability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2570" y="228537"/>
            <a:ext cx="6420485" cy="6345555"/>
            <a:chOff x="282570" y="228537"/>
            <a:chExt cx="6420485" cy="6345555"/>
          </a:xfrm>
        </p:grpSpPr>
        <p:sp>
          <p:nvSpPr>
            <p:cNvPr id="3" name="object 3"/>
            <p:cNvSpPr/>
            <p:nvPr/>
          </p:nvSpPr>
          <p:spPr>
            <a:xfrm>
              <a:off x="282570" y="228537"/>
              <a:ext cx="6387465" cy="6345555"/>
            </a:xfrm>
            <a:custGeom>
              <a:avLst/>
              <a:gdLst/>
              <a:ahLst/>
              <a:cxnLst/>
              <a:rect l="l" t="t" r="r" b="b"/>
              <a:pathLst>
                <a:path w="6387465" h="6345555">
                  <a:moveTo>
                    <a:pt x="6387205" y="0"/>
                  </a:moveTo>
                  <a:lnTo>
                    <a:pt x="0" y="0"/>
                  </a:lnTo>
                  <a:lnTo>
                    <a:pt x="0" y="6345295"/>
                  </a:lnTo>
                  <a:lnTo>
                    <a:pt x="6387205" y="6345295"/>
                  </a:lnTo>
                  <a:lnTo>
                    <a:pt x="6387205" y="0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296" y="402336"/>
              <a:ext cx="6239256" cy="112166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99486" y="356356"/>
            <a:ext cx="59848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8100" b="1" spc="-37" baseline="17489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4000" spc="-25" dirty="0">
                <a:solidFill>
                  <a:srgbClr val="FFFFFF"/>
                </a:solidFill>
              </a:rPr>
              <a:t>Quick</a:t>
            </a:r>
            <a:r>
              <a:rPr sz="4000" spc="-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FFFFFF"/>
                </a:solidFill>
              </a:rPr>
              <a:t>Path</a:t>
            </a:r>
            <a:r>
              <a:rPr sz="4000" spc="-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Interconnect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02495" y="228600"/>
            <a:ext cx="2057400" cy="2039620"/>
            <a:chOff x="6802495" y="228600"/>
            <a:chExt cx="2057400" cy="2039620"/>
          </a:xfrm>
        </p:grpSpPr>
        <p:sp>
          <p:nvSpPr>
            <p:cNvPr id="6" name="object 6"/>
            <p:cNvSpPr/>
            <p:nvPr/>
          </p:nvSpPr>
          <p:spPr>
            <a:xfrm>
              <a:off x="6802495" y="228600"/>
              <a:ext cx="2057400" cy="2039620"/>
            </a:xfrm>
            <a:custGeom>
              <a:avLst/>
              <a:gdLst/>
              <a:ahLst/>
              <a:cxnLst/>
              <a:rect l="l" t="t" r="r" b="b"/>
              <a:pathLst>
                <a:path w="2057400" h="2039620">
                  <a:moveTo>
                    <a:pt x="2057399" y="0"/>
                  </a:moveTo>
                  <a:lnTo>
                    <a:pt x="0" y="0"/>
                  </a:lnTo>
                  <a:lnTo>
                    <a:pt x="0" y="2039111"/>
                  </a:lnTo>
                  <a:lnTo>
                    <a:pt x="2057399" y="2039111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656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3635" y="705612"/>
              <a:ext cx="1671827" cy="123139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802495" y="228600"/>
            <a:ext cx="2057400" cy="2039620"/>
          </a:xfrm>
          <a:prstGeom prst="rect">
            <a:avLst/>
          </a:prstGeom>
        </p:spPr>
        <p:txBody>
          <a:bodyPr vert="horz" wrap="square" lIns="0" tIns="636269" rIns="0" bIns="0" rtlCol="0">
            <a:spAutoFit/>
          </a:bodyPr>
          <a:lstStyle/>
          <a:p>
            <a:pPr marL="537210">
              <a:lnSpc>
                <a:spcPct val="100000"/>
              </a:lnSpc>
              <a:spcBef>
                <a:spcPts val="5009"/>
              </a:spcBef>
            </a:pPr>
            <a:r>
              <a:rPr sz="4400" spc="-25" dirty="0">
                <a:solidFill>
                  <a:srgbClr val="FFFFFF"/>
                </a:solidFill>
                <a:latin typeface="Rockwell"/>
                <a:cs typeface="Rockwell"/>
              </a:rPr>
              <a:t>QPI</a:t>
            </a:r>
            <a:endParaRPr sz="4400">
              <a:latin typeface="Rockwell"/>
              <a:cs typeface="Rockwel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0050" y="1548125"/>
            <a:ext cx="5608955" cy="4723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FFFFFF"/>
                </a:solidFill>
                <a:latin typeface="Rockwell"/>
                <a:cs typeface="Rockwell"/>
              </a:rPr>
              <a:t>Introduced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Rockwell"/>
                <a:cs typeface="Rockwell"/>
              </a:rPr>
              <a:t>in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Rockwell"/>
                <a:cs typeface="Rockwell"/>
              </a:rPr>
              <a:t>2008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FFFFFF"/>
                </a:solidFill>
                <a:latin typeface="Rockwell"/>
                <a:cs typeface="Rockwell"/>
              </a:rPr>
              <a:t>Multiple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Rockwell"/>
                <a:cs typeface="Rockwell"/>
              </a:rPr>
              <a:t>direct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Rockwell"/>
                <a:cs typeface="Rockwell"/>
              </a:rPr>
              <a:t>connections</a:t>
            </a:r>
            <a:endParaRPr sz="2000">
              <a:latin typeface="Rockwell"/>
              <a:cs typeface="Rockwell"/>
            </a:endParaRPr>
          </a:p>
          <a:p>
            <a:pPr marL="698500" marR="132080" lvl="1" indent="-228600">
              <a:lnSpc>
                <a:spcPct val="100000"/>
              </a:lnSpc>
              <a:spcBef>
                <a:spcPts val="2010"/>
              </a:spcBef>
              <a:buClr>
                <a:srgbClr val="C3AECC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Direct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pairwise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connections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to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other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components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eliminating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need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for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arbitration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found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in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shared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transmission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systems</a:t>
            </a:r>
            <a:endParaRPr sz="1600">
              <a:latin typeface="Rockwell"/>
              <a:cs typeface="Rockwell"/>
            </a:endParaRPr>
          </a:p>
          <a:p>
            <a:pPr lvl="1">
              <a:lnSpc>
                <a:spcPct val="100000"/>
              </a:lnSpc>
              <a:spcBef>
                <a:spcPts val="110"/>
              </a:spcBef>
              <a:buClr>
                <a:srgbClr val="C3AECC"/>
              </a:buClr>
              <a:buFont typeface="Wingdings"/>
              <a:buChar char=""/>
            </a:pPr>
            <a:endParaRPr sz="16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30" dirty="0">
                <a:solidFill>
                  <a:srgbClr val="FFFFFF"/>
                </a:solidFill>
                <a:latin typeface="Rockwell"/>
                <a:cs typeface="Rockwell"/>
              </a:rPr>
              <a:t>Layered</a:t>
            </a:r>
            <a:r>
              <a:rPr sz="20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Rockwell"/>
                <a:cs typeface="Rockwell"/>
              </a:rPr>
              <a:t>protocol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Rockwell"/>
                <a:cs typeface="Rockwell"/>
              </a:rPr>
              <a:t>architecture</a:t>
            </a:r>
            <a:endParaRPr sz="2000">
              <a:latin typeface="Rockwell"/>
              <a:cs typeface="Rockwell"/>
            </a:endParaRPr>
          </a:p>
          <a:p>
            <a:pPr marL="698500" marR="266700" lvl="1" indent="-228600" algn="just">
              <a:lnSpc>
                <a:spcPct val="100000"/>
              </a:lnSpc>
              <a:spcBef>
                <a:spcPts val="2020"/>
              </a:spcBef>
              <a:buClr>
                <a:srgbClr val="C3AECC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These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processor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level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interconnects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use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layered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protocol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Rockwell"/>
                <a:cs typeface="Rockwell"/>
              </a:rPr>
              <a:t>architecture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rather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than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simple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use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control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signals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found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in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shared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bus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arrangements</a:t>
            </a:r>
            <a:endParaRPr sz="1600">
              <a:latin typeface="Rockwell"/>
              <a:cs typeface="Rockwell"/>
            </a:endParaRPr>
          </a:p>
          <a:p>
            <a:pPr lvl="1">
              <a:lnSpc>
                <a:spcPct val="100000"/>
              </a:lnSpc>
              <a:spcBef>
                <a:spcPts val="100"/>
              </a:spcBef>
              <a:buClr>
                <a:srgbClr val="C3AECC"/>
              </a:buClr>
              <a:buFont typeface="Wingdings"/>
              <a:buChar char=""/>
            </a:pPr>
            <a:endParaRPr sz="16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solidFill>
                  <a:srgbClr val="FFFFFF"/>
                </a:solidFill>
                <a:latin typeface="Rockwell"/>
                <a:cs typeface="Rockwell"/>
              </a:rPr>
              <a:t>Packetized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Rockwell"/>
                <a:cs typeface="Rockwell"/>
              </a:rPr>
              <a:t>transfer</a:t>
            </a:r>
            <a:endParaRPr sz="2000">
              <a:latin typeface="Rockwell"/>
              <a:cs typeface="Rockwell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2020"/>
              </a:spcBef>
              <a:buClr>
                <a:srgbClr val="C3AECC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Data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are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sent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as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sequence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packets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each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which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includes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control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headers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and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Rockwell"/>
                <a:cs typeface="Rockwell"/>
              </a:rPr>
              <a:t>error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control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ckwell"/>
                <a:cs typeface="Rockwell"/>
              </a:rPr>
              <a:t>codes</a:t>
            </a:r>
            <a:endParaRPr sz="1600">
              <a:latin typeface="Rockwell"/>
              <a:cs typeface="Rockwel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92345" y="3001853"/>
            <a:ext cx="1952213" cy="2480937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1395" rIns="0" bIns="0" rtlCol="0">
            <a:spAutoFit/>
          </a:bodyPr>
          <a:lstStyle/>
          <a:p>
            <a:pPr marL="26416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40"/>
          <p:cNvSpPr txBox="1"/>
          <p:nvPr/>
        </p:nvSpPr>
        <p:spPr>
          <a:xfrm>
            <a:off x="2556421" y="201089"/>
            <a:ext cx="328930" cy="824865"/>
          </a:xfrm>
          <a:prstGeom prst="rect">
            <a:avLst/>
          </a:prstGeom>
          <a:solidFill>
            <a:srgbClr val="B8B8B8"/>
          </a:solidFill>
          <a:ln w="12554">
            <a:solidFill>
              <a:srgbClr val="000000"/>
            </a:solidFill>
          </a:ln>
        </p:spPr>
        <p:txBody>
          <a:bodyPr vert="vert270" wrap="square" lIns="0" tIns="5143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405"/>
              </a:spcBef>
            </a:pPr>
            <a:r>
              <a:rPr sz="1300" b="1" dirty="0">
                <a:latin typeface="Times New Roman"/>
                <a:cs typeface="Times New Roman"/>
              </a:rPr>
              <a:t>I/O</a:t>
            </a:r>
            <a:r>
              <a:rPr sz="1300" b="1" spc="3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device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60038" y="269431"/>
            <a:ext cx="1859914" cy="602615"/>
            <a:chOff x="3560038" y="269431"/>
            <a:chExt cx="1859914" cy="602615"/>
          </a:xfrm>
        </p:grpSpPr>
        <p:sp>
          <p:nvSpPr>
            <p:cNvPr id="10" name="object 10"/>
            <p:cNvSpPr/>
            <p:nvPr/>
          </p:nvSpPr>
          <p:spPr>
            <a:xfrm>
              <a:off x="3572103" y="281513"/>
              <a:ext cx="1835785" cy="578485"/>
            </a:xfrm>
            <a:custGeom>
              <a:avLst/>
              <a:gdLst/>
              <a:ahLst/>
              <a:cxnLst/>
              <a:rect l="l" t="t" r="r" b="b"/>
              <a:pathLst>
                <a:path w="1835785" h="578485">
                  <a:moveTo>
                    <a:pt x="1748972" y="0"/>
                  </a:moveTo>
                  <a:lnTo>
                    <a:pt x="86685" y="0"/>
                  </a:lnTo>
                  <a:lnTo>
                    <a:pt x="52978" y="6806"/>
                  </a:lnTo>
                  <a:lnTo>
                    <a:pt x="25420" y="25374"/>
                  </a:lnTo>
                  <a:lnTo>
                    <a:pt x="6823" y="52926"/>
                  </a:lnTo>
                  <a:lnTo>
                    <a:pt x="0" y="86685"/>
                  </a:lnTo>
                  <a:lnTo>
                    <a:pt x="0" y="491642"/>
                  </a:lnTo>
                  <a:lnTo>
                    <a:pt x="6823" y="525400"/>
                  </a:lnTo>
                  <a:lnTo>
                    <a:pt x="25420" y="552952"/>
                  </a:lnTo>
                  <a:lnTo>
                    <a:pt x="52978" y="571520"/>
                  </a:lnTo>
                  <a:lnTo>
                    <a:pt x="86685" y="578327"/>
                  </a:lnTo>
                  <a:lnTo>
                    <a:pt x="1748972" y="578327"/>
                  </a:lnTo>
                  <a:lnTo>
                    <a:pt x="1782679" y="571520"/>
                  </a:lnTo>
                  <a:lnTo>
                    <a:pt x="1810237" y="552952"/>
                  </a:lnTo>
                  <a:lnTo>
                    <a:pt x="1828834" y="525400"/>
                  </a:lnTo>
                  <a:lnTo>
                    <a:pt x="1835657" y="491642"/>
                  </a:lnTo>
                  <a:lnTo>
                    <a:pt x="1835657" y="86685"/>
                  </a:lnTo>
                  <a:lnTo>
                    <a:pt x="1828834" y="52926"/>
                  </a:lnTo>
                  <a:lnTo>
                    <a:pt x="1810237" y="25374"/>
                  </a:lnTo>
                  <a:lnTo>
                    <a:pt x="1782679" y="6806"/>
                  </a:lnTo>
                  <a:lnTo>
                    <a:pt x="1748972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72103" y="281496"/>
              <a:ext cx="1835785" cy="578485"/>
            </a:xfrm>
            <a:custGeom>
              <a:avLst/>
              <a:gdLst/>
              <a:ahLst/>
              <a:cxnLst/>
              <a:rect l="l" t="t" r="r" b="b"/>
              <a:pathLst>
                <a:path w="1835785" h="578485">
                  <a:moveTo>
                    <a:pt x="1835657" y="491671"/>
                  </a:moveTo>
                  <a:lnTo>
                    <a:pt x="1828833" y="525430"/>
                  </a:lnTo>
                  <a:lnTo>
                    <a:pt x="1810233" y="552982"/>
                  </a:lnTo>
                  <a:lnTo>
                    <a:pt x="1782667" y="571550"/>
                  </a:lnTo>
                  <a:lnTo>
                    <a:pt x="1748942" y="578356"/>
                  </a:lnTo>
                  <a:lnTo>
                    <a:pt x="86685" y="578356"/>
                  </a:lnTo>
                  <a:lnTo>
                    <a:pt x="52965" y="571550"/>
                  </a:lnTo>
                  <a:lnTo>
                    <a:pt x="25408" y="552982"/>
                  </a:lnTo>
                  <a:lnTo>
                    <a:pt x="6819" y="525430"/>
                  </a:lnTo>
                  <a:lnTo>
                    <a:pt x="0" y="491671"/>
                  </a:lnTo>
                  <a:lnTo>
                    <a:pt x="0" y="86715"/>
                  </a:lnTo>
                  <a:lnTo>
                    <a:pt x="6819" y="52952"/>
                  </a:lnTo>
                  <a:lnTo>
                    <a:pt x="25408" y="25389"/>
                  </a:lnTo>
                  <a:lnTo>
                    <a:pt x="52965" y="6811"/>
                  </a:lnTo>
                  <a:lnTo>
                    <a:pt x="86685" y="0"/>
                  </a:lnTo>
                  <a:lnTo>
                    <a:pt x="1748942" y="0"/>
                  </a:lnTo>
                  <a:lnTo>
                    <a:pt x="1782667" y="6811"/>
                  </a:lnTo>
                  <a:lnTo>
                    <a:pt x="1810233" y="25389"/>
                  </a:lnTo>
                  <a:lnTo>
                    <a:pt x="1828833" y="52952"/>
                  </a:lnTo>
                  <a:lnTo>
                    <a:pt x="1835657" y="86715"/>
                  </a:lnTo>
                  <a:lnTo>
                    <a:pt x="1835657" y="491671"/>
                  </a:lnTo>
                  <a:close/>
                </a:path>
              </a:pathLst>
            </a:custGeom>
            <a:ln w="236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9771" y="339212"/>
              <a:ext cx="1720214" cy="463550"/>
            </a:xfrm>
            <a:custGeom>
              <a:avLst/>
              <a:gdLst/>
              <a:ahLst/>
              <a:cxnLst/>
              <a:rect l="l" t="t" r="r" b="b"/>
              <a:pathLst>
                <a:path w="1720214" h="463550">
                  <a:moveTo>
                    <a:pt x="1650339" y="0"/>
                  </a:moveTo>
                  <a:lnTo>
                    <a:pt x="69707" y="0"/>
                  </a:lnTo>
                  <a:lnTo>
                    <a:pt x="42408" y="5536"/>
                  </a:lnTo>
                  <a:lnTo>
                    <a:pt x="20269" y="20562"/>
                  </a:lnTo>
                  <a:lnTo>
                    <a:pt x="5422" y="42703"/>
                  </a:lnTo>
                  <a:lnTo>
                    <a:pt x="0" y="69585"/>
                  </a:lnTo>
                  <a:lnTo>
                    <a:pt x="0" y="393374"/>
                  </a:lnTo>
                  <a:lnTo>
                    <a:pt x="5422" y="420243"/>
                  </a:lnTo>
                  <a:lnTo>
                    <a:pt x="20269" y="442386"/>
                  </a:lnTo>
                  <a:lnTo>
                    <a:pt x="42408" y="457420"/>
                  </a:lnTo>
                  <a:lnTo>
                    <a:pt x="69707" y="462960"/>
                  </a:lnTo>
                  <a:lnTo>
                    <a:pt x="1650339" y="462960"/>
                  </a:lnTo>
                  <a:lnTo>
                    <a:pt x="1677727" y="457420"/>
                  </a:lnTo>
                  <a:lnTo>
                    <a:pt x="1699823" y="442386"/>
                  </a:lnTo>
                  <a:lnTo>
                    <a:pt x="1714581" y="420243"/>
                  </a:lnTo>
                  <a:lnTo>
                    <a:pt x="1719955" y="393374"/>
                  </a:lnTo>
                  <a:lnTo>
                    <a:pt x="1719955" y="69585"/>
                  </a:lnTo>
                  <a:lnTo>
                    <a:pt x="1714581" y="42703"/>
                  </a:lnTo>
                  <a:lnTo>
                    <a:pt x="1699823" y="20562"/>
                  </a:lnTo>
                  <a:lnTo>
                    <a:pt x="1677727" y="5536"/>
                  </a:lnTo>
                  <a:lnTo>
                    <a:pt x="1650339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29771" y="339194"/>
              <a:ext cx="1720214" cy="463550"/>
            </a:xfrm>
            <a:custGeom>
              <a:avLst/>
              <a:gdLst/>
              <a:ahLst/>
              <a:cxnLst/>
              <a:rect l="l" t="t" r="r" b="b"/>
              <a:pathLst>
                <a:path w="1720214" h="463550">
                  <a:moveTo>
                    <a:pt x="1719955" y="393374"/>
                  </a:moveTo>
                  <a:lnTo>
                    <a:pt x="1714581" y="420247"/>
                  </a:lnTo>
                  <a:lnTo>
                    <a:pt x="1699823" y="442401"/>
                  </a:lnTo>
                  <a:lnTo>
                    <a:pt x="1677727" y="457444"/>
                  </a:lnTo>
                  <a:lnTo>
                    <a:pt x="1650339" y="462990"/>
                  </a:lnTo>
                  <a:lnTo>
                    <a:pt x="69707" y="462990"/>
                  </a:lnTo>
                  <a:lnTo>
                    <a:pt x="42408" y="457444"/>
                  </a:lnTo>
                  <a:lnTo>
                    <a:pt x="20269" y="442401"/>
                  </a:lnTo>
                  <a:lnTo>
                    <a:pt x="5422" y="420247"/>
                  </a:lnTo>
                  <a:lnTo>
                    <a:pt x="0" y="393374"/>
                  </a:lnTo>
                  <a:lnTo>
                    <a:pt x="0" y="69585"/>
                  </a:lnTo>
                  <a:lnTo>
                    <a:pt x="5422" y="42716"/>
                  </a:lnTo>
                  <a:lnTo>
                    <a:pt x="20269" y="20573"/>
                  </a:lnTo>
                  <a:lnTo>
                    <a:pt x="42408" y="5540"/>
                  </a:lnTo>
                  <a:lnTo>
                    <a:pt x="69707" y="0"/>
                  </a:lnTo>
                  <a:lnTo>
                    <a:pt x="1650339" y="0"/>
                  </a:lnTo>
                  <a:lnTo>
                    <a:pt x="1677727" y="5540"/>
                  </a:lnTo>
                  <a:lnTo>
                    <a:pt x="1699823" y="20573"/>
                  </a:lnTo>
                  <a:lnTo>
                    <a:pt x="1714581" y="42716"/>
                  </a:lnTo>
                  <a:lnTo>
                    <a:pt x="1719955" y="69585"/>
                  </a:lnTo>
                  <a:lnTo>
                    <a:pt x="1719955" y="393374"/>
                  </a:lnTo>
                  <a:close/>
                </a:path>
              </a:pathLst>
            </a:custGeom>
            <a:ln w="11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146172" y="433218"/>
            <a:ext cx="62801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b="1" dirty="0">
                <a:latin typeface="Times New Roman"/>
                <a:cs typeface="Times New Roman"/>
              </a:rPr>
              <a:t>I/O</a:t>
            </a:r>
            <a:r>
              <a:rPr sz="1300" b="1" spc="20" dirty="0">
                <a:latin typeface="Times New Roman"/>
                <a:cs typeface="Times New Roman"/>
              </a:rPr>
              <a:t> </a:t>
            </a:r>
            <a:r>
              <a:rPr sz="1300" b="1" spc="-25" dirty="0">
                <a:latin typeface="Times New Roman"/>
                <a:cs typeface="Times New Roman"/>
              </a:rPr>
              <a:t>Hub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14074" y="201089"/>
            <a:ext cx="328295" cy="824865"/>
          </a:xfrm>
          <a:prstGeom prst="rect">
            <a:avLst/>
          </a:prstGeom>
          <a:solidFill>
            <a:srgbClr val="B8B8B8"/>
          </a:solidFill>
          <a:ln w="12554">
            <a:solidFill>
              <a:srgbClr val="000000"/>
            </a:solidFill>
          </a:ln>
        </p:spPr>
        <p:txBody>
          <a:bodyPr vert="vert270" wrap="square" lIns="0" tIns="5143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405"/>
              </a:spcBef>
            </a:pPr>
            <a:r>
              <a:rPr sz="1300" b="1" dirty="0">
                <a:latin typeface="Times New Roman"/>
                <a:cs typeface="Times New Roman"/>
              </a:rPr>
              <a:t>I/O</a:t>
            </a:r>
            <a:r>
              <a:rPr sz="1300" b="1" spc="3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device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800764" y="987472"/>
            <a:ext cx="0" cy="415290"/>
          </a:xfrm>
          <a:custGeom>
            <a:avLst/>
            <a:gdLst/>
            <a:ahLst/>
            <a:cxnLst/>
            <a:rect l="l" t="t" r="r" b="b"/>
            <a:pathLst>
              <a:path h="415290">
                <a:moveTo>
                  <a:pt x="0" y="414953"/>
                </a:moveTo>
                <a:lnTo>
                  <a:pt x="0" y="414953"/>
                </a:lnTo>
                <a:lnTo>
                  <a:pt x="0" y="0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945483" y="1004571"/>
            <a:ext cx="0" cy="415290"/>
          </a:xfrm>
          <a:custGeom>
            <a:avLst/>
            <a:gdLst/>
            <a:ahLst/>
            <a:cxnLst/>
            <a:rect l="l" t="t" r="r" b="b"/>
            <a:pathLst>
              <a:path h="415290">
                <a:moveTo>
                  <a:pt x="0" y="0"/>
                </a:moveTo>
                <a:lnTo>
                  <a:pt x="0" y="0"/>
                </a:lnTo>
                <a:lnTo>
                  <a:pt x="0" y="414831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068793" y="987472"/>
            <a:ext cx="0" cy="415290"/>
          </a:xfrm>
          <a:custGeom>
            <a:avLst/>
            <a:gdLst/>
            <a:ahLst/>
            <a:cxnLst/>
            <a:rect l="l" t="t" r="r" b="b"/>
            <a:pathLst>
              <a:path h="415290">
                <a:moveTo>
                  <a:pt x="0" y="414953"/>
                </a:moveTo>
                <a:lnTo>
                  <a:pt x="0" y="414953"/>
                </a:lnTo>
                <a:lnTo>
                  <a:pt x="0" y="0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6" name="object 66"/>
          <p:cNvGrpSpPr/>
          <p:nvPr/>
        </p:nvGrpSpPr>
        <p:grpSpPr>
          <a:xfrm>
            <a:off x="2884907" y="495848"/>
            <a:ext cx="3229610" cy="544195"/>
            <a:chOff x="2884907" y="495848"/>
            <a:chExt cx="3229610" cy="544195"/>
          </a:xfrm>
        </p:grpSpPr>
        <p:sp>
          <p:nvSpPr>
            <p:cNvPr id="67" name="object 67"/>
            <p:cNvSpPr/>
            <p:nvPr/>
          </p:nvSpPr>
          <p:spPr>
            <a:xfrm>
              <a:off x="3012298" y="613239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5">
                  <a:moveTo>
                    <a:pt x="0" y="0"/>
                  </a:moveTo>
                  <a:lnTo>
                    <a:pt x="0" y="0"/>
                  </a:lnTo>
                  <a:lnTo>
                    <a:pt x="432154" y="0"/>
                  </a:lnTo>
                </a:path>
              </a:pathLst>
            </a:custGeom>
            <a:ln w="36169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84906" y="540054"/>
              <a:ext cx="687705" cy="147955"/>
            </a:xfrm>
            <a:custGeom>
              <a:avLst/>
              <a:gdLst/>
              <a:ahLst/>
              <a:cxnLst/>
              <a:rect l="l" t="t" r="r" b="b"/>
              <a:pathLst>
                <a:path w="687704" h="147954">
                  <a:moveTo>
                    <a:pt x="180009" y="0"/>
                  </a:moveTo>
                  <a:lnTo>
                    <a:pt x="0" y="73202"/>
                  </a:lnTo>
                  <a:lnTo>
                    <a:pt x="180009" y="147370"/>
                  </a:lnTo>
                  <a:lnTo>
                    <a:pt x="137261" y="73202"/>
                  </a:lnTo>
                  <a:lnTo>
                    <a:pt x="180009" y="0"/>
                  </a:lnTo>
                  <a:close/>
                </a:path>
                <a:path w="687704" h="147954">
                  <a:moveTo>
                    <a:pt x="687197" y="73202"/>
                  </a:moveTo>
                  <a:lnTo>
                    <a:pt x="507301" y="0"/>
                  </a:lnTo>
                  <a:lnTo>
                    <a:pt x="549668" y="73202"/>
                  </a:lnTo>
                  <a:lnTo>
                    <a:pt x="507301" y="147370"/>
                  </a:lnTo>
                  <a:lnTo>
                    <a:pt x="687197" y="73202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55132" y="569043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>
                  <a:moveTo>
                    <a:pt x="0" y="0"/>
                  </a:moveTo>
                  <a:lnTo>
                    <a:pt x="0" y="0"/>
                  </a:lnTo>
                  <a:lnTo>
                    <a:pt x="431322" y="0"/>
                  </a:lnTo>
                </a:path>
              </a:pathLst>
            </a:custGeom>
            <a:ln w="36169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426900" y="495858"/>
              <a:ext cx="687705" cy="147320"/>
            </a:xfrm>
            <a:custGeom>
              <a:avLst/>
              <a:gdLst/>
              <a:ahLst/>
              <a:cxnLst/>
              <a:rect l="l" t="t" r="r" b="b"/>
              <a:pathLst>
                <a:path w="687704" h="147320">
                  <a:moveTo>
                    <a:pt x="179895" y="0"/>
                  </a:moveTo>
                  <a:lnTo>
                    <a:pt x="0" y="73202"/>
                  </a:lnTo>
                  <a:lnTo>
                    <a:pt x="179895" y="147243"/>
                  </a:lnTo>
                  <a:lnTo>
                    <a:pt x="137160" y="73202"/>
                  </a:lnTo>
                  <a:lnTo>
                    <a:pt x="179895" y="0"/>
                  </a:lnTo>
                  <a:close/>
                </a:path>
                <a:path w="687704" h="147320">
                  <a:moveTo>
                    <a:pt x="687197" y="73202"/>
                  </a:moveTo>
                  <a:lnTo>
                    <a:pt x="507301" y="0"/>
                  </a:lnTo>
                  <a:lnTo>
                    <a:pt x="550646" y="73202"/>
                  </a:lnTo>
                  <a:lnTo>
                    <a:pt x="507301" y="147243"/>
                  </a:lnTo>
                  <a:lnTo>
                    <a:pt x="687197" y="73202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727551" y="859840"/>
              <a:ext cx="1414780" cy="180340"/>
            </a:xfrm>
            <a:custGeom>
              <a:avLst/>
              <a:gdLst/>
              <a:ahLst/>
              <a:cxnLst/>
              <a:rect l="l" t="t" r="r" b="b"/>
              <a:pathLst>
                <a:path w="1414779" h="180340">
                  <a:moveTo>
                    <a:pt x="146545" y="180022"/>
                  </a:moveTo>
                  <a:lnTo>
                    <a:pt x="73202" y="0"/>
                  </a:lnTo>
                  <a:lnTo>
                    <a:pt x="0" y="180022"/>
                  </a:lnTo>
                  <a:lnTo>
                    <a:pt x="73202" y="137528"/>
                  </a:lnTo>
                  <a:lnTo>
                    <a:pt x="146545" y="180022"/>
                  </a:lnTo>
                  <a:close/>
                </a:path>
                <a:path w="1414779" h="180340">
                  <a:moveTo>
                    <a:pt x="1414449" y="180022"/>
                  </a:moveTo>
                  <a:lnTo>
                    <a:pt x="1341272" y="0"/>
                  </a:lnTo>
                  <a:lnTo>
                    <a:pt x="1266837" y="180022"/>
                  </a:lnTo>
                  <a:lnTo>
                    <a:pt x="1341272" y="137528"/>
                  </a:lnTo>
                  <a:lnTo>
                    <a:pt x="1414449" y="180022"/>
                  </a:lnTo>
                  <a:close/>
                </a:path>
              </a:pathLst>
            </a:custGeom>
            <a:solidFill>
              <a:srgbClr val="00A4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/>
          <p:nvPr/>
        </p:nvSpPr>
        <p:spPr>
          <a:xfrm>
            <a:off x="5213420" y="1004571"/>
            <a:ext cx="0" cy="415290"/>
          </a:xfrm>
          <a:custGeom>
            <a:avLst/>
            <a:gdLst/>
            <a:ahLst/>
            <a:cxnLst/>
            <a:rect l="l" t="t" r="r" b="b"/>
            <a:pathLst>
              <a:path h="415290">
                <a:moveTo>
                  <a:pt x="0" y="0"/>
                </a:moveTo>
                <a:lnTo>
                  <a:pt x="0" y="0"/>
                </a:lnTo>
                <a:lnTo>
                  <a:pt x="0" y="414831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556421" y="1491762"/>
            <a:ext cx="328930" cy="664845"/>
          </a:xfrm>
          <a:prstGeom prst="rect">
            <a:avLst/>
          </a:prstGeom>
          <a:solidFill>
            <a:srgbClr val="B8B8B8"/>
          </a:solidFill>
          <a:ln w="11657">
            <a:solidFill>
              <a:srgbClr val="000000"/>
            </a:solidFill>
          </a:ln>
        </p:spPr>
        <p:txBody>
          <a:bodyPr vert="vert270" wrap="square" lIns="0" tIns="5143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405"/>
              </a:spcBef>
            </a:pPr>
            <a:r>
              <a:rPr sz="1300" b="1" spc="-20" dirty="0">
                <a:latin typeface="Times New Roman"/>
                <a:cs typeface="Times New Roman"/>
              </a:rPr>
              <a:t>DRAM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60038" y="1523040"/>
            <a:ext cx="601980" cy="602615"/>
            <a:chOff x="3560038" y="1523040"/>
            <a:chExt cx="601980" cy="602615"/>
          </a:xfrm>
        </p:grpSpPr>
        <p:sp>
          <p:nvSpPr>
            <p:cNvPr id="4" name="object 4"/>
            <p:cNvSpPr/>
            <p:nvPr/>
          </p:nvSpPr>
          <p:spPr>
            <a:xfrm>
              <a:off x="3572103" y="1535094"/>
              <a:ext cx="577850" cy="578485"/>
            </a:xfrm>
            <a:custGeom>
              <a:avLst/>
              <a:gdLst/>
              <a:ahLst/>
              <a:cxnLst/>
              <a:rect l="l" t="t" r="r" b="b"/>
              <a:pathLst>
                <a:path w="577850" h="578485">
                  <a:moveTo>
                    <a:pt x="490910" y="0"/>
                  </a:moveTo>
                  <a:lnTo>
                    <a:pt x="86685" y="0"/>
                  </a:lnTo>
                  <a:lnTo>
                    <a:pt x="52978" y="6834"/>
                  </a:lnTo>
                  <a:lnTo>
                    <a:pt x="25420" y="25481"/>
                  </a:lnTo>
                  <a:lnTo>
                    <a:pt x="6823" y="53158"/>
                  </a:lnTo>
                  <a:lnTo>
                    <a:pt x="0" y="87081"/>
                  </a:lnTo>
                  <a:lnTo>
                    <a:pt x="0" y="491185"/>
                  </a:lnTo>
                  <a:lnTo>
                    <a:pt x="6823" y="524892"/>
                  </a:lnTo>
                  <a:lnTo>
                    <a:pt x="25420" y="552449"/>
                  </a:lnTo>
                  <a:lnTo>
                    <a:pt x="52978" y="571046"/>
                  </a:lnTo>
                  <a:lnTo>
                    <a:pt x="86685" y="577870"/>
                  </a:lnTo>
                  <a:lnTo>
                    <a:pt x="490910" y="577870"/>
                  </a:lnTo>
                  <a:lnTo>
                    <a:pt x="524758" y="571046"/>
                  </a:lnTo>
                  <a:lnTo>
                    <a:pt x="552389" y="552449"/>
                  </a:lnTo>
                  <a:lnTo>
                    <a:pt x="571012" y="524892"/>
                  </a:lnTo>
                  <a:lnTo>
                    <a:pt x="577839" y="491185"/>
                  </a:lnTo>
                  <a:lnTo>
                    <a:pt x="577839" y="87081"/>
                  </a:lnTo>
                  <a:lnTo>
                    <a:pt x="571012" y="53158"/>
                  </a:lnTo>
                  <a:lnTo>
                    <a:pt x="552389" y="25481"/>
                  </a:lnTo>
                  <a:lnTo>
                    <a:pt x="524758" y="6834"/>
                  </a:lnTo>
                  <a:lnTo>
                    <a:pt x="49091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72103" y="1535105"/>
              <a:ext cx="577850" cy="578485"/>
            </a:xfrm>
            <a:custGeom>
              <a:avLst/>
              <a:gdLst/>
              <a:ahLst/>
              <a:cxnLst/>
              <a:rect l="l" t="t" r="r" b="b"/>
              <a:pathLst>
                <a:path w="577850" h="578485">
                  <a:moveTo>
                    <a:pt x="577839" y="491153"/>
                  </a:moveTo>
                  <a:lnTo>
                    <a:pt x="571011" y="524878"/>
                  </a:lnTo>
                  <a:lnTo>
                    <a:pt x="552385" y="552445"/>
                  </a:lnTo>
                  <a:lnTo>
                    <a:pt x="524746" y="571044"/>
                  </a:lnTo>
                  <a:lnTo>
                    <a:pt x="490880" y="577869"/>
                  </a:lnTo>
                  <a:lnTo>
                    <a:pt x="86685" y="577869"/>
                  </a:lnTo>
                  <a:lnTo>
                    <a:pt x="52965" y="571044"/>
                  </a:lnTo>
                  <a:lnTo>
                    <a:pt x="25408" y="552445"/>
                  </a:lnTo>
                  <a:lnTo>
                    <a:pt x="6819" y="524878"/>
                  </a:lnTo>
                  <a:lnTo>
                    <a:pt x="0" y="491153"/>
                  </a:lnTo>
                  <a:lnTo>
                    <a:pt x="0" y="87050"/>
                  </a:lnTo>
                  <a:lnTo>
                    <a:pt x="6819" y="53132"/>
                  </a:lnTo>
                  <a:lnTo>
                    <a:pt x="25408" y="25465"/>
                  </a:lnTo>
                  <a:lnTo>
                    <a:pt x="52965" y="6829"/>
                  </a:lnTo>
                  <a:lnTo>
                    <a:pt x="86685" y="0"/>
                  </a:lnTo>
                  <a:lnTo>
                    <a:pt x="490880" y="0"/>
                  </a:lnTo>
                  <a:lnTo>
                    <a:pt x="524746" y="6829"/>
                  </a:lnTo>
                  <a:lnTo>
                    <a:pt x="552385" y="25465"/>
                  </a:lnTo>
                  <a:lnTo>
                    <a:pt x="571011" y="53132"/>
                  </a:lnTo>
                  <a:lnTo>
                    <a:pt x="577839" y="87050"/>
                  </a:lnTo>
                  <a:lnTo>
                    <a:pt x="577839" y="491153"/>
                  </a:lnTo>
                  <a:close/>
                </a:path>
              </a:pathLst>
            </a:custGeom>
            <a:ln w="236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29771" y="1593159"/>
              <a:ext cx="462280" cy="462915"/>
            </a:xfrm>
            <a:custGeom>
              <a:avLst/>
              <a:gdLst/>
              <a:ahLst/>
              <a:cxnLst/>
              <a:rect l="l" t="t" r="r" b="b"/>
              <a:pathLst>
                <a:path w="462279" h="462914">
                  <a:moveTo>
                    <a:pt x="393374" y="0"/>
                  </a:moveTo>
                  <a:lnTo>
                    <a:pt x="69707" y="0"/>
                  </a:lnTo>
                  <a:lnTo>
                    <a:pt x="42408" y="5403"/>
                  </a:lnTo>
                  <a:lnTo>
                    <a:pt x="20269" y="20208"/>
                  </a:lnTo>
                  <a:lnTo>
                    <a:pt x="5422" y="42305"/>
                  </a:lnTo>
                  <a:lnTo>
                    <a:pt x="0" y="69585"/>
                  </a:lnTo>
                  <a:lnTo>
                    <a:pt x="0" y="393009"/>
                  </a:lnTo>
                  <a:lnTo>
                    <a:pt x="5422" y="419897"/>
                  </a:lnTo>
                  <a:lnTo>
                    <a:pt x="20269" y="442081"/>
                  </a:lnTo>
                  <a:lnTo>
                    <a:pt x="42408" y="457157"/>
                  </a:lnTo>
                  <a:lnTo>
                    <a:pt x="69707" y="462716"/>
                  </a:lnTo>
                  <a:lnTo>
                    <a:pt x="393374" y="462716"/>
                  </a:lnTo>
                  <a:lnTo>
                    <a:pt x="420179" y="457157"/>
                  </a:lnTo>
                  <a:lnTo>
                    <a:pt x="442032" y="442081"/>
                  </a:lnTo>
                  <a:lnTo>
                    <a:pt x="456747" y="419897"/>
                  </a:lnTo>
                  <a:lnTo>
                    <a:pt x="462137" y="393009"/>
                  </a:lnTo>
                  <a:lnTo>
                    <a:pt x="462137" y="69585"/>
                  </a:lnTo>
                  <a:lnTo>
                    <a:pt x="456747" y="42305"/>
                  </a:lnTo>
                  <a:lnTo>
                    <a:pt x="442032" y="20208"/>
                  </a:lnTo>
                  <a:lnTo>
                    <a:pt x="420179" y="5403"/>
                  </a:lnTo>
                  <a:lnTo>
                    <a:pt x="393374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29771" y="1593139"/>
              <a:ext cx="462280" cy="462915"/>
            </a:xfrm>
            <a:custGeom>
              <a:avLst/>
              <a:gdLst/>
              <a:ahLst/>
              <a:cxnLst/>
              <a:rect l="l" t="t" r="r" b="b"/>
              <a:pathLst>
                <a:path w="462279" h="462914">
                  <a:moveTo>
                    <a:pt x="462137" y="393038"/>
                  </a:moveTo>
                  <a:lnTo>
                    <a:pt x="456747" y="419926"/>
                  </a:lnTo>
                  <a:lnTo>
                    <a:pt x="442032" y="442111"/>
                  </a:lnTo>
                  <a:lnTo>
                    <a:pt x="420179" y="457186"/>
                  </a:lnTo>
                  <a:lnTo>
                    <a:pt x="393374" y="462746"/>
                  </a:lnTo>
                  <a:lnTo>
                    <a:pt x="69707" y="462746"/>
                  </a:lnTo>
                  <a:lnTo>
                    <a:pt x="42408" y="457186"/>
                  </a:lnTo>
                  <a:lnTo>
                    <a:pt x="20269" y="442111"/>
                  </a:lnTo>
                  <a:lnTo>
                    <a:pt x="5422" y="419926"/>
                  </a:lnTo>
                  <a:lnTo>
                    <a:pt x="0" y="393038"/>
                  </a:lnTo>
                  <a:lnTo>
                    <a:pt x="0" y="69616"/>
                  </a:lnTo>
                  <a:lnTo>
                    <a:pt x="5422" y="42330"/>
                  </a:lnTo>
                  <a:lnTo>
                    <a:pt x="20269" y="20223"/>
                  </a:lnTo>
                  <a:lnTo>
                    <a:pt x="42408" y="5408"/>
                  </a:lnTo>
                  <a:lnTo>
                    <a:pt x="69707" y="0"/>
                  </a:lnTo>
                  <a:lnTo>
                    <a:pt x="393374" y="0"/>
                  </a:lnTo>
                  <a:lnTo>
                    <a:pt x="420179" y="5408"/>
                  </a:lnTo>
                  <a:lnTo>
                    <a:pt x="442032" y="20223"/>
                  </a:lnTo>
                  <a:lnTo>
                    <a:pt x="456747" y="42330"/>
                  </a:lnTo>
                  <a:lnTo>
                    <a:pt x="462137" y="69616"/>
                  </a:lnTo>
                  <a:lnTo>
                    <a:pt x="462137" y="393038"/>
                  </a:lnTo>
                  <a:close/>
                </a:path>
              </a:pathLst>
            </a:custGeom>
            <a:ln w="11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675116" y="1613608"/>
            <a:ext cx="379095" cy="430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2715" marR="5080" indent="-120650">
              <a:lnSpc>
                <a:spcPct val="102299"/>
              </a:lnSpc>
              <a:spcBef>
                <a:spcPts val="90"/>
              </a:spcBef>
            </a:pPr>
            <a:r>
              <a:rPr sz="1300" b="1" spc="-20" dirty="0">
                <a:latin typeface="Times New Roman"/>
                <a:cs typeface="Times New Roman"/>
              </a:rPr>
              <a:t>Core </a:t>
            </a:r>
            <a:r>
              <a:rPr sz="1300" b="1" spc="-50" dirty="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36754" y="1523040"/>
            <a:ext cx="602615" cy="602615"/>
            <a:chOff x="4836754" y="1523040"/>
            <a:chExt cx="602615" cy="602615"/>
          </a:xfrm>
        </p:grpSpPr>
        <p:sp>
          <p:nvSpPr>
            <p:cNvPr id="22" name="object 22"/>
            <p:cNvSpPr/>
            <p:nvPr/>
          </p:nvSpPr>
          <p:spPr>
            <a:xfrm>
              <a:off x="4848819" y="1535094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5">
                  <a:moveTo>
                    <a:pt x="491154" y="0"/>
                  </a:moveTo>
                  <a:lnTo>
                    <a:pt x="86928" y="0"/>
                  </a:lnTo>
                  <a:lnTo>
                    <a:pt x="53080" y="6834"/>
                  </a:lnTo>
                  <a:lnTo>
                    <a:pt x="25450" y="25481"/>
                  </a:lnTo>
                  <a:lnTo>
                    <a:pt x="6827" y="53158"/>
                  </a:lnTo>
                  <a:lnTo>
                    <a:pt x="0" y="87081"/>
                  </a:lnTo>
                  <a:lnTo>
                    <a:pt x="0" y="491185"/>
                  </a:lnTo>
                  <a:lnTo>
                    <a:pt x="6827" y="524892"/>
                  </a:lnTo>
                  <a:lnTo>
                    <a:pt x="25450" y="552449"/>
                  </a:lnTo>
                  <a:lnTo>
                    <a:pt x="53080" y="571046"/>
                  </a:lnTo>
                  <a:lnTo>
                    <a:pt x="86928" y="577870"/>
                  </a:lnTo>
                  <a:lnTo>
                    <a:pt x="491154" y="577870"/>
                  </a:lnTo>
                  <a:lnTo>
                    <a:pt x="524899" y="571046"/>
                  </a:lnTo>
                  <a:lnTo>
                    <a:pt x="552541" y="552449"/>
                  </a:lnTo>
                  <a:lnTo>
                    <a:pt x="571221" y="524892"/>
                  </a:lnTo>
                  <a:lnTo>
                    <a:pt x="578083" y="491185"/>
                  </a:lnTo>
                  <a:lnTo>
                    <a:pt x="578083" y="87081"/>
                  </a:lnTo>
                  <a:lnTo>
                    <a:pt x="571221" y="53158"/>
                  </a:lnTo>
                  <a:lnTo>
                    <a:pt x="552541" y="25481"/>
                  </a:lnTo>
                  <a:lnTo>
                    <a:pt x="524899" y="6834"/>
                  </a:lnTo>
                  <a:lnTo>
                    <a:pt x="491154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48819" y="1535105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5">
                  <a:moveTo>
                    <a:pt x="578083" y="491153"/>
                  </a:moveTo>
                  <a:lnTo>
                    <a:pt x="571221" y="524878"/>
                  </a:lnTo>
                  <a:lnTo>
                    <a:pt x="552541" y="552445"/>
                  </a:lnTo>
                  <a:lnTo>
                    <a:pt x="524899" y="571044"/>
                  </a:lnTo>
                  <a:lnTo>
                    <a:pt x="491154" y="577869"/>
                  </a:lnTo>
                  <a:lnTo>
                    <a:pt x="86928" y="577869"/>
                  </a:lnTo>
                  <a:lnTo>
                    <a:pt x="53068" y="571044"/>
                  </a:lnTo>
                  <a:lnTo>
                    <a:pt x="25439" y="552445"/>
                  </a:lnTo>
                  <a:lnTo>
                    <a:pt x="6823" y="524878"/>
                  </a:lnTo>
                  <a:lnTo>
                    <a:pt x="0" y="491153"/>
                  </a:lnTo>
                  <a:lnTo>
                    <a:pt x="0" y="87050"/>
                  </a:lnTo>
                  <a:lnTo>
                    <a:pt x="6823" y="53132"/>
                  </a:lnTo>
                  <a:lnTo>
                    <a:pt x="25439" y="25465"/>
                  </a:lnTo>
                  <a:lnTo>
                    <a:pt x="53068" y="6829"/>
                  </a:lnTo>
                  <a:lnTo>
                    <a:pt x="86928" y="0"/>
                  </a:lnTo>
                  <a:lnTo>
                    <a:pt x="491154" y="0"/>
                  </a:lnTo>
                  <a:lnTo>
                    <a:pt x="524899" y="6829"/>
                  </a:lnTo>
                  <a:lnTo>
                    <a:pt x="552541" y="25465"/>
                  </a:lnTo>
                  <a:lnTo>
                    <a:pt x="571221" y="53132"/>
                  </a:lnTo>
                  <a:lnTo>
                    <a:pt x="578083" y="87050"/>
                  </a:lnTo>
                  <a:lnTo>
                    <a:pt x="578083" y="491153"/>
                  </a:lnTo>
                  <a:close/>
                </a:path>
              </a:pathLst>
            </a:custGeom>
            <a:ln w="236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06731" y="1593159"/>
              <a:ext cx="462280" cy="462915"/>
            </a:xfrm>
            <a:custGeom>
              <a:avLst/>
              <a:gdLst/>
              <a:ahLst/>
              <a:cxnLst/>
              <a:rect l="l" t="t" r="r" b="b"/>
              <a:pathLst>
                <a:path w="462279" h="462914">
                  <a:moveTo>
                    <a:pt x="393374" y="0"/>
                  </a:moveTo>
                  <a:lnTo>
                    <a:pt x="69738" y="0"/>
                  </a:lnTo>
                  <a:lnTo>
                    <a:pt x="42421" y="5403"/>
                  </a:lnTo>
                  <a:lnTo>
                    <a:pt x="20273" y="20208"/>
                  </a:lnTo>
                  <a:lnTo>
                    <a:pt x="5423" y="42305"/>
                  </a:lnTo>
                  <a:lnTo>
                    <a:pt x="0" y="69585"/>
                  </a:lnTo>
                  <a:lnTo>
                    <a:pt x="0" y="393009"/>
                  </a:lnTo>
                  <a:lnTo>
                    <a:pt x="5423" y="419897"/>
                  </a:lnTo>
                  <a:lnTo>
                    <a:pt x="20273" y="442081"/>
                  </a:lnTo>
                  <a:lnTo>
                    <a:pt x="42421" y="457157"/>
                  </a:lnTo>
                  <a:lnTo>
                    <a:pt x="69738" y="462716"/>
                  </a:lnTo>
                  <a:lnTo>
                    <a:pt x="393374" y="462716"/>
                  </a:lnTo>
                  <a:lnTo>
                    <a:pt x="420179" y="457157"/>
                  </a:lnTo>
                  <a:lnTo>
                    <a:pt x="442032" y="442081"/>
                  </a:lnTo>
                  <a:lnTo>
                    <a:pt x="456747" y="419897"/>
                  </a:lnTo>
                  <a:lnTo>
                    <a:pt x="462137" y="393009"/>
                  </a:lnTo>
                  <a:lnTo>
                    <a:pt x="462137" y="69585"/>
                  </a:lnTo>
                  <a:lnTo>
                    <a:pt x="456747" y="42305"/>
                  </a:lnTo>
                  <a:lnTo>
                    <a:pt x="442032" y="20208"/>
                  </a:lnTo>
                  <a:lnTo>
                    <a:pt x="420179" y="5403"/>
                  </a:lnTo>
                  <a:lnTo>
                    <a:pt x="393374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06731" y="1593139"/>
              <a:ext cx="462280" cy="462915"/>
            </a:xfrm>
            <a:custGeom>
              <a:avLst/>
              <a:gdLst/>
              <a:ahLst/>
              <a:cxnLst/>
              <a:rect l="l" t="t" r="r" b="b"/>
              <a:pathLst>
                <a:path w="462279" h="462914">
                  <a:moveTo>
                    <a:pt x="462137" y="393038"/>
                  </a:moveTo>
                  <a:lnTo>
                    <a:pt x="456742" y="419926"/>
                  </a:lnTo>
                  <a:lnTo>
                    <a:pt x="442020" y="442111"/>
                  </a:lnTo>
                  <a:lnTo>
                    <a:pt x="420166" y="457186"/>
                  </a:lnTo>
                  <a:lnTo>
                    <a:pt x="393374" y="462746"/>
                  </a:lnTo>
                  <a:lnTo>
                    <a:pt x="69707" y="462746"/>
                  </a:lnTo>
                  <a:lnTo>
                    <a:pt x="42408" y="457186"/>
                  </a:lnTo>
                  <a:lnTo>
                    <a:pt x="20269" y="442111"/>
                  </a:lnTo>
                  <a:lnTo>
                    <a:pt x="5422" y="419926"/>
                  </a:lnTo>
                  <a:lnTo>
                    <a:pt x="0" y="393038"/>
                  </a:lnTo>
                  <a:lnTo>
                    <a:pt x="0" y="69616"/>
                  </a:lnTo>
                  <a:lnTo>
                    <a:pt x="5422" y="42330"/>
                  </a:lnTo>
                  <a:lnTo>
                    <a:pt x="20269" y="20223"/>
                  </a:lnTo>
                  <a:lnTo>
                    <a:pt x="42408" y="5408"/>
                  </a:lnTo>
                  <a:lnTo>
                    <a:pt x="69707" y="0"/>
                  </a:lnTo>
                  <a:lnTo>
                    <a:pt x="393374" y="0"/>
                  </a:lnTo>
                  <a:lnTo>
                    <a:pt x="420166" y="5408"/>
                  </a:lnTo>
                  <a:lnTo>
                    <a:pt x="442020" y="20223"/>
                  </a:lnTo>
                  <a:lnTo>
                    <a:pt x="456742" y="42330"/>
                  </a:lnTo>
                  <a:lnTo>
                    <a:pt x="462137" y="69616"/>
                  </a:lnTo>
                  <a:lnTo>
                    <a:pt x="462137" y="393038"/>
                  </a:lnTo>
                  <a:close/>
                </a:path>
              </a:pathLst>
            </a:custGeom>
            <a:ln w="11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52076" y="1613608"/>
            <a:ext cx="378460" cy="430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2715" marR="5080" indent="-120650">
              <a:lnSpc>
                <a:spcPct val="102299"/>
              </a:lnSpc>
              <a:spcBef>
                <a:spcPts val="90"/>
              </a:spcBef>
            </a:pPr>
            <a:r>
              <a:rPr sz="1300" b="1" spc="-20" dirty="0">
                <a:latin typeface="Times New Roman"/>
                <a:cs typeface="Times New Roman"/>
              </a:rPr>
              <a:t>Core </a:t>
            </a:r>
            <a:r>
              <a:rPr sz="1300" b="1" spc="-50" dirty="0">
                <a:latin typeface="Times New Roman"/>
                <a:cs typeface="Times New Roman"/>
              </a:rPr>
              <a:t>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14074" y="1491762"/>
            <a:ext cx="328295" cy="664845"/>
          </a:xfrm>
          <a:prstGeom prst="rect">
            <a:avLst/>
          </a:prstGeom>
          <a:solidFill>
            <a:srgbClr val="B8B8B8"/>
          </a:solidFill>
          <a:ln w="11657">
            <a:solidFill>
              <a:srgbClr val="000000"/>
            </a:solidFill>
          </a:ln>
        </p:spPr>
        <p:txBody>
          <a:bodyPr vert="vert270" wrap="square" lIns="0" tIns="5143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405"/>
              </a:spcBef>
            </a:pPr>
            <a:r>
              <a:rPr sz="1300" b="1" spc="-20" dirty="0">
                <a:latin typeface="Times New Roman"/>
                <a:cs typeface="Times New Roman"/>
              </a:rPr>
              <a:t>DRAM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800764" y="2242026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414953"/>
                </a:moveTo>
                <a:lnTo>
                  <a:pt x="0" y="414953"/>
                </a:lnTo>
                <a:lnTo>
                  <a:pt x="0" y="0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945483" y="2259369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0"/>
                </a:lnTo>
                <a:lnTo>
                  <a:pt x="0" y="414953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065776" y="2242026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414953"/>
                </a:moveTo>
                <a:lnTo>
                  <a:pt x="0" y="414953"/>
                </a:lnTo>
                <a:lnTo>
                  <a:pt x="0" y="0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210525" y="2259369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0"/>
                </a:lnTo>
                <a:lnTo>
                  <a:pt x="0" y="414953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556421" y="2752931"/>
            <a:ext cx="328930" cy="663575"/>
          </a:xfrm>
          <a:prstGeom prst="rect">
            <a:avLst/>
          </a:prstGeom>
          <a:solidFill>
            <a:srgbClr val="B8B8B8"/>
          </a:solidFill>
          <a:ln w="11657">
            <a:solidFill>
              <a:srgbClr val="000000"/>
            </a:solidFill>
          </a:ln>
        </p:spPr>
        <p:txBody>
          <a:bodyPr vert="vert270" wrap="square" lIns="0" tIns="5143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405"/>
              </a:spcBef>
            </a:pPr>
            <a:r>
              <a:rPr sz="1300" b="1" spc="-20" dirty="0">
                <a:latin typeface="Times New Roman"/>
                <a:cs typeface="Times New Roman"/>
              </a:rPr>
              <a:t>DRAM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560038" y="2783264"/>
            <a:ext cx="601980" cy="603250"/>
            <a:chOff x="3560038" y="2783264"/>
            <a:chExt cx="601980" cy="603250"/>
          </a:xfrm>
        </p:grpSpPr>
        <p:sp>
          <p:nvSpPr>
            <p:cNvPr id="28" name="object 28"/>
            <p:cNvSpPr/>
            <p:nvPr/>
          </p:nvSpPr>
          <p:spPr>
            <a:xfrm>
              <a:off x="3572103" y="2795320"/>
              <a:ext cx="577850" cy="579120"/>
            </a:xfrm>
            <a:custGeom>
              <a:avLst/>
              <a:gdLst/>
              <a:ahLst/>
              <a:cxnLst/>
              <a:rect l="l" t="t" r="r" b="b"/>
              <a:pathLst>
                <a:path w="577850" h="579120">
                  <a:moveTo>
                    <a:pt x="490910" y="0"/>
                  </a:moveTo>
                  <a:lnTo>
                    <a:pt x="86685" y="0"/>
                  </a:lnTo>
                  <a:lnTo>
                    <a:pt x="52978" y="6824"/>
                  </a:lnTo>
                  <a:lnTo>
                    <a:pt x="25420" y="25424"/>
                  </a:lnTo>
                  <a:lnTo>
                    <a:pt x="6823" y="52990"/>
                  </a:lnTo>
                  <a:lnTo>
                    <a:pt x="0" y="86715"/>
                  </a:lnTo>
                  <a:lnTo>
                    <a:pt x="0" y="491764"/>
                  </a:lnTo>
                  <a:lnTo>
                    <a:pt x="6823" y="525612"/>
                  </a:lnTo>
                  <a:lnTo>
                    <a:pt x="25420" y="553242"/>
                  </a:lnTo>
                  <a:lnTo>
                    <a:pt x="52978" y="571865"/>
                  </a:lnTo>
                  <a:lnTo>
                    <a:pt x="86685" y="578693"/>
                  </a:lnTo>
                  <a:lnTo>
                    <a:pt x="490910" y="578693"/>
                  </a:lnTo>
                  <a:lnTo>
                    <a:pt x="524758" y="571865"/>
                  </a:lnTo>
                  <a:lnTo>
                    <a:pt x="552389" y="553242"/>
                  </a:lnTo>
                  <a:lnTo>
                    <a:pt x="571012" y="525612"/>
                  </a:lnTo>
                  <a:lnTo>
                    <a:pt x="577839" y="491764"/>
                  </a:lnTo>
                  <a:lnTo>
                    <a:pt x="577839" y="86715"/>
                  </a:lnTo>
                  <a:lnTo>
                    <a:pt x="571012" y="52990"/>
                  </a:lnTo>
                  <a:lnTo>
                    <a:pt x="552389" y="25424"/>
                  </a:lnTo>
                  <a:lnTo>
                    <a:pt x="524758" y="6824"/>
                  </a:lnTo>
                  <a:lnTo>
                    <a:pt x="49091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72103" y="2795329"/>
              <a:ext cx="577850" cy="579120"/>
            </a:xfrm>
            <a:custGeom>
              <a:avLst/>
              <a:gdLst/>
              <a:ahLst/>
              <a:cxnLst/>
              <a:rect l="l" t="t" r="r" b="b"/>
              <a:pathLst>
                <a:path w="577850" h="579120">
                  <a:moveTo>
                    <a:pt x="577839" y="491763"/>
                  </a:moveTo>
                  <a:lnTo>
                    <a:pt x="571011" y="525611"/>
                  </a:lnTo>
                  <a:lnTo>
                    <a:pt x="552385" y="553241"/>
                  </a:lnTo>
                  <a:lnTo>
                    <a:pt x="524746" y="571864"/>
                  </a:lnTo>
                  <a:lnTo>
                    <a:pt x="490880" y="578692"/>
                  </a:lnTo>
                  <a:lnTo>
                    <a:pt x="86685" y="578692"/>
                  </a:lnTo>
                  <a:lnTo>
                    <a:pt x="52965" y="571864"/>
                  </a:lnTo>
                  <a:lnTo>
                    <a:pt x="25408" y="553241"/>
                  </a:lnTo>
                  <a:lnTo>
                    <a:pt x="6819" y="525611"/>
                  </a:lnTo>
                  <a:lnTo>
                    <a:pt x="0" y="491763"/>
                  </a:lnTo>
                  <a:lnTo>
                    <a:pt x="0" y="86684"/>
                  </a:lnTo>
                  <a:lnTo>
                    <a:pt x="6819" y="52977"/>
                  </a:lnTo>
                  <a:lnTo>
                    <a:pt x="25408" y="25420"/>
                  </a:lnTo>
                  <a:lnTo>
                    <a:pt x="52965" y="6823"/>
                  </a:lnTo>
                  <a:lnTo>
                    <a:pt x="86685" y="0"/>
                  </a:lnTo>
                  <a:lnTo>
                    <a:pt x="490880" y="0"/>
                  </a:lnTo>
                  <a:lnTo>
                    <a:pt x="524746" y="6823"/>
                  </a:lnTo>
                  <a:lnTo>
                    <a:pt x="552385" y="25420"/>
                  </a:lnTo>
                  <a:lnTo>
                    <a:pt x="571011" y="52977"/>
                  </a:lnTo>
                  <a:lnTo>
                    <a:pt x="577839" y="86684"/>
                  </a:lnTo>
                  <a:lnTo>
                    <a:pt x="577839" y="491763"/>
                  </a:lnTo>
                  <a:close/>
                </a:path>
              </a:pathLst>
            </a:custGeom>
            <a:ln w="236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29771" y="2853354"/>
              <a:ext cx="462280" cy="462915"/>
            </a:xfrm>
            <a:custGeom>
              <a:avLst/>
              <a:gdLst/>
              <a:ahLst/>
              <a:cxnLst/>
              <a:rect l="l" t="t" r="r" b="b"/>
              <a:pathLst>
                <a:path w="462279" h="462914">
                  <a:moveTo>
                    <a:pt x="393374" y="0"/>
                  </a:moveTo>
                  <a:lnTo>
                    <a:pt x="69707" y="0"/>
                  </a:lnTo>
                  <a:lnTo>
                    <a:pt x="42408" y="5489"/>
                  </a:lnTo>
                  <a:lnTo>
                    <a:pt x="20269" y="20440"/>
                  </a:lnTo>
                  <a:lnTo>
                    <a:pt x="5422" y="42575"/>
                  </a:lnTo>
                  <a:lnTo>
                    <a:pt x="0" y="69616"/>
                  </a:lnTo>
                  <a:lnTo>
                    <a:pt x="0" y="393039"/>
                  </a:lnTo>
                  <a:lnTo>
                    <a:pt x="5422" y="419927"/>
                  </a:lnTo>
                  <a:lnTo>
                    <a:pt x="20269" y="442112"/>
                  </a:lnTo>
                  <a:lnTo>
                    <a:pt x="42408" y="457187"/>
                  </a:lnTo>
                  <a:lnTo>
                    <a:pt x="69707" y="462747"/>
                  </a:lnTo>
                  <a:lnTo>
                    <a:pt x="393374" y="462747"/>
                  </a:lnTo>
                  <a:lnTo>
                    <a:pt x="420179" y="457187"/>
                  </a:lnTo>
                  <a:lnTo>
                    <a:pt x="442032" y="442112"/>
                  </a:lnTo>
                  <a:lnTo>
                    <a:pt x="456747" y="419927"/>
                  </a:lnTo>
                  <a:lnTo>
                    <a:pt x="462137" y="393039"/>
                  </a:lnTo>
                  <a:lnTo>
                    <a:pt x="462137" y="69616"/>
                  </a:lnTo>
                  <a:lnTo>
                    <a:pt x="456747" y="42575"/>
                  </a:lnTo>
                  <a:lnTo>
                    <a:pt x="442032" y="20440"/>
                  </a:lnTo>
                  <a:lnTo>
                    <a:pt x="420179" y="5489"/>
                  </a:lnTo>
                  <a:lnTo>
                    <a:pt x="393374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29771" y="2853362"/>
              <a:ext cx="462280" cy="462915"/>
            </a:xfrm>
            <a:custGeom>
              <a:avLst/>
              <a:gdLst/>
              <a:ahLst/>
              <a:cxnLst/>
              <a:rect l="l" t="t" r="r" b="b"/>
              <a:pathLst>
                <a:path w="462279" h="462914">
                  <a:moveTo>
                    <a:pt x="462137" y="393008"/>
                  </a:moveTo>
                  <a:lnTo>
                    <a:pt x="456747" y="419914"/>
                  </a:lnTo>
                  <a:lnTo>
                    <a:pt x="442032" y="442107"/>
                  </a:lnTo>
                  <a:lnTo>
                    <a:pt x="420179" y="457186"/>
                  </a:lnTo>
                  <a:lnTo>
                    <a:pt x="393374" y="462746"/>
                  </a:lnTo>
                  <a:lnTo>
                    <a:pt x="69707" y="462746"/>
                  </a:lnTo>
                  <a:lnTo>
                    <a:pt x="42408" y="457186"/>
                  </a:lnTo>
                  <a:lnTo>
                    <a:pt x="20269" y="442107"/>
                  </a:lnTo>
                  <a:lnTo>
                    <a:pt x="5422" y="419914"/>
                  </a:lnTo>
                  <a:lnTo>
                    <a:pt x="0" y="393008"/>
                  </a:lnTo>
                  <a:lnTo>
                    <a:pt x="0" y="69585"/>
                  </a:lnTo>
                  <a:lnTo>
                    <a:pt x="5422" y="42562"/>
                  </a:lnTo>
                  <a:lnTo>
                    <a:pt x="20269" y="20436"/>
                  </a:lnTo>
                  <a:lnTo>
                    <a:pt x="42408" y="5489"/>
                  </a:lnTo>
                  <a:lnTo>
                    <a:pt x="69707" y="0"/>
                  </a:lnTo>
                  <a:lnTo>
                    <a:pt x="393374" y="0"/>
                  </a:lnTo>
                  <a:lnTo>
                    <a:pt x="420179" y="5489"/>
                  </a:lnTo>
                  <a:lnTo>
                    <a:pt x="442032" y="20436"/>
                  </a:lnTo>
                  <a:lnTo>
                    <a:pt x="456747" y="42562"/>
                  </a:lnTo>
                  <a:lnTo>
                    <a:pt x="462137" y="69585"/>
                  </a:lnTo>
                  <a:lnTo>
                    <a:pt x="462137" y="393008"/>
                  </a:lnTo>
                  <a:close/>
                </a:path>
              </a:pathLst>
            </a:custGeom>
            <a:ln w="11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675116" y="2874668"/>
            <a:ext cx="379095" cy="429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8270" marR="5080" indent="-116205">
              <a:lnSpc>
                <a:spcPct val="102200"/>
              </a:lnSpc>
              <a:spcBef>
                <a:spcPts val="90"/>
              </a:spcBef>
            </a:pPr>
            <a:r>
              <a:rPr sz="1300" b="1" spc="-20" dirty="0">
                <a:latin typeface="Times New Roman"/>
                <a:cs typeface="Times New Roman"/>
              </a:rPr>
              <a:t>Core </a:t>
            </a:r>
            <a:r>
              <a:rPr sz="1300" b="1" spc="-50" dirty="0">
                <a:latin typeface="Times New Roman"/>
                <a:cs typeface="Times New Roman"/>
              </a:rPr>
              <a:t>C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36754" y="2783264"/>
            <a:ext cx="602615" cy="603250"/>
            <a:chOff x="4836754" y="2783264"/>
            <a:chExt cx="602615" cy="603250"/>
          </a:xfrm>
        </p:grpSpPr>
        <p:sp>
          <p:nvSpPr>
            <p:cNvPr id="34" name="object 34"/>
            <p:cNvSpPr/>
            <p:nvPr/>
          </p:nvSpPr>
          <p:spPr>
            <a:xfrm>
              <a:off x="4848819" y="2795320"/>
              <a:ext cx="578485" cy="579120"/>
            </a:xfrm>
            <a:custGeom>
              <a:avLst/>
              <a:gdLst/>
              <a:ahLst/>
              <a:cxnLst/>
              <a:rect l="l" t="t" r="r" b="b"/>
              <a:pathLst>
                <a:path w="578485" h="579120">
                  <a:moveTo>
                    <a:pt x="491154" y="0"/>
                  </a:moveTo>
                  <a:lnTo>
                    <a:pt x="86928" y="0"/>
                  </a:lnTo>
                  <a:lnTo>
                    <a:pt x="53080" y="6824"/>
                  </a:lnTo>
                  <a:lnTo>
                    <a:pt x="25450" y="25424"/>
                  </a:lnTo>
                  <a:lnTo>
                    <a:pt x="6827" y="52990"/>
                  </a:lnTo>
                  <a:lnTo>
                    <a:pt x="0" y="86715"/>
                  </a:lnTo>
                  <a:lnTo>
                    <a:pt x="0" y="491764"/>
                  </a:lnTo>
                  <a:lnTo>
                    <a:pt x="6827" y="525612"/>
                  </a:lnTo>
                  <a:lnTo>
                    <a:pt x="25450" y="553242"/>
                  </a:lnTo>
                  <a:lnTo>
                    <a:pt x="53080" y="571865"/>
                  </a:lnTo>
                  <a:lnTo>
                    <a:pt x="86928" y="578693"/>
                  </a:lnTo>
                  <a:lnTo>
                    <a:pt x="491154" y="578693"/>
                  </a:lnTo>
                  <a:lnTo>
                    <a:pt x="524899" y="571865"/>
                  </a:lnTo>
                  <a:lnTo>
                    <a:pt x="552541" y="553242"/>
                  </a:lnTo>
                  <a:lnTo>
                    <a:pt x="571221" y="525612"/>
                  </a:lnTo>
                  <a:lnTo>
                    <a:pt x="578083" y="491764"/>
                  </a:lnTo>
                  <a:lnTo>
                    <a:pt x="578083" y="86715"/>
                  </a:lnTo>
                  <a:lnTo>
                    <a:pt x="571221" y="52990"/>
                  </a:lnTo>
                  <a:lnTo>
                    <a:pt x="552541" y="25424"/>
                  </a:lnTo>
                  <a:lnTo>
                    <a:pt x="524899" y="6824"/>
                  </a:lnTo>
                  <a:lnTo>
                    <a:pt x="491154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48819" y="2795329"/>
              <a:ext cx="578485" cy="579120"/>
            </a:xfrm>
            <a:custGeom>
              <a:avLst/>
              <a:gdLst/>
              <a:ahLst/>
              <a:cxnLst/>
              <a:rect l="l" t="t" r="r" b="b"/>
              <a:pathLst>
                <a:path w="578485" h="579120">
                  <a:moveTo>
                    <a:pt x="578083" y="491763"/>
                  </a:moveTo>
                  <a:lnTo>
                    <a:pt x="571221" y="525611"/>
                  </a:lnTo>
                  <a:lnTo>
                    <a:pt x="552541" y="553241"/>
                  </a:lnTo>
                  <a:lnTo>
                    <a:pt x="524899" y="571864"/>
                  </a:lnTo>
                  <a:lnTo>
                    <a:pt x="491154" y="578692"/>
                  </a:lnTo>
                  <a:lnTo>
                    <a:pt x="86928" y="578692"/>
                  </a:lnTo>
                  <a:lnTo>
                    <a:pt x="53068" y="571864"/>
                  </a:lnTo>
                  <a:lnTo>
                    <a:pt x="25439" y="553241"/>
                  </a:lnTo>
                  <a:lnTo>
                    <a:pt x="6823" y="525611"/>
                  </a:lnTo>
                  <a:lnTo>
                    <a:pt x="0" y="491763"/>
                  </a:lnTo>
                  <a:lnTo>
                    <a:pt x="0" y="86684"/>
                  </a:lnTo>
                  <a:lnTo>
                    <a:pt x="6823" y="52977"/>
                  </a:lnTo>
                  <a:lnTo>
                    <a:pt x="25439" y="25420"/>
                  </a:lnTo>
                  <a:lnTo>
                    <a:pt x="53068" y="6823"/>
                  </a:lnTo>
                  <a:lnTo>
                    <a:pt x="86928" y="0"/>
                  </a:lnTo>
                  <a:lnTo>
                    <a:pt x="491154" y="0"/>
                  </a:lnTo>
                  <a:lnTo>
                    <a:pt x="524899" y="6823"/>
                  </a:lnTo>
                  <a:lnTo>
                    <a:pt x="552541" y="25420"/>
                  </a:lnTo>
                  <a:lnTo>
                    <a:pt x="571221" y="52977"/>
                  </a:lnTo>
                  <a:lnTo>
                    <a:pt x="578083" y="86684"/>
                  </a:lnTo>
                  <a:lnTo>
                    <a:pt x="578083" y="491763"/>
                  </a:lnTo>
                  <a:close/>
                </a:path>
              </a:pathLst>
            </a:custGeom>
            <a:ln w="236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731" y="2853354"/>
              <a:ext cx="462280" cy="462915"/>
            </a:xfrm>
            <a:custGeom>
              <a:avLst/>
              <a:gdLst/>
              <a:ahLst/>
              <a:cxnLst/>
              <a:rect l="l" t="t" r="r" b="b"/>
              <a:pathLst>
                <a:path w="462279" h="462914">
                  <a:moveTo>
                    <a:pt x="393374" y="0"/>
                  </a:moveTo>
                  <a:lnTo>
                    <a:pt x="69738" y="0"/>
                  </a:lnTo>
                  <a:lnTo>
                    <a:pt x="42421" y="5489"/>
                  </a:lnTo>
                  <a:lnTo>
                    <a:pt x="20273" y="20440"/>
                  </a:lnTo>
                  <a:lnTo>
                    <a:pt x="5423" y="42575"/>
                  </a:lnTo>
                  <a:lnTo>
                    <a:pt x="0" y="69616"/>
                  </a:lnTo>
                  <a:lnTo>
                    <a:pt x="0" y="393039"/>
                  </a:lnTo>
                  <a:lnTo>
                    <a:pt x="5423" y="419927"/>
                  </a:lnTo>
                  <a:lnTo>
                    <a:pt x="20273" y="442112"/>
                  </a:lnTo>
                  <a:lnTo>
                    <a:pt x="42421" y="457187"/>
                  </a:lnTo>
                  <a:lnTo>
                    <a:pt x="69738" y="462747"/>
                  </a:lnTo>
                  <a:lnTo>
                    <a:pt x="393374" y="462747"/>
                  </a:lnTo>
                  <a:lnTo>
                    <a:pt x="420179" y="457187"/>
                  </a:lnTo>
                  <a:lnTo>
                    <a:pt x="442032" y="442112"/>
                  </a:lnTo>
                  <a:lnTo>
                    <a:pt x="456747" y="419927"/>
                  </a:lnTo>
                  <a:lnTo>
                    <a:pt x="462137" y="393039"/>
                  </a:lnTo>
                  <a:lnTo>
                    <a:pt x="462137" y="69616"/>
                  </a:lnTo>
                  <a:lnTo>
                    <a:pt x="456747" y="42575"/>
                  </a:lnTo>
                  <a:lnTo>
                    <a:pt x="442032" y="20440"/>
                  </a:lnTo>
                  <a:lnTo>
                    <a:pt x="420179" y="5489"/>
                  </a:lnTo>
                  <a:lnTo>
                    <a:pt x="393374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06731" y="2853362"/>
              <a:ext cx="462280" cy="462915"/>
            </a:xfrm>
            <a:custGeom>
              <a:avLst/>
              <a:gdLst/>
              <a:ahLst/>
              <a:cxnLst/>
              <a:rect l="l" t="t" r="r" b="b"/>
              <a:pathLst>
                <a:path w="462279" h="462914">
                  <a:moveTo>
                    <a:pt x="462137" y="393008"/>
                  </a:moveTo>
                  <a:lnTo>
                    <a:pt x="456742" y="419914"/>
                  </a:lnTo>
                  <a:lnTo>
                    <a:pt x="442020" y="442107"/>
                  </a:lnTo>
                  <a:lnTo>
                    <a:pt x="420166" y="457186"/>
                  </a:lnTo>
                  <a:lnTo>
                    <a:pt x="393374" y="462746"/>
                  </a:lnTo>
                  <a:lnTo>
                    <a:pt x="69707" y="462746"/>
                  </a:lnTo>
                  <a:lnTo>
                    <a:pt x="42408" y="457186"/>
                  </a:lnTo>
                  <a:lnTo>
                    <a:pt x="20269" y="442107"/>
                  </a:lnTo>
                  <a:lnTo>
                    <a:pt x="5422" y="419914"/>
                  </a:lnTo>
                  <a:lnTo>
                    <a:pt x="0" y="393008"/>
                  </a:lnTo>
                  <a:lnTo>
                    <a:pt x="0" y="69585"/>
                  </a:lnTo>
                  <a:lnTo>
                    <a:pt x="5422" y="42562"/>
                  </a:lnTo>
                  <a:lnTo>
                    <a:pt x="20269" y="20436"/>
                  </a:lnTo>
                  <a:lnTo>
                    <a:pt x="42408" y="5489"/>
                  </a:lnTo>
                  <a:lnTo>
                    <a:pt x="69707" y="0"/>
                  </a:lnTo>
                  <a:lnTo>
                    <a:pt x="393374" y="0"/>
                  </a:lnTo>
                  <a:lnTo>
                    <a:pt x="420166" y="5489"/>
                  </a:lnTo>
                  <a:lnTo>
                    <a:pt x="442020" y="20436"/>
                  </a:lnTo>
                  <a:lnTo>
                    <a:pt x="456742" y="42562"/>
                  </a:lnTo>
                  <a:lnTo>
                    <a:pt x="462137" y="69585"/>
                  </a:lnTo>
                  <a:lnTo>
                    <a:pt x="462137" y="393008"/>
                  </a:lnTo>
                  <a:close/>
                </a:path>
              </a:pathLst>
            </a:custGeom>
            <a:ln w="11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52076" y="2874668"/>
            <a:ext cx="378460" cy="429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8270" marR="5080" indent="-116205">
              <a:lnSpc>
                <a:spcPct val="102200"/>
              </a:lnSpc>
              <a:spcBef>
                <a:spcPts val="90"/>
              </a:spcBef>
            </a:pPr>
            <a:r>
              <a:rPr sz="1300" b="1" spc="-20" dirty="0">
                <a:latin typeface="Times New Roman"/>
                <a:cs typeface="Times New Roman"/>
              </a:rPr>
              <a:t>Core </a:t>
            </a:r>
            <a:r>
              <a:rPr sz="1300" b="1" spc="-5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14074" y="2752931"/>
            <a:ext cx="328295" cy="663575"/>
          </a:xfrm>
          <a:prstGeom prst="rect">
            <a:avLst/>
          </a:prstGeom>
          <a:solidFill>
            <a:srgbClr val="B8B8B8"/>
          </a:solidFill>
          <a:ln w="11657">
            <a:solidFill>
              <a:srgbClr val="000000"/>
            </a:solidFill>
          </a:ln>
        </p:spPr>
        <p:txBody>
          <a:bodyPr vert="vert270" wrap="square" lIns="0" tIns="5143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405"/>
              </a:spcBef>
            </a:pPr>
            <a:r>
              <a:rPr sz="1300" b="1" spc="-20" dirty="0">
                <a:latin typeface="Times New Roman"/>
                <a:cs typeface="Times New Roman"/>
              </a:rPr>
              <a:t>DRAM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800764" y="3492374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414944"/>
                </a:moveTo>
                <a:lnTo>
                  <a:pt x="0" y="414944"/>
                </a:lnTo>
                <a:lnTo>
                  <a:pt x="0" y="0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945483" y="3509473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0"/>
                </a:lnTo>
                <a:lnTo>
                  <a:pt x="0" y="414825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068793" y="3492374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414944"/>
                </a:moveTo>
                <a:lnTo>
                  <a:pt x="0" y="414944"/>
                </a:lnTo>
                <a:lnTo>
                  <a:pt x="0" y="0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213420" y="3509473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0"/>
                </a:moveTo>
                <a:lnTo>
                  <a:pt x="0" y="0"/>
                </a:lnTo>
                <a:lnTo>
                  <a:pt x="0" y="414825"/>
                </a:lnTo>
              </a:path>
            </a:pathLst>
          </a:custGeom>
          <a:ln w="36169">
            <a:solidFill>
              <a:srgbClr val="00A4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75"/>
          <p:cNvGrpSpPr/>
          <p:nvPr/>
        </p:nvGrpSpPr>
        <p:grpSpPr>
          <a:xfrm>
            <a:off x="2884907" y="1367150"/>
            <a:ext cx="3229610" cy="2178050"/>
            <a:chOff x="2884907" y="1367150"/>
            <a:chExt cx="3229610" cy="2178050"/>
          </a:xfrm>
        </p:grpSpPr>
        <p:sp>
          <p:nvSpPr>
            <p:cNvPr id="76" name="object 76"/>
            <p:cNvSpPr/>
            <p:nvPr/>
          </p:nvSpPr>
          <p:spPr>
            <a:xfrm>
              <a:off x="3012298" y="1822653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5">
                  <a:moveTo>
                    <a:pt x="0" y="0"/>
                  </a:moveTo>
                  <a:lnTo>
                    <a:pt x="0" y="0"/>
                  </a:lnTo>
                  <a:lnTo>
                    <a:pt x="432154" y="0"/>
                  </a:lnTo>
                </a:path>
              </a:pathLst>
            </a:custGeom>
            <a:ln w="36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884906" y="1748611"/>
              <a:ext cx="687705" cy="147320"/>
            </a:xfrm>
            <a:custGeom>
              <a:avLst/>
              <a:gdLst/>
              <a:ahLst/>
              <a:cxnLst/>
              <a:rect l="l" t="t" r="r" b="b"/>
              <a:pathLst>
                <a:path w="687704" h="147319">
                  <a:moveTo>
                    <a:pt x="180009" y="0"/>
                  </a:moveTo>
                  <a:lnTo>
                    <a:pt x="0" y="74041"/>
                  </a:lnTo>
                  <a:lnTo>
                    <a:pt x="180009" y="147243"/>
                  </a:lnTo>
                  <a:lnTo>
                    <a:pt x="137261" y="74041"/>
                  </a:lnTo>
                  <a:lnTo>
                    <a:pt x="180009" y="0"/>
                  </a:lnTo>
                  <a:close/>
                </a:path>
                <a:path w="687704" h="147319">
                  <a:moveTo>
                    <a:pt x="687197" y="74041"/>
                  </a:moveTo>
                  <a:lnTo>
                    <a:pt x="507301" y="0"/>
                  </a:lnTo>
                  <a:lnTo>
                    <a:pt x="549668" y="74041"/>
                  </a:lnTo>
                  <a:lnTo>
                    <a:pt x="507301" y="147243"/>
                  </a:lnTo>
                  <a:lnTo>
                    <a:pt x="687197" y="74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555132" y="1822653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>
                  <a:moveTo>
                    <a:pt x="0" y="0"/>
                  </a:moveTo>
                  <a:lnTo>
                    <a:pt x="0" y="0"/>
                  </a:lnTo>
                  <a:lnTo>
                    <a:pt x="431322" y="0"/>
                  </a:lnTo>
                </a:path>
              </a:pathLst>
            </a:custGeom>
            <a:ln w="36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426900" y="1748611"/>
              <a:ext cx="687705" cy="147320"/>
            </a:xfrm>
            <a:custGeom>
              <a:avLst/>
              <a:gdLst/>
              <a:ahLst/>
              <a:cxnLst/>
              <a:rect l="l" t="t" r="r" b="b"/>
              <a:pathLst>
                <a:path w="687704" h="147319">
                  <a:moveTo>
                    <a:pt x="179895" y="0"/>
                  </a:moveTo>
                  <a:lnTo>
                    <a:pt x="0" y="74041"/>
                  </a:lnTo>
                  <a:lnTo>
                    <a:pt x="179895" y="147243"/>
                  </a:lnTo>
                  <a:lnTo>
                    <a:pt x="137160" y="74041"/>
                  </a:lnTo>
                  <a:lnTo>
                    <a:pt x="179895" y="0"/>
                  </a:lnTo>
                  <a:close/>
                </a:path>
                <a:path w="687704" h="147319">
                  <a:moveTo>
                    <a:pt x="687197" y="74041"/>
                  </a:moveTo>
                  <a:lnTo>
                    <a:pt x="507301" y="0"/>
                  </a:lnTo>
                  <a:lnTo>
                    <a:pt x="550646" y="74041"/>
                  </a:lnTo>
                  <a:lnTo>
                    <a:pt x="507301" y="147243"/>
                  </a:lnTo>
                  <a:lnTo>
                    <a:pt x="687197" y="74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555132" y="3084675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>
                  <a:moveTo>
                    <a:pt x="0" y="0"/>
                  </a:moveTo>
                  <a:lnTo>
                    <a:pt x="0" y="0"/>
                  </a:lnTo>
                  <a:lnTo>
                    <a:pt x="431322" y="0"/>
                  </a:lnTo>
                </a:path>
              </a:pathLst>
            </a:custGeom>
            <a:ln w="36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426900" y="3011461"/>
              <a:ext cx="687705" cy="147955"/>
            </a:xfrm>
            <a:custGeom>
              <a:avLst/>
              <a:gdLst/>
              <a:ahLst/>
              <a:cxnLst/>
              <a:rect l="l" t="t" r="r" b="b"/>
              <a:pathLst>
                <a:path w="687704" h="147955">
                  <a:moveTo>
                    <a:pt x="179895" y="0"/>
                  </a:moveTo>
                  <a:lnTo>
                    <a:pt x="0" y="73215"/>
                  </a:lnTo>
                  <a:lnTo>
                    <a:pt x="179895" y="147396"/>
                  </a:lnTo>
                  <a:lnTo>
                    <a:pt x="137160" y="73215"/>
                  </a:lnTo>
                  <a:lnTo>
                    <a:pt x="179895" y="0"/>
                  </a:lnTo>
                  <a:close/>
                </a:path>
                <a:path w="687704" h="147955">
                  <a:moveTo>
                    <a:pt x="687197" y="73215"/>
                  </a:moveTo>
                  <a:lnTo>
                    <a:pt x="507301" y="0"/>
                  </a:lnTo>
                  <a:lnTo>
                    <a:pt x="550646" y="73215"/>
                  </a:lnTo>
                  <a:lnTo>
                    <a:pt x="507301" y="147396"/>
                  </a:lnTo>
                  <a:lnTo>
                    <a:pt x="687197" y="732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012298" y="3084675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5">
                  <a:moveTo>
                    <a:pt x="0" y="0"/>
                  </a:moveTo>
                  <a:lnTo>
                    <a:pt x="0" y="0"/>
                  </a:lnTo>
                  <a:lnTo>
                    <a:pt x="432154" y="0"/>
                  </a:lnTo>
                </a:path>
              </a:pathLst>
            </a:custGeom>
            <a:ln w="36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884906" y="3011461"/>
              <a:ext cx="687705" cy="147955"/>
            </a:xfrm>
            <a:custGeom>
              <a:avLst/>
              <a:gdLst/>
              <a:ahLst/>
              <a:cxnLst/>
              <a:rect l="l" t="t" r="r" b="b"/>
              <a:pathLst>
                <a:path w="687704" h="147955">
                  <a:moveTo>
                    <a:pt x="180009" y="0"/>
                  </a:moveTo>
                  <a:lnTo>
                    <a:pt x="0" y="73215"/>
                  </a:lnTo>
                  <a:lnTo>
                    <a:pt x="180009" y="147396"/>
                  </a:lnTo>
                  <a:lnTo>
                    <a:pt x="137261" y="73215"/>
                  </a:lnTo>
                  <a:lnTo>
                    <a:pt x="180009" y="0"/>
                  </a:lnTo>
                  <a:close/>
                </a:path>
                <a:path w="687704" h="147955">
                  <a:moveTo>
                    <a:pt x="687197" y="73215"/>
                  </a:moveTo>
                  <a:lnTo>
                    <a:pt x="507301" y="0"/>
                  </a:lnTo>
                  <a:lnTo>
                    <a:pt x="549668" y="73215"/>
                  </a:lnTo>
                  <a:lnTo>
                    <a:pt x="507301" y="147396"/>
                  </a:lnTo>
                  <a:lnTo>
                    <a:pt x="687197" y="732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294540" y="3026763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89">
                  <a:moveTo>
                    <a:pt x="0" y="0"/>
                  </a:moveTo>
                  <a:lnTo>
                    <a:pt x="0" y="0"/>
                  </a:lnTo>
                  <a:lnTo>
                    <a:pt x="414954" y="0"/>
                  </a:lnTo>
                </a:path>
              </a:pathLst>
            </a:custGeom>
            <a:ln w="36169">
              <a:solidFill>
                <a:srgbClr val="00A4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657222" y="2953420"/>
              <a:ext cx="180340" cy="147955"/>
            </a:xfrm>
            <a:custGeom>
              <a:avLst/>
              <a:gdLst/>
              <a:ahLst/>
              <a:cxnLst/>
              <a:rect l="l" t="t" r="r" b="b"/>
              <a:pathLst>
                <a:path w="180339" h="147955">
                  <a:moveTo>
                    <a:pt x="0" y="0"/>
                  </a:moveTo>
                  <a:lnTo>
                    <a:pt x="43373" y="73334"/>
                  </a:lnTo>
                  <a:lnTo>
                    <a:pt x="0" y="147370"/>
                  </a:lnTo>
                  <a:lnTo>
                    <a:pt x="179923" y="73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4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277227" y="3171359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89">
                  <a:moveTo>
                    <a:pt x="415289" y="0"/>
                  </a:moveTo>
                  <a:lnTo>
                    <a:pt x="415289" y="0"/>
                  </a:lnTo>
                  <a:lnTo>
                    <a:pt x="0" y="0"/>
                  </a:lnTo>
                </a:path>
              </a:pathLst>
            </a:custGeom>
            <a:ln w="36169">
              <a:solidFill>
                <a:srgbClr val="00A4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149943" y="3098170"/>
              <a:ext cx="180340" cy="147955"/>
            </a:xfrm>
            <a:custGeom>
              <a:avLst/>
              <a:gdLst/>
              <a:ahLst/>
              <a:cxnLst/>
              <a:rect l="l" t="t" r="r" b="b"/>
              <a:pathLst>
                <a:path w="180339" h="147955">
                  <a:moveTo>
                    <a:pt x="179892" y="0"/>
                  </a:moveTo>
                  <a:lnTo>
                    <a:pt x="0" y="73212"/>
                  </a:lnTo>
                  <a:lnTo>
                    <a:pt x="179892" y="147370"/>
                  </a:lnTo>
                  <a:lnTo>
                    <a:pt x="137525" y="73212"/>
                  </a:lnTo>
                  <a:lnTo>
                    <a:pt x="179892" y="0"/>
                  </a:lnTo>
                  <a:close/>
                </a:path>
              </a:pathLst>
            </a:custGeom>
            <a:solidFill>
              <a:srgbClr val="00A4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103949" y="2050481"/>
              <a:ext cx="733425" cy="744855"/>
            </a:xfrm>
            <a:custGeom>
              <a:avLst/>
              <a:gdLst/>
              <a:ahLst/>
              <a:cxnLst/>
              <a:rect l="l" t="t" r="r" b="b"/>
              <a:pathLst>
                <a:path w="733425" h="744855">
                  <a:moveTo>
                    <a:pt x="733196" y="0"/>
                  </a:moveTo>
                  <a:lnTo>
                    <a:pt x="0" y="744839"/>
                  </a:lnTo>
                  <a:lnTo>
                    <a:pt x="7331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103949" y="2141869"/>
              <a:ext cx="643890" cy="654050"/>
            </a:xfrm>
            <a:custGeom>
              <a:avLst/>
              <a:gdLst/>
              <a:ahLst/>
              <a:cxnLst/>
              <a:rect l="l" t="t" r="r" b="b"/>
              <a:pathLst>
                <a:path w="643889" h="654050">
                  <a:moveTo>
                    <a:pt x="0" y="653459"/>
                  </a:moveTo>
                  <a:lnTo>
                    <a:pt x="0" y="653459"/>
                  </a:lnTo>
                  <a:lnTo>
                    <a:pt x="643829" y="0"/>
                  </a:lnTo>
                </a:path>
              </a:pathLst>
            </a:custGeom>
            <a:ln w="36169">
              <a:solidFill>
                <a:srgbClr val="00A4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659050" y="2050481"/>
              <a:ext cx="178435" cy="180340"/>
            </a:xfrm>
            <a:custGeom>
              <a:avLst/>
              <a:gdLst/>
              <a:ahLst/>
              <a:cxnLst/>
              <a:rect l="l" t="t" r="r" b="b"/>
              <a:pathLst>
                <a:path w="178435" h="180339">
                  <a:moveTo>
                    <a:pt x="178094" y="0"/>
                  </a:moveTo>
                  <a:lnTo>
                    <a:pt x="0" y="76809"/>
                  </a:lnTo>
                  <a:lnTo>
                    <a:pt x="82113" y="97749"/>
                  </a:lnTo>
                  <a:lnTo>
                    <a:pt x="103906" y="179892"/>
                  </a:lnTo>
                  <a:lnTo>
                    <a:pt x="178094" y="0"/>
                  </a:lnTo>
                  <a:close/>
                </a:path>
              </a:pathLst>
            </a:custGeom>
            <a:solidFill>
              <a:srgbClr val="00A4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161617" y="2181728"/>
              <a:ext cx="753745" cy="719455"/>
            </a:xfrm>
            <a:custGeom>
              <a:avLst/>
              <a:gdLst/>
              <a:ahLst/>
              <a:cxnLst/>
              <a:rect l="l" t="t" r="r" b="b"/>
              <a:pathLst>
                <a:path w="753745" h="719455">
                  <a:moveTo>
                    <a:pt x="753313" y="0"/>
                  </a:moveTo>
                  <a:lnTo>
                    <a:pt x="0" y="719449"/>
                  </a:lnTo>
                  <a:lnTo>
                    <a:pt x="7533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253971" y="2181706"/>
              <a:ext cx="661035" cy="632460"/>
            </a:xfrm>
            <a:custGeom>
              <a:avLst/>
              <a:gdLst/>
              <a:ahLst/>
              <a:cxnLst/>
              <a:rect l="l" t="t" r="r" b="b"/>
              <a:pathLst>
                <a:path w="661035" h="632460">
                  <a:moveTo>
                    <a:pt x="660928" y="0"/>
                  </a:moveTo>
                  <a:lnTo>
                    <a:pt x="660928" y="0"/>
                  </a:lnTo>
                  <a:lnTo>
                    <a:pt x="0" y="631910"/>
                  </a:lnTo>
                </a:path>
              </a:pathLst>
            </a:custGeom>
            <a:ln w="36169">
              <a:solidFill>
                <a:srgbClr val="00A4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161617" y="2723936"/>
              <a:ext cx="180975" cy="177800"/>
            </a:xfrm>
            <a:custGeom>
              <a:avLst/>
              <a:gdLst/>
              <a:ahLst/>
              <a:cxnLst/>
              <a:rect l="l" t="t" r="r" b="b"/>
              <a:pathLst>
                <a:path w="180975" h="177800">
                  <a:moveTo>
                    <a:pt x="79491" y="0"/>
                  </a:moveTo>
                  <a:lnTo>
                    <a:pt x="0" y="177241"/>
                  </a:lnTo>
                  <a:lnTo>
                    <a:pt x="180868" y="105826"/>
                  </a:lnTo>
                  <a:lnTo>
                    <a:pt x="99486" y="82113"/>
                  </a:lnTo>
                  <a:lnTo>
                    <a:pt x="79491" y="0"/>
                  </a:lnTo>
                  <a:close/>
                </a:path>
              </a:pathLst>
            </a:custGeom>
            <a:solidFill>
              <a:srgbClr val="00A4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172346" y="2031553"/>
              <a:ext cx="734060" cy="746125"/>
            </a:xfrm>
            <a:custGeom>
              <a:avLst/>
              <a:gdLst/>
              <a:ahLst/>
              <a:cxnLst/>
              <a:rect l="l" t="t" r="r" b="b"/>
              <a:pathLst>
                <a:path w="734060" h="746125">
                  <a:moveTo>
                    <a:pt x="0" y="0"/>
                  </a:moveTo>
                  <a:lnTo>
                    <a:pt x="733531" y="7458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262048" y="2122850"/>
              <a:ext cx="643890" cy="654685"/>
            </a:xfrm>
            <a:custGeom>
              <a:avLst/>
              <a:gdLst/>
              <a:ahLst/>
              <a:cxnLst/>
              <a:rect l="l" t="t" r="r" b="b"/>
              <a:pathLst>
                <a:path w="643889" h="654685">
                  <a:moveTo>
                    <a:pt x="643829" y="654526"/>
                  </a:moveTo>
                  <a:lnTo>
                    <a:pt x="643829" y="654526"/>
                  </a:lnTo>
                  <a:lnTo>
                    <a:pt x="0" y="0"/>
                  </a:lnTo>
                </a:path>
              </a:pathLst>
            </a:custGeom>
            <a:ln w="36169">
              <a:solidFill>
                <a:srgbClr val="00A4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172346" y="2031553"/>
              <a:ext cx="179070" cy="179705"/>
            </a:xfrm>
            <a:custGeom>
              <a:avLst/>
              <a:gdLst/>
              <a:ahLst/>
              <a:cxnLst/>
              <a:rect l="l" t="t" r="r" b="b"/>
              <a:pathLst>
                <a:path w="179070" h="179705">
                  <a:moveTo>
                    <a:pt x="0" y="0"/>
                  </a:moveTo>
                  <a:lnTo>
                    <a:pt x="74401" y="179649"/>
                  </a:lnTo>
                  <a:lnTo>
                    <a:pt x="95981" y="98389"/>
                  </a:lnTo>
                  <a:lnTo>
                    <a:pt x="179069" y="76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4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103949" y="2171486"/>
              <a:ext cx="744220" cy="710565"/>
            </a:xfrm>
            <a:custGeom>
              <a:avLst/>
              <a:gdLst/>
              <a:ahLst/>
              <a:cxnLst/>
              <a:rect l="l" t="t" r="r" b="b"/>
              <a:pathLst>
                <a:path w="744220" h="710564">
                  <a:moveTo>
                    <a:pt x="0" y="0"/>
                  </a:moveTo>
                  <a:lnTo>
                    <a:pt x="743894" y="7105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103949" y="2171496"/>
              <a:ext cx="652145" cy="623570"/>
            </a:xfrm>
            <a:custGeom>
              <a:avLst/>
              <a:gdLst/>
              <a:ahLst/>
              <a:cxnLst/>
              <a:rect l="l" t="t" r="r" b="b"/>
              <a:pathLst>
                <a:path w="652145" h="623569">
                  <a:moveTo>
                    <a:pt x="0" y="0"/>
                  </a:moveTo>
                  <a:lnTo>
                    <a:pt x="0" y="0"/>
                  </a:lnTo>
                  <a:lnTo>
                    <a:pt x="651906" y="622979"/>
                  </a:lnTo>
                </a:path>
              </a:pathLst>
            </a:custGeom>
            <a:ln w="36169">
              <a:solidFill>
                <a:srgbClr val="00A4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727551" y="1367154"/>
              <a:ext cx="1559560" cy="2178050"/>
            </a:xfrm>
            <a:custGeom>
              <a:avLst/>
              <a:gdLst/>
              <a:ahLst/>
              <a:cxnLst/>
              <a:rect l="l" t="t" r="r" b="b"/>
              <a:pathLst>
                <a:path w="1559560" h="2178050">
                  <a:moveTo>
                    <a:pt x="146545" y="2177618"/>
                  </a:moveTo>
                  <a:lnTo>
                    <a:pt x="73202" y="1997595"/>
                  </a:lnTo>
                  <a:lnTo>
                    <a:pt x="0" y="2177618"/>
                  </a:lnTo>
                  <a:lnTo>
                    <a:pt x="73202" y="2135124"/>
                  </a:lnTo>
                  <a:lnTo>
                    <a:pt x="146545" y="2177618"/>
                  </a:lnTo>
                  <a:close/>
                </a:path>
                <a:path w="1559560" h="2178050">
                  <a:moveTo>
                    <a:pt x="146545" y="927506"/>
                  </a:moveTo>
                  <a:lnTo>
                    <a:pt x="73202" y="747610"/>
                  </a:lnTo>
                  <a:lnTo>
                    <a:pt x="0" y="927506"/>
                  </a:lnTo>
                  <a:lnTo>
                    <a:pt x="73202" y="885139"/>
                  </a:lnTo>
                  <a:lnTo>
                    <a:pt x="146545" y="927506"/>
                  </a:lnTo>
                  <a:close/>
                </a:path>
                <a:path w="1559560" h="2178050">
                  <a:moveTo>
                    <a:pt x="291134" y="1254556"/>
                  </a:moveTo>
                  <a:lnTo>
                    <a:pt x="217932" y="1298143"/>
                  </a:lnTo>
                  <a:lnTo>
                    <a:pt x="144716" y="1254556"/>
                  </a:lnTo>
                  <a:lnTo>
                    <a:pt x="217932" y="1434452"/>
                  </a:lnTo>
                  <a:lnTo>
                    <a:pt x="291134" y="1254556"/>
                  </a:lnTo>
                  <a:close/>
                </a:path>
                <a:path w="1559560" h="2178050">
                  <a:moveTo>
                    <a:pt x="291134" y="0"/>
                  </a:moveTo>
                  <a:lnTo>
                    <a:pt x="217932" y="42367"/>
                  </a:lnTo>
                  <a:lnTo>
                    <a:pt x="144716" y="0"/>
                  </a:lnTo>
                  <a:lnTo>
                    <a:pt x="217932" y="179857"/>
                  </a:lnTo>
                  <a:lnTo>
                    <a:pt x="291134" y="0"/>
                  </a:lnTo>
                  <a:close/>
                </a:path>
                <a:path w="1559560" h="2178050">
                  <a:moveTo>
                    <a:pt x="1120292" y="1514881"/>
                  </a:moveTo>
                  <a:lnTo>
                    <a:pt x="1041806" y="1337856"/>
                  </a:lnTo>
                  <a:lnTo>
                    <a:pt x="1022045" y="1420126"/>
                  </a:lnTo>
                  <a:lnTo>
                    <a:pt x="939571" y="1444688"/>
                  </a:lnTo>
                  <a:lnTo>
                    <a:pt x="1120292" y="1514881"/>
                  </a:lnTo>
                  <a:close/>
                </a:path>
                <a:path w="1559560" h="2178050">
                  <a:moveTo>
                    <a:pt x="1411465" y="927506"/>
                  </a:moveTo>
                  <a:lnTo>
                    <a:pt x="1338249" y="747610"/>
                  </a:lnTo>
                  <a:lnTo>
                    <a:pt x="1264183" y="927506"/>
                  </a:lnTo>
                  <a:lnTo>
                    <a:pt x="1338249" y="885139"/>
                  </a:lnTo>
                  <a:lnTo>
                    <a:pt x="1411465" y="927506"/>
                  </a:lnTo>
                  <a:close/>
                </a:path>
                <a:path w="1559560" h="2178050">
                  <a:moveTo>
                    <a:pt x="1414449" y="2177618"/>
                  </a:moveTo>
                  <a:lnTo>
                    <a:pt x="1341272" y="1997595"/>
                  </a:lnTo>
                  <a:lnTo>
                    <a:pt x="1266837" y="2177618"/>
                  </a:lnTo>
                  <a:lnTo>
                    <a:pt x="1341272" y="2135124"/>
                  </a:lnTo>
                  <a:lnTo>
                    <a:pt x="1414449" y="2177618"/>
                  </a:lnTo>
                  <a:close/>
                </a:path>
                <a:path w="1559560" h="2178050">
                  <a:moveTo>
                    <a:pt x="1556423" y="1254556"/>
                  </a:moveTo>
                  <a:lnTo>
                    <a:pt x="1482966" y="1298143"/>
                  </a:lnTo>
                  <a:lnTo>
                    <a:pt x="1408811" y="1254556"/>
                  </a:lnTo>
                  <a:lnTo>
                    <a:pt x="1482966" y="1434452"/>
                  </a:lnTo>
                  <a:lnTo>
                    <a:pt x="1556423" y="1254556"/>
                  </a:lnTo>
                  <a:close/>
                </a:path>
                <a:path w="1559560" h="2178050">
                  <a:moveTo>
                    <a:pt x="1559204" y="0"/>
                  </a:moveTo>
                  <a:lnTo>
                    <a:pt x="1485861" y="42367"/>
                  </a:lnTo>
                  <a:lnTo>
                    <a:pt x="1411465" y="0"/>
                  </a:lnTo>
                  <a:lnTo>
                    <a:pt x="1485861" y="179857"/>
                  </a:lnTo>
                  <a:lnTo>
                    <a:pt x="1559204" y="0"/>
                  </a:lnTo>
                  <a:close/>
                </a:path>
              </a:pathLst>
            </a:custGeom>
            <a:solidFill>
              <a:srgbClr val="00A4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2556421" y="3943444"/>
            <a:ext cx="328930" cy="824865"/>
          </a:xfrm>
          <a:prstGeom prst="rect">
            <a:avLst/>
          </a:prstGeom>
          <a:solidFill>
            <a:srgbClr val="B8B8B8"/>
          </a:solidFill>
          <a:ln w="12554">
            <a:solidFill>
              <a:srgbClr val="000000"/>
            </a:solidFill>
          </a:ln>
        </p:spPr>
        <p:txBody>
          <a:bodyPr vert="vert270" wrap="square" lIns="0" tIns="5143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405"/>
              </a:spcBef>
            </a:pPr>
            <a:r>
              <a:rPr sz="1300" b="1" dirty="0">
                <a:latin typeface="Times New Roman"/>
                <a:cs typeface="Times New Roman"/>
              </a:rPr>
              <a:t>I/O</a:t>
            </a:r>
            <a:r>
              <a:rPr sz="1300" b="1" spc="3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device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872268" y="3872052"/>
            <a:ext cx="1414780" cy="180340"/>
          </a:xfrm>
          <a:custGeom>
            <a:avLst/>
            <a:gdLst/>
            <a:ahLst/>
            <a:cxnLst/>
            <a:rect l="l" t="t" r="r" b="b"/>
            <a:pathLst>
              <a:path w="1414779" h="180339">
                <a:moveTo>
                  <a:pt x="146418" y="0"/>
                </a:moveTo>
                <a:lnTo>
                  <a:pt x="73215" y="42379"/>
                </a:lnTo>
                <a:lnTo>
                  <a:pt x="0" y="0"/>
                </a:lnTo>
                <a:lnTo>
                  <a:pt x="73215" y="179882"/>
                </a:lnTo>
                <a:lnTo>
                  <a:pt x="146418" y="0"/>
                </a:lnTo>
                <a:close/>
              </a:path>
              <a:path w="1414779" h="180339">
                <a:moveTo>
                  <a:pt x="1414487" y="0"/>
                </a:moveTo>
                <a:lnTo>
                  <a:pt x="1341145" y="42379"/>
                </a:lnTo>
                <a:lnTo>
                  <a:pt x="1266748" y="0"/>
                </a:lnTo>
                <a:lnTo>
                  <a:pt x="1341145" y="179882"/>
                </a:lnTo>
                <a:lnTo>
                  <a:pt x="1414487" y="0"/>
                </a:lnTo>
                <a:close/>
              </a:path>
            </a:pathLst>
          </a:custGeom>
          <a:solidFill>
            <a:srgbClr val="00A45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3560038" y="4055158"/>
            <a:ext cx="1859914" cy="602615"/>
            <a:chOff x="3560038" y="4055158"/>
            <a:chExt cx="1859914" cy="602615"/>
          </a:xfrm>
        </p:grpSpPr>
        <p:sp>
          <p:nvSpPr>
            <p:cNvPr id="16" name="object 16"/>
            <p:cNvSpPr/>
            <p:nvPr/>
          </p:nvSpPr>
          <p:spPr>
            <a:xfrm>
              <a:off x="3572103" y="4067223"/>
              <a:ext cx="1835785" cy="578485"/>
            </a:xfrm>
            <a:custGeom>
              <a:avLst/>
              <a:gdLst/>
              <a:ahLst/>
              <a:cxnLst/>
              <a:rect l="l" t="t" r="r" b="b"/>
              <a:pathLst>
                <a:path w="1835785" h="578485">
                  <a:moveTo>
                    <a:pt x="1748972" y="0"/>
                  </a:moveTo>
                  <a:lnTo>
                    <a:pt x="86685" y="0"/>
                  </a:lnTo>
                  <a:lnTo>
                    <a:pt x="52978" y="6824"/>
                  </a:lnTo>
                  <a:lnTo>
                    <a:pt x="25420" y="25423"/>
                  </a:lnTo>
                  <a:lnTo>
                    <a:pt x="6823" y="52985"/>
                  </a:lnTo>
                  <a:lnTo>
                    <a:pt x="0" y="86700"/>
                  </a:lnTo>
                  <a:lnTo>
                    <a:pt x="0" y="490798"/>
                  </a:lnTo>
                  <a:lnTo>
                    <a:pt x="6823" y="524719"/>
                  </a:lnTo>
                  <a:lnTo>
                    <a:pt x="25420" y="552388"/>
                  </a:lnTo>
                  <a:lnTo>
                    <a:pt x="52978" y="571027"/>
                  </a:lnTo>
                  <a:lnTo>
                    <a:pt x="86685" y="577858"/>
                  </a:lnTo>
                  <a:lnTo>
                    <a:pt x="1748972" y="577858"/>
                  </a:lnTo>
                  <a:lnTo>
                    <a:pt x="1782679" y="571027"/>
                  </a:lnTo>
                  <a:lnTo>
                    <a:pt x="1810237" y="552388"/>
                  </a:lnTo>
                  <a:lnTo>
                    <a:pt x="1828834" y="524719"/>
                  </a:lnTo>
                  <a:lnTo>
                    <a:pt x="1835657" y="490798"/>
                  </a:lnTo>
                  <a:lnTo>
                    <a:pt x="1835657" y="86700"/>
                  </a:lnTo>
                  <a:lnTo>
                    <a:pt x="1828834" y="52985"/>
                  </a:lnTo>
                  <a:lnTo>
                    <a:pt x="1810237" y="25423"/>
                  </a:lnTo>
                  <a:lnTo>
                    <a:pt x="1782679" y="6824"/>
                  </a:lnTo>
                  <a:lnTo>
                    <a:pt x="1748972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72103" y="4067223"/>
              <a:ext cx="1835785" cy="578485"/>
            </a:xfrm>
            <a:custGeom>
              <a:avLst/>
              <a:gdLst/>
              <a:ahLst/>
              <a:cxnLst/>
              <a:rect l="l" t="t" r="r" b="b"/>
              <a:pathLst>
                <a:path w="1835785" h="578485">
                  <a:moveTo>
                    <a:pt x="1835657" y="490797"/>
                  </a:moveTo>
                  <a:lnTo>
                    <a:pt x="1828833" y="524718"/>
                  </a:lnTo>
                  <a:lnTo>
                    <a:pt x="1810233" y="552387"/>
                  </a:lnTo>
                  <a:lnTo>
                    <a:pt x="1782667" y="571026"/>
                  </a:lnTo>
                  <a:lnTo>
                    <a:pt x="1748942" y="577856"/>
                  </a:lnTo>
                  <a:lnTo>
                    <a:pt x="86685" y="577856"/>
                  </a:lnTo>
                  <a:lnTo>
                    <a:pt x="52965" y="571026"/>
                  </a:lnTo>
                  <a:lnTo>
                    <a:pt x="25408" y="552387"/>
                  </a:lnTo>
                  <a:lnTo>
                    <a:pt x="6819" y="524718"/>
                  </a:lnTo>
                  <a:lnTo>
                    <a:pt x="0" y="490797"/>
                  </a:lnTo>
                  <a:lnTo>
                    <a:pt x="0" y="86700"/>
                  </a:lnTo>
                  <a:lnTo>
                    <a:pt x="6819" y="52985"/>
                  </a:lnTo>
                  <a:lnTo>
                    <a:pt x="25408" y="25423"/>
                  </a:lnTo>
                  <a:lnTo>
                    <a:pt x="52965" y="6824"/>
                  </a:lnTo>
                  <a:lnTo>
                    <a:pt x="86685" y="0"/>
                  </a:lnTo>
                  <a:lnTo>
                    <a:pt x="1748942" y="0"/>
                  </a:lnTo>
                  <a:lnTo>
                    <a:pt x="1782667" y="6824"/>
                  </a:lnTo>
                  <a:lnTo>
                    <a:pt x="1810233" y="25423"/>
                  </a:lnTo>
                  <a:lnTo>
                    <a:pt x="1828833" y="52985"/>
                  </a:lnTo>
                  <a:lnTo>
                    <a:pt x="1835657" y="86700"/>
                  </a:lnTo>
                  <a:lnTo>
                    <a:pt x="1835657" y="490797"/>
                  </a:lnTo>
                  <a:close/>
                </a:path>
              </a:pathLst>
            </a:custGeom>
            <a:ln w="236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29771" y="4125266"/>
              <a:ext cx="1720214" cy="462280"/>
            </a:xfrm>
            <a:custGeom>
              <a:avLst/>
              <a:gdLst/>
              <a:ahLst/>
              <a:cxnLst/>
              <a:rect l="l" t="t" r="r" b="b"/>
              <a:pathLst>
                <a:path w="1720214" h="462279">
                  <a:moveTo>
                    <a:pt x="1650339" y="0"/>
                  </a:moveTo>
                  <a:lnTo>
                    <a:pt x="69707" y="0"/>
                  </a:lnTo>
                  <a:lnTo>
                    <a:pt x="42408" y="5370"/>
                  </a:lnTo>
                  <a:lnTo>
                    <a:pt x="20269" y="20119"/>
                  </a:lnTo>
                  <a:lnTo>
                    <a:pt x="5422" y="42207"/>
                  </a:lnTo>
                  <a:lnTo>
                    <a:pt x="0" y="69591"/>
                  </a:lnTo>
                  <a:lnTo>
                    <a:pt x="0" y="392180"/>
                  </a:lnTo>
                  <a:lnTo>
                    <a:pt x="5422" y="419407"/>
                  </a:lnTo>
                  <a:lnTo>
                    <a:pt x="20269" y="441512"/>
                  </a:lnTo>
                  <a:lnTo>
                    <a:pt x="42408" y="456349"/>
                  </a:lnTo>
                  <a:lnTo>
                    <a:pt x="69707" y="461771"/>
                  </a:lnTo>
                  <a:lnTo>
                    <a:pt x="1650339" y="461771"/>
                  </a:lnTo>
                  <a:lnTo>
                    <a:pt x="1677727" y="456349"/>
                  </a:lnTo>
                  <a:lnTo>
                    <a:pt x="1699823" y="441512"/>
                  </a:lnTo>
                  <a:lnTo>
                    <a:pt x="1714581" y="419407"/>
                  </a:lnTo>
                  <a:lnTo>
                    <a:pt x="1719955" y="392180"/>
                  </a:lnTo>
                  <a:lnTo>
                    <a:pt x="1719955" y="69591"/>
                  </a:lnTo>
                  <a:lnTo>
                    <a:pt x="1714581" y="42207"/>
                  </a:lnTo>
                  <a:lnTo>
                    <a:pt x="1699823" y="20119"/>
                  </a:lnTo>
                  <a:lnTo>
                    <a:pt x="1677727" y="5370"/>
                  </a:lnTo>
                  <a:lnTo>
                    <a:pt x="1650339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29771" y="4125266"/>
              <a:ext cx="1720214" cy="462280"/>
            </a:xfrm>
            <a:custGeom>
              <a:avLst/>
              <a:gdLst/>
              <a:ahLst/>
              <a:cxnLst/>
              <a:rect l="l" t="t" r="r" b="b"/>
              <a:pathLst>
                <a:path w="1720214" h="462279">
                  <a:moveTo>
                    <a:pt x="1719955" y="392179"/>
                  </a:moveTo>
                  <a:lnTo>
                    <a:pt x="1714581" y="419408"/>
                  </a:lnTo>
                  <a:lnTo>
                    <a:pt x="1699823" y="441512"/>
                  </a:lnTo>
                  <a:lnTo>
                    <a:pt x="1677727" y="456349"/>
                  </a:lnTo>
                  <a:lnTo>
                    <a:pt x="1650339" y="461771"/>
                  </a:lnTo>
                  <a:lnTo>
                    <a:pt x="69707" y="461771"/>
                  </a:lnTo>
                  <a:lnTo>
                    <a:pt x="42408" y="456349"/>
                  </a:lnTo>
                  <a:lnTo>
                    <a:pt x="20269" y="441512"/>
                  </a:lnTo>
                  <a:lnTo>
                    <a:pt x="5422" y="419408"/>
                  </a:lnTo>
                  <a:lnTo>
                    <a:pt x="0" y="392179"/>
                  </a:lnTo>
                  <a:lnTo>
                    <a:pt x="0" y="69591"/>
                  </a:lnTo>
                  <a:lnTo>
                    <a:pt x="5422" y="42207"/>
                  </a:lnTo>
                  <a:lnTo>
                    <a:pt x="20269" y="20119"/>
                  </a:lnTo>
                  <a:lnTo>
                    <a:pt x="42408" y="5370"/>
                  </a:lnTo>
                  <a:lnTo>
                    <a:pt x="69707" y="0"/>
                  </a:lnTo>
                  <a:lnTo>
                    <a:pt x="1650339" y="0"/>
                  </a:lnTo>
                  <a:lnTo>
                    <a:pt x="1677727" y="5370"/>
                  </a:lnTo>
                  <a:lnTo>
                    <a:pt x="1699823" y="20119"/>
                  </a:lnTo>
                  <a:lnTo>
                    <a:pt x="1714581" y="42207"/>
                  </a:lnTo>
                  <a:lnTo>
                    <a:pt x="1719955" y="69591"/>
                  </a:lnTo>
                  <a:lnTo>
                    <a:pt x="1719955" y="392179"/>
                  </a:lnTo>
                  <a:close/>
                </a:path>
              </a:pathLst>
            </a:custGeom>
            <a:ln w="116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146172" y="4217961"/>
            <a:ext cx="62801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b="1" dirty="0">
                <a:latin typeface="Times New Roman"/>
                <a:cs typeface="Times New Roman"/>
              </a:rPr>
              <a:t>I/O</a:t>
            </a:r>
            <a:r>
              <a:rPr sz="1300" b="1" spc="20" dirty="0">
                <a:latin typeface="Times New Roman"/>
                <a:cs typeface="Times New Roman"/>
              </a:rPr>
              <a:t> </a:t>
            </a:r>
            <a:r>
              <a:rPr sz="1300" b="1" spc="-25" dirty="0">
                <a:latin typeface="Times New Roman"/>
                <a:cs typeface="Times New Roman"/>
              </a:rPr>
              <a:t>Hub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114074" y="3943444"/>
            <a:ext cx="328295" cy="824865"/>
          </a:xfrm>
          <a:prstGeom prst="rect">
            <a:avLst/>
          </a:prstGeom>
          <a:solidFill>
            <a:srgbClr val="B8B8B8"/>
          </a:solidFill>
          <a:ln w="12554">
            <a:solidFill>
              <a:srgbClr val="000000"/>
            </a:solidFill>
          </a:ln>
        </p:spPr>
        <p:txBody>
          <a:bodyPr vert="vert270" wrap="square" lIns="0" tIns="5143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405"/>
              </a:spcBef>
            </a:pPr>
            <a:r>
              <a:rPr sz="1300" b="1" dirty="0">
                <a:latin typeface="Times New Roman"/>
                <a:cs typeface="Times New Roman"/>
              </a:rPr>
              <a:t>I/O</a:t>
            </a:r>
            <a:r>
              <a:rPr sz="1300" b="1" spc="3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device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2884907" y="4238207"/>
            <a:ext cx="3229610" cy="191770"/>
            <a:chOff x="2884907" y="4238207"/>
            <a:chExt cx="3229610" cy="191770"/>
          </a:xfrm>
        </p:grpSpPr>
        <p:sp>
          <p:nvSpPr>
            <p:cNvPr id="103" name="object 103"/>
            <p:cNvSpPr/>
            <p:nvPr/>
          </p:nvSpPr>
          <p:spPr>
            <a:xfrm>
              <a:off x="3012298" y="4355734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5">
                  <a:moveTo>
                    <a:pt x="0" y="0"/>
                  </a:moveTo>
                  <a:lnTo>
                    <a:pt x="0" y="0"/>
                  </a:lnTo>
                  <a:lnTo>
                    <a:pt x="432154" y="0"/>
                  </a:lnTo>
                </a:path>
              </a:pathLst>
            </a:custGeom>
            <a:ln w="36169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884906" y="4282414"/>
              <a:ext cx="687705" cy="147955"/>
            </a:xfrm>
            <a:custGeom>
              <a:avLst/>
              <a:gdLst/>
              <a:ahLst/>
              <a:cxnLst/>
              <a:rect l="l" t="t" r="r" b="b"/>
              <a:pathLst>
                <a:path w="687704" h="147954">
                  <a:moveTo>
                    <a:pt x="180009" y="0"/>
                  </a:moveTo>
                  <a:lnTo>
                    <a:pt x="0" y="73329"/>
                  </a:lnTo>
                  <a:lnTo>
                    <a:pt x="180009" y="147370"/>
                  </a:lnTo>
                  <a:lnTo>
                    <a:pt x="137261" y="73329"/>
                  </a:lnTo>
                  <a:lnTo>
                    <a:pt x="180009" y="0"/>
                  </a:lnTo>
                  <a:close/>
                </a:path>
                <a:path w="687704" h="147954">
                  <a:moveTo>
                    <a:pt x="687197" y="73329"/>
                  </a:moveTo>
                  <a:lnTo>
                    <a:pt x="507301" y="0"/>
                  </a:lnTo>
                  <a:lnTo>
                    <a:pt x="549668" y="73329"/>
                  </a:lnTo>
                  <a:lnTo>
                    <a:pt x="507301" y="147370"/>
                  </a:lnTo>
                  <a:lnTo>
                    <a:pt x="687197" y="73329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555132" y="4311419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>
                  <a:moveTo>
                    <a:pt x="0" y="0"/>
                  </a:moveTo>
                  <a:lnTo>
                    <a:pt x="0" y="0"/>
                  </a:lnTo>
                  <a:lnTo>
                    <a:pt x="431322" y="0"/>
                  </a:lnTo>
                </a:path>
              </a:pathLst>
            </a:custGeom>
            <a:ln w="36169">
              <a:solidFill>
                <a:srgbClr val="8B8B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426900" y="4238218"/>
              <a:ext cx="687705" cy="147955"/>
            </a:xfrm>
            <a:custGeom>
              <a:avLst/>
              <a:gdLst/>
              <a:ahLst/>
              <a:cxnLst/>
              <a:rect l="l" t="t" r="r" b="b"/>
              <a:pathLst>
                <a:path w="687704" h="147954">
                  <a:moveTo>
                    <a:pt x="179895" y="0"/>
                  </a:moveTo>
                  <a:lnTo>
                    <a:pt x="0" y="73202"/>
                  </a:lnTo>
                  <a:lnTo>
                    <a:pt x="179895" y="147383"/>
                  </a:lnTo>
                  <a:lnTo>
                    <a:pt x="137160" y="73202"/>
                  </a:lnTo>
                  <a:lnTo>
                    <a:pt x="179895" y="0"/>
                  </a:lnTo>
                  <a:close/>
                </a:path>
                <a:path w="687704" h="147954">
                  <a:moveTo>
                    <a:pt x="687197" y="73202"/>
                  </a:moveTo>
                  <a:lnTo>
                    <a:pt x="507301" y="0"/>
                  </a:lnTo>
                  <a:lnTo>
                    <a:pt x="550646" y="73202"/>
                  </a:lnTo>
                  <a:lnTo>
                    <a:pt x="507301" y="147383"/>
                  </a:lnTo>
                  <a:lnTo>
                    <a:pt x="687197" y="73202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2610825" y="5207270"/>
            <a:ext cx="687705" cy="291465"/>
            <a:chOff x="2610825" y="5207270"/>
            <a:chExt cx="687705" cy="291465"/>
          </a:xfrm>
        </p:grpSpPr>
        <p:sp>
          <p:nvSpPr>
            <p:cNvPr id="52" name="object 52"/>
            <p:cNvSpPr/>
            <p:nvPr/>
          </p:nvSpPr>
          <p:spPr>
            <a:xfrm>
              <a:off x="2755492" y="5280480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89">
                  <a:moveTo>
                    <a:pt x="0" y="0"/>
                  </a:moveTo>
                  <a:lnTo>
                    <a:pt x="0" y="0"/>
                  </a:lnTo>
                  <a:lnTo>
                    <a:pt x="414915" y="0"/>
                  </a:lnTo>
                </a:path>
              </a:pathLst>
            </a:custGeom>
            <a:ln w="36169">
              <a:solidFill>
                <a:srgbClr val="00A4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118164" y="5207270"/>
              <a:ext cx="180340" cy="146685"/>
            </a:xfrm>
            <a:custGeom>
              <a:avLst/>
              <a:gdLst/>
              <a:ahLst/>
              <a:cxnLst/>
              <a:rect l="l" t="t" r="r" b="b"/>
              <a:pathLst>
                <a:path w="180339" h="146685">
                  <a:moveTo>
                    <a:pt x="0" y="0"/>
                  </a:moveTo>
                  <a:lnTo>
                    <a:pt x="42367" y="73209"/>
                  </a:lnTo>
                  <a:lnTo>
                    <a:pt x="0" y="146422"/>
                  </a:lnTo>
                  <a:lnTo>
                    <a:pt x="179892" y="732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4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738158" y="5424857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89">
                  <a:moveTo>
                    <a:pt x="415149" y="0"/>
                  </a:moveTo>
                  <a:lnTo>
                    <a:pt x="415149" y="0"/>
                  </a:lnTo>
                  <a:lnTo>
                    <a:pt x="0" y="0"/>
                  </a:lnTo>
                </a:path>
              </a:pathLst>
            </a:custGeom>
            <a:ln w="36169">
              <a:solidFill>
                <a:srgbClr val="00A4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10825" y="5351644"/>
              <a:ext cx="180340" cy="146685"/>
            </a:xfrm>
            <a:custGeom>
              <a:avLst/>
              <a:gdLst/>
              <a:ahLst/>
              <a:cxnLst/>
              <a:rect l="l" t="t" r="r" b="b"/>
              <a:pathLst>
                <a:path w="180339" h="146685">
                  <a:moveTo>
                    <a:pt x="179950" y="0"/>
                  </a:moveTo>
                  <a:lnTo>
                    <a:pt x="0" y="73212"/>
                  </a:lnTo>
                  <a:lnTo>
                    <a:pt x="179950" y="146471"/>
                  </a:lnTo>
                  <a:lnTo>
                    <a:pt x="137507" y="73212"/>
                  </a:lnTo>
                  <a:lnTo>
                    <a:pt x="179950" y="0"/>
                  </a:lnTo>
                  <a:close/>
                </a:path>
              </a:pathLst>
            </a:custGeom>
            <a:solidFill>
              <a:srgbClr val="00A4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4146346" y="5286743"/>
            <a:ext cx="687705" cy="147955"/>
            <a:chOff x="4146346" y="5286743"/>
            <a:chExt cx="687705" cy="147955"/>
          </a:xfrm>
        </p:grpSpPr>
        <p:sp>
          <p:nvSpPr>
            <p:cNvPr id="46" name="object 46"/>
            <p:cNvSpPr/>
            <p:nvPr/>
          </p:nvSpPr>
          <p:spPr>
            <a:xfrm>
              <a:off x="4273722" y="5360920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5">
                  <a:moveTo>
                    <a:pt x="0" y="0"/>
                  </a:moveTo>
                  <a:lnTo>
                    <a:pt x="0" y="0"/>
                  </a:lnTo>
                  <a:lnTo>
                    <a:pt x="432145" y="0"/>
                  </a:lnTo>
                </a:path>
              </a:pathLst>
            </a:custGeom>
            <a:ln w="36169">
              <a:solidFill>
                <a:srgbClr val="A2A2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46346" y="5286756"/>
              <a:ext cx="687705" cy="147955"/>
            </a:xfrm>
            <a:custGeom>
              <a:avLst/>
              <a:gdLst/>
              <a:ahLst/>
              <a:cxnLst/>
              <a:rect l="l" t="t" r="r" b="b"/>
              <a:pathLst>
                <a:path w="687704" h="147954">
                  <a:moveTo>
                    <a:pt x="180009" y="0"/>
                  </a:moveTo>
                  <a:lnTo>
                    <a:pt x="0" y="74168"/>
                  </a:lnTo>
                  <a:lnTo>
                    <a:pt x="180009" y="147408"/>
                  </a:lnTo>
                  <a:lnTo>
                    <a:pt x="137490" y="74168"/>
                  </a:lnTo>
                  <a:lnTo>
                    <a:pt x="180009" y="0"/>
                  </a:lnTo>
                  <a:close/>
                </a:path>
                <a:path w="687704" h="147954">
                  <a:moveTo>
                    <a:pt x="687171" y="74168"/>
                  </a:moveTo>
                  <a:lnTo>
                    <a:pt x="507276" y="0"/>
                  </a:lnTo>
                  <a:lnTo>
                    <a:pt x="549668" y="74168"/>
                  </a:lnTo>
                  <a:lnTo>
                    <a:pt x="507276" y="147408"/>
                  </a:lnTo>
                  <a:lnTo>
                    <a:pt x="687171" y="74168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5856396" y="5286743"/>
            <a:ext cx="687705" cy="147955"/>
            <a:chOff x="5856396" y="5286743"/>
            <a:chExt cx="687705" cy="147955"/>
          </a:xfrm>
        </p:grpSpPr>
        <p:sp>
          <p:nvSpPr>
            <p:cNvPr id="49" name="object 49"/>
            <p:cNvSpPr/>
            <p:nvPr/>
          </p:nvSpPr>
          <p:spPr>
            <a:xfrm>
              <a:off x="5983802" y="5360920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5">
                  <a:moveTo>
                    <a:pt x="0" y="0"/>
                  </a:moveTo>
                  <a:lnTo>
                    <a:pt x="0" y="0"/>
                  </a:lnTo>
                  <a:lnTo>
                    <a:pt x="432145" y="0"/>
                  </a:lnTo>
                </a:path>
              </a:pathLst>
            </a:custGeom>
            <a:ln w="36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856389" y="5286756"/>
              <a:ext cx="687705" cy="147955"/>
            </a:xfrm>
            <a:custGeom>
              <a:avLst/>
              <a:gdLst/>
              <a:ahLst/>
              <a:cxnLst/>
              <a:rect l="l" t="t" r="r" b="b"/>
              <a:pathLst>
                <a:path w="687704" h="147954">
                  <a:moveTo>
                    <a:pt x="180047" y="0"/>
                  </a:moveTo>
                  <a:lnTo>
                    <a:pt x="0" y="74168"/>
                  </a:lnTo>
                  <a:lnTo>
                    <a:pt x="180047" y="147408"/>
                  </a:lnTo>
                  <a:lnTo>
                    <a:pt x="137287" y="74168"/>
                  </a:lnTo>
                  <a:lnTo>
                    <a:pt x="180047" y="0"/>
                  </a:lnTo>
                  <a:close/>
                </a:path>
                <a:path w="687704" h="147954">
                  <a:moveTo>
                    <a:pt x="687209" y="74168"/>
                  </a:moveTo>
                  <a:lnTo>
                    <a:pt x="507314" y="0"/>
                  </a:lnTo>
                  <a:lnTo>
                    <a:pt x="549706" y="74168"/>
                  </a:lnTo>
                  <a:lnTo>
                    <a:pt x="507314" y="147408"/>
                  </a:lnTo>
                  <a:lnTo>
                    <a:pt x="687209" y="74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2786153" y="5524285"/>
            <a:ext cx="32575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b="1" spc="-25" dirty="0">
                <a:latin typeface="Times New Roman"/>
                <a:cs typeface="Times New Roman"/>
              </a:rPr>
              <a:t>QPI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997931" y="5524285"/>
            <a:ext cx="92710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b="1" dirty="0">
                <a:latin typeface="Times New Roman"/>
                <a:cs typeface="Times New Roman"/>
              </a:rPr>
              <a:t>PCI</a:t>
            </a:r>
            <a:r>
              <a:rPr sz="1300" b="1" spc="1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Express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730465" y="5524285"/>
            <a:ext cx="934719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b="1" dirty="0">
                <a:latin typeface="Times New Roman"/>
                <a:cs typeface="Times New Roman"/>
              </a:rPr>
              <a:t>Memory</a:t>
            </a:r>
            <a:r>
              <a:rPr sz="1300" b="1" spc="35" dirty="0">
                <a:latin typeface="Times New Roman"/>
                <a:cs typeface="Times New Roman"/>
              </a:rPr>
              <a:t> </a:t>
            </a:r>
            <a:r>
              <a:rPr sz="1300" b="1" spc="-25" dirty="0">
                <a:latin typeface="Times New Roman"/>
                <a:cs typeface="Times New Roman"/>
              </a:rPr>
              <a:t>bus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958747" y="6068582"/>
            <a:ext cx="5593080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105" dirty="0">
                <a:latin typeface="Arial"/>
                <a:cs typeface="Arial"/>
              </a:rPr>
              <a:t>Figure</a:t>
            </a:r>
            <a:r>
              <a:rPr sz="1700" spc="34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3</a:t>
            </a:r>
            <a:r>
              <a:rPr sz="1700" spc="-165" dirty="0">
                <a:latin typeface="Times New Roman"/>
                <a:cs typeface="Times New Roman"/>
              </a:rPr>
              <a:t> </a:t>
            </a:r>
            <a:r>
              <a:rPr sz="1700" b="1" spc="65" dirty="0">
                <a:latin typeface="Arial"/>
                <a:cs typeface="Arial"/>
              </a:rPr>
              <a:t>.1</a:t>
            </a:r>
            <a:r>
              <a:rPr sz="1700" spc="-17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7</a:t>
            </a:r>
            <a:r>
              <a:rPr sz="1700" spc="425" dirty="0">
                <a:latin typeface="Times New Roman"/>
                <a:cs typeface="Times New Roman"/>
              </a:rPr>
              <a:t> </a:t>
            </a:r>
            <a:r>
              <a:rPr sz="1700" b="1" spc="120" dirty="0">
                <a:latin typeface="Arial"/>
                <a:cs typeface="Arial"/>
              </a:rPr>
              <a:t>Multicore</a:t>
            </a:r>
            <a:r>
              <a:rPr sz="1700" spc="345" dirty="0">
                <a:latin typeface="Times New Roman"/>
                <a:cs typeface="Times New Roman"/>
              </a:rPr>
              <a:t> </a:t>
            </a:r>
            <a:r>
              <a:rPr sz="1700" b="1" spc="125" dirty="0">
                <a:latin typeface="Arial"/>
                <a:cs typeface="Arial"/>
              </a:rPr>
              <a:t>Configuratio</a:t>
            </a:r>
            <a:r>
              <a:rPr sz="1700" spc="-13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n</a:t>
            </a:r>
            <a:r>
              <a:rPr sz="1700" spc="330" dirty="0">
                <a:latin typeface="Times New Roman"/>
                <a:cs typeface="Times New Roman"/>
              </a:rPr>
              <a:t> </a:t>
            </a:r>
            <a:r>
              <a:rPr sz="1700" b="1" spc="90" dirty="0">
                <a:latin typeface="Arial"/>
                <a:cs typeface="Arial"/>
              </a:rPr>
              <a:t>Using</a:t>
            </a:r>
            <a:r>
              <a:rPr sz="1700" spc="305" dirty="0">
                <a:latin typeface="Times New Roman"/>
                <a:cs typeface="Times New Roman"/>
              </a:rPr>
              <a:t> </a:t>
            </a:r>
            <a:r>
              <a:rPr sz="1700" b="1" spc="40" dirty="0">
                <a:latin typeface="Arial"/>
                <a:cs typeface="Arial"/>
              </a:rPr>
              <a:t>QPI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0" name="object 1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48335" y="730417"/>
            <a:ext cx="2439670" cy="4556760"/>
            <a:chOff x="748335" y="730417"/>
            <a:chExt cx="2439670" cy="4556760"/>
          </a:xfrm>
        </p:grpSpPr>
        <p:sp>
          <p:nvSpPr>
            <p:cNvPr id="6" name="object 6"/>
            <p:cNvSpPr/>
            <p:nvPr/>
          </p:nvSpPr>
          <p:spPr>
            <a:xfrm>
              <a:off x="1054047" y="3921965"/>
              <a:ext cx="2119630" cy="1059815"/>
            </a:xfrm>
            <a:custGeom>
              <a:avLst/>
              <a:gdLst/>
              <a:ahLst/>
              <a:cxnLst/>
              <a:rect l="l" t="t" r="r" b="b"/>
              <a:pathLst>
                <a:path w="2119630" h="1059814">
                  <a:moveTo>
                    <a:pt x="0" y="0"/>
                  </a:moveTo>
                  <a:lnTo>
                    <a:pt x="0" y="1059372"/>
                  </a:lnTo>
                  <a:lnTo>
                    <a:pt x="2119073" y="1059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4048" y="3921974"/>
              <a:ext cx="2119630" cy="1059815"/>
            </a:xfrm>
            <a:custGeom>
              <a:avLst/>
              <a:gdLst/>
              <a:ahLst/>
              <a:cxnLst/>
              <a:rect l="l" t="t" r="r" b="b"/>
              <a:pathLst>
                <a:path w="2119630" h="1059814">
                  <a:moveTo>
                    <a:pt x="0" y="0"/>
                  </a:moveTo>
                  <a:lnTo>
                    <a:pt x="0" y="1059365"/>
                  </a:lnTo>
                  <a:lnTo>
                    <a:pt x="2119065" y="1059365"/>
                  </a:lnTo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4047" y="2863017"/>
              <a:ext cx="2119630" cy="1059180"/>
            </a:xfrm>
            <a:custGeom>
              <a:avLst/>
              <a:gdLst/>
              <a:ahLst/>
              <a:cxnLst/>
              <a:rect l="l" t="t" r="r" b="b"/>
              <a:pathLst>
                <a:path w="2119630" h="1059179">
                  <a:moveTo>
                    <a:pt x="0" y="0"/>
                  </a:moveTo>
                  <a:lnTo>
                    <a:pt x="0" y="1058948"/>
                  </a:lnTo>
                  <a:lnTo>
                    <a:pt x="2119073" y="10589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54048" y="2863047"/>
              <a:ext cx="2119630" cy="1059180"/>
            </a:xfrm>
            <a:custGeom>
              <a:avLst/>
              <a:gdLst/>
              <a:ahLst/>
              <a:cxnLst/>
              <a:rect l="l" t="t" r="r" b="b"/>
              <a:pathLst>
                <a:path w="2119630" h="1059179">
                  <a:moveTo>
                    <a:pt x="0" y="0"/>
                  </a:moveTo>
                  <a:lnTo>
                    <a:pt x="0" y="1058926"/>
                  </a:lnTo>
                  <a:lnTo>
                    <a:pt x="2119065" y="1058926"/>
                  </a:lnTo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2941" y="744992"/>
              <a:ext cx="2410460" cy="1482725"/>
            </a:xfrm>
            <a:custGeom>
              <a:avLst/>
              <a:gdLst/>
              <a:ahLst/>
              <a:cxnLst/>
              <a:rect l="l" t="t" r="r" b="b"/>
              <a:pathLst>
                <a:path w="2410460" h="1482725">
                  <a:moveTo>
                    <a:pt x="291105" y="0"/>
                  </a:moveTo>
                  <a:lnTo>
                    <a:pt x="0" y="423519"/>
                  </a:lnTo>
                  <a:lnTo>
                    <a:pt x="0" y="1482455"/>
                  </a:lnTo>
                  <a:lnTo>
                    <a:pt x="2198272" y="1270985"/>
                  </a:lnTo>
                  <a:lnTo>
                    <a:pt x="2410178" y="1058936"/>
                  </a:lnTo>
                  <a:lnTo>
                    <a:pt x="291105" y="1058936"/>
                  </a:lnTo>
                  <a:lnTo>
                    <a:pt x="291105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2940" y="745022"/>
              <a:ext cx="2410460" cy="1482725"/>
            </a:xfrm>
            <a:custGeom>
              <a:avLst/>
              <a:gdLst/>
              <a:ahLst/>
              <a:cxnLst/>
              <a:rect l="l" t="t" r="r" b="b"/>
              <a:pathLst>
                <a:path w="2410460" h="1482725">
                  <a:moveTo>
                    <a:pt x="291107" y="0"/>
                  </a:moveTo>
                  <a:lnTo>
                    <a:pt x="0" y="423519"/>
                  </a:lnTo>
                  <a:lnTo>
                    <a:pt x="0" y="1482455"/>
                  </a:lnTo>
                  <a:lnTo>
                    <a:pt x="2198274" y="1270985"/>
                  </a:lnTo>
                  <a:lnTo>
                    <a:pt x="2410173" y="1058936"/>
                  </a:lnTo>
                  <a:lnTo>
                    <a:pt x="291107" y="1058936"/>
                  </a:lnTo>
                  <a:lnTo>
                    <a:pt x="291107" y="0"/>
                  </a:lnTo>
                  <a:close/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2941" y="1803928"/>
              <a:ext cx="2410460" cy="1483360"/>
            </a:xfrm>
            <a:custGeom>
              <a:avLst/>
              <a:gdLst/>
              <a:ahLst/>
              <a:cxnLst/>
              <a:rect l="l" t="t" r="r" b="b"/>
              <a:pathLst>
                <a:path w="2410460" h="1483360">
                  <a:moveTo>
                    <a:pt x="291105" y="0"/>
                  </a:moveTo>
                  <a:lnTo>
                    <a:pt x="0" y="423519"/>
                  </a:lnTo>
                  <a:lnTo>
                    <a:pt x="0" y="1482912"/>
                  </a:lnTo>
                  <a:lnTo>
                    <a:pt x="2198272" y="1271015"/>
                  </a:lnTo>
                  <a:lnTo>
                    <a:pt x="2410178" y="1059088"/>
                  </a:lnTo>
                  <a:lnTo>
                    <a:pt x="291105" y="1059088"/>
                  </a:lnTo>
                  <a:lnTo>
                    <a:pt x="291105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940" y="1803958"/>
              <a:ext cx="2410460" cy="1483360"/>
            </a:xfrm>
            <a:custGeom>
              <a:avLst/>
              <a:gdLst/>
              <a:ahLst/>
              <a:cxnLst/>
              <a:rect l="l" t="t" r="r" b="b"/>
              <a:pathLst>
                <a:path w="2410460" h="1483360">
                  <a:moveTo>
                    <a:pt x="291107" y="0"/>
                  </a:moveTo>
                  <a:lnTo>
                    <a:pt x="0" y="423519"/>
                  </a:lnTo>
                  <a:lnTo>
                    <a:pt x="0" y="1482882"/>
                  </a:lnTo>
                  <a:lnTo>
                    <a:pt x="2198274" y="1270985"/>
                  </a:lnTo>
                  <a:lnTo>
                    <a:pt x="2410173" y="1059088"/>
                  </a:lnTo>
                  <a:lnTo>
                    <a:pt x="291107" y="1059088"/>
                  </a:lnTo>
                  <a:lnTo>
                    <a:pt x="291107" y="0"/>
                  </a:lnTo>
                  <a:close/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2941" y="2863017"/>
              <a:ext cx="2410460" cy="1483360"/>
            </a:xfrm>
            <a:custGeom>
              <a:avLst/>
              <a:gdLst/>
              <a:ahLst/>
              <a:cxnLst/>
              <a:rect l="l" t="t" r="r" b="b"/>
              <a:pathLst>
                <a:path w="2410460" h="1483360">
                  <a:moveTo>
                    <a:pt x="291105" y="0"/>
                  </a:moveTo>
                  <a:lnTo>
                    <a:pt x="0" y="423824"/>
                  </a:lnTo>
                  <a:lnTo>
                    <a:pt x="0" y="1482894"/>
                  </a:lnTo>
                  <a:lnTo>
                    <a:pt x="2198272" y="1271000"/>
                  </a:lnTo>
                  <a:lnTo>
                    <a:pt x="2410178" y="1058948"/>
                  </a:lnTo>
                  <a:lnTo>
                    <a:pt x="291105" y="1058948"/>
                  </a:lnTo>
                  <a:lnTo>
                    <a:pt x="291105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2940" y="2863047"/>
              <a:ext cx="2410460" cy="1483360"/>
            </a:xfrm>
            <a:custGeom>
              <a:avLst/>
              <a:gdLst/>
              <a:ahLst/>
              <a:cxnLst/>
              <a:rect l="l" t="t" r="r" b="b"/>
              <a:pathLst>
                <a:path w="2410460" h="1483360">
                  <a:moveTo>
                    <a:pt x="291107" y="0"/>
                  </a:moveTo>
                  <a:lnTo>
                    <a:pt x="0" y="423793"/>
                  </a:lnTo>
                  <a:lnTo>
                    <a:pt x="0" y="1482870"/>
                  </a:lnTo>
                  <a:lnTo>
                    <a:pt x="2198274" y="1270976"/>
                  </a:lnTo>
                  <a:lnTo>
                    <a:pt x="2410173" y="1058926"/>
                  </a:lnTo>
                  <a:lnTo>
                    <a:pt x="291107" y="1058926"/>
                  </a:lnTo>
                  <a:lnTo>
                    <a:pt x="291107" y="0"/>
                  </a:lnTo>
                  <a:close/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2941" y="3921965"/>
              <a:ext cx="2410460" cy="1350645"/>
            </a:xfrm>
            <a:custGeom>
              <a:avLst/>
              <a:gdLst/>
              <a:ahLst/>
              <a:cxnLst/>
              <a:rect l="l" t="t" r="r" b="b"/>
              <a:pathLst>
                <a:path w="2410460" h="1350645">
                  <a:moveTo>
                    <a:pt x="291105" y="0"/>
                  </a:moveTo>
                  <a:lnTo>
                    <a:pt x="0" y="423946"/>
                  </a:lnTo>
                  <a:lnTo>
                    <a:pt x="0" y="1350550"/>
                  </a:lnTo>
                  <a:lnTo>
                    <a:pt x="1986366" y="1350550"/>
                  </a:lnTo>
                  <a:lnTo>
                    <a:pt x="2410178" y="1059372"/>
                  </a:lnTo>
                  <a:lnTo>
                    <a:pt x="291105" y="1059372"/>
                  </a:lnTo>
                  <a:lnTo>
                    <a:pt x="291105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2940" y="3921974"/>
              <a:ext cx="2410460" cy="1350645"/>
            </a:xfrm>
            <a:custGeom>
              <a:avLst/>
              <a:gdLst/>
              <a:ahLst/>
              <a:cxnLst/>
              <a:rect l="l" t="t" r="r" b="b"/>
              <a:pathLst>
                <a:path w="2410460" h="1350645">
                  <a:moveTo>
                    <a:pt x="291107" y="0"/>
                  </a:moveTo>
                  <a:lnTo>
                    <a:pt x="0" y="423943"/>
                  </a:lnTo>
                  <a:lnTo>
                    <a:pt x="0" y="1350544"/>
                  </a:lnTo>
                  <a:lnTo>
                    <a:pt x="1986368" y="1350544"/>
                  </a:lnTo>
                  <a:lnTo>
                    <a:pt x="2410173" y="1059365"/>
                  </a:lnTo>
                  <a:lnTo>
                    <a:pt x="291107" y="1059365"/>
                  </a:lnTo>
                  <a:lnTo>
                    <a:pt x="291107" y="0"/>
                  </a:lnTo>
                  <a:close/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039638" y="730613"/>
          <a:ext cx="2118995" cy="423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8995"/>
              </a:tblGrid>
              <a:tr h="1058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R="149860" algn="ctr">
                        <a:lnSpc>
                          <a:spcPct val="100000"/>
                        </a:lnSpc>
                      </a:pPr>
                      <a:r>
                        <a:rPr sz="2050" b="1" spc="-10" dirty="0">
                          <a:latin typeface="Times New Roman"/>
                          <a:cs typeface="Times New Roman"/>
                        </a:rPr>
                        <a:t>Protocol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1809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058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R="147955" algn="ctr">
                        <a:lnSpc>
                          <a:spcPct val="100000"/>
                        </a:lnSpc>
                      </a:pPr>
                      <a:r>
                        <a:rPr sz="2050" b="1" spc="-10" dirty="0">
                          <a:latin typeface="Times New Roman"/>
                          <a:cs typeface="Times New Roman"/>
                        </a:rPr>
                        <a:t>Routing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058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R="145415" algn="ctr">
                        <a:lnSpc>
                          <a:spcPct val="100000"/>
                        </a:lnSpc>
                      </a:pPr>
                      <a:r>
                        <a:rPr sz="2050" b="1" spc="-20" dirty="0">
                          <a:latin typeface="Times New Roman"/>
                          <a:cs typeface="Times New Roman"/>
                        </a:rPr>
                        <a:t>Link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059180">
                <a:tc>
                  <a:txBody>
                    <a:bodyPr/>
                    <a:lstStyle/>
                    <a:p>
                      <a:pPr marR="147320" algn="ctr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sz="2050" b="1" spc="-10" dirty="0">
                          <a:latin typeface="Times New Roman"/>
                          <a:cs typeface="Times New Roman"/>
                        </a:rPr>
                        <a:t>Physical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269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</a:tbl>
          </a:graphicData>
        </a:graphic>
      </p:graphicFrame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4006872" y="884339"/>
            <a:ext cx="889635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Packets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9977" y="2981657"/>
            <a:ext cx="52324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b="1" spc="-10" dirty="0">
                <a:latin typeface="Times New Roman"/>
                <a:cs typeface="Times New Roman"/>
              </a:rPr>
              <a:t>Flits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53818" y="4135528"/>
            <a:ext cx="59690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b="1" spc="-10" dirty="0">
                <a:latin typeface="Times New Roman"/>
                <a:cs typeface="Times New Roman"/>
              </a:rPr>
              <a:t>Phits</a:t>
            </a:r>
            <a:endParaRPr sz="205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48335" y="730417"/>
            <a:ext cx="7600950" cy="4556760"/>
            <a:chOff x="748335" y="730417"/>
            <a:chExt cx="7600950" cy="4556760"/>
          </a:xfrm>
        </p:grpSpPr>
        <p:sp>
          <p:nvSpPr>
            <p:cNvPr id="23" name="object 23"/>
            <p:cNvSpPr/>
            <p:nvPr/>
          </p:nvSpPr>
          <p:spPr>
            <a:xfrm>
              <a:off x="762941" y="4981337"/>
              <a:ext cx="291465" cy="291465"/>
            </a:xfrm>
            <a:custGeom>
              <a:avLst/>
              <a:gdLst/>
              <a:ahLst/>
              <a:cxnLst/>
              <a:rect l="l" t="t" r="r" b="b"/>
              <a:pathLst>
                <a:path w="291465" h="291464">
                  <a:moveTo>
                    <a:pt x="291105" y="0"/>
                  </a:moveTo>
                  <a:lnTo>
                    <a:pt x="0" y="291178"/>
                  </a:lnTo>
                  <a:lnTo>
                    <a:pt x="291105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2940" y="4981340"/>
              <a:ext cx="291465" cy="291465"/>
            </a:xfrm>
            <a:custGeom>
              <a:avLst/>
              <a:gdLst/>
              <a:ahLst/>
              <a:cxnLst/>
              <a:rect l="l" t="t" r="r" b="b"/>
              <a:pathLst>
                <a:path w="291465" h="291464">
                  <a:moveTo>
                    <a:pt x="0" y="291178"/>
                  </a:moveTo>
                  <a:lnTo>
                    <a:pt x="0" y="291178"/>
                  </a:lnTo>
                  <a:lnTo>
                    <a:pt x="291107" y="0"/>
                  </a:lnTo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15603" y="3921965"/>
              <a:ext cx="2119630" cy="1059815"/>
            </a:xfrm>
            <a:custGeom>
              <a:avLst/>
              <a:gdLst/>
              <a:ahLst/>
              <a:cxnLst/>
              <a:rect l="l" t="t" r="r" b="b"/>
              <a:pathLst>
                <a:path w="2119629" h="1059814">
                  <a:moveTo>
                    <a:pt x="0" y="0"/>
                  </a:moveTo>
                  <a:lnTo>
                    <a:pt x="0" y="1059372"/>
                  </a:lnTo>
                  <a:lnTo>
                    <a:pt x="2119030" y="1059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15621" y="3921974"/>
              <a:ext cx="2119630" cy="1059815"/>
            </a:xfrm>
            <a:custGeom>
              <a:avLst/>
              <a:gdLst/>
              <a:ahLst/>
              <a:cxnLst/>
              <a:rect l="l" t="t" r="r" b="b"/>
              <a:pathLst>
                <a:path w="2119629" h="1059814">
                  <a:moveTo>
                    <a:pt x="0" y="0"/>
                  </a:moveTo>
                  <a:lnTo>
                    <a:pt x="0" y="1059365"/>
                  </a:lnTo>
                  <a:lnTo>
                    <a:pt x="2119026" y="1059365"/>
                  </a:lnTo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15603" y="2863017"/>
              <a:ext cx="2119630" cy="1059180"/>
            </a:xfrm>
            <a:custGeom>
              <a:avLst/>
              <a:gdLst/>
              <a:ahLst/>
              <a:cxnLst/>
              <a:rect l="l" t="t" r="r" b="b"/>
              <a:pathLst>
                <a:path w="2119629" h="1059179">
                  <a:moveTo>
                    <a:pt x="0" y="0"/>
                  </a:moveTo>
                  <a:lnTo>
                    <a:pt x="0" y="1058948"/>
                  </a:lnTo>
                  <a:lnTo>
                    <a:pt x="2119030" y="10589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15621" y="2863047"/>
              <a:ext cx="2119630" cy="1059180"/>
            </a:xfrm>
            <a:custGeom>
              <a:avLst/>
              <a:gdLst/>
              <a:ahLst/>
              <a:cxnLst/>
              <a:rect l="l" t="t" r="r" b="b"/>
              <a:pathLst>
                <a:path w="2119629" h="1059179">
                  <a:moveTo>
                    <a:pt x="0" y="0"/>
                  </a:moveTo>
                  <a:lnTo>
                    <a:pt x="0" y="1058926"/>
                  </a:lnTo>
                  <a:lnTo>
                    <a:pt x="2119026" y="1058926"/>
                  </a:lnTo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24488" y="744992"/>
              <a:ext cx="2410460" cy="1482725"/>
            </a:xfrm>
            <a:custGeom>
              <a:avLst/>
              <a:gdLst/>
              <a:ahLst/>
              <a:cxnLst/>
              <a:rect l="l" t="t" r="r" b="b"/>
              <a:pathLst>
                <a:path w="2410459" h="1482725">
                  <a:moveTo>
                    <a:pt x="291114" y="0"/>
                  </a:moveTo>
                  <a:lnTo>
                    <a:pt x="0" y="423519"/>
                  </a:lnTo>
                  <a:lnTo>
                    <a:pt x="0" y="1482455"/>
                  </a:lnTo>
                  <a:lnTo>
                    <a:pt x="2198278" y="1270985"/>
                  </a:lnTo>
                  <a:lnTo>
                    <a:pt x="2410144" y="1058936"/>
                  </a:lnTo>
                  <a:lnTo>
                    <a:pt x="291114" y="1058936"/>
                  </a:lnTo>
                  <a:lnTo>
                    <a:pt x="291114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24507" y="745022"/>
              <a:ext cx="2410460" cy="1482725"/>
            </a:xfrm>
            <a:custGeom>
              <a:avLst/>
              <a:gdLst/>
              <a:ahLst/>
              <a:cxnLst/>
              <a:rect l="l" t="t" r="r" b="b"/>
              <a:pathLst>
                <a:path w="2410459" h="1482725">
                  <a:moveTo>
                    <a:pt x="291113" y="0"/>
                  </a:moveTo>
                  <a:lnTo>
                    <a:pt x="0" y="423519"/>
                  </a:lnTo>
                  <a:lnTo>
                    <a:pt x="0" y="1482455"/>
                  </a:lnTo>
                  <a:lnTo>
                    <a:pt x="2198243" y="1270985"/>
                  </a:lnTo>
                  <a:lnTo>
                    <a:pt x="2410140" y="1058936"/>
                  </a:lnTo>
                  <a:lnTo>
                    <a:pt x="291113" y="1058936"/>
                  </a:lnTo>
                  <a:lnTo>
                    <a:pt x="291113" y="0"/>
                  </a:lnTo>
                  <a:close/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24488" y="1803928"/>
              <a:ext cx="2410460" cy="1483360"/>
            </a:xfrm>
            <a:custGeom>
              <a:avLst/>
              <a:gdLst/>
              <a:ahLst/>
              <a:cxnLst/>
              <a:rect l="l" t="t" r="r" b="b"/>
              <a:pathLst>
                <a:path w="2410459" h="1483360">
                  <a:moveTo>
                    <a:pt x="291114" y="0"/>
                  </a:moveTo>
                  <a:lnTo>
                    <a:pt x="0" y="423519"/>
                  </a:lnTo>
                  <a:lnTo>
                    <a:pt x="0" y="1482912"/>
                  </a:lnTo>
                  <a:lnTo>
                    <a:pt x="2198278" y="1271015"/>
                  </a:lnTo>
                  <a:lnTo>
                    <a:pt x="2410144" y="1059088"/>
                  </a:lnTo>
                  <a:lnTo>
                    <a:pt x="291114" y="1059088"/>
                  </a:lnTo>
                  <a:lnTo>
                    <a:pt x="291114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24507" y="1803958"/>
              <a:ext cx="2410460" cy="1483360"/>
            </a:xfrm>
            <a:custGeom>
              <a:avLst/>
              <a:gdLst/>
              <a:ahLst/>
              <a:cxnLst/>
              <a:rect l="l" t="t" r="r" b="b"/>
              <a:pathLst>
                <a:path w="2410459" h="1483360">
                  <a:moveTo>
                    <a:pt x="291113" y="0"/>
                  </a:moveTo>
                  <a:lnTo>
                    <a:pt x="0" y="423519"/>
                  </a:lnTo>
                  <a:lnTo>
                    <a:pt x="0" y="1482882"/>
                  </a:lnTo>
                  <a:lnTo>
                    <a:pt x="2198243" y="1270985"/>
                  </a:lnTo>
                  <a:lnTo>
                    <a:pt x="2410140" y="1059088"/>
                  </a:lnTo>
                  <a:lnTo>
                    <a:pt x="291113" y="1059088"/>
                  </a:lnTo>
                  <a:lnTo>
                    <a:pt x="291113" y="0"/>
                  </a:lnTo>
                  <a:close/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24488" y="2863017"/>
              <a:ext cx="2410460" cy="1483360"/>
            </a:xfrm>
            <a:custGeom>
              <a:avLst/>
              <a:gdLst/>
              <a:ahLst/>
              <a:cxnLst/>
              <a:rect l="l" t="t" r="r" b="b"/>
              <a:pathLst>
                <a:path w="2410459" h="1483360">
                  <a:moveTo>
                    <a:pt x="291114" y="0"/>
                  </a:moveTo>
                  <a:lnTo>
                    <a:pt x="0" y="423824"/>
                  </a:lnTo>
                  <a:lnTo>
                    <a:pt x="0" y="1482894"/>
                  </a:lnTo>
                  <a:lnTo>
                    <a:pt x="2198278" y="1271000"/>
                  </a:lnTo>
                  <a:lnTo>
                    <a:pt x="2410144" y="1058948"/>
                  </a:lnTo>
                  <a:lnTo>
                    <a:pt x="291114" y="1058948"/>
                  </a:lnTo>
                  <a:lnTo>
                    <a:pt x="291114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24507" y="2863047"/>
              <a:ext cx="2410460" cy="1483360"/>
            </a:xfrm>
            <a:custGeom>
              <a:avLst/>
              <a:gdLst/>
              <a:ahLst/>
              <a:cxnLst/>
              <a:rect l="l" t="t" r="r" b="b"/>
              <a:pathLst>
                <a:path w="2410459" h="1483360">
                  <a:moveTo>
                    <a:pt x="291113" y="0"/>
                  </a:moveTo>
                  <a:lnTo>
                    <a:pt x="0" y="423793"/>
                  </a:lnTo>
                  <a:lnTo>
                    <a:pt x="0" y="1482870"/>
                  </a:lnTo>
                  <a:lnTo>
                    <a:pt x="2198243" y="1270976"/>
                  </a:lnTo>
                  <a:lnTo>
                    <a:pt x="2410140" y="1058926"/>
                  </a:lnTo>
                  <a:lnTo>
                    <a:pt x="291113" y="1058926"/>
                  </a:lnTo>
                  <a:lnTo>
                    <a:pt x="291113" y="0"/>
                  </a:lnTo>
                  <a:close/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924488" y="3921965"/>
              <a:ext cx="2410460" cy="1350645"/>
            </a:xfrm>
            <a:custGeom>
              <a:avLst/>
              <a:gdLst/>
              <a:ahLst/>
              <a:cxnLst/>
              <a:rect l="l" t="t" r="r" b="b"/>
              <a:pathLst>
                <a:path w="2410459" h="1350645">
                  <a:moveTo>
                    <a:pt x="291114" y="0"/>
                  </a:moveTo>
                  <a:lnTo>
                    <a:pt x="0" y="423946"/>
                  </a:lnTo>
                  <a:lnTo>
                    <a:pt x="0" y="1350550"/>
                  </a:lnTo>
                  <a:lnTo>
                    <a:pt x="1986351" y="1350550"/>
                  </a:lnTo>
                  <a:lnTo>
                    <a:pt x="2410144" y="1059372"/>
                  </a:lnTo>
                  <a:lnTo>
                    <a:pt x="291114" y="1059372"/>
                  </a:lnTo>
                  <a:lnTo>
                    <a:pt x="291114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24507" y="3921974"/>
              <a:ext cx="2410460" cy="1350645"/>
            </a:xfrm>
            <a:custGeom>
              <a:avLst/>
              <a:gdLst/>
              <a:ahLst/>
              <a:cxnLst/>
              <a:rect l="l" t="t" r="r" b="b"/>
              <a:pathLst>
                <a:path w="2410459" h="1350645">
                  <a:moveTo>
                    <a:pt x="291113" y="0"/>
                  </a:moveTo>
                  <a:lnTo>
                    <a:pt x="0" y="423943"/>
                  </a:lnTo>
                  <a:lnTo>
                    <a:pt x="0" y="1350544"/>
                  </a:lnTo>
                  <a:lnTo>
                    <a:pt x="1986347" y="1350544"/>
                  </a:lnTo>
                  <a:lnTo>
                    <a:pt x="2410140" y="1059365"/>
                  </a:lnTo>
                  <a:lnTo>
                    <a:pt x="291113" y="1059365"/>
                  </a:lnTo>
                  <a:lnTo>
                    <a:pt x="291113" y="0"/>
                  </a:lnTo>
                  <a:close/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24488" y="4981337"/>
              <a:ext cx="291465" cy="291465"/>
            </a:xfrm>
            <a:custGeom>
              <a:avLst/>
              <a:gdLst/>
              <a:ahLst/>
              <a:cxnLst/>
              <a:rect l="l" t="t" r="r" b="b"/>
              <a:pathLst>
                <a:path w="291464" h="291464">
                  <a:moveTo>
                    <a:pt x="291114" y="0"/>
                  </a:moveTo>
                  <a:lnTo>
                    <a:pt x="0" y="291178"/>
                  </a:lnTo>
                  <a:lnTo>
                    <a:pt x="291114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24507" y="4981340"/>
              <a:ext cx="291465" cy="291465"/>
            </a:xfrm>
            <a:custGeom>
              <a:avLst/>
              <a:gdLst/>
              <a:ahLst/>
              <a:cxnLst/>
              <a:rect l="l" t="t" r="r" b="b"/>
              <a:pathLst>
                <a:path w="291464" h="291464">
                  <a:moveTo>
                    <a:pt x="0" y="291178"/>
                  </a:moveTo>
                  <a:lnTo>
                    <a:pt x="0" y="291178"/>
                  </a:lnTo>
                  <a:lnTo>
                    <a:pt x="291113" y="0"/>
                  </a:lnTo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3173120" y="1154277"/>
            <a:ext cx="2896870" cy="3463290"/>
            <a:chOff x="3173120" y="1154277"/>
            <a:chExt cx="2896870" cy="3463290"/>
          </a:xfrm>
        </p:grpSpPr>
        <p:sp>
          <p:nvSpPr>
            <p:cNvPr id="41" name="object 41"/>
            <p:cNvSpPr/>
            <p:nvPr/>
          </p:nvSpPr>
          <p:spPr>
            <a:xfrm>
              <a:off x="3380773" y="1274338"/>
              <a:ext cx="2482215" cy="0"/>
            </a:xfrm>
            <a:custGeom>
              <a:avLst/>
              <a:gdLst/>
              <a:ahLst/>
              <a:cxnLst/>
              <a:rect l="l" t="t" r="r" b="b"/>
              <a:pathLst>
                <a:path w="2482215">
                  <a:moveTo>
                    <a:pt x="2481707" y="0"/>
                  </a:moveTo>
                  <a:lnTo>
                    <a:pt x="2481707" y="0"/>
                  </a:lnTo>
                  <a:lnTo>
                    <a:pt x="0" y="0"/>
                  </a:lnTo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73120" y="1154277"/>
              <a:ext cx="2896870" cy="239395"/>
            </a:xfrm>
            <a:custGeom>
              <a:avLst/>
              <a:gdLst/>
              <a:ahLst/>
              <a:cxnLst/>
              <a:rect l="l" t="t" r="r" b="b"/>
              <a:pathLst>
                <a:path w="2896870" h="239394">
                  <a:moveTo>
                    <a:pt x="292303" y="0"/>
                  </a:moveTo>
                  <a:lnTo>
                    <a:pt x="0" y="120040"/>
                  </a:lnTo>
                  <a:lnTo>
                    <a:pt x="292303" y="239369"/>
                  </a:lnTo>
                  <a:lnTo>
                    <a:pt x="222923" y="120040"/>
                  </a:lnTo>
                  <a:lnTo>
                    <a:pt x="292303" y="0"/>
                  </a:lnTo>
                  <a:close/>
                </a:path>
                <a:path w="2896870" h="239394">
                  <a:moveTo>
                    <a:pt x="2896844" y="120040"/>
                  </a:moveTo>
                  <a:lnTo>
                    <a:pt x="2604414" y="0"/>
                  </a:lnTo>
                  <a:lnTo>
                    <a:pt x="2674099" y="120040"/>
                  </a:lnTo>
                  <a:lnTo>
                    <a:pt x="2604414" y="239369"/>
                  </a:lnTo>
                  <a:lnTo>
                    <a:pt x="2896844" y="1200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0773" y="3392637"/>
              <a:ext cx="2482215" cy="0"/>
            </a:xfrm>
            <a:custGeom>
              <a:avLst/>
              <a:gdLst/>
              <a:ahLst/>
              <a:cxnLst/>
              <a:rect l="l" t="t" r="r" b="b"/>
              <a:pathLst>
                <a:path w="2482215">
                  <a:moveTo>
                    <a:pt x="2481707" y="0"/>
                  </a:moveTo>
                  <a:lnTo>
                    <a:pt x="2481707" y="0"/>
                  </a:lnTo>
                  <a:lnTo>
                    <a:pt x="0" y="0"/>
                  </a:lnTo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73120" y="3272281"/>
              <a:ext cx="2896870" cy="239395"/>
            </a:xfrm>
            <a:custGeom>
              <a:avLst/>
              <a:gdLst/>
              <a:ahLst/>
              <a:cxnLst/>
              <a:rect l="l" t="t" r="r" b="b"/>
              <a:pathLst>
                <a:path w="2896870" h="239395">
                  <a:moveTo>
                    <a:pt x="292303" y="0"/>
                  </a:moveTo>
                  <a:lnTo>
                    <a:pt x="0" y="120357"/>
                  </a:lnTo>
                  <a:lnTo>
                    <a:pt x="292303" y="239382"/>
                  </a:lnTo>
                  <a:lnTo>
                    <a:pt x="222923" y="120357"/>
                  </a:lnTo>
                  <a:lnTo>
                    <a:pt x="292303" y="0"/>
                  </a:lnTo>
                  <a:close/>
                </a:path>
                <a:path w="2896870" h="239395">
                  <a:moveTo>
                    <a:pt x="2896844" y="120357"/>
                  </a:moveTo>
                  <a:lnTo>
                    <a:pt x="2604414" y="0"/>
                  </a:lnTo>
                  <a:lnTo>
                    <a:pt x="2674099" y="120357"/>
                  </a:lnTo>
                  <a:lnTo>
                    <a:pt x="2604414" y="239382"/>
                  </a:lnTo>
                  <a:lnTo>
                    <a:pt x="2896844" y="1203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80773" y="4498018"/>
              <a:ext cx="2482215" cy="0"/>
            </a:xfrm>
            <a:custGeom>
              <a:avLst/>
              <a:gdLst/>
              <a:ahLst/>
              <a:cxnLst/>
              <a:rect l="l" t="t" r="r" b="b"/>
              <a:pathLst>
                <a:path w="2482215">
                  <a:moveTo>
                    <a:pt x="2481707" y="0"/>
                  </a:moveTo>
                  <a:lnTo>
                    <a:pt x="2481707" y="0"/>
                  </a:lnTo>
                  <a:lnTo>
                    <a:pt x="0" y="0"/>
                  </a:lnTo>
                </a:path>
              </a:pathLst>
            </a:custGeom>
            <a:ln w="28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173120" y="4377664"/>
              <a:ext cx="2896870" cy="240029"/>
            </a:xfrm>
            <a:custGeom>
              <a:avLst/>
              <a:gdLst/>
              <a:ahLst/>
              <a:cxnLst/>
              <a:rect l="l" t="t" r="r" b="b"/>
              <a:pathLst>
                <a:path w="2896870" h="240029">
                  <a:moveTo>
                    <a:pt x="292303" y="0"/>
                  </a:moveTo>
                  <a:lnTo>
                    <a:pt x="0" y="120357"/>
                  </a:lnTo>
                  <a:lnTo>
                    <a:pt x="292303" y="239674"/>
                  </a:lnTo>
                  <a:lnTo>
                    <a:pt x="222923" y="120357"/>
                  </a:lnTo>
                  <a:lnTo>
                    <a:pt x="292303" y="0"/>
                  </a:lnTo>
                  <a:close/>
                </a:path>
                <a:path w="2896870" h="240029">
                  <a:moveTo>
                    <a:pt x="2896844" y="120357"/>
                  </a:moveTo>
                  <a:lnTo>
                    <a:pt x="2604414" y="0"/>
                  </a:lnTo>
                  <a:lnTo>
                    <a:pt x="2674099" y="120357"/>
                  </a:lnTo>
                  <a:lnTo>
                    <a:pt x="2604414" y="239674"/>
                  </a:lnTo>
                  <a:lnTo>
                    <a:pt x="2896844" y="1203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6201212" y="730613"/>
          <a:ext cx="2118995" cy="423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8995"/>
              </a:tblGrid>
              <a:tr h="1058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135255" algn="ctr">
                        <a:lnSpc>
                          <a:spcPct val="100000"/>
                        </a:lnSpc>
                      </a:pPr>
                      <a:r>
                        <a:rPr sz="2050" b="1" spc="-10" dirty="0">
                          <a:latin typeface="Times New Roman"/>
                          <a:cs typeface="Times New Roman"/>
                        </a:rPr>
                        <a:t>Protocol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1809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058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135890" algn="ctr">
                        <a:lnSpc>
                          <a:spcPct val="100000"/>
                        </a:lnSpc>
                      </a:pPr>
                      <a:r>
                        <a:rPr sz="2050" b="1" spc="-10" dirty="0">
                          <a:latin typeface="Times New Roman"/>
                          <a:cs typeface="Times New Roman"/>
                        </a:rPr>
                        <a:t>Routing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058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139065" algn="ctr">
                        <a:lnSpc>
                          <a:spcPct val="100000"/>
                        </a:lnSpc>
                      </a:pPr>
                      <a:r>
                        <a:rPr sz="2050" b="1" spc="-20" dirty="0">
                          <a:latin typeface="Times New Roman"/>
                          <a:cs typeface="Times New Roman"/>
                        </a:rPr>
                        <a:t>Link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059180">
                <a:tc>
                  <a:txBody>
                    <a:bodyPr/>
                    <a:lstStyle/>
                    <a:p>
                      <a:pPr marL="135890" algn="ctr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sz="2050" b="1" spc="-10" dirty="0">
                          <a:latin typeface="Times New Roman"/>
                          <a:cs typeface="Times New Roman"/>
                        </a:rPr>
                        <a:t>Physical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269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683715" y="5974455"/>
            <a:ext cx="167132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b="1" spc="140" dirty="0">
                <a:latin typeface="Arial"/>
                <a:cs typeface="Arial"/>
              </a:rPr>
              <a:t>Figure</a:t>
            </a:r>
            <a:r>
              <a:rPr sz="2050" spc="434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Arial"/>
                <a:cs typeface="Arial"/>
              </a:rPr>
              <a:t>3</a:t>
            </a:r>
            <a:r>
              <a:rPr sz="2050" spc="-200" dirty="0">
                <a:latin typeface="Times New Roman"/>
                <a:cs typeface="Times New Roman"/>
              </a:rPr>
              <a:t> </a:t>
            </a:r>
            <a:r>
              <a:rPr sz="2050" b="1" spc="85" dirty="0">
                <a:latin typeface="Arial"/>
                <a:cs typeface="Arial"/>
              </a:rPr>
              <a:t>.1</a:t>
            </a:r>
            <a:r>
              <a:rPr sz="2050" spc="-195" dirty="0">
                <a:latin typeface="Times New Roman"/>
                <a:cs typeface="Times New Roman"/>
              </a:rPr>
              <a:t> </a:t>
            </a:r>
            <a:r>
              <a:rPr sz="2050" b="1" spc="-60" dirty="0">
                <a:latin typeface="Arial"/>
                <a:cs typeface="Arial"/>
              </a:rPr>
              <a:t>8</a:t>
            </a:r>
            <a:endParaRPr sz="2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9838" y="5974455"/>
            <a:ext cx="1646555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b="1" spc="100" dirty="0">
                <a:latin typeface="Arial"/>
                <a:cs typeface="Arial"/>
              </a:rPr>
              <a:t>QPI</a:t>
            </a:r>
            <a:r>
              <a:rPr sz="2050" spc="120" dirty="0">
                <a:latin typeface="Times New Roman"/>
                <a:cs typeface="Times New Roman"/>
              </a:rPr>
              <a:t>  </a:t>
            </a:r>
            <a:r>
              <a:rPr sz="2050" b="1" spc="150" dirty="0">
                <a:latin typeface="Arial"/>
                <a:cs typeface="Arial"/>
              </a:rPr>
              <a:t>Layers</a:t>
            </a:r>
            <a:endParaRPr sz="2050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7557" y="493928"/>
            <a:ext cx="7372350" cy="1447165"/>
          </a:xfrm>
          <a:custGeom>
            <a:avLst/>
            <a:gdLst/>
            <a:ahLst/>
            <a:cxnLst/>
            <a:rect l="l" t="t" r="r" b="b"/>
            <a:pathLst>
              <a:path w="7372350" h="1447164">
                <a:moveTo>
                  <a:pt x="7372124" y="0"/>
                </a:moveTo>
                <a:lnTo>
                  <a:pt x="0" y="0"/>
                </a:lnTo>
                <a:lnTo>
                  <a:pt x="0" y="1446824"/>
                </a:lnTo>
                <a:lnTo>
                  <a:pt x="7372124" y="1446824"/>
                </a:lnTo>
                <a:lnTo>
                  <a:pt x="7372124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03768" y="838443"/>
            <a:ext cx="6880225" cy="1102360"/>
            <a:chOff x="903768" y="838443"/>
            <a:chExt cx="6880225" cy="1102360"/>
          </a:xfrm>
        </p:grpSpPr>
        <p:sp>
          <p:nvSpPr>
            <p:cNvPr id="5" name="object 5"/>
            <p:cNvSpPr/>
            <p:nvPr/>
          </p:nvSpPr>
          <p:spPr>
            <a:xfrm>
              <a:off x="903768" y="838443"/>
              <a:ext cx="6880225" cy="1102360"/>
            </a:xfrm>
            <a:custGeom>
              <a:avLst/>
              <a:gdLst/>
              <a:ahLst/>
              <a:cxnLst/>
              <a:rect l="l" t="t" r="r" b="b"/>
              <a:pathLst>
                <a:path w="6880225" h="1102360">
                  <a:moveTo>
                    <a:pt x="6879756" y="0"/>
                  </a:moveTo>
                  <a:lnTo>
                    <a:pt x="0" y="0"/>
                  </a:lnTo>
                  <a:lnTo>
                    <a:pt x="0" y="1102309"/>
                  </a:lnTo>
                  <a:lnTo>
                    <a:pt x="6879756" y="1102309"/>
                  </a:lnTo>
                  <a:lnTo>
                    <a:pt x="6879756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0935" y="1860714"/>
              <a:ext cx="6637020" cy="80645"/>
            </a:xfrm>
            <a:custGeom>
              <a:avLst/>
              <a:gdLst/>
              <a:ahLst/>
              <a:cxnLst/>
              <a:rect l="l" t="t" r="r" b="b"/>
              <a:pathLst>
                <a:path w="6637020" h="80644">
                  <a:moveTo>
                    <a:pt x="90195" y="0"/>
                  </a:moveTo>
                  <a:lnTo>
                    <a:pt x="0" y="0"/>
                  </a:lnTo>
                  <a:lnTo>
                    <a:pt x="45097" y="80048"/>
                  </a:lnTo>
                  <a:lnTo>
                    <a:pt x="90195" y="0"/>
                  </a:lnTo>
                  <a:close/>
                </a:path>
                <a:path w="6637020" h="80644">
                  <a:moveTo>
                    <a:pt x="292315" y="0"/>
                  </a:moveTo>
                  <a:lnTo>
                    <a:pt x="202107" y="0"/>
                  </a:lnTo>
                  <a:lnTo>
                    <a:pt x="247218" y="80048"/>
                  </a:lnTo>
                  <a:lnTo>
                    <a:pt x="292315" y="0"/>
                  </a:lnTo>
                  <a:close/>
                </a:path>
                <a:path w="6637020" h="80644">
                  <a:moveTo>
                    <a:pt x="421525" y="0"/>
                  </a:moveTo>
                  <a:lnTo>
                    <a:pt x="331330" y="0"/>
                  </a:lnTo>
                  <a:lnTo>
                    <a:pt x="376428" y="80048"/>
                  </a:lnTo>
                  <a:lnTo>
                    <a:pt x="421525" y="0"/>
                  </a:lnTo>
                  <a:close/>
                </a:path>
                <a:path w="6637020" h="80644">
                  <a:moveTo>
                    <a:pt x="550710" y="0"/>
                  </a:moveTo>
                  <a:lnTo>
                    <a:pt x="459447" y="0"/>
                  </a:lnTo>
                  <a:lnTo>
                    <a:pt x="505625" y="80048"/>
                  </a:lnTo>
                  <a:lnTo>
                    <a:pt x="550710" y="0"/>
                  </a:lnTo>
                  <a:close/>
                </a:path>
                <a:path w="6637020" h="80644">
                  <a:moveTo>
                    <a:pt x="680212" y="0"/>
                  </a:moveTo>
                  <a:lnTo>
                    <a:pt x="588683" y="0"/>
                  </a:lnTo>
                  <a:lnTo>
                    <a:pt x="633768" y="80048"/>
                  </a:lnTo>
                  <a:lnTo>
                    <a:pt x="680212" y="0"/>
                  </a:lnTo>
                  <a:close/>
                </a:path>
                <a:path w="6637020" h="80644">
                  <a:moveTo>
                    <a:pt x="808482" y="0"/>
                  </a:moveTo>
                  <a:lnTo>
                    <a:pt x="717905" y="0"/>
                  </a:lnTo>
                  <a:lnTo>
                    <a:pt x="763397" y="80048"/>
                  </a:lnTo>
                  <a:lnTo>
                    <a:pt x="808482" y="0"/>
                  </a:lnTo>
                  <a:close/>
                </a:path>
                <a:path w="6637020" h="80644">
                  <a:moveTo>
                    <a:pt x="1084160" y="0"/>
                  </a:moveTo>
                  <a:lnTo>
                    <a:pt x="992911" y="0"/>
                  </a:lnTo>
                  <a:lnTo>
                    <a:pt x="1037983" y="80048"/>
                  </a:lnTo>
                  <a:lnTo>
                    <a:pt x="1039075" y="80048"/>
                  </a:lnTo>
                  <a:lnTo>
                    <a:pt x="1084160" y="0"/>
                  </a:lnTo>
                  <a:close/>
                </a:path>
                <a:path w="6637020" h="80644">
                  <a:moveTo>
                    <a:pt x="1212710" y="0"/>
                  </a:moveTo>
                  <a:lnTo>
                    <a:pt x="1122133" y="0"/>
                  </a:lnTo>
                  <a:lnTo>
                    <a:pt x="1167625" y="80048"/>
                  </a:lnTo>
                  <a:lnTo>
                    <a:pt x="1212710" y="0"/>
                  </a:lnTo>
                  <a:close/>
                </a:path>
                <a:path w="6637020" h="80644">
                  <a:moveTo>
                    <a:pt x="1341932" y="0"/>
                  </a:moveTo>
                  <a:lnTo>
                    <a:pt x="1251635" y="0"/>
                  </a:lnTo>
                  <a:lnTo>
                    <a:pt x="1296860" y="80048"/>
                  </a:lnTo>
                  <a:lnTo>
                    <a:pt x="1341932" y="0"/>
                  </a:lnTo>
                  <a:close/>
                </a:path>
                <a:path w="6637020" h="80644">
                  <a:moveTo>
                    <a:pt x="1471168" y="0"/>
                  </a:moveTo>
                  <a:lnTo>
                    <a:pt x="1379918" y="0"/>
                  </a:lnTo>
                  <a:lnTo>
                    <a:pt x="1425943" y="80048"/>
                  </a:lnTo>
                  <a:lnTo>
                    <a:pt x="1471168" y="0"/>
                  </a:lnTo>
                  <a:close/>
                </a:path>
                <a:path w="6637020" h="80644">
                  <a:moveTo>
                    <a:pt x="1600263" y="0"/>
                  </a:moveTo>
                  <a:lnTo>
                    <a:pt x="1509153" y="0"/>
                  </a:lnTo>
                  <a:lnTo>
                    <a:pt x="1554226" y="80048"/>
                  </a:lnTo>
                  <a:lnTo>
                    <a:pt x="1600263" y="0"/>
                  </a:lnTo>
                  <a:close/>
                </a:path>
                <a:path w="6637020" h="80644">
                  <a:moveTo>
                    <a:pt x="1875396" y="0"/>
                  </a:moveTo>
                  <a:lnTo>
                    <a:pt x="1785099" y="0"/>
                  </a:lnTo>
                  <a:lnTo>
                    <a:pt x="1830184" y="80048"/>
                  </a:lnTo>
                  <a:lnTo>
                    <a:pt x="1875396" y="0"/>
                  </a:lnTo>
                  <a:close/>
                </a:path>
                <a:path w="6637020" h="80644">
                  <a:moveTo>
                    <a:pt x="2004491" y="0"/>
                  </a:moveTo>
                  <a:lnTo>
                    <a:pt x="1913369" y="0"/>
                  </a:lnTo>
                  <a:lnTo>
                    <a:pt x="1958454" y="80048"/>
                  </a:lnTo>
                  <a:lnTo>
                    <a:pt x="1959406" y="80048"/>
                  </a:lnTo>
                  <a:lnTo>
                    <a:pt x="2004491" y="0"/>
                  </a:lnTo>
                  <a:close/>
                </a:path>
                <a:path w="6637020" h="80644">
                  <a:moveTo>
                    <a:pt x="2132761" y="0"/>
                  </a:moveTo>
                  <a:lnTo>
                    <a:pt x="2042477" y="0"/>
                  </a:lnTo>
                  <a:lnTo>
                    <a:pt x="2087676" y="80048"/>
                  </a:lnTo>
                  <a:lnTo>
                    <a:pt x="2132761" y="0"/>
                  </a:lnTo>
                  <a:close/>
                </a:path>
                <a:path w="6637020" h="80644">
                  <a:moveTo>
                    <a:pt x="2261997" y="0"/>
                  </a:moveTo>
                  <a:lnTo>
                    <a:pt x="2171687" y="0"/>
                  </a:lnTo>
                  <a:lnTo>
                    <a:pt x="2216759" y="80048"/>
                  </a:lnTo>
                  <a:lnTo>
                    <a:pt x="2261997" y="0"/>
                  </a:lnTo>
                  <a:close/>
                </a:path>
                <a:path w="6637020" h="80644">
                  <a:moveTo>
                    <a:pt x="2391511" y="0"/>
                  </a:moveTo>
                  <a:lnTo>
                    <a:pt x="2299970" y="0"/>
                  </a:lnTo>
                  <a:lnTo>
                    <a:pt x="2346426" y="80048"/>
                  </a:lnTo>
                  <a:lnTo>
                    <a:pt x="2391511" y="0"/>
                  </a:lnTo>
                  <a:close/>
                </a:path>
                <a:path w="6637020" h="80644">
                  <a:moveTo>
                    <a:pt x="2666225" y="0"/>
                  </a:moveTo>
                  <a:lnTo>
                    <a:pt x="2575941" y="0"/>
                  </a:lnTo>
                  <a:lnTo>
                    <a:pt x="2621140" y="80048"/>
                  </a:lnTo>
                  <a:lnTo>
                    <a:pt x="2666225" y="0"/>
                  </a:lnTo>
                  <a:close/>
                </a:path>
                <a:path w="6637020" h="80644">
                  <a:moveTo>
                    <a:pt x="2795727" y="0"/>
                  </a:moveTo>
                  <a:lnTo>
                    <a:pt x="2705150" y="0"/>
                  </a:lnTo>
                  <a:lnTo>
                    <a:pt x="2750223" y="80048"/>
                  </a:lnTo>
                  <a:lnTo>
                    <a:pt x="2795727" y="0"/>
                  </a:lnTo>
                  <a:close/>
                </a:path>
                <a:path w="6637020" h="80644">
                  <a:moveTo>
                    <a:pt x="2924962" y="0"/>
                  </a:moveTo>
                  <a:lnTo>
                    <a:pt x="2833713" y="0"/>
                  </a:lnTo>
                  <a:lnTo>
                    <a:pt x="2878785" y="80048"/>
                  </a:lnTo>
                  <a:lnTo>
                    <a:pt x="2879890" y="80048"/>
                  </a:lnTo>
                  <a:lnTo>
                    <a:pt x="2924962" y="0"/>
                  </a:lnTo>
                  <a:close/>
                </a:path>
                <a:path w="6637020" h="80644">
                  <a:moveTo>
                    <a:pt x="3053105" y="0"/>
                  </a:moveTo>
                  <a:lnTo>
                    <a:pt x="2962948" y="0"/>
                  </a:lnTo>
                  <a:lnTo>
                    <a:pt x="3008020" y="80048"/>
                  </a:lnTo>
                  <a:lnTo>
                    <a:pt x="3053105" y="0"/>
                  </a:lnTo>
                  <a:close/>
                </a:path>
                <a:path w="6637020" h="80644">
                  <a:moveTo>
                    <a:pt x="3182315" y="0"/>
                  </a:moveTo>
                  <a:lnTo>
                    <a:pt x="3092183" y="0"/>
                  </a:lnTo>
                  <a:lnTo>
                    <a:pt x="3137255" y="80048"/>
                  </a:lnTo>
                  <a:lnTo>
                    <a:pt x="3182315" y="0"/>
                  </a:lnTo>
                  <a:close/>
                </a:path>
                <a:path w="6637020" h="80644">
                  <a:moveTo>
                    <a:pt x="3544468" y="80048"/>
                  </a:moveTo>
                  <a:lnTo>
                    <a:pt x="3499396" y="1104"/>
                  </a:lnTo>
                  <a:lnTo>
                    <a:pt x="3454311" y="80048"/>
                  </a:lnTo>
                  <a:lnTo>
                    <a:pt x="3544468" y="80048"/>
                  </a:lnTo>
                  <a:close/>
                </a:path>
                <a:path w="6637020" h="80644">
                  <a:moveTo>
                    <a:pt x="3673703" y="80048"/>
                  </a:moveTo>
                  <a:lnTo>
                    <a:pt x="3627526" y="1104"/>
                  </a:lnTo>
                  <a:lnTo>
                    <a:pt x="3582454" y="80048"/>
                  </a:lnTo>
                  <a:lnTo>
                    <a:pt x="3673703" y="80048"/>
                  </a:lnTo>
                  <a:close/>
                </a:path>
                <a:path w="6637020" h="80644">
                  <a:moveTo>
                    <a:pt x="3801846" y="80048"/>
                  </a:moveTo>
                  <a:lnTo>
                    <a:pt x="3756761" y="1104"/>
                  </a:lnTo>
                  <a:lnTo>
                    <a:pt x="3711689" y="80048"/>
                  </a:lnTo>
                  <a:lnTo>
                    <a:pt x="3801846" y="80048"/>
                  </a:lnTo>
                  <a:close/>
                </a:path>
                <a:path w="6637020" h="80644">
                  <a:moveTo>
                    <a:pt x="3931475" y="80048"/>
                  </a:moveTo>
                  <a:lnTo>
                    <a:pt x="3885996" y="1104"/>
                  </a:lnTo>
                  <a:lnTo>
                    <a:pt x="3840924" y="80048"/>
                  </a:lnTo>
                  <a:lnTo>
                    <a:pt x="3931475" y="80048"/>
                  </a:lnTo>
                  <a:close/>
                </a:path>
                <a:path w="6637020" h="80644">
                  <a:moveTo>
                    <a:pt x="4060710" y="80048"/>
                  </a:moveTo>
                  <a:lnTo>
                    <a:pt x="4015511" y="1104"/>
                  </a:lnTo>
                  <a:lnTo>
                    <a:pt x="3969054" y="80048"/>
                  </a:lnTo>
                  <a:lnTo>
                    <a:pt x="4060710" y="80048"/>
                  </a:lnTo>
                  <a:close/>
                </a:path>
                <a:path w="6637020" h="80644">
                  <a:moveTo>
                    <a:pt x="4335704" y="80048"/>
                  </a:moveTo>
                  <a:lnTo>
                    <a:pt x="4290225" y="1104"/>
                  </a:lnTo>
                  <a:lnTo>
                    <a:pt x="4245153" y="80048"/>
                  </a:lnTo>
                  <a:lnTo>
                    <a:pt x="4335704" y="80048"/>
                  </a:lnTo>
                  <a:close/>
                </a:path>
                <a:path w="6637020" h="80644">
                  <a:moveTo>
                    <a:pt x="4464939" y="80048"/>
                  </a:moveTo>
                  <a:lnTo>
                    <a:pt x="4419739" y="1104"/>
                  </a:lnTo>
                  <a:lnTo>
                    <a:pt x="4374388" y="80048"/>
                  </a:lnTo>
                  <a:lnTo>
                    <a:pt x="4464939" y="80048"/>
                  </a:lnTo>
                  <a:close/>
                </a:path>
                <a:path w="6637020" h="80644">
                  <a:moveTo>
                    <a:pt x="4594022" y="80048"/>
                  </a:moveTo>
                  <a:lnTo>
                    <a:pt x="4548975" y="1104"/>
                  </a:lnTo>
                  <a:lnTo>
                    <a:pt x="4547997" y="1104"/>
                  </a:lnTo>
                  <a:lnTo>
                    <a:pt x="4502912" y="80048"/>
                  </a:lnTo>
                  <a:lnTo>
                    <a:pt x="4594022" y="80048"/>
                  </a:lnTo>
                  <a:close/>
                </a:path>
                <a:path w="6637020" h="80644">
                  <a:moveTo>
                    <a:pt x="4722317" y="80048"/>
                  </a:moveTo>
                  <a:lnTo>
                    <a:pt x="4677232" y="1104"/>
                  </a:lnTo>
                  <a:lnTo>
                    <a:pt x="4632033" y="80048"/>
                  </a:lnTo>
                  <a:lnTo>
                    <a:pt x="4722317" y="80048"/>
                  </a:lnTo>
                  <a:close/>
                </a:path>
                <a:path w="6637020" h="80644">
                  <a:moveTo>
                    <a:pt x="4851552" y="80048"/>
                  </a:moveTo>
                  <a:lnTo>
                    <a:pt x="4806315" y="1104"/>
                  </a:lnTo>
                  <a:lnTo>
                    <a:pt x="4761230" y="80048"/>
                  </a:lnTo>
                  <a:lnTo>
                    <a:pt x="4851552" y="80048"/>
                  </a:lnTo>
                  <a:close/>
                </a:path>
                <a:path w="6637020" h="80644">
                  <a:moveTo>
                    <a:pt x="5127485" y="80048"/>
                  </a:moveTo>
                  <a:lnTo>
                    <a:pt x="5081460" y="1104"/>
                  </a:lnTo>
                  <a:lnTo>
                    <a:pt x="5036375" y="80048"/>
                  </a:lnTo>
                  <a:lnTo>
                    <a:pt x="5127485" y="80048"/>
                  </a:lnTo>
                  <a:close/>
                </a:path>
                <a:path w="6637020" h="80644">
                  <a:moveTo>
                    <a:pt x="5255768" y="80048"/>
                  </a:moveTo>
                  <a:lnTo>
                    <a:pt x="5210695" y="1104"/>
                  </a:lnTo>
                  <a:lnTo>
                    <a:pt x="5165496" y="80048"/>
                  </a:lnTo>
                  <a:lnTo>
                    <a:pt x="5255768" y="80048"/>
                  </a:lnTo>
                  <a:close/>
                </a:path>
                <a:path w="6637020" h="80644">
                  <a:moveTo>
                    <a:pt x="5385003" y="80048"/>
                  </a:moveTo>
                  <a:lnTo>
                    <a:pt x="5339778" y="1104"/>
                  </a:lnTo>
                  <a:lnTo>
                    <a:pt x="5294693" y="80048"/>
                  </a:lnTo>
                  <a:lnTo>
                    <a:pt x="5385003" y="80048"/>
                  </a:lnTo>
                  <a:close/>
                </a:path>
                <a:path w="6637020" h="80644">
                  <a:moveTo>
                    <a:pt x="5514518" y="80048"/>
                  </a:moveTo>
                  <a:lnTo>
                    <a:pt x="5469013" y="1104"/>
                  </a:lnTo>
                  <a:lnTo>
                    <a:pt x="5468061" y="1104"/>
                  </a:lnTo>
                  <a:lnTo>
                    <a:pt x="5422989" y="80048"/>
                  </a:lnTo>
                  <a:lnTo>
                    <a:pt x="5514518" y="80048"/>
                  </a:lnTo>
                  <a:close/>
                </a:path>
                <a:path w="6637020" h="80644">
                  <a:moveTo>
                    <a:pt x="5642661" y="80048"/>
                  </a:moveTo>
                  <a:lnTo>
                    <a:pt x="5597576" y="1104"/>
                  </a:lnTo>
                  <a:lnTo>
                    <a:pt x="5552071" y="80048"/>
                  </a:lnTo>
                  <a:lnTo>
                    <a:pt x="5642661" y="80048"/>
                  </a:lnTo>
                  <a:close/>
                </a:path>
                <a:path w="6637020" h="80644">
                  <a:moveTo>
                    <a:pt x="5918314" y="80048"/>
                  </a:moveTo>
                  <a:lnTo>
                    <a:pt x="5873242" y="1104"/>
                  </a:lnTo>
                  <a:lnTo>
                    <a:pt x="5827217" y="80048"/>
                  </a:lnTo>
                  <a:lnTo>
                    <a:pt x="5918314" y="80048"/>
                  </a:lnTo>
                  <a:close/>
                </a:path>
                <a:path w="6637020" h="80644">
                  <a:moveTo>
                    <a:pt x="6047981" y="80048"/>
                  </a:moveTo>
                  <a:lnTo>
                    <a:pt x="6001804" y="1104"/>
                  </a:lnTo>
                  <a:lnTo>
                    <a:pt x="5956300" y="80048"/>
                  </a:lnTo>
                  <a:lnTo>
                    <a:pt x="6047981" y="80048"/>
                  </a:lnTo>
                  <a:close/>
                </a:path>
                <a:path w="6637020" h="80644">
                  <a:moveTo>
                    <a:pt x="6176111" y="80048"/>
                  </a:moveTo>
                  <a:lnTo>
                    <a:pt x="6131039" y="1104"/>
                  </a:lnTo>
                  <a:lnTo>
                    <a:pt x="6085929" y="80048"/>
                  </a:lnTo>
                  <a:lnTo>
                    <a:pt x="6176111" y="80048"/>
                  </a:lnTo>
                  <a:close/>
                </a:path>
                <a:path w="6637020" h="80644">
                  <a:moveTo>
                    <a:pt x="6305321" y="80048"/>
                  </a:moveTo>
                  <a:lnTo>
                    <a:pt x="6260274" y="1104"/>
                  </a:lnTo>
                  <a:lnTo>
                    <a:pt x="6215164" y="80048"/>
                  </a:lnTo>
                  <a:lnTo>
                    <a:pt x="6305321" y="80048"/>
                  </a:lnTo>
                  <a:close/>
                </a:path>
                <a:path w="6637020" h="80644">
                  <a:moveTo>
                    <a:pt x="6434556" y="80048"/>
                  </a:moveTo>
                  <a:lnTo>
                    <a:pt x="6389471" y="1104"/>
                  </a:lnTo>
                  <a:lnTo>
                    <a:pt x="6388379" y="1104"/>
                  </a:lnTo>
                  <a:lnTo>
                    <a:pt x="6343332" y="80048"/>
                  </a:lnTo>
                  <a:lnTo>
                    <a:pt x="6434556" y="80048"/>
                  </a:lnTo>
                  <a:close/>
                </a:path>
                <a:path w="6637020" h="80644">
                  <a:moveTo>
                    <a:pt x="6636613" y="80048"/>
                  </a:moveTo>
                  <a:lnTo>
                    <a:pt x="6591528" y="1104"/>
                  </a:lnTo>
                  <a:lnTo>
                    <a:pt x="6590589" y="1104"/>
                  </a:lnTo>
                  <a:lnTo>
                    <a:pt x="6545351" y="80048"/>
                  </a:lnTo>
                  <a:lnTo>
                    <a:pt x="6636613" y="80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/>
          <p:cNvSpPr/>
          <p:nvPr/>
        </p:nvSpPr>
        <p:spPr>
          <a:xfrm>
            <a:off x="657557" y="3425677"/>
            <a:ext cx="7372350" cy="1448435"/>
          </a:xfrm>
          <a:custGeom>
            <a:avLst/>
            <a:gdLst/>
            <a:ahLst/>
            <a:cxnLst/>
            <a:rect l="l" t="t" r="r" b="b"/>
            <a:pathLst>
              <a:path w="7372350" h="1448435">
                <a:moveTo>
                  <a:pt x="7372124" y="0"/>
                </a:moveTo>
                <a:lnTo>
                  <a:pt x="0" y="0"/>
                </a:lnTo>
                <a:lnTo>
                  <a:pt x="0" y="1447918"/>
                </a:lnTo>
                <a:lnTo>
                  <a:pt x="7372124" y="1447918"/>
                </a:lnTo>
                <a:lnTo>
                  <a:pt x="7372124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903768" y="3426653"/>
            <a:ext cx="6880225" cy="1102995"/>
            <a:chOff x="903768" y="3426653"/>
            <a:chExt cx="6880225" cy="1102995"/>
          </a:xfrm>
        </p:grpSpPr>
        <p:sp>
          <p:nvSpPr>
            <p:cNvPr id="8" name="object 8"/>
            <p:cNvSpPr/>
            <p:nvPr/>
          </p:nvSpPr>
          <p:spPr>
            <a:xfrm>
              <a:off x="903768" y="3426653"/>
              <a:ext cx="6880225" cy="1102995"/>
            </a:xfrm>
            <a:custGeom>
              <a:avLst/>
              <a:gdLst/>
              <a:ahLst/>
              <a:cxnLst/>
              <a:rect l="l" t="t" r="r" b="b"/>
              <a:pathLst>
                <a:path w="6880225" h="1102995">
                  <a:moveTo>
                    <a:pt x="6879756" y="0"/>
                  </a:moveTo>
                  <a:lnTo>
                    <a:pt x="0" y="0"/>
                  </a:lnTo>
                  <a:lnTo>
                    <a:pt x="0" y="1102449"/>
                  </a:lnTo>
                  <a:lnTo>
                    <a:pt x="6879756" y="1102449"/>
                  </a:lnTo>
                  <a:lnTo>
                    <a:pt x="6879756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0935" y="3426663"/>
              <a:ext cx="6637020" cy="80645"/>
            </a:xfrm>
            <a:custGeom>
              <a:avLst/>
              <a:gdLst/>
              <a:ahLst/>
              <a:cxnLst/>
              <a:rect l="l" t="t" r="r" b="b"/>
              <a:pathLst>
                <a:path w="6637020" h="80645">
                  <a:moveTo>
                    <a:pt x="90195" y="0"/>
                  </a:moveTo>
                  <a:lnTo>
                    <a:pt x="0" y="0"/>
                  </a:lnTo>
                  <a:lnTo>
                    <a:pt x="45097" y="79057"/>
                  </a:lnTo>
                  <a:lnTo>
                    <a:pt x="90195" y="0"/>
                  </a:lnTo>
                  <a:close/>
                </a:path>
                <a:path w="6637020" h="80645">
                  <a:moveTo>
                    <a:pt x="292315" y="0"/>
                  </a:moveTo>
                  <a:lnTo>
                    <a:pt x="202107" y="0"/>
                  </a:lnTo>
                  <a:lnTo>
                    <a:pt x="247218" y="79057"/>
                  </a:lnTo>
                  <a:lnTo>
                    <a:pt x="292315" y="0"/>
                  </a:lnTo>
                  <a:close/>
                </a:path>
                <a:path w="6637020" h="80645">
                  <a:moveTo>
                    <a:pt x="421525" y="0"/>
                  </a:moveTo>
                  <a:lnTo>
                    <a:pt x="331330" y="0"/>
                  </a:lnTo>
                  <a:lnTo>
                    <a:pt x="376428" y="79057"/>
                  </a:lnTo>
                  <a:lnTo>
                    <a:pt x="421525" y="0"/>
                  </a:lnTo>
                  <a:close/>
                </a:path>
                <a:path w="6637020" h="80645">
                  <a:moveTo>
                    <a:pt x="550710" y="0"/>
                  </a:moveTo>
                  <a:lnTo>
                    <a:pt x="459447" y="0"/>
                  </a:lnTo>
                  <a:lnTo>
                    <a:pt x="505625" y="79057"/>
                  </a:lnTo>
                  <a:lnTo>
                    <a:pt x="550710" y="0"/>
                  </a:lnTo>
                  <a:close/>
                </a:path>
                <a:path w="6637020" h="80645">
                  <a:moveTo>
                    <a:pt x="680212" y="0"/>
                  </a:moveTo>
                  <a:lnTo>
                    <a:pt x="588683" y="0"/>
                  </a:lnTo>
                  <a:lnTo>
                    <a:pt x="633768" y="79057"/>
                  </a:lnTo>
                  <a:lnTo>
                    <a:pt x="680212" y="0"/>
                  </a:lnTo>
                  <a:close/>
                </a:path>
                <a:path w="6637020" h="80645">
                  <a:moveTo>
                    <a:pt x="808482" y="0"/>
                  </a:moveTo>
                  <a:lnTo>
                    <a:pt x="717905" y="0"/>
                  </a:lnTo>
                  <a:lnTo>
                    <a:pt x="763397" y="79057"/>
                  </a:lnTo>
                  <a:lnTo>
                    <a:pt x="808482" y="0"/>
                  </a:lnTo>
                  <a:close/>
                </a:path>
                <a:path w="6637020" h="80645">
                  <a:moveTo>
                    <a:pt x="1084160" y="0"/>
                  </a:moveTo>
                  <a:lnTo>
                    <a:pt x="992911" y="0"/>
                  </a:lnTo>
                  <a:lnTo>
                    <a:pt x="1037983" y="79057"/>
                  </a:lnTo>
                  <a:lnTo>
                    <a:pt x="1039075" y="79057"/>
                  </a:lnTo>
                  <a:lnTo>
                    <a:pt x="1084160" y="0"/>
                  </a:lnTo>
                  <a:close/>
                </a:path>
                <a:path w="6637020" h="80645">
                  <a:moveTo>
                    <a:pt x="1212710" y="0"/>
                  </a:moveTo>
                  <a:lnTo>
                    <a:pt x="1122133" y="0"/>
                  </a:lnTo>
                  <a:lnTo>
                    <a:pt x="1167625" y="79057"/>
                  </a:lnTo>
                  <a:lnTo>
                    <a:pt x="1212710" y="0"/>
                  </a:lnTo>
                  <a:close/>
                </a:path>
                <a:path w="6637020" h="80645">
                  <a:moveTo>
                    <a:pt x="1341932" y="0"/>
                  </a:moveTo>
                  <a:lnTo>
                    <a:pt x="1251635" y="0"/>
                  </a:lnTo>
                  <a:lnTo>
                    <a:pt x="1296860" y="79057"/>
                  </a:lnTo>
                  <a:lnTo>
                    <a:pt x="1341932" y="0"/>
                  </a:lnTo>
                  <a:close/>
                </a:path>
                <a:path w="6637020" h="80645">
                  <a:moveTo>
                    <a:pt x="1471168" y="0"/>
                  </a:moveTo>
                  <a:lnTo>
                    <a:pt x="1379918" y="0"/>
                  </a:lnTo>
                  <a:lnTo>
                    <a:pt x="1425943" y="79057"/>
                  </a:lnTo>
                  <a:lnTo>
                    <a:pt x="1471168" y="0"/>
                  </a:lnTo>
                  <a:close/>
                </a:path>
                <a:path w="6637020" h="80645">
                  <a:moveTo>
                    <a:pt x="1600263" y="0"/>
                  </a:moveTo>
                  <a:lnTo>
                    <a:pt x="1509153" y="0"/>
                  </a:lnTo>
                  <a:lnTo>
                    <a:pt x="1554226" y="79057"/>
                  </a:lnTo>
                  <a:lnTo>
                    <a:pt x="1600263" y="0"/>
                  </a:lnTo>
                  <a:close/>
                </a:path>
                <a:path w="6637020" h="80645">
                  <a:moveTo>
                    <a:pt x="1875396" y="0"/>
                  </a:moveTo>
                  <a:lnTo>
                    <a:pt x="1785099" y="0"/>
                  </a:lnTo>
                  <a:lnTo>
                    <a:pt x="1830184" y="79057"/>
                  </a:lnTo>
                  <a:lnTo>
                    <a:pt x="1875396" y="0"/>
                  </a:lnTo>
                  <a:close/>
                </a:path>
                <a:path w="6637020" h="80645">
                  <a:moveTo>
                    <a:pt x="2004491" y="0"/>
                  </a:moveTo>
                  <a:lnTo>
                    <a:pt x="1913369" y="0"/>
                  </a:lnTo>
                  <a:lnTo>
                    <a:pt x="1958454" y="79057"/>
                  </a:lnTo>
                  <a:lnTo>
                    <a:pt x="1959406" y="79057"/>
                  </a:lnTo>
                  <a:lnTo>
                    <a:pt x="2004491" y="0"/>
                  </a:lnTo>
                  <a:close/>
                </a:path>
                <a:path w="6637020" h="80645">
                  <a:moveTo>
                    <a:pt x="2132761" y="0"/>
                  </a:moveTo>
                  <a:lnTo>
                    <a:pt x="2042477" y="0"/>
                  </a:lnTo>
                  <a:lnTo>
                    <a:pt x="2087676" y="79057"/>
                  </a:lnTo>
                  <a:lnTo>
                    <a:pt x="2132761" y="0"/>
                  </a:lnTo>
                  <a:close/>
                </a:path>
                <a:path w="6637020" h="80645">
                  <a:moveTo>
                    <a:pt x="2261997" y="0"/>
                  </a:moveTo>
                  <a:lnTo>
                    <a:pt x="2171687" y="0"/>
                  </a:lnTo>
                  <a:lnTo>
                    <a:pt x="2216759" y="79057"/>
                  </a:lnTo>
                  <a:lnTo>
                    <a:pt x="2261997" y="0"/>
                  </a:lnTo>
                  <a:close/>
                </a:path>
                <a:path w="6637020" h="80645">
                  <a:moveTo>
                    <a:pt x="2391511" y="0"/>
                  </a:moveTo>
                  <a:lnTo>
                    <a:pt x="2299970" y="0"/>
                  </a:lnTo>
                  <a:lnTo>
                    <a:pt x="2346426" y="79057"/>
                  </a:lnTo>
                  <a:lnTo>
                    <a:pt x="2391511" y="0"/>
                  </a:lnTo>
                  <a:close/>
                </a:path>
                <a:path w="6637020" h="80645">
                  <a:moveTo>
                    <a:pt x="2666225" y="0"/>
                  </a:moveTo>
                  <a:lnTo>
                    <a:pt x="2575941" y="0"/>
                  </a:lnTo>
                  <a:lnTo>
                    <a:pt x="2621140" y="79057"/>
                  </a:lnTo>
                  <a:lnTo>
                    <a:pt x="2666225" y="0"/>
                  </a:lnTo>
                  <a:close/>
                </a:path>
                <a:path w="6637020" h="80645">
                  <a:moveTo>
                    <a:pt x="2795727" y="0"/>
                  </a:moveTo>
                  <a:lnTo>
                    <a:pt x="2705150" y="0"/>
                  </a:lnTo>
                  <a:lnTo>
                    <a:pt x="2750223" y="79057"/>
                  </a:lnTo>
                  <a:lnTo>
                    <a:pt x="2795727" y="0"/>
                  </a:lnTo>
                  <a:close/>
                </a:path>
                <a:path w="6637020" h="80645">
                  <a:moveTo>
                    <a:pt x="2924962" y="0"/>
                  </a:moveTo>
                  <a:lnTo>
                    <a:pt x="2833713" y="0"/>
                  </a:lnTo>
                  <a:lnTo>
                    <a:pt x="2878785" y="79057"/>
                  </a:lnTo>
                  <a:lnTo>
                    <a:pt x="2879890" y="79057"/>
                  </a:lnTo>
                  <a:lnTo>
                    <a:pt x="2924962" y="0"/>
                  </a:lnTo>
                  <a:close/>
                </a:path>
                <a:path w="6637020" h="80645">
                  <a:moveTo>
                    <a:pt x="3053105" y="0"/>
                  </a:moveTo>
                  <a:lnTo>
                    <a:pt x="2962948" y="0"/>
                  </a:lnTo>
                  <a:lnTo>
                    <a:pt x="3008020" y="79057"/>
                  </a:lnTo>
                  <a:lnTo>
                    <a:pt x="3053105" y="0"/>
                  </a:lnTo>
                  <a:close/>
                </a:path>
                <a:path w="6637020" h="80645">
                  <a:moveTo>
                    <a:pt x="3182315" y="0"/>
                  </a:moveTo>
                  <a:lnTo>
                    <a:pt x="3092183" y="0"/>
                  </a:lnTo>
                  <a:lnTo>
                    <a:pt x="3137255" y="79057"/>
                  </a:lnTo>
                  <a:lnTo>
                    <a:pt x="3182315" y="0"/>
                  </a:lnTo>
                  <a:close/>
                </a:path>
                <a:path w="6637020" h="80645">
                  <a:moveTo>
                    <a:pt x="3544468" y="80035"/>
                  </a:moveTo>
                  <a:lnTo>
                    <a:pt x="3499396" y="0"/>
                  </a:lnTo>
                  <a:lnTo>
                    <a:pt x="3454311" y="80035"/>
                  </a:lnTo>
                  <a:lnTo>
                    <a:pt x="3544468" y="80035"/>
                  </a:lnTo>
                  <a:close/>
                </a:path>
                <a:path w="6637020" h="80645">
                  <a:moveTo>
                    <a:pt x="3673703" y="80035"/>
                  </a:moveTo>
                  <a:lnTo>
                    <a:pt x="3627526" y="0"/>
                  </a:lnTo>
                  <a:lnTo>
                    <a:pt x="3582454" y="80035"/>
                  </a:lnTo>
                  <a:lnTo>
                    <a:pt x="3673703" y="80035"/>
                  </a:lnTo>
                  <a:close/>
                </a:path>
                <a:path w="6637020" h="80645">
                  <a:moveTo>
                    <a:pt x="3801846" y="80035"/>
                  </a:moveTo>
                  <a:lnTo>
                    <a:pt x="3756761" y="0"/>
                  </a:lnTo>
                  <a:lnTo>
                    <a:pt x="3711689" y="80035"/>
                  </a:lnTo>
                  <a:lnTo>
                    <a:pt x="3801846" y="80035"/>
                  </a:lnTo>
                  <a:close/>
                </a:path>
                <a:path w="6637020" h="80645">
                  <a:moveTo>
                    <a:pt x="3931475" y="80035"/>
                  </a:moveTo>
                  <a:lnTo>
                    <a:pt x="3885996" y="0"/>
                  </a:lnTo>
                  <a:lnTo>
                    <a:pt x="3840924" y="80035"/>
                  </a:lnTo>
                  <a:lnTo>
                    <a:pt x="3931475" y="80035"/>
                  </a:lnTo>
                  <a:close/>
                </a:path>
                <a:path w="6637020" h="80645">
                  <a:moveTo>
                    <a:pt x="4060710" y="80035"/>
                  </a:moveTo>
                  <a:lnTo>
                    <a:pt x="4015511" y="0"/>
                  </a:lnTo>
                  <a:lnTo>
                    <a:pt x="3969054" y="80035"/>
                  </a:lnTo>
                  <a:lnTo>
                    <a:pt x="4060710" y="80035"/>
                  </a:lnTo>
                  <a:close/>
                </a:path>
                <a:path w="6637020" h="80645">
                  <a:moveTo>
                    <a:pt x="4335704" y="80035"/>
                  </a:moveTo>
                  <a:lnTo>
                    <a:pt x="4290225" y="0"/>
                  </a:lnTo>
                  <a:lnTo>
                    <a:pt x="4245153" y="80035"/>
                  </a:lnTo>
                  <a:lnTo>
                    <a:pt x="4335704" y="80035"/>
                  </a:lnTo>
                  <a:close/>
                </a:path>
                <a:path w="6637020" h="80645">
                  <a:moveTo>
                    <a:pt x="4464939" y="80035"/>
                  </a:moveTo>
                  <a:lnTo>
                    <a:pt x="4419739" y="0"/>
                  </a:lnTo>
                  <a:lnTo>
                    <a:pt x="4374388" y="80035"/>
                  </a:lnTo>
                  <a:lnTo>
                    <a:pt x="4464939" y="80035"/>
                  </a:lnTo>
                  <a:close/>
                </a:path>
                <a:path w="6637020" h="80645">
                  <a:moveTo>
                    <a:pt x="4594022" y="80035"/>
                  </a:moveTo>
                  <a:lnTo>
                    <a:pt x="4548975" y="0"/>
                  </a:lnTo>
                  <a:lnTo>
                    <a:pt x="4547997" y="0"/>
                  </a:lnTo>
                  <a:lnTo>
                    <a:pt x="4502912" y="80035"/>
                  </a:lnTo>
                  <a:lnTo>
                    <a:pt x="4594022" y="80035"/>
                  </a:lnTo>
                  <a:close/>
                </a:path>
                <a:path w="6637020" h="80645">
                  <a:moveTo>
                    <a:pt x="4722317" y="80035"/>
                  </a:moveTo>
                  <a:lnTo>
                    <a:pt x="4677232" y="0"/>
                  </a:lnTo>
                  <a:lnTo>
                    <a:pt x="4632033" y="80035"/>
                  </a:lnTo>
                  <a:lnTo>
                    <a:pt x="4722317" y="80035"/>
                  </a:lnTo>
                  <a:close/>
                </a:path>
                <a:path w="6637020" h="80645">
                  <a:moveTo>
                    <a:pt x="4851552" y="80035"/>
                  </a:moveTo>
                  <a:lnTo>
                    <a:pt x="4806315" y="0"/>
                  </a:lnTo>
                  <a:lnTo>
                    <a:pt x="4761230" y="80035"/>
                  </a:lnTo>
                  <a:lnTo>
                    <a:pt x="4851552" y="80035"/>
                  </a:lnTo>
                  <a:close/>
                </a:path>
                <a:path w="6637020" h="80645">
                  <a:moveTo>
                    <a:pt x="5127485" y="80035"/>
                  </a:moveTo>
                  <a:lnTo>
                    <a:pt x="5081460" y="0"/>
                  </a:lnTo>
                  <a:lnTo>
                    <a:pt x="5036375" y="80035"/>
                  </a:lnTo>
                  <a:lnTo>
                    <a:pt x="5127485" y="80035"/>
                  </a:lnTo>
                  <a:close/>
                </a:path>
                <a:path w="6637020" h="80645">
                  <a:moveTo>
                    <a:pt x="5255768" y="80035"/>
                  </a:moveTo>
                  <a:lnTo>
                    <a:pt x="5210695" y="0"/>
                  </a:lnTo>
                  <a:lnTo>
                    <a:pt x="5165496" y="80035"/>
                  </a:lnTo>
                  <a:lnTo>
                    <a:pt x="5255768" y="80035"/>
                  </a:lnTo>
                  <a:close/>
                </a:path>
                <a:path w="6637020" h="80645">
                  <a:moveTo>
                    <a:pt x="5385003" y="80035"/>
                  </a:moveTo>
                  <a:lnTo>
                    <a:pt x="5339778" y="0"/>
                  </a:lnTo>
                  <a:lnTo>
                    <a:pt x="5294693" y="80035"/>
                  </a:lnTo>
                  <a:lnTo>
                    <a:pt x="5385003" y="80035"/>
                  </a:lnTo>
                  <a:close/>
                </a:path>
                <a:path w="6637020" h="80645">
                  <a:moveTo>
                    <a:pt x="5514518" y="80035"/>
                  </a:moveTo>
                  <a:lnTo>
                    <a:pt x="5469013" y="0"/>
                  </a:lnTo>
                  <a:lnTo>
                    <a:pt x="5468061" y="0"/>
                  </a:lnTo>
                  <a:lnTo>
                    <a:pt x="5422989" y="80035"/>
                  </a:lnTo>
                  <a:lnTo>
                    <a:pt x="5514518" y="80035"/>
                  </a:lnTo>
                  <a:close/>
                </a:path>
                <a:path w="6637020" h="80645">
                  <a:moveTo>
                    <a:pt x="5642661" y="80035"/>
                  </a:moveTo>
                  <a:lnTo>
                    <a:pt x="5597576" y="0"/>
                  </a:lnTo>
                  <a:lnTo>
                    <a:pt x="5552071" y="80035"/>
                  </a:lnTo>
                  <a:lnTo>
                    <a:pt x="5642661" y="80035"/>
                  </a:lnTo>
                  <a:close/>
                </a:path>
                <a:path w="6637020" h="80645">
                  <a:moveTo>
                    <a:pt x="5918314" y="80035"/>
                  </a:moveTo>
                  <a:lnTo>
                    <a:pt x="5873242" y="0"/>
                  </a:lnTo>
                  <a:lnTo>
                    <a:pt x="5827217" y="80035"/>
                  </a:lnTo>
                  <a:lnTo>
                    <a:pt x="5918314" y="80035"/>
                  </a:lnTo>
                  <a:close/>
                </a:path>
                <a:path w="6637020" h="80645">
                  <a:moveTo>
                    <a:pt x="6047981" y="80035"/>
                  </a:moveTo>
                  <a:lnTo>
                    <a:pt x="6001804" y="0"/>
                  </a:lnTo>
                  <a:lnTo>
                    <a:pt x="5956300" y="80035"/>
                  </a:lnTo>
                  <a:lnTo>
                    <a:pt x="6047981" y="80035"/>
                  </a:lnTo>
                  <a:close/>
                </a:path>
                <a:path w="6637020" h="80645">
                  <a:moveTo>
                    <a:pt x="6176111" y="80035"/>
                  </a:moveTo>
                  <a:lnTo>
                    <a:pt x="6131039" y="0"/>
                  </a:lnTo>
                  <a:lnTo>
                    <a:pt x="6085929" y="80035"/>
                  </a:lnTo>
                  <a:lnTo>
                    <a:pt x="6176111" y="80035"/>
                  </a:lnTo>
                  <a:close/>
                </a:path>
                <a:path w="6637020" h="80645">
                  <a:moveTo>
                    <a:pt x="6305321" y="80035"/>
                  </a:moveTo>
                  <a:lnTo>
                    <a:pt x="6260274" y="0"/>
                  </a:lnTo>
                  <a:lnTo>
                    <a:pt x="6215164" y="80035"/>
                  </a:lnTo>
                  <a:lnTo>
                    <a:pt x="6305321" y="80035"/>
                  </a:lnTo>
                  <a:close/>
                </a:path>
                <a:path w="6637020" h="80645">
                  <a:moveTo>
                    <a:pt x="6434556" y="80035"/>
                  </a:moveTo>
                  <a:lnTo>
                    <a:pt x="6389471" y="0"/>
                  </a:lnTo>
                  <a:lnTo>
                    <a:pt x="6388379" y="0"/>
                  </a:lnTo>
                  <a:lnTo>
                    <a:pt x="6343332" y="80035"/>
                  </a:lnTo>
                  <a:lnTo>
                    <a:pt x="6434556" y="80035"/>
                  </a:lnTo>
                  <a:close/>
                </a:path>
                <a:path w="6637020" h="80645">
                  <a:moveTo>
                    <a:pt x="6636613" y="80035"/>
                  </a:moveTo>
                  <a:lnTo>
                    <a:pt x="6591528" y="0"/>
                  </a:lnTo>
                  <a:lnTo>
                    <a:pt x="6590589" y="0"/>
                  </a:lnTo>
                  <a:lnTo>
                    <a:pt x="6545351" y="80035"/>
                  </a:lnTo>
                  <a:lnTo>
                    <a:pt x="6636613" y="80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49421" y="485790"/>
          <a:ext cx="7398358" cy="4377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379"/>
                <a:gridCol w="130175"/>
                <a:gridCol w="85090"/>
                <a:gridCol w="116839"/>
                <a:gridCol w="107315"/>
                <a:gridCol w="128905"/>
                <a:gridCol w="128905"/>
                <a:gridCol w="129540"/>
                <a:gridCol w="106680"/>
                <a:gridCol w="191134"/>
                <a:gridCol w="107950"/>
                <a:gridCol w="130175"/>
                <a:gridCol w="129539"/>
                <a:gridCol w="129539"/>
                <a:gridCol w="107950"/>
                <a:gridCol w="191769"/>
                <a:gridCol w="106680"/>
                <a:gridCol w="129539"/>
                <a:gridCol w="129539"/>
                <a:gridCol w="128905"/>
                <a:gridCol w="107314"/>
                <a:gridCol w="190500"/>
                <a:gridCol w="107314"/>
                <a:gridCol w="128905"/>
                <a:gridCol w="129540"/>
                <a:gridCol w="129539"/>
                <a:gridCol w="106679"/>
                <a:gridCol w="130810"/>
                <a:gridCol w="147320"/>
                <a:gridCol w="107950"/>
                <a:gridCol w="129539"/>
                <a:gridCol w="129539"/>
                <a:gridCol w="130175"/>
                <a:gridCol w="107950"/>
                <a:gridCol w="191135"/>
                <a:gridCol w="106679"/>
                <a:gridCol w="129539"/>
                <a:gridCol w="129539"/>
                <a:gridCol w="128270"/>
                <a:gridCol w="107314"/>
                <a:gridCol w="191135"/>
                <a:gridCol w="106679"/>
                <a:gridCol w="128904"/>
                <a:gridCol w="129539"/>
                <a:gridCol w="129539"/>
                <a:gridCol w="106679"/>
                <a:gridCol w="191135"/>
                <a:gridCol w="107950"/>
                <a:gridCol w="129539"/>
                <a:gridCol w="129539"/>
                <a:gridCol w="130175"/>
                <a:gridCol w="107950"/>
                <a:gridCol w="118109"/>
                <a:gridCol w="86359"/>
                <a:gridCol w="120015"/>
                <a:gridCol w="247015"/>
              </a:tblGrid>
              <a:tr h="344170">
                <a:tc gridSpan="56"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COMPONENT</a:t>
                      </a:r>
                      <a:r>
                        <a:rPr sz="13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457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 gridSpan="54">
                  <a:txBody>
                    <a:bodyPr/>
                    <a:lstStyle/>
                    <a:p>
                      <a:pPr marR="8572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Intel</a:t>
                      </a:r>
                      <a:r>
                        <a:rPr sz="13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QuickPath</a:t>
                      </a:r>
                      <a:r>
                        <a:rPr sz="13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Interconnect</a:t>
                      </a:r>
                      <a:r>
                        <a:rPr sz="13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Port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</a:tr>
              <a:tr h="8559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Fwd</a:t>
                      </a:r>
                      <a:r>
                        <a:rPr sz="13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Clk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473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Transmission</a:t>
                      </a:r>
                      <a:r>
                        <a:rPr sz="13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Lanes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0115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Reception</a:t>
                      </a:r>
                      <a:r>
                        <a:rPr sz="13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Lanes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Rcv</a:t>
                      </a:r>
                      <a:r>
                        <a:rPr sz="13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Clk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</a:tr>
              <a:tr h="14852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85661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DCDCD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Rcv</a:t>
                      </a:r>
                      <a:r>
                        <a:rPr sz="13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Clk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 vert="vert27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86423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Reception</a:t>
                      </a:r>
                      <a:r>
                        <a:rPr sz="13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Lanes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894080">
                        <a:lnSpc>
                          <a:spcPct val="100000"/>
                        </a:lnSpc>
                      </a:pP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Transmission</a:t>
                      </a:r>
                      <a:r>
                        <a:rPr sz="13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Lanes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Fwd</a:t>
                      </a: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Clk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 vert="vert27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DCDCDC"/>
                    </a:solidFill>
                  </a:tcPr>
                </a:tc>
              </a:tr>
              <a:tr h="2457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DCDCDC"/>
                    </a:solidFill>
                  </a:tcPr>
                </a:tc>
                <a:tc gridSpan="54">
                  <a:txBody>
                    <a:bodyPr/>
                    <a:lstStyle/>
                    <a:p>
                      <a:pPr marR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Intel</a:t>
                      </a:r>
                      <a:r>
                        <a:rPr sz="13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QuickPath</a:t>
                      </a:r>
                      <a:r>
                        <a:rPr sz="13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Interconnect</a:t>
                      </a:r>
                      <a:r>
                        <a:rPr sz="13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Port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DCDCDC"/>
                    </a:solidFill>
                  </a:tcPr>
                </a:tc>
              </a:tr>
              <a:tr h="344170">
                <a:tc gridSpan="56">
                  <a:txBody>
                    <a:bodyPr/>
                    <a:lstStyle/>
                    <a:p>
                      <a:pPr marR="79375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COMPONENT</a:t>
                      </a:r>
                      <a:r>
                        <a:rPr sz="13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19475" y="5921228"/>
            <a:ext cx="733298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spc="114" dirty="0">
                <a:latin typeface="Arial"/>
                <a:cs typeface="Arial"/>
              </a:rPr>
              <a:t>Figure</a:t>
            </a:r>
            <a:r>
              <a:rPr sz="1700" spc="34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3</a:t>
            </a:r>
            <a:r>
              <a:rPr sz="1700" spc="-165" dirty="0">
                <a:latin typeface="Times New Roman"/>
                <a:cs typeface="Times New Roman"/>
              </a:rPr>
              <a:t> </a:t>
            </a:r>
            <a:r>
              <a:rPr sz="1700" b="1" spc="70" dirty="0">
                <a:latin typeface="Arial"/>
                <a:cs typeface="Arial"/>
              </a:rPr>
              <a:t>.1</a:t>
            </a:r>
            <a:r>
              <a:rPr sz="1700" spc="-16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9</a:t>
            </a:r>
            <a:r>
              <a:rPr sz="1700" spc="420" dirty="0">
                <a:latin typeface="Times New Roman"/>
                <a:cs typeface="Times New Roman"/>
              </a:rPr>
              <a:t> </a:t>
            </a:r>
            <a:r>
              <a:rPr sz="1700" b="1" spc="105" dirty="0">
                <a:latin typeface="Arial"/>
                <a:cs typeface="Arial"/>
              </a:rPr>
              <a:t>Physical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I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b="1" spc="140" dirty="0">
                <a:latin typeface="Arial"/>
                <a:cs typeface="Arial"/>
              </a:rPr>
              <a:t>nterface</a:t>
            </a:r>
            <a:r>
              <a:rPr sz="1700" spc="340" dirty="0">
                <a:latin typeface="Times New Roman"/>
                <a:cs typeface="Times New Roman"/>
              </a:rPr>
              <a:t> </a:t>
            </a:r>
            <a:r>
              <a:rPr sz="1700" b="1" spc="70" dirty="0">
                <a:latin typeface="Arial"/>
                <a:cs typeface="Arial"/>
              </a:rPr>
              <a:t>of</a:t>
            </a:r>
            <a:r>
              <a:rPr sz="1700" spc="310" dirty="0">
                <a:latin typeface="Times New Roman"/>
                <a:cs typeface="Times New Roman"/>
              </a:rPr>
              <a:t> </a:t>
            </a:r>
            <a:r>
              <a:rPr sz="1700" b="1" spc="125" dirty="0">
                <a:latin typeface="Arial"/>
                <a:cs typeface="Arial"/>
              </a:rPr>
              <a:t>the</a:t>
            </a:r>
            <a:r>
              <a:rPr sz="1700" spc="34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Arial"/>
                <a:cs typeface="Arial"/>
              </a:rPr>
              <a:t>I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b="1" spc="140" dirty="0">
                <a:latin typeface="Arial"/>
                <a:cs typeface="Arial"/>
              </a:rPr>
              <a:t>ntel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b="1" spc="75" dirty="0">
                <a:latin typeface="Arial"/>
                <a:cs typeface="Arial"/>
              </a:rPr>
              <a:t>QPI</a:t>
            </a:r>
            <a:r>
              <a:rPr sz="1700" spc="95" dirty="0">
                <a:latin typeface="Times New Roman"/>
                <a:cs typeface="Times New Roman"/>
              </a:rPr>
              <a:t>  </a:t>
            </a:r>
            <a:r>
              <a:rPr sz="1700" b="1" dirty="0">
                <a:latin typeface="Arial"/>
                <a:cs typeface="Arial"/>
              </a:rPr>
              <a:t>I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b="1" spc="125" dirty="0">
                <a:latin typeface="Arial"/>
                <a:cs typeface="Arial"/>
              </a:rPr>
              <a:t>nterconnect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6827" y="1697614"/>
            <a:ext cx="70622" cy="7046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6240" y="1697614"/>
            <a:ext cx="70439" cy="7046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5470" y="1697614"/>
            <a:ext cx="70622" cy="7046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635444" y="1605520"/>
            <a:ext cx="480059" cy="256540"/>
          </a:xfrm>
          <a:prstGeom prst="rect">
            <a:avLst/>
          </a:prstGeom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40"/>
              </a:spcBef>
            </a:pPr>
            <a:r>
              <a:rPr sz="1250" b="1" spc="-10" dirty="0">
                <a:latin typeface="Times New Roman"/>
                <a:cs typeface="Times New Roman"/>
              </a:rPr>
              <a:t>#2</a:t>
            </a:r>
            <a:r>
              <a:rPr sz="1250" b="1" i="1" spc="-10" dirty="0">
                <a:latin typeface="Times New Roman"/>
                <a:cs typeface="Times New Roman"/>
              </a:rPr>
              <a:t>n</a:t>
            </a:r>
            <a:r>
              <a:rPr sz="1250" b="1" spc="-10" dirty="0">
                <a:latin typeface="Times New Roman"/>
                <a:cs typeface="Times New Roman"/>
              </a:rPr>
              <a:t>+1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78954" y="1605520"/>
            <a:ext cx="480059" cy="256540"/>
          </a:xfrm>
          <a:prstGeom prst="rect">
            <a:avLst/>
          </a:prstGeom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40"/>
              </a:spcBef>
            </a:pPr>
            <a:r>
              <a:rPr sz="1250" b="1" spc="-20" dirty="0">
                <a:latin typeface="Times New Roman"/>
                <a:cs typeface="Times New Roman"/>
              </a:rPr>
              <a:t>#</a:t>
            </a:r>
            <a:r>
              <a:rPr sz="1250" b="1" i="1" spc="-20" dirty="0">
                <a:latin typeface="Times New Roman"/>
                <a:cs typeface="Times New Roman"/>
              </a:rPr>
              <a:t>n</a:t>
            </a:r>
            <a:r>
              <a:rPr sz="1250" b="1" spc="-20" dirty="0">
                <a:latin typeface="Times New Roman"/>
                <a:cs typeface="Times New Roman"/>
              </a:rPr>
              <a:t>+1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22678" y="1605520"/>
            <a:ext cx="480059" cy="256540"/>
          </a:xfrm>
          <a:prstGeom prst="rect">
            <a:avLst/>
          </a:prstGeom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250" b="1" spc="-25" dirty="0">
                <a:latin typeface="Times New Roman"/>
                <a:cs typeface="Times New Roman"/>
              </a:rPr>
              <a:t>#1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96282" y="1526425"/>
            <a:ext cx="426084" cy="4095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10"/>
              </a:spcBef>
            </a:pPr>
            <a:r>
              <a:rPr sz="1250" b="1" spc="-25" dirty="0">
                <a:latin typeface="Times New Roman"/>
                <a:cs typeface="Times New Roman"/>
              </a:rPr>
              <a:t>QPI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50" b="1" dirty="0">
                <a:latin typeface="Times New Roman"/>
                <a:cs typeface="Times New Roman"/>
              </a:rPr>
              <a:t>lane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spc="-50" dirty="0">
                <a:latin typeface="Times New Roman"/>
                <a:cs typeface="Times New Roman"/>
              </a:rPr>
              <a:t>0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7508" y="2404314"/>
            <a:ext cx="117919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b="1" dirty="0">
                <a:latin typeface="Times New Roman"/>
                <a:cs typeface="Times New Roman"/>
              </a:rPr>
              <a:t>bit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stream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spc="-20" dirty="0">
                <a:latin typeface="Times New Roman"/>
                <a:cs typeface="Times New Roman"/>
              </a:rPr>
              <a:t>flits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35444" y="2415786"/>
            <a:ext cx="480059" cy="255904"/>
          </a:xfrm>
          <a:prstGeom prst="rect">
            <a:avLst/>
          </a:prstGeom>
          <a:solidFill>
            <a:srgbClr val="D0D0D0"/>
          </a:solidFill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40"/>
              </a:spcBef>
            </a:pPr>
            <a:r>
              <a:rPr sz="1250" b="1" spc="-10" dirty="0">
                <a:latin typeface="Times New Roman"/>
                <a:cs typeface="Times New Roman"/>
              </a:rPr>
              <a:t>#2</a:t>
            </a:r>
            <a:r>
              <a:rPr sz="1250" b="1" i="1" spc="-10" dirty="0">
                <a:latin typeface="Times New Roman"/>
                <a:cs typeface="Times New Roman"/>
              </a:rPr>
              <a:t>n</a:t>
            </a:r>
            <a:r>
              <a:rPr sz="1250" b="1" spc="-10" dirty="0">
                <a:latin typeface="Times New Roman"/>
                <a:cs typeface="Times New Roman"/>
              </a:rPr>
              <a:t>+2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78954" y="2415786"/>
            <a:ext cx="480059" cy="255904"/>
          </a:xfrm>
          <a:prstGeom prst="rect">
            <a:avLst/>
          </a:prstGeom>
          <a:solidFill>
            <a:srgbClr val="D0D0D0"/>
          </a:solidFill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40"/>
              </a:spcBef>
            </a:pPr>
            <a:r>
              <a:rPr sz="1250" b="1" spc="-20" dirty="0">
                <a:latin typeface="Times New Roman"/>
                <a:cs typeface="Times New Roman"/>
              </a:rPr>
              <a:t>#</a:t>
            </a:r>
            <a:r>
              <a:rPr sz="1250" b="1" i="1" spc="-20" dirty="0">
                <a:latin typeface="Times New Roman"/>
                <a:cs typeface="Times New Roman"/>
              </a:rPr>
              <a:t>n</a:t>
            </a:r>
            <a:r>
              <a:rPr sz="1250" b="1" spc="-20" dirty="0">
                <a:latin typeface="Times New Roman"/>
                <a:cs typeface="Times New Roman"/>
              </a:rPr>
              <a:t>+2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22678" y="2415786"/>
            <a:ext cx="480059" cy="255904"/>
          </a:xfrm>
          <a:prstGeom prst="rect">
            <a:avLst/>
          </a:prstGeom>
          <a:solidFill>
            <a:srgbClr val="D0D0D0"/>
          </a:solidFill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250" b="1" spc="-25" dirty="0">
                <a:latin typeface="Times New Roman"/>
                <a:cs typeface="Times New Roman"/>
              </a:rPr>
              <a:t>#2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96282" y="2336521"/>
            <a:ext cx="426084" cy="4095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10"/>
              </a:spcBef>
            </a:pPr>
            <a:r>
              <a:rPr sz="1250" b="1" spc="-25" dirty="0">
                <a:latin typeface="Times New Roman"/>
                <a:cs typeface="Times New Roman"/>
              </a:rPr>
              <a:t>QPI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50" b="1" dirty="0">
                <a:latin typeface="Times New Roman"/>
                <a:cs typeface="Times New Roman"/>
              </a:rPr>
              <a:t>lane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spc="-50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35661" y="3139121"/>
            <a:ext cx="480059" cy="255904"/>
          </a:xfrm>
          <a:prstGeom prst="rect">
            <a:avLst/>
          </a:prstGeom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40"/>
              </a:spcBef>
            </a:pPr>
            <a:r>
              <a:rPr sz="1250" b="1" spc="-10" dirty="0">
                <a:latin typeface="Times New Roman"/>
                <a:cs typeface="Times New Roman"/>
              </a:rPr>
              <a:t>#2</a:t>
            </a:r>
            <a:r>
              <a:rPr sz="1250" b="1" i="1" spc="-10" dirty="0">
                <a:latin typeface="Times New Roman"/>
                <a:cs typeface="Times New Roman"/>
              </a:rPr>
              <a:t>n</a:t>
            </a:r>
            <a:r>
              <a:rPr sz="1250" b="1" spc="-10" dirty="0">
                <a:latin typeface="Times New Roman"/>
                <a:cs typeface="Times New Roman"/>
              </a:rPr>
              <a:t>+1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9692" y="3139121"/>
            <a:ext cx="480059" cy="255904"/>
          </a:xfrm>
          <a:prstGeom prst="rect">
            <a:avLst/>
          </a:prstGeom>
          <a:solidFill>
            <a:srgbClr val="CBEBCC"/>
          </a:solidFill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40"/>
              </a:spcBef>
            </a:pPr>
            <a:r>
              <a:rPr sz="1250" b="1" spc="-25" dirty="0">
                <a:latin typeface="Times New Roman"/>
                <a:cs typeface="Times New Roman"/>
              </a:rPr>
              <a:t>#2</a:t>
            </a:r>
            <a:r>
              <a:rPr sz="1250" b="1" i="1" spc="-2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5190" y="3229782"/>
            <a:ext cx="70484" cy="704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4530" y="3229782"/>
            <a:ext cx="70484" cy="7046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33860" y="3229782"/>
            <a:ext cx="70460" cy="704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02989" y="3139121"/>
            <a:ext cx="480059" cy="255904"/>
          </a:xfrm>
          <a:prstGeom prst="rect">
            <a:avLst/>
          </a:prstGeom>
          <a:solidFill>
            <a:srgbClr val="D0D0D0"/>
          </a:solidFill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40"/>
              </a:spcBef>
            </a:pPr>
            <a:r>
              <a:rPr sz="1250" b="1" spc="-20" dirty="0">
                <a:latin typeface="Times New Roman"/>
                <a:cs typeface="Times New Roman"/>
              </a:rPr>
              <a:t>#</a:t>
            </a:r>
            <a:r>
              <a:rPr sz="1250" b="1" i="1" spc="-20" dirty="0">
                <a:latin typeface="Times New Roman"/>
                <a:cs typeface="Times New Roman"/>
              </a:rPr>
              <a:t>n</a:t>
            </a:r>
            <a:r>
              <a:rPr sz="1250" b="1" spc="-20" dirty="0">
                <a:latin typeface="Times New Roman"/>
                <a:cs typeface="Times New Roman"/>
              </a:rPr>
              <a:t>+2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6697" y="3139121"/>
            <a:ext cx="480059" cy="255904"/>
          </a:xfrm>
          <a:prstGeom prst="rect">
            <a:avLst/>
          </a:prstGeom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40"/>
              </a:spcBef>
            </a:pPr>
            <a:r>
              <a:rPr sz="1250" b="1" spc="-20" dirty="0">
                <a:latin typeface="Times New Roman"/>
                <a:cs typeface="Times New Roman"/>
              </a:rPr>
              <a:t>#</a:t>
            </a:r>
            <a:r>
              <a:rPr sz="1250" b="1" i="1" spc="-20" dirty="0">
                <a:latin typeface="Times New Roman"/>
                <a:cs typeface="Times New Roman"/>
              </a:rPr>
              <a:t>n</a:t>
            </a:r>
            <a:r>
              <a:rPr sz="1250" b="1" spc="-20" dirty="0">
                <a:latin typeface="Times New Roman"/>
                <a:cs typeface="Times New Roman"/>
              </a:rPr>
              <a:t>+1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90588" y="3139121"/>
            <a:ext cx="480059" cy="255904"/>
          </a:xfrm>
          <a:prstGeom prst="rect">
            <a:avLst/>
          </a:prstGeom>
          <a:solidFill>
            <a:srgbClr val="CBEBCC"/>
          </a:solidFill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40"/>
              </a:spcBef>
            </a:pPr>
            <a:r>
              <a:rPr sz="1250" b="1" spc="-25" dirty="0">
                <a:latin typeface="Times New Roman"/>
                <a:cs typeface="Times New Roman"/>
              </a:rPr>
              <a:t>#</a:t>
            </a:r>
            <a:r>
              <a:rPr sz="1250" b="1" i="1" spc="-2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40861" y="3229782"/>
            <a:ext cx="70439" cy="7046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90091" y="3229782"/>
            <a:ext cx="70622" cy="7046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38254" y="3229782"/>
            <a:ext cx="70469" cy="704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13934" y="3139121"/>
            <a:ext cx="480059" cy="255904"/>
          </a:xfrm>
          <a:prstGeom prst="rect">
            <a:avLst/>
          </a:prstGeom>
          <a:solidFill>
            <a:srgbClr val="D0D0D0"/>
          </a:solidFill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"/>
              </a:spcBef>
            </a:pPr>
            <a:r>
              <a:rPr sz="1250" b="1" spc="-25" dirty="0">
                <a:latin typeface="Times New Roman"/>
                <a:cs typeface="Times New Roman"/>
              </a:rPr>
              <a:t>#2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57475" y="3139121"/>
            <a:ext cx="480059" cy="255904"/>
          </a:xfrm>
          <a:prstGeom prst="rect">
            <a:avLst/>
          </a:prstGeom>
          <a:solidFill>
            <a:srgbClr val="FEFEFE"/>
          </a:solidFill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40"/>
              </a:spcBef>
            </a:pPr>
            <a:r>
              <a:rPr sz="1250" b="1" spc="-25" dirty="0">
                <a:latin typeface="Times New Roman"/>
                <a:cs typeface="Times New Roman"/>
              </a:rPr>
              <a:t>#1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18260" y="1858944"/>
            <a:ext cx="5598795" cy="2644775"/>
            <a:chOff x="318260" y="1858944"/>
            <a:chExt cx="5598795" cy="2644775"/>
          </a:xfrm>
        </p:grpSpPr>
        <p:sp>
          <p:nvSpPr>
            <p:cNvPr id="33" name="object 33"/>
            <p:cNvSpPr/>
            <p:nvPr/>
          </p:nvSpPr>
          <p:spPr>
            <a:xfrm>
              <a:off x="335661" y="2754029"/>
              <a:ext cx="4702175" cy="179070"/>
            </a:xfrm>
            <a:custGeom>
              <a:avLst/>
              <a:gdLst/>
              <a:ahLst/>
              <a:cxnLst/>
              <a:rect l="l" t="t" r="r" b="b"/>
              <a:pathLst>
                <a:path w="4702175" h="179069">
                  <a:moveTo>
                    <a:pt x="2350949" y="0"/>
                  </a:moveTo>
                  <a:lnTo>
                    <a:pt x="2348877" y="15257"/>
                  </a:lnTo>
                  <a:lnTo>
                    <a:pt x="2342756" y="29335"/>
                  </a:lnTo>
                  <a:lnTo>
                    <a:pt x="2301547" y="64897"/>
                  </a:lnTo>
                  <a:lnTo>
                    <a:pt x="2256483" y="83448"/>
                  </a:lnTo>
                  <a:lnTo>
                    <a:pt x="2198695" y="98248"/>
                  </a:lnTo>
                  <a:lnTo>
                    <a:pt x="2129340" y="109621"/>
                  </a:lnTo>
                  <a:lnTo>
                    <a:pt x="2090686" y="114123"/>
                  </a:lnTo>
                  <a:lnTo>
                    <a:pt x="2049574" y="117889"/>
                  </a:lnTo>
                  <a:lnTo>
                    <a:pt x="2006148" y="120959"/>
                  </a:lnTo>
                  <a:lnTo>
                    <a:pt x="1960554" y="123374"/>
                  </a:lnTo>
                  <a:lnTo>
                    <a:pt x="1912935" y="125173"/>
                  </a:lnTo>
                  <a:lnTo>
                    <a:pt x="1863437" y="126398"/>
                  </a:lnTo>
                  <a:lnTo>
                    <a:pt x="1812204" y="127088"/>
                  </a:lnTo>
                  <a:lnTo>
                    <a:pt x="1759380" y="127284"/>
                  </a:lnTo>
                  <a:lnTo>
                    <a:pt x="1705110" y="127025"/>
                  </a:lnTo>
                  <a:lnTo>
                    <a:pt x="1649539" y="126353"/>
                  </a:lnTo>
                  <a:lnTo>
                    <a:pt x="1592811" y="125308"/>
                  </a:lnTo>
                  <a:lnTo>
                    <a:pt x="1535072" y="123929"/>
                  </a:lnTo>
                  <a:lnTo>
                    <a:pt x="1476464" y="122258"/>
                  </a:lnTo>
                  <a:lnTo>
                    <a:pt x="1417134" y="120334"/>
                  </a:lnTo>
                  <a:lnTo>
                    <a:pt x="1357225" y="118198"/>
                  </a:lnTo>
                  <a:lnTo>
                    <a:pt x="1296882" y="115890"/>
                  </a:lnTo>
                  <a:lnTo>
                    <a:pt x="1236251" y="113450"/>
                  </a:lnTo>
                  <a:lnTo>
                    <a:pt x="1175474" y="110918"/>
                  </a:lnTo>
                  <a:lnTo>
                    <a:pt x="1114698" y="108336"/>
                  </a:lnTo>
                  <a:lnTo>
                    <a:pt x="1054066" y="105743"/>
                  </a:lnTo>
                  <a:lnTo>
                    <a:pt x="993724" y="103179"/>
                  </a:lnTo>
                  <a:lnTo>
                    <a:pt x="933815" y="100685"/>
                  </a:lnTo>
                  <a:lnTo>
                    <a:pt x="874484" y="98301"/>
                  </a:lnTo>
                  <a:lnTo>
                    <a:pt x="815877" y="96068"/>
                  </a:lnTo>
                  <a:lnTo>
                    <a:pt x="758137" y="94025"/>
                  </a:lnTo>
                  <a:lnTo>
                    <a:pt x="701409" y="92213"/>
                  </a:lnTo>
                  <a:lnTo>
                    <a:pt x="645838" y="90672"/>
                  </a:lnTo>
                  <a:lnTo>
                    <a:pt x="591569" y="89443"/>
                  </a:lnTo>
                  <a:lnTo>
                    <a:pt x="538745" y="88566"/>
                  </a:lnTo>
                  <a:lnTo>
                    <a:pt x="487511" y="88080"/>
                  </a:lnTo>
                  <a:lnTo>
                    <a:pt x="438013" y="88027"/>
                  </a:lnTo>
                  <a:lnTo>
                    <a:pt x="390395" y="88447"/>
                  </a:lnTo>
                  <a:lnTo>
                    <a:pt x="344800" y="89380"/>
                  </a:lnTo>
                  <a:lnTo>
                    <a:pt x="301375" y="90866"/>
                  </a:lnTo>
                  <a:lnTo>
                    <a:pt x="260263" y="92945"/>
                  </a:lnTo>
                  <a:lnTo>
                    <a:pt x="221609" y="95658"/>
                  </a:lnTo>
                  <a:lnTo>
                    <a:pt x="152254" y="103147"/>
                  </a:lnTo>
                  <a:lnTo>
                    <a:pt x="94465" y="113655"/>
                  </a:lnTo>
                  <a:lnTo>
                    <a:pt x="49401" y="127504"/>
                  </a:lnTo>
                  <a:lnTo>
                    <a:pt x="8193" y="155248"/>
                  </a:lnTo>
                  <a:lnTo>
                    <a:pt x="2072" y="166515"/>
                  </a:lnTo>
                  <a:lnTo>
                    <a:pt x="0" y="178860"/>
                  </a:lnTo>
                </a:path>
                <a:path w="4702175" h="179069">
                  <a:moveTo>
                    <a:pt x="2350949" y="0"/>
                  </a:moveTo>
                  <a:lnTo>
                    <a:pt x="2353021" y="15257"/>
                  </a:lnTo>
                  <a:lnTo>
                    <a:pt x="2359142" y="29335"/>
                  </a:lnTo>
                  <a:lnTo>
                    <a:pt x="2400346" y="64897"/>
                  </a:lnTo>
                  <a:lnTo>
                    <a:pt x="2445405" y="83448"/>
                  </a:lnTo>
                  <a:lnTo>
                    <a:pt x="2503187" y="98248"/>
                  </a:lnTo>
                  <a:lnTo>
                    <a:pt x="2572535" y="109621"/>
                  </a:lnTo>
                  <a:lnTo>
                    <a:pt x="2611185" y="114123"/>
                  </a:lnTo>
                  <a:lnTo>
                    <a:pt x="2652293" y="117889"/>
                  </a:lnTo>
                  <a:lnTo>
                    <a:pt x="2695714" y="120959"/>
                  </a:lnTo>
                  <a:lnTo>
                    <a:pt x="2741303" y="123374"/>
                  </a:lnTo>
                  <a:lnTo>
                    <a:pt x="2788917" y="125173"/>
                  </a:lnTo>
                  <a:lnTo>
                    <a:pt x="2838410" y="126398"/>
                  </a:lnTo>
                  <a:lnTo>
                    <a:pt x="2889638" y="127088"/>
                  </a:lnTo>
                  <a:lnTo>
                    <a:pt x="2942456" y="127284"/>
                  </a:lnTo>
                  <a:lnTo>
                    <a:pt x="2996720" y="127025"/>
                  </a:lnTo>
                  <a:lnTo>
                    <a:pt x="3052285" y="126353"/>
                  </a:lnTo>
                  <a:lnTo>
                    <a:pt x="3109007" y="125308"/>
                  </a:lnTo>
                  <a:lnTo>
                    <a:pt x="3166741" y="123929"/>
                  </a:lnTo>
                  <a:lnTo>
                    <a:pt x="3225342" y="122258"/>
                  </a:lnTo>
                  <a:lnTo>
                    <a:pt x="3284666" y="120334"/>
                  </a:lnTo>
                  <a:lnTo>
                    <a:pt x="3344569" y="118198"/>
                  </a:lnTo>
                  <a:lnTo>
                    <a:pt x="3404905" y="115890"/>
                  </a:lnTo>
                  <a:lnTo>
                    <a:pt x="3465530" y="113450"/>
                  </a:lnTo>
                  <a:lnTo>
                    <a:pt x="3526300" y="110918"/>
                  </a:lnTo>
                  <a:lnTo>
                    <a:pt x="3587070" y="108336"/>
                  </a:lnTo>
                  <a:lnTo>
                    <a:pt x="3647696" y="105743"/>
                  </a:lnTo>
                  <a:lnTo>
                    <a:pt x="3708032" y="103179"/>
                  </a:lnTo>
                  <a:lnTo>
                    <a:pt x="3767934" y="100685"/>
                  </a:lnTo>
                  <a:lnTo>
                    <a:pt x="3827259" y="98301"/>
                  </a:lnTo>
                  <a:lnTo>
                    <a:pt x="3885860" y="96068"/>
                  </a:lnTo>
                  <a:lnTo>
                    <a:pt x="3943594" y="94025"/>
                  </a:lnTo>
                  <a:lnTo>
                    <a:pt x="4000316" y="92213"/>
                  </a:lnTo>
                  <a:lnTo>
                    <a:pt x="4055881" y="90672"/>
                  </a:lnTo>
                  <a:lnTo>
                    <a:pt x="4110145" y="89443"/>
                  </a:lnTo>
                  <a:lnTo>
                    <a:pt x="4162963" y="88566"/>
                  </a:lnTo>
                  <a:lnTo>
                    <a:pt x="4214191" y="88080"/>
                  </a:lnTo>
                  <a:lnTo>
                    <a:pt x="4263684" y="88027"/>
                  </a:lnTo>
                  <a:lnTo>
                    <a:pt x="4311298" y="88447"/>
                  </a:lnTo>
                  <a:lnTo>
                    <a:pt x="4356887" y="89380"/>
                  </a:lnTo>
                  <a:lnTo>
                    <a:pt x="4400308" y="90866"/>
                  </a:lnTo>
                  <a:lnTo>
                    <a:pt x="4441416" y="92945"/>
                  </a:lnTo>
                  <a:lnTo>
                    <a:pt x="4480066" y="95658"/>
                  </a:lnTo>
                  <a:lnTo>
                    <a:pt x="4549414" y="103147"/>
                  </a:lnTo>
                  <a:lnTo>
                    <a:pt x="4607196" y="113655"/>
                  </a:lnTo>
                  <a:lnTo>
                    <a:pt x="4652255" y="127504"/>
                  </a:lnTo>
                  <a:lnTo>
                    <a:pt x="4693459" y="155248"/>
                  </a:lnTo>
                  <a:lnTo>
                    <a:pt x="4699579" y="166515"/>
                  </a:lnTo>
                  <a:lnTo>
                    <a:pt x="4701652" y="178860"/>
                  </a:lnTo>
                </a:path>
              </a:pathLst>
            </a:custGeom>
            <a:ln w="34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760961" y="1858949"/>
              <a:ext cx="137795" cy="168275"/>
            </a:xfrm>
            <a:custGeom>
              <a:avLst/>
              <a:gdLst/>
              <a:ahLst/>
              <a:cxnLst/>
              <a:rect l="l" t="t" r="r" b="b"/>
              <a:pathLst>
                <a:path w="137795" h="168275">
                  <a:moveTo>
                    <a:pt x="137528" y="0"/>
                  </a:moveTo>
                  <a:lnTo>
                    <a:pt x="0" y="99885"/>
                  </a:lnTo>
                  <a:lnTo>
                    <a:pt x="70370" y="109093"/>
                  </a:lnTo>
                  <a:lnTo>
                    <a:pt x="70624" y="109118"/>
                  </a:lnTo>
                  <a:lnTo>
                    <a:pt x="111950" y="167855"/>
                  </a:lnTo>
                  <a:lnTo>
                    <a:pt x="13752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37313" y="1949585"/>
              <a:ext cx="805815" cy="1318260"/>
            </a:xfrm>
            <a:custGeom>
              <a:avLst/>
              <a:gdLst/>
              <a:ahLst/>
              <a:cxnLst/>
              <a:rect l="l" t="t" r="r" b="b"/>
              <a:pathLst>
                <a:path w="805814" h="1318260">
                  <a:moveTo>
                    <a:pt x="0" y="1317646"/>
                  </a:moveTo>
                  <a:lnTo>
                    <a:pt x="0" y="1317646"/>
                  </a:lnTo>
                  <a:lnTo>
                    <a:pt x="805267" y="0"/>
                  </a:lnTo>
                </a:path>
              </a:pathLst>
            </a:custGeom>
            <a:ln w="171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60963" y="1858944"/>
              <a:ext cx="137795" cy="168275"/>
            </a:xfrm>
            <a:custGeom>
              <a:avLst/>
              <a:gdLst/>
              <a:ahLst/>
              <a:cxnLst/>
              <a:rect l="l" t="t" r="r" b="b"/>
              <a:pathLst>
                <a:path w="137795" h="168275">
                  <a:moveTo>
                    <a:pt x="137525" y="0"/>
                  </a:moveTo>
                  <a:lnTo>
                    <a:pt x="0" y="99882"/>
                  </a:lnTo>
                  <a:lnTo>
                    <a:pt x="70622" y="109118"/>
                  </a:lnTo>
                  <a:lnTo>
                    <a:pt x="111953" y="167853"/>
                  </a:lnTo>
                  <a:lnTo>
                    <a:pt x="1375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0471" y="2662465"/>
              <a:ext cx="167005" cy="142875"/>
            </a:xfrm>
            <a:custGeom>
              <a:avLst/>
              <a:gdLst/>
              <a:ahLst/>
              <a:cxnLst/>
              <a:rect l="l" t="t" r="r" b="b"/>
              <a:pathLst>
                <a:path w="167004" h="142875">
                  <a:moveTo>
                    <a:pt x="166458" y="0"/>
                  </a:moveTo>
                  <a:lnTo>
                    <a:pt x="0" y="33007"/>
                  </a:lnTo>
                  <a:lnTo>
                    <a:pt x="61214" y="71678"/>
                  </a:lnTo>
                  <a:lnTo>
                    <a:pt x="74371" y="142303"/>
                  </a:lnTo>
                  <a:lnTo>
                    <a:pt x="16645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37313" y="2722269"/>
              <a:ext cx="791845" cy="545465"/>
            </a:xfrm>
            <a:custGeom>
              <a:avLst/>
              <a:gdLst/>
              <a:ahLst/>
              <a:cxnLst/>
              <a:rect l="l" t="t" r="r" b="b"/>
              <a:pathLst>
                <a:path w="791845" h="545464">
                  <a:moveTo>
                    <a:pt x="0" y="544962"/>
                  </a:moveTo>
                  <a:lnTo>
                    <a:pt x="0" y="544962"/>
                  </a:lnTo>
                  <a:lnTo>
                    <a:pt x="791613" y="0"/>
                  </a:lnTo>
                </a:path>
              </a:pathLst>
            </a:custGeom>
            <a:ln w="171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50478" y="2662458"/>
              <a:ext cx="167005" cy="142875"/>
            </a:xfrm>
            <a:custGeom>
              <a:avLst/>
              <a:gdLst/>
              <a:ahLst/>
              <a:cxnLst/>
              <a:rect l="l" t="t" r="r" b="b"/>
              <a:pathLst>
                <a:path w="167004" h="142875">
                  <a:moveTo>
                    <a:pt x="166451" y="0"/>
                  </a:moveTo>
                  <a:lnTo>
                    <a:pt x="0" y="33009"/>
                  </a:lnTo>
                  <a:lnTo>
                    <a:pt x="61234" y="71688"/>
                  </a:lnTo>
                  <a:lnTo>
                    <a:pt x="74371" y="142311"/>
                  </a:lnTo>
                  <a:lnTo>
                    <a:pt x="1664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60961" y="4338205"/>
              <a:ext cx="142875" cy="165735"/>
            </a:xfrm>
            <a:custGeom>
              <a:avLst/>
              <a:gdLst/>
              <a:ahLst/>
              <a:cxnLst/>
              <a:rect l="l" t="t" r="r" b="b"/>
              <a:pathLst>
                <a:path w="142875" h="165735">
                  <a:moveTo>
                    <a:pt x="142824" y="165214"/>
                  </a:moveTo>
                  <a:lnTo>
                    <a:pt x="108051" y="0"/>
                  </a:lnTo>
                  <a:lnTo>
                    <a:pt x="69557" y="59397"/>
                  </a:lnTo>
                  <a:lnTo>
                    <a:pt x="69189" y="59969"/>
                  </a:lnTo>
                  <a:lnTo>
                    <a:pt x="0" y="74523"/>
                  </a:lnTo>
                  <a:lnTo>
                    <a:pt x="142824" y="165214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39965" y="3267231"/>
              <a:ext cx="803910" cy="1149985"/>
            </a:xfrm>
            <a:custGeom>
              <a:avLst/>
              <a:gdLst/>
              <a:ahLst/>
              <a:cxnLst/>
              <a:rect l="l" t="t" r="r" b="b"/>
              <a:pathLst>
                <a:path w="803910" h="1149985">
                  <a:moveTo>
                    <a:pt x="0" y="0"/>
                  </a:moveTo>
                  <a:lnTo>
                    <a:pt x="0" y="0"/>
                  </a:lnTo>
                  <a:lnTo>
                    <a:pt x="803865" y="1149384"/>
                  </a:lnTo>
                </a:path>
              </a:pathLst>
            </a:custGeom>
            <a:ln w="171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60963" y="4338197"/>
              <a:ext cx="142875" cy="165735"/>
            </a:xfrm>
            <a:custGeom>
              <a:avLst/>
              <a:gdLst/>
              <a:ahLst/>
              <a:cxnLst/>
              <a:rect l="l" t="t" r="r" b="b"/>
              <a:pathLst>
                <a:path w="142875" h="165735">
                  <a:moveTo>
                    <a:pt x="108051" y="0"/>
                  </a:moveTo>
                  <a:lnTo>
                    <a:pt x="69189" y="59972"/>
                  </a:lnTo>
                  <a:lnTo>
                    <a:pt x="0" y="74520"/>
                  </a:lnTo>
                  <a:lnTo>
                    <a:pt x="142829" y="165210"/>
                  </a:lnTo>
                  <a:lnTo>
                    <a:pt x="1080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342535" y="2153135"/>
              <a:ext cx="357505" cy="1079500"/>
            </a:xfrm>
            <a:custGeom>
              <a:avLst/>
              <a:gdLst/>
              <a:ahLst/>
              <a:cxnLst/>
              <a:rect l="l" t="t" r="r" b="b"/>
              <a:pathLst>
                <a:path w="357504" h="1079500">
                  <a:moveTo>
                    <a:pt x="0" y="0"/>
                  </a:moveTo>
                  <a:lnTo>
                    <a:pt x="43981" y="12436"/>
                  </a:lnTo>
                  <a:lnTo>
                    <a:pt x="66536" y="22921"/>
                  </a:lnTo>
                </a:path>
                <a:path w="357504" h="1079500">
                  <a:moveTo>
                    <a:pt x="125636" y="63003"/>
                  </a:moveTo>
                  <a:lnTo>
                    <a:pt x="154530" y="90679"/>
                  </a:lnTo>
                  <a:lnTo>
                    <a:pt x="173184" y="114637"/>
                  </a:lnTo>
                </a:path>
                <a:path w="357504" h="1079500">
                  <a:moveTo>
                    <a:pt x="211862" y="174989"/>
                  </a:moveTo>
                  <a:lnTo>
                    <a:pt x="213295" y="174989"/>
                  </a:lnTo>
                  <a:lnTo>
                    <a:pt x="237404" y="225221"/>
                  </a:lnTo>
                  <a:lnTo>
                    <a:pt x="242738" y="238876"/>
                  </a:lnTo>
                </a:path>
                <a:path w="357504" h="1079500">
                  <a:moveTo>
                    <a:pt x="266512" y="305232"/>
                  </a:moveTo>
                  <a:lnTo>
                    <a:pt x="278399" y="341443"/>
                  </a:lnTo>
                  <a:lnTo>
                    <a:pt x="286750" y="373204"/>
                  </a:lnTo>
                </a:path>
                <a:path w="357504" h="1079500">
                  <a:moveTo>
                    <a:pt x="302722" y="442243"/>
                  </a:moveTo>
                  <a:lnTo>
                    <a:pt x="309305" y="474552"/>
                  </a:lnTo>
                  <a:lnTo>
                    <a:pt x="315858" y="511982"/>
                  </a:lnTo>
                </a:path>
                <a:path w="357504" h="1079500">
                  <a:moveTo>
                    <a:pt x="326496" y="582423"/>
                  </a:moveTo>
                  <a:lnTo>
                    <a:pt x="331647" y="621103"/>
                  </a:lnTo>
                  <a:lnTo>
                    <a:pt x="334847" y="652894"/>
                  </a:lnTo>
                </a:path>
                <a:path w="357504" h="1079500">
                  <a:moveTo>
                    <a:pt x="342650" y="723335"/>
                  </a:moveTo>
                  <a:lnTo>
                    <a:pt x="346734" y="777987"/>
                  </a:lnTo>
                  <a:lnTo>
                    <a:pt x="347984" y="794324"/>
                  </a:lnTo>
                </a:path>
                <a:path w="357504" h="1079500">
                  <a:moveTo>
                    <a:pt x="352038" y="866197"/>
                  </a:moveTo>
                  <a:lnTo>
                    <a:pt x="352038" y="866197"/>
                  </a:lnTo>
                  <a:lnTo>
                    <a:pt x="354720" y="936638"/>
                  </a:lnTo>
                </a:path>
                <a:path w="357504" h="1079500">
                  <a:moveTo>
                    <a:pt x="355939" y="1007445"/>
                  </a:moveTo>
                  <a:lnTo>
                    <a:pt x="357189" y="1026068"/>
                  </a:lnTo>
                  <a:lnTo>
                    <a:pt x="357189" y="1079318"/>
                  </a:lnTo>
                </a:path>
              </a:pathLst>
            </a:custGeom>
            <a:ln w="185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29290" y="3211342"/>
              <a:ext cx="141605" cy="167005"/>
            </a:xfrm>
            <a:custGeom>
              <a:avLst/>
              <a:gdLst/>
              <a:ahLst/>
              <a:cxnLst/>
              <a:rect l="l" t="t" r="r" b="b"/>
              <a:pathLst>
                <a:path w="141604" h="167004">
                  <a:moveTo>
                    <a:pt x="141061" y="0"/>
                  </a:moveTo>
                  <a:lnTo>
                    <a:pt x="70439" y="29108"/>
                  </a:lnTo>
                  <a:lnTo>
                    <a:pt x="0" y="0"/>
                  </a:lnTo>
                  <a:lnTo>
                    <a:pt x="70439" y="166451"/>
                  </a:lnTo>
                  <a:lnTo>
                    <a:pt x="141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42535" y="3296340"/>
              <a:ext cx="357505" cy="1079500"/>
            </a:xfrm>
            <a:custGeom>
              <a:avLst/>
              <a:gdLst/>
              <a:ahLst/>
              <a:cxnLst/>
              <a:rect l="l" t="t" r="r" b="b"/>
              <a:pathLst>
                <a:path w="357504" h="1079500">
                  <a:moveTo>
                    <a:pt x="0" y="1079281"/>
                  </a:moveTo>
                  <a:lnTo>
                    <a:pt x="43981" y="1067043"/>
                  </a:lnTo>
                  <a:lnTo>
                    <a:pt x="66536" y="1054982"/>
                  </a:lnTo>
                </a:path>
                <a:path w="357504" h="1079500">
                  <a:moveTo>
                    <a:pt x="125636" y="1016820"/>
                  </a:moveTo>
                  <a:lnTo>
                    <a:pt x="154530" y="987187"/>
                  </a:lnTo>
                  <a:lnTo>
                    <a:pt x="173184" y="964827"/>
                  </a:lnTo>
                </a:path>
                <a:path w="357504" h="1079500">
                  <a:moveTo>
                    <a:pt x="211862" y="904844"/>
                  </a:moveTo>
                  <a:lnTo>
                    <a:pt x="213295" y="903070"/>
                  </a:lnTo>
                  <a:lnTo>
                    <a:pt x="237404" y="852847"/>
                  </a:lnTo>
                  <a:lnTo>
                    <a:pt x="242738" y="840609"/>
                  </a:lnTo>
                </a:path>
                <a:path w="357504" h="1079500">
                  <a:moveTo>
                    <a:pt x="266512" y="774064"/>
                  </a:moveTo>
                  <a:lnTo>
                    <a:pt x="278399" y="736618"/>
                  </a:lnTo>
                  <a:lnTo>
                    <a:pt x="286750" y="704854"/>
                  </a:lnTo>
                </a:path>
                <a:path w="357504" h="1079500">
                  <a:moveTo>
                    <a:pt x="302722" y="635642"/>
                  </a:moveTo>
                  <a:lnTo>
                    <a:pt x="309305" y="604768"/>
                  </a:lnTo>
                  <a:lnTo>
                    <a:pt x="315858" y="566085"/>
                  </a:lnTo>
                </a:path>
                <a:path w="357504" h="1079500">
                  <a:moveTo>
                    <a:pt x="326496" y="495614"/>
                  </a:moveTo>
                  <a:lnTo>
                    <a:pt x="331647" y="458184"/>
                  </a:lnTo>
                  <a:lnTo>
                    <a:pt x="334847" y="425174"/>
                  </a:lnTo>
                </a:path>
                <a:path w="357504" h="1079500">
                  <a:moveTo>
                    <a:pt x="342650" y="354550"/>
                  </a:moveTo>
                  <a:lnTo>
                    <a:pt x="346734" y="301300"/>
                  </a:lnTo>
                  <a:lnTo>
                    <a:pt x="347984" y="283743"/>
                  </a:lnTo>
                </a:path>
                <a:path w="357504" h="1079500">
                  <a:moveTo>
                    <a:pt x="352038" y="213303"/>
                  </a:moveTo>
                  <a:lnTo>
                    <a:pt x="352038" y="213303"/>
                  </a:lnTo>
                  <a:lnTo>
                    <a:pt x="354720" y="142649"/>
                  </a:lnTo>
                </a:path>
                <a:path w="357504" h="1079500">
                  <a:moveTo>
                    <a:pt x="355939" y="70440"/>
                  </a:moveTo>
                  <a:lnTo>
                    <a:pt x="357189" y="51969"/>
                  </a:lnTo>
                  <a:lnTo>
                    <a:pt x="357189" y="0"/>
                  </a:lnTo>
                </a:path>
              </a:pathLst>
            </a:custGeom>
            <a:ln w="185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76827" y="2507711"/>
            <a:ext cx="70622" cy="7062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226240" y="2507711"/>
            <a:ext cx="70439" cy="70622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375470" y="2507711"/>
            <a:ext cx="70622" cy="7062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553553" y="3281781"/>
            <a:ext cx="70469" cy="7046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53553" y="3431194"/>
            <a:ext cx="70469" cy="7046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553553" y="3580089"/>
            <a:ext cx="70469" cy="70805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076827" y="4591418"/>
            <a:ext cx="70622" cy="70628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226240" y="4591418"/>
            <a:ext cx="70439" cy="70628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375470" y="4591418"/>
            <a:ext cx="70622" cy="70628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635444" y="4499495"/>
            <a:ext cx="480059" cy="255904"/>
          </a:xfrm>
          <a:prstGeom prst="rect">
            <a:avLst/>
          </a:prstGeom>
          <a:solidFill>
            <a:srgbClr val="CBEBCC"/>
          </a:solidFill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r>
              <a:rPr sz="1250" b="1" spc="-25" dirty="0">
                <a:latin typeface="Times New Roman"/>
                <a:cs typeface="Times New Roman"/>
              </a:rPr>
              <a:t>#3</a:t>
            </a:r>
            <a:r>
              <a:rPr sz="1250" b="1" i="1" spc="-2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78954" y="4499495"/>
            <a:ext cx="480059" cy="255904"/>
          </a:xfrm>
          <a:prstGeom prst="rect">
            <a:avLst/>
          </a:prstGeom>
          <a:solidFill>
            <a:srgbClr val="CBEBCC"/>
          </a:solidFill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r>
              <a:rPr sz="1250" b="1" spc="-25" dirty="0">
                <a:latin typeface="Times New Roman"/>
                <a:cs typeface="Times New Roman"/>
              </a:rPr>
              <a:t>#2</a:t>
            </a:r>
            <a:r>
              <a:rPr sz="1250" b="1" i="1" spc="-2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22678" y="4499495"/>
            <a:ext cx="480059" cy="255904"/>
          </a:xfrm>
          <a:prstGeom prst="rect">
            <a:avLst/>
          </a:prstGeom>
          <a:solidFill>
            <a:srgbClr val="CBEBCC"/>
          </a:solidFill>
          <a:ln w="18501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40"/>
              </a:spcBef>
            </a:pPr>
            <a:r>
              <a:rPr sz="1250" b="1" spc="-25" dirty="0">
                <a:latin typeface="Times New Roman"/>
                <a:cs typeface="Times New Roman"/>
              </a:rPr>
              <a:t>#</a:t>
            </a:r>
            <a:r>
              <a:rPr sz="1250" b="1" i="1" spc="-25" dirty="0"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56706" y="4420236"/>
            <a:ext cx="504825" cy="4095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10"/>
              </a:spcBef>
            </a:pPr>
            <a:r>
              <a:rPr sz="1250" b="1" spc="-25" dirty="0">
                <a:latin typeface="Times New Roman"/>
                <a:cs typeface="Times New Roman"/>
              </a:rPr>
              <a:t>QPI</a:t>
            </a:r>
            <a:endParaRPr sz="1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50" b="1" dirty="0">
                <a:latin typeface="Times New Roman"/>
                <a:cs typeface="Times New Roman"/>
              </a:rPr>
              <a:t>lane</a:t>
            </a:r>
            <a:r>
              <a:rPr sz="1250" b="1" spc="-35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19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46172" y="5670862"/>
            <a:ext cx="5348605" cy="4095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500" b="1" dirty="0">
                <a:latin typeface="Times New Roman"/>
                <a:cs typeface="Times New Roman"/>
              </a:rPr>
              <a:t>Figure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3.20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QPI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Multilane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Distribution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76" y="356615"/>
            <a:ext cx="3654552" cy="101193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85011" y="474923"/>
            <a:ext cx="36893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820" algn="l"/>
              </a:tabLst>
            </a:pPr>
            <a:r>
              <a:rPr sz="5400" b="1" spc="-75" baseline="33179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baseline="33179" dirty="0">
                <a:solidFill>
                  <a:srgbClr val="B86FB8"/>
                </a:solidFill>
                <a:latin typeface="Times New Roman"/>
                <a:cs typeface="Times New Roman"/>
              </a:rPr>
              <a:t>	</a:t>
            </a:r>
            <a:r>
              <a:rPr sz="3600" dirty="0"/>
              <a:t>QPI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/>
              <a:t>Link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10" dirty="0"/>
              <a:t>Layer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166872" y="282580"/>
            <a:ext cx="685800" cy="1600200"/>
          </a:xfrm>
          <a:custGeom>
            <a:avLst/>
            <a:gdLst/>
            <a:ahLst/>
            <a:cxnLst/>
            <a:rect l="l" t="t" r="r" b="b"/>
            <a:pathLst>
              <a:path w="685800" h="1600200">
                <a:moveTo>
                  <a:pt x="685799" y="0"/>
                </a:moveTo>
                <a:lnTo>
                  <a:pt x="0" y="0"/>
                </a:lnTo>
                <a:lnTo>
                  <a:pt x="0" y="1600199"/>
                </a:lnTo>
                <a:lnTo>
                  <a:pt x="685799" y="1600199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8340" y="2007231"/>
            <a:ext cx="3033395" cy="3470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33655" indent="-229235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Performs</a:t>
            </a:r>
            <a:r>
              <a:rPr sz="18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two</a:t>
            </a:r>
            <a:r>
              <a:rPr sz="1800" spc="-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key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functions:</a:t>
            </a:r>
            <a:r>
              <a:rPr sz="1800" spc="2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ckwell"/>
                <a:cs typeface="Rockwell"/>
              </a:rPr>
              <a:t>flow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ckwell"/>
                <a:cs typeface="Rockwell"/>
              </a:rPr>
              <a:t>error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i="1" spc="-1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endParaRPr sz="1800">
              <a:latin typeface="Rockwell"/>
              <a:cs typeface="Rockwell"/>
            </a:endParaRPr>
          </a:p>
          <a:p>
            <a:pPr marL="469900" marR="10287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Operate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on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3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level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flit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(flow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unit)</a:t>
            </a:r>
            <a:endParaRPr sz="1800">
              <a:latin typeface="Rockwell"/>
              <a:cs typeface="Rockwell"/>
            </a:endParaRPr>
          </a:p>
          <a:p>
            <a:pPr marL="469900" marR="508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flit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consists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72-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message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payload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8-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error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code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called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ckwell"/>
                <a:cs typeface="Rockwell"/>
              </a:rPr>
              <a:t>cyclic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ckwell"/>
                <a:cs typeface="Rockwell"/>
              </a:rPr>
              <a:t>redundancy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i="1" spc="-20" dirty="0">
                <a:solidFill>
                  <a:srgbClr val="595959"/>
                </a:solidFill>
                <a:latin typeface="Rockwell"/>
                <a:cs typeface="Rockwell"/>
              </a:rPr>
              <a:t>check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(CRC)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3032" y="1701964"/>
            <a:ext cx="3388995" cy="39890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00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Flow</a:t>
            </a:r>
            <a:r>
              <a:rPr sz="1700" spc="-1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1700" spc="-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function</a:t>
            </a:r>
            <a:endParaRPr sz="1700">
              <a:latin typeface="Rockwell"/>
              <a:cs typeface="Rockwell"/>
            </a:endParaRPr>
          </a:p>
          <a:p>
            <a:pPr marL="469900" marR="5080" lvl="1" indent="-228600">
              <a:lnSpc>
                <a:spcPct val="90000"/>
              </a:lnSpc>
              <a:spcBef>
                <a:spcPts val="600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90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Needed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ensure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5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sending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QPI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entity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does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not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overwhelm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7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receiving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QPI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entity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sending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faster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than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receiver</a:t>
            </a:r>
            <a:r>
              <a:rPr sz="17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clear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buffers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more</a:t>
            </a:r>
            <a:r>
              <a:rPr sz="17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incoming</a:t>
            </a:r>
            <a:r>
              <a:rPr sz="17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endParaRPr sz="17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1914"/>
              </a:spcBef>
            </a:pPr>
            <a:endParaRPr sz="1700">
              <a:latin typeface="Rockwell"/>
              <a:cs typeface="Rockwell"/>
            </a:endParaRPr>
          </a:p>
          <a:p>
            <a:pPr marL="393065" indent="-227965">
              <a:lnSpc>
                <a:spcPct val="100000"/>
              </a:lnSpc>
              <a:buClr>
                <a:srgbClr val="653265"/>
              </a:buClr>
              <a:buSzPct val="75000"/>
              <a:buFont typeface="Wingdings"/>
              <a:buChar char=""/>
              <a:tabLst>
                <a:tab pos="3930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Error</a:t>
            </a:r>
            <a:r>
              <a:rPr sz="18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function</a:t>
            </a:r>
            <a:endParaRPr sz="1800">
              <a:latin typeface="Rockwell"/>
              <a:cs typeface="Rockwell"/>
            </a:endParaRPr>
          </a:p>
          <a:p>
            <a:pPr marL="622300" marR="1143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6223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Detects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595959"/>
                </a:solidFill>
                <a:latin typeface="Rockwell"/>
                <a:cs typeface="Rockwell"/>
              </a:rPr>
              <a:t>recovers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errors,</a:t>
            </a:r>
            <a:r>
              <a:rPr sz="1800" spc="-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so</a:t>
            </a:r>
            <a:r>
              <a:rPr sz="18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isolates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higher</a:t>
            </a:r>
            <a:r>
              <a:rPr sz="18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layers</a:t>
            </a:r>
            <a:r>
              <a:rPr sz="18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experiencing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errors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411" y="200603"/>
            <a:ext cx="286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76" y="585216"/>
            <a:ext cx="7330439" cy="101193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64540" y="703829"/>
            <a:ext cx="6762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QPI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/>
              <a:t>Routing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/>
              <a:t>Protocol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30" dirty="0"/>
              <a:t>Layers</a:t>
            </a:r>
          </a:p>
        </p:txBody>
      </p:sp>
      <p:sp>
        <p:nvSpPr>
          <p:cNvPr id="2" name="object 2"/>
          <p:cNvSpPr/>
          <p:nvPr/>
        </p:nvSpPr>
        <p:spPr>
          <a:xfrm>
            <a:off x="8166872" y="282580"/>
            <a:ext cx="685800" cy="1600200"/>
          </a:xfrm>
          <a:custGeom>
            <a:avLst/>
            <a:gdLst/>
            <a:ahLst/>
            <a:cxnLst/>
            <a:rect l="l" t="t" r="r" b="b"/>
            <a:pathLst>
              <a:path w="685800" h="1600200">
                <a:moveTo>
                  <a:pt x="685799" y="0"/>
                </a:moveTo>
                <a:lnTo>
                  <a:pt x="0" y="0"/>
                </a:lnTo>
                <a:lnTo>
                  <a:pt x="0" y="1600199"/>
                </a:lnTo>
                <a:lnTo>
                  <a:pt x="685799" y="1600199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7537" y="2070832"/>
            <a:ext cx="3657600" cy="323215"/>
          </a:xfrm>
          <a:prstGeom prst="rect">
            <a:avLst/>
          </a:prstGeom>
          <a:solidFill>
            <a:srgbClr val="656598"/>
          </a:solidFill>
        </p:spPr>
        <p:txBody>
          <a:bodyPr vert="horz" wrap="square" lIns="0" tIns="17145" rIns="0" bIns="0" rtlCol="0">
            <a:spAutoFit/>
          </a:bodyPr>
          <a:lstStyle/>
          <a:p>
            <a:pPr marL="1105535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solidFill>
                  <a:srgbClr val="FFFFFF"/>
                </a:solidFill>
                <a:latin typeface="Rockwell"/>
                <a:cs typeface="Rockwell"/>
              </a:rPr>
              <a:t>Routing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Rockwell"/>
                <a:cs typeface="Rockwell"/>
              </a:rPr>
              <a:t>Layer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9909" y="2070832"/>
            <a:ext cx="3657600" cy="323215"/>
          </a:xfrm>
          <a:prstGeom prst="rect">
            <a:avLst/>
          </a:prstGeom>
          <a:solidFill>
            <a:srgbClr val="A2A2C2"/>
          </a:solidFill>
        </p:spPr>
        <p:txBody>
          <a:bodyPr vert="horz" wrap="square" lIns="0" tIns="17145" rIns="0" bIns="0" rtlCol="0">
            <a:spAutoFit/>
          </a:bodyPr>
          <a:lstStyle/>
          <a:p>
            <a:pPr marL="1077595">
              <a:lnSpc>
                <a:spcPct val="100000"/>
              </a:lnSpc>
              <a:spcBef>
                <a:spcPts val="135"/>
              </a:spcBef>
            </a:pPr>
            <a:r>
              <a:rPr sz="1800" spc="-10" dirty="0">
                <a:solidFill>
                  <a:srgbClr val="FFFFFF"/>
                </a:solidFill>
                <a:latin typeface="Rockwell"/>
                <a:cs typeface="Rockwell"/>
              </a:rPr>
              <a:t>Protocol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Rockwell"/>
                <a:cs typeface="Rockwell"/>
              </a:rPr>
              <a:t>Layer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2769231"/>
            <a:ext cx="3355340" cy="220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determine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course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packet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will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traverse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across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available</a:t>
            </a:r>
            <a:r>
              <a:rPr sz="18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system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interconnects</a:t>
            </a:r>
            <a:endParaRPr sz="1800">
              <a:latin typeface="Rockwell"/>
              <a:cs typeface="Rockwell"/>
            </a:endParaRPr>
          </a:p>
          <a:p>
            <a:pPr marL="241300" marR="197485" indent="-228600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Defined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firmware</a:t>
            </a:r>
            <a:r>
              <a:rPr sz="18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describe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possible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paths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packet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follow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9420" y="2473194"/>
            <a:ext cx="3480435" cy="3551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9690" indent="-228600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Packet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defined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unit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transfer</a:t>
            </a:r>
            <a:endParaRPr sz="1800">
              <a:latin typeface="Rockwell"/>
              <a:cs typeface="Rockwell"/>
            </a:endParaRPr>
          </a:p>
          <a:p>
            <a:pPr marL="241300" marR="5080" indent="-228600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One</a:t>
            </a:r>
            <a:r>
              <a:rPr sz="18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key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function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performed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at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level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coherency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protocol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which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deals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making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sure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800" spc="5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values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held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multiple</a:t>
            </a:r>
            <a:r>
              <a:rPr sz="1800" spc="-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caches</a:t>
            </a:r>
            <a:r>
              <a:rPr sz="18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800" spc="-1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consistent</a:t>
            </a:r>
            <a:endParaRPr sz="1800">
              <a:latin typeface="Rockwell"/>
              <a:cs typeface="Rockwell"/>
            </a:endParaRPr>
          </a:p>
          <a:p>
            <a:pPr marL="241300" marR="39370" indent="-228600">
              <a:lnSpc>
                <a:spcPct val="100000"/>
              </a:lnSpc>
              <a:spcBef>
                <a:spcPts val="19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typical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packet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payload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being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sent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493776" y="356615"/>
            <a:ext cx="5514340" cy="1560830"/>
            <a:chOff x="493776" y="356615"/>
            <a:chExt cx="5514340" cy="15608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776" y="356615"/>
              <a:ext cx="5513832" cy="10119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905256"/>
              <a:ext cx="4451604" cy="1011936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7711" y="474923"/>
            <a:ext cx="54114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120" marR="17780" indent="-554355">
              <a:lnSpc>
                <a:spcPct val="100000"/>
              </a:lnSpc>
              <a:spcBef>
                <a:spcPts val="100"/>
              </a:spcBef>
              <a:tabLst>
                <a:tab pos="579120" algn="l"/>
              </a:tabLst>
            </a:pPr>
            <a:r>
              <a:rPr sz="5400" b="1" spc="-75" baseline="33179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baseline="33179" dirty="0">
                <a:solidFill>
                  <a:srgbClr val="B86FB8"/>
                </a:solidFill>
                <a:latin typeface="Times New Roman"/>
                <a:cs typeface="Times New Roman"/>
              </a:rPr>
              <a:t>	</a:t>
            </a:r>
            <a:r>
              <a:rPr sz="3600" dirty="0"/>
              <a:t>Peripheral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spc="-10" dirty="0"/>
              <a:t>Component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/>
              <a:t>Interconnect</a:t>
            </a:r>
            <a:r>
              <a:rPr sz="3600" spc="-180" dirty="0">
                <a:latin typeface="Times New Roman"/>
                <a:cs typeface="Times New Roman"/>
              </a:rPr>
              <a:t> </a:t>
            </a:r>
            <a:r>
              <a:rPr sz="3600" spc="-10" dirty="0"/>
              <a:t>(PCI)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8546" y="1841749"/>
            <a:ext cx="7297420" cy="446976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1300" marR="57785" indent="-228600">
              <a:lnSpc>
                <a:spcPts val="2050"/>
              </a:lnSpc>
              <a:spcBef>
                <a:spcPts val="355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9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popular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high</a:t>
            </a:r>
            <a:r>
              <a:rPr sz="19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595959"/>
                </a:solidFill>
                <a:latin typeface="Rockwell"/>
                <a:cs typeface="Rockwell"/>
              </a:rPr>
              <a:t>bandwidth,</a:t>
            </a:r>
            <a:r>
              <a:rPr sz="1900" spc="-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independent</a:t>
            </a:r>
            <a:r>
              <a:rPr sz="19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bus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function</a:t>
            </a:r>
            <a:r>
              <a:rPr sz="19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9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mezzanine</a:t>
            </a:r>
            <a:r>
              <a:rPr sz="19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9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peripheral</a:t>
            </a:r>
            <a:r>
              <a:rPr sz="19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595959"/>
                </a:solidFill>
                <a:latin typeface="Rockwell"/>
                <a:cs typeface="Rockwell"/>
              </a:rPr>
              <a:t>bus</a:t>
            </a:r>
            <a:endParaRPr sz="1900">
              <a:latin typeface="Rockwell"/>
              <a:cs typeface="Rockwell"/>
            </a:endParaRPr>
          </a:p>
          <a:p>
            <a:pPr marL="240665" indent="-227965">
              <a:lnSpc>
                <a:spcPts val="2165"/>
              </a:lnSpc>
              <a:spcBef>
                <a:spcPts val="1750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Delivers</a:t>
            </a:r>
            <a:r>
              <a:rPr sz="19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better</a:t>
            </a:r>
            <a:r>
              <a:rPr sz="19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system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performance</a:t>
            </a:r>
            <a:r>
              <a:rPr sz="19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9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high</a:t>
            </a:r>
            <a:r>
              <a:rPr sz="19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speed</a:t>
            </a:r>
            <a:r>
              <a:rPr sz="19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endParaRPr sz="1900">
              <a:latin typeface="Rockwell"/>
              <a:cs typeface="Rockwell"/>
            </a:endParaRPr>
          </a:p>
          <a:p>
            <a:pPr marL="241300">
              <a:lnSpc>
                <a:spcPts val="2165"/>
              </a:lnSpc>
            </a:pP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subsystems</a:t>
            </a:r>
            <a:endParaRPr sz="19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764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PCI</a:t>
            </a:r>
            <a:r>
              <a:rPr sz="19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Special</a:t>
            </a:r>
            <a:r>
              <a:rPr sz="19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Interest</a:t>
            </a:r>
            <a:r>
              <a:rPr sz="19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Group</a:t>
            </a:r>
            <a:r>
              <a:rPr sz="19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595959"/>
                </a:solidFill>
                <a:latin typeface="Rockwell"/>
                <a:cs typeface="Rockwell"/>
              </a:rPr>
              <a:t>(SIG)</a:t>
            </a:r>
            <a:endParaRPr sz="1900">
              <a:latin typeface="Rockwell"/>
              <a:cs typeface="Rockwell"/>
            </a:endParaRPr>
          </a:p>
          <a:p>
            <a:pPr marL="469265" lvl="1" indent="-227965">
              <a:lnSpc>
                <a:spcPts val="1939"/>
              </a:lnSpc>
              <a:spcBef>
                <a:spcPts val="40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Created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develop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further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maintain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compatibility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PCI</a:t>
            </a:r>
            <a:endParaRPr sz="1700">
              <a:latin typeface="Rockwell"/>
              <a:cs typeface="Rockwell"/>
            </a:endParaRPr>
          </a:p>
          <a:p>
            <a:pPr marL="469900">
              <a:lnSpc>
                <a:spcPts val="1939"/>
              </a:lnSpc>
            </a:pP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specifications</a:t>
            </a: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770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PCI</a:t>
            </a:r>
            <a:r>
              <a:rPr sz="19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Express</a:t>
            </a:r>
            <a:r>
              <a:rPr sz="19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(PCIe)</a:t>
            </a:r>
            <a:endParaRPr sz="1900">
              <a:latin typeface="Rockwell"/>
              <a:cs typeface="Rockwell"/>
            </a:endParaRPr>
          </a:p>
          <a:p>
            <a:pPr marL="469900" marR="655955" lvl="1" indent="-228600">
              <a:lnSpc>
                <a:spcPts val="1730"/>
              </a:lnSpc>
              <a:spcBef>
                <a:spcPts val="63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Point-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to-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point</a:t>
            </a:r>
            <a:r>
              <a:rPr sz="16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interconnect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scheme</a:t>
            </a:r>
            <a:r>
              <a:rPr sz="16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intended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6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replace</a:t>
            </a:r>
            <a:r>
              <a:rPr sz="16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bus-based</a:t>
            </a:r>
            <a:r>
              <a:rPr sz="16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schemes</a:t>
            </a:r>
            <a:r>
              <a:rPr sz="16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such</a:t>
            </a:r>
            <a:r>
              <a:rPr sz="16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6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595959"/>
                </a:solidFill>
                <a:latin typeface="Rockwell"/>
                <a:cs typeface="Rockwell"/>
              </a:rPr>
              <a:t>PCI</a:t>
            </a:r>
            <a:endParaRPr sz="1600">
              <a:latin typeface="Rockwell"/>
              <a:cs typeface="Rockwell"/>
            </a:endParaRPr>
          </a:p>
          <a:p>
            <a:pPr marL="469900" marR="30480" lvl="1" indent="-228600">
              <a:lnSpc>
                <a:spcPts val="173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Key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requirement</a:t>
            </a:r>
            <a:r>
              <a:rPr sz="16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6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high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capacity</a:t>
            </a:r>
            <a:r>
              <a:rPr sz="16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6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support</a:t>
            </a:r>
            <a:r>
              <a:rPr sz="16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needs</a:t>
            </a:r>
            <a:r>
              <a:rPr sz="16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6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higher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rate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6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devices,</a:t>
            </a:r>
            <a:r>
              <a:rPr sz="1600" spc="-1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such</a:t>
            </a:r>
            <a:r>
              <a:rPr sz="16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Gigabit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Ethernet</a:t>
            </a:r>
            <a:endParaRPr sz="1600">
              <a:latin typeface="Rockwell"/>
              <a:cs typeface="Rockwell"/>
            </a:endParaRPr>
          </a:p>
          <a:p>
            <a:pPr marL="469900" marR="5080" lvl="1" indent="-228600">
              <a:lnSpc>
                <a:spcPts val="1730"/>
              </a:lnSpc>
              <a:spcBef>
                <a:spcPts val="59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Another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requirement</a:t>
            </a:r>
            <a:r>
              <a:rPr sz="16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deals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6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need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support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time</a:t>
            </a:r>
            <a:r>
              <a:rPr sz="16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dependent</a:t>
            </a:r>
            <a:r>
              <a:rPr sz="16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streams</a:t>
            </a:r>
            <a:endParaRPr sz="1600">
              <a:latin typeface="Rockwell"/>
              <a:cs typeface="Rockwel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115" y="133432"/>
            <a:ext cx="4775597" cy="4986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95233" y="292748"/>
            <a:ext cx="3721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latin typeface="Times New Roman"/>
                <a:cs typeface="Times New Roman"/>
              </a:rPr>
              <a:t>Core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7784" y="292748"/>
            <a:ext cx="3721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latin typeface="Times New Roman"/>
                <a:cs typeface="Times New Roman"/>
              </a:rPr>
              <a:t>Core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08695" y="1434755"/>
            <a:ext cx="558800" cy="366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0005">
              <a:lnSpc>
                <a:spcPct val="101600"/>
              </a:lnSpc>
              <a:spcBef>
                <a:spcPts val="95"/>
              </a:spcBef>
            </a:pPr>
            <a:r>
              <a:rPr sz="1100" b="1" spc="-10" dirty="0">
                <a:latin typeface="Times New Roman"/>
                <a:cs typeface="Times New Roman"/>
              </a:rPr>
              <a:t>Gigabit Ethernet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4475" y="1434755"/>
            <a:ext cx="3314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20" dirty="0">
                <a:latin typeface="Times New Roman"/>
                <a:cs typeface="Times New Roman"/>
              </a:rPr>
              <a:t>PCIe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76904" y="1517076"/>
            <a:ext cx="54483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0" dirty="0">
                <a:latin typeface="Times New Roman"/>
                <a:cs typeface="Times New Roman"/>
              </a:rPr>
              <a:t>Memory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3142" y="1795693"/>
            <a:ext cx="5645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latin typeface="Times New Roman"/>
                <a:cs typeface="Times New Roman"/>
              </a:rPr>
              <a:t>Chipset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66177" y="2115767"/>
            <a:ext cx="645160" cy="366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100" b="1" spc="-10" dirty="0">
                <a:latin typeface="Times New Roman"/>
                <a:cs typeface="Times New Roman"/>
              </a:rPr>
              <a:t>PCIe–</a:t>
            </a:r>
            <a:r>
              <a:rPr sz="1100" b="1" spc="-25" dirty="0">
                <a:latin typeface="Times New Roman"/>
                <a:cs typeface="Times New Roman"/>
              </a:rPr>
              <a:t>PCI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100" b="1" spc="-10" dirty="0">
                <a:latin typeface="Times New Roman"/>
                <a:cs typeface="Times New Roman"/>
              </a:rPr>
              <a:t>Bridge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4475" y="2075026"/>
            <a:ext cx="3314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20" dirty="0">
                <a:latin typeface="Times New Roman"/>
                <a:cs typeface="Times New Roman"/>
              </a:rPr>
              <a:t>PCIe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76904" y="2198203"/>
            <a:ext cx="54483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0" dirty="0">
                <a:latin typeface="Times New Roman"/>
                <a:cs typeface="Times New Roman"/>
              </a:rPr>
              <a:t>Memory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90979" y="2697582"/>
            <a:ext cx="3314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20" dirty="0">
                <a:latin typeface="Times New Roman"/>
                <a:cs typeface="Times New Roman"/>
              </a:rPr>
              <a:t>PCIe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4475" y="3370440"/>
            <a:ext cx="3314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20" dirty="0">
                <a:latin typeface="Times New Roman"/>
                <a:cs typeface="Times New Roman"/>
              </a:rPr>
              <a:t>PCIe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18391" y="3370440"/>
            <a:ext cx="3314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20" dirty="0">
                <a:latin typeface="Times New Roman"/>
                <a:cs typeface="Times New Roman"/>
              </a:rPr>
              <a:t>PCIe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15146" y="3454530"/>
            <a:ext cx="5010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latin typeface="Times New Roman"/>
                <a:cs typeface="Times New Roman"/>
              </a:rPr>
              <a:t>Switch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28227" y="4196615"/>
            <a:ext cx="3314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20" dirty="0">
                <a:latin typeface="Times New Roman"/>
                <a:cs typeface="Times New Roman"/>
              </a:rPr>
              <a:t>PCIe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91808" y="4196615"/>
            <a:ext cx="3314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20" dirty="0">
                <a:latin typeface="Times New Roman"/>
                <a:cs typeface="Times New Roman"/>
              </a:rPr>
              <a:t>PCIe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08695" y="4670235"/>
            <a:ext cx="557530" cy="366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1435">
              <a:lnSpc>
                <a:spcPct val="101600"/>
              </a:lnSpc>
              <a:spcBef>
                <a:spcPts val="95"/>
              </a:spcBef>
            </a:pPr>
            <a:r>
              <a:rPr sz="1100" b="1" spc="-10" dirty="0">
                <a:latin typeface="Times New Roman"/>
                <a:cs typeface="Times New Roman"/>
              </a:rPr>
              <a:t>Legacy endpoint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90573" y="4670235"/>
            <a:ext cx="557530" cy="366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14"/>
              </a:spcBef>
            </a:pPr>
            <a:r>
              <a:rPr sz="1100" b="1" spc="-20" dirty="0">
                <a:latin typeface="Times New Roman"/>
                <a:cs typeface="Times New Roman"/>
              </a:rPr>
              <a:t>PCIe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100" b="1" spc="-10" dirty="0">
                <a:latin typeface="Times New Roman"/>
                <a:cs typeface="Times New Roman"/>
              </a:rPr>
              <a:t>endpoint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52814" y="4670235"/>
            <a:ext cx="557530" cy="366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14"/>
              </a:spcBef>
            </a:pPr>
            <a:r>
              <a:rPr sz="1100" b="1" spc="-20" dirty="0">
                <a:latin typeface="Times New Roman"/>
                <a:cs typeface="Times New Roman"/>
              </a:rPr>
              <a:t>PCIe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100" b="1" spc="-10" dirty="0">
                <a:latin typeface="Times New Roman"/>
                <a:cs typeface="Times New Roman"/>
              </a:rPr>
              <a:t>endpoint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68993" y="4670235"/>
            <a:ext cx="557530" cy="366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14"/>
              </a:spcBef>
            </a:pPr>
            <a:r>
              <a:rPr sz="1100" b="1" spc="-20" dirty="0">
                <a:latin typeface="Times New Roman"/>
                <a:cs typeface="Times New Roman"/>
              </a:rPr>
              <a:t>PCIe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100" b="1" spc="-10" dirty="0">
                <a:latin typeface="Times New Roman"/>
                <a:cs typeface="Times New Roman"/>
              </a:rPr>
              <a:t>endpoint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93825" y="6067552"/>
            <a:ext cx="534606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114" dirty="0">
                <a:latin typeface="Arial"/>
                <a:cs typeface="Arial"/>
              </a:rPr>
              <a:t>Figure</a:t>
            </a:r>
            <a:r>
              <a:rPr sz="1650" spc="36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Arial"/>
                <a:cs typeface="Arial"/>
              </a:rPr>
              <a:t>3</a:t>
            </a:r>
            <a:r>
              <a:rPr sz="1650" spc="-150" dirty="0">
                <a:latin typeface="Times New Roman"/>
                <a:cs typeface="Times New Roman"/>
              </a:rPr>
              <a:t> </a:t>
            </a:r>
            <a:r>
              <a:rPr sz="1650" b="1" spc="70" dirty="0">
                <a:latin typeface="Arial"/>
                <a:cs typeface="Arial"/>
              </a:rPr>
              <a:t>.2</a:t>
            </a:r>
            <a:r>
              <a:rPr sz="1650" spc="-14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Arial"/>
                <a:cs typeface="Arial"/>
              </a:rPr>
              <a:t>1</a:t>
            </a:r>
            <a:r>
              <a:rPr sz="1650" spc="445" dirty="0">
                <a:latin typeface="Times New Roman"/>
                <a:cs typeface="Times New Roman"/>
              </a:rPr>
              <a:t> </a:t>
            </a:r>
            <a:r>
              <a:rPr sz="1650" b="1" spc="114" dirty="0">
                <a:latin typeface="Arial"/>
                <a:cs typeface="Arial"/>
              </a:rPr>
              <a:t>Typical</a:t>
            </a:r>
            <a:r>
              <a:rPr sz="1650" spc="290" dirty="0">
                <a:latin typeface="Times New Roman"/>
                <a:cs typeface="Times New Roman"/>
              </a:rPr>
              <a:t> </a:t>
            </a:r>
            <a:r>
              <a:rPr sz="1650" b="1" spc="130" dirty="0">
                <a:latin typeface="Arial"/>
                <a:cs typeface="Arial"/>
              </a:rPr>
              <a:t>Configuration</a:t>
            </a:r>
            <a:r>
              <a:rPr sz="1650" spc="350" dirty="0">
                <a:latin typeface="Times New Roman"/>
                <a:cs typeface="Times New Roman"/>
              </a:rPr>
              <a:t> </a:t>
            </a:r>
            <a:r>
              <a:rPr sz="1650" b="1" spc="100" dirty="0">
                <a:latin typeface="Arial"/>
                <a:cs typeface="Arial"/>
              </a:rPr>
              <a:t>Using</a:t>
            </a:r>
            <a:r>
              <a:rPr sz="1650" spc="33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Arial"/>
                <a:cs typeface="Arial"/>
              </a:rPr>
              <a:t>PCI</a:t>
            </a:r>
            <a:r>
              <a:rPr sz="1650" spc="50" dirty="0">
                <a:latin typeface="Times New Roman"/>
                <a:cs typeface="Times New Roman"/>
              </a:rPr>
              <a:t> </a:t>
            </a:r>
            <a:r>
              <a:rPr sz="1650" b="1" spc="-50" dirty="0">
                <a:latin typeface="Arial"/>
                <a:cs typeface="Arial"/>
              </a:rPr>
              <a:t>e</a:t>
            </a:r>
            <a:endParaRPr sz="165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597151" y="1101142"/>
            <a:ext cx="2598420" cy="3725545"/>
            <a:chOff x="597151" y="1101142"/>
            <a:chExt cx="2598420" cy="3725545"/>
          </a:xfrm>
        </p:grpSpPr>
        <p:sp>
          <p:nvSpPr>
            <p:cNvPr id="5" name="object 5"/>
            <p:cNvSpPr/>
            <p:nvPr/>
          </p:nvSpPr>
          <p:spPr>
            <a:xfrm>
              <a:off x="922757" y="3372459"/>
              <a:ext cx="2257425" cy="1128395"/>
            </a:xfrm>
            <a:custGeom>
              <a:avLst/>
              <a:gdLst/>
              <a:ahLst/>
              <a:cxnLst/>
              <a:rect l="l" t="t" r="r" b="b"/>
              <a:pathLst>
                <a:path w="2257425" h="1128395">
                  <a:moveTo>
                    <a:pt x="0" y="0"/>
                  </a:moveTo>
                  <a:lnTo>
                    <a:pt x="0" y="1128244"/>
                  </a:lnTo>
                  <a:lnTo>
                    <a:pt x="2256946" y="11282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2760" y="3372449"/>
              <a:ext cx="2257425" cy="1128395"/>
            </a:xfrm>
            <a:custGeom>
              <a:avLst/>
              <a:gdLst/>
              <a:ahLst/>
              <a:cxnLst/>
              <a:rect l="l" t="t" r="r" b="b"/>
              <a:pathLst>
                <a:path w="2257425" h="1128395">
                  <a:moveTo>
                    <a:pt x="0" y="0"/>
                  </a:moveTo>
                  <a:lnTo>
                    <a:pt x="0" y="1128256"/>
                  </a:lnTo>
                  <a:lnTo>
                    <a:pt x="2256944" y="1128256"/>
                  </a:lnTo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22757" y="2244638"/>
              <a:ext cx="2257425" cy="1128395"/>
            </a:xfrm>
            <a:custGeom>
              <a:avLst/>
              <a:gdLst/>
              <a:ahLst/>
              <a:cxnLst/>
              <a:rect l="l" t="t" r="r" b="b"/>
              <a:pathLst>
                <a:path w="2257425" h="1128395">
                  <a:moveTo>
                    <a:pt x="0" y="0"/>
                  </a:moveTo>
                  <a:lnTo>
                    <a:pt x="0" y="1127820"/>
                  </a:lnTo>
                  <a:lnTo>
                    <a:pt x="2256946" y="112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22760" y="2244635"/>
              <a:ext cx="2257425" cy="1128395"/>
            </a:xfrm>
            <a:custGeom>
              <a:avLst/>
              <a:gdLst/>
              <a:ahLst/>
              <a:cxnLst/>
              <a:rect l="l" t="t" r="r" b="b"/>
              <a:pathLst>
                <a:path w="2257425" h="1128395">
                  <a:moveTo>
                    <a:pt x="0" y="0"/>
                  </a:moveTo>
                  <a:lnTo>
                    <a:pt x="0" y="1127814"/>
                  </a:lnTo>
                  <a:lnTo>
                    <a:pt x="2256944" y="1127814"/>
                  </a:lnTo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2708" y="1116695"/>
              <a:ext cx="2567305" cy="451484"/>
            </a:xfrm>
            <a:custGeom>
              <a:avLst/>
              <a:gdLst/>
              <a:ahLst/>
              <a:cxnLst/>
              <a:rect l="l" t="t" r="r" b="b"/>
              <a:pathLst>
                <a:path w="2567305" h="451484">
                  <a:moveTo>
                    <a:pt x="2566995" y="0"/>
                  </a:moveTo>
                  <a:lnTo>
                    <a:pt x="310048" y="0"/>
                  </a:lnTo>
                  <a:lnTo>
                    <a:pt x="0" y="451073"/>
                  </a:lnTo>
                  <a:lnTo>
                    <a:pt x="2341315" y="225826"/>
                  </a:lnTo>
                  <a:lnTo>
                    <a:pt x="2566995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2708" y="1116699"/>
              <a:ext cx="2567305" cy="451484"/>
            </a:xfrm>
            <a:custGeom>
              <a:avLst/>
              <a:gdLst/>
              <a:ahLst/>
              <a:cxnLst/>
              <a:rect l="l" t="t" r="r" b="b"/>
              <a:pathLst>
                <a:path w="2567305" h="451484">
                  <a:moveTo>
                    <a:pt x="310051" y="0"/>
                  </a:moveTo>
                  <a:lnTo>
                    <a:pt x="0" y="451040"/>
                  </a:lnTo>
                  <a:lnTo>
                    <a:pt x="2341326" y="225824"/>
                  </a:lnTo>
                  <a:lnTo>
                    <a:pt x="2566996" y="0"/>
                  </a:lnTo>
                  <a:lnTo>
                    <a:pt x="310051" y="0"/>
                  </a:lnTo>
                  <a:close/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2708" y="1116695"/>
              <a:ext cx="2567305" cy="1579880"/>
            </a:xfrm>
            <a:custGeom>
              <a:avLst/>
              <a:gdLst/>
              <a:ahLst/>
              <a:cxnLst/>
              <a:rect l="l" t="t" r="r" b="b"/>
              <a:pathLst>
                <a:path w="2567305" h="1579880">
                  <a:moveTo>
                    <a:pt x="310048" y="0"/>
                  </a:moveTo>
                  <a:lnTo>
                    <a:pt x="0" y="451073"/>
                  </a:lnTo>
                  <a:lnTo>
                    <a:pt x="0" y="1579321"/>
                  </a:lnTo>
                  <a:lnTo>
                    <a:pt x="2341315" y="1353647"/>
                  </a:lnTo>
                  <a:lnTo>
                    <a:pt x="2566995" y="1127942"/>
                  </a:lnTo>
                  <a:lnTo>
                    <a:pt x="310048" y="1127942"/>
                  </a:lnTo>
                  <a:lnTo>
                    <a:pt x="310048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2708" y="1116699"/>
              <a:ext cx="2567305" cy="1579880"/>
            </a:xfrm>
            <a:custGeom>
              <a:avLst/>
              <a:gdLst/>
              <a:ahLst/>
              <a:cxnLst/>
              <a:rect l="l" t="t" r="r" b="b"/>
              <a:pathLst>
                <a:path w="2567305" h="1579880">
                  <a:moveTo>
                    <a:pt x="310051" y="0"/>
                  </a:moveTo>
                  <a:lnTo>
                    <a:pt x="0" y="451040"/>
                  </a:lnTo>
                  <a:lnTo>
                    <a:pt x="0" y="1579311"/>
                  </a:lnTo>
                  <a:lnTo>
                    <a:pt x="2341326" y="1353639"/>
                  </a:lnTo>
                  <a:lnTo>
                    <a:pt x="2566996" y="1127936"/>
                  </a:lnTo>
                  <a:lnTo>
                    <a:pt x="310051" y="1127936"/>
                  </a:lnTo>
                  <a:lnTo>
                    <a:pt x="310051" y="0"/>
                  </a:lnTo>
                  <a:close/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2708" y="2244638"/>
              <a:ext cx="2567305" cy="1579880"/>
            </a:xfrm>
            <a:custGeom>
              <a:avLst/>
              <a:gdLst/>
              <a:ahLst/>
              <a:cxnLst/>
              <a:rect l="l" t="t" r="r" b="b"/>
              <a:pathLst>
                <a:path w="2567305" h="1579879">
                  <a:moveTo>
                    <a:pt x="310048" y="0"/>
                  </a:moveTo>
                  <a:lnTo>
                    <a:pt x="0" y="451378"/>
                  </a:lnTo>
                  <a:lnTo>
                    <a:pt x="0" y="1579327"/>
                  </a:lnTo>
                  <a:lnTo>
                    <a:pt x="2341315" y="1353647"/>
                  </a:lnTo>
                  <a:lnTo>
                    <a:pt x="2566995" y="1127820"/>
                  </a:lnTo>
                  <a:lnTo>
                    <a:pt x="310048" y="1127820"/>
                  </a:lnTo>
                  <a:lnTo>
                    <a:pt x="310048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2708" y="2244635"/>
              <a:ext cx="2567305" cy="1579880"/>
            </a:xfrm>
            <a:custGeom>
              <a:avLst/>
              <a:gdLst/>
              <a:ahLst/>
              <a:cxnLst/>
              <a:rect l="l" t="t" r="r" b="b"/>
              <a:pathLst>
                <a:path w="2567305" h="1579879">
                  <a:moveTo>
                    <a:pt x="310051" y="0"/>
                  </a:moveTo>
                  <a:lnTo>
                    <a:pt x="0" y="451375"/>
                  </a:lnTo>
                  <a:lnTo>
                    <a:pt x="0" y="1579330"/>
                  </a:lnTo>
                  <a:lnTo>
                    <a:pt x="2341326" y="1353639"/>
                  </a:lnTo>
                  <a:lnTo>
                    <a:pt x="2566996" y="1127814"/>
                  </a:lnTo>
                  <a:lnTo>
                    <a:pt x="310051" y="1127814"/>
                  </a:lnTo>
                  <a:lnTo>
                    <a:pt x="310051" y="0"/>
                  </a:lnTo>
                  <a:close/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2708" y="3372459"/>
              <a:ext cx="2567305" cy="1438910"/>
            </a:xfrm>
            <a:custGeom>
              <a:avLst/>
              <a:gdLst/>
              <a:ahLst/>
              <a:cxnLst/>
              <a:rect l="l" t="t" r="r" b="b"/>
              <a:pathLst>
                <a:path w="2567305" h="1438910">
                  <a:moveTo>
                    <a:pt x="310048" y="0"/>
                  </a:moveTo>
                  <a:lnTo>
                    <a:pt x="0" y="451506"/>
                  </a:lnTo>
                  <a:lnTo>
                    <a:pt x="0" y="1438357"/>
                  </a:lnTo>
                  <a:lnTo>
                    <a:pt x="2115476" y="1438357"/>
                  </a:lnTo>
                  <a:lnTo>
                    <a:pt x="2566995" y="1128244"/>
                  </a:lnTo>
                  <a:lnTo>
                    <a:pt x="310048" y="1128244"/>
                  </a:lnTo>
                  <a:lnTo>
                    <a:pt x="310048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2708" y="3372449"/>
              <a:ext cx="2567305" cy="1438910"/>
            </a:xfrm>
            <a:custGeom>
              <a:avLst/>
              <a:gdLst/>
              <a:ahLst/>
              <a:cxnLst/>
              <a:rect l="l" t="t" r="r" b="b"/>
              <a:pathLst>
                <a:path w="2567305" h="1438910">
                  <a:moveTo>
                    <a:pt x="310051" y="0"/>
                  </a:moveTo>
                  <a:lnTo>
                    <a:pt x="0" y="451515"/>
                  </a:lnTo>
                  <a:lnTo>
                    <a:pt x="0" y="1438363"/>
                  </a:lnTo>
                  <a:lnTo>
                    <a:pt x="2115488" y="1438363"/>
                  </a:lnTo>
                  <a:lnTo>
                    <a:pt x="2566996" y="1128256"/>
                  </a:lnTo>
                  <a:lnTo>
                    <a:pt x="310051" y="1128256"/>
                  </a:lnTo>
                  <a:lnTo>
                    <a:pt x="310051" y="0"/>
                  </a:lnTo>
                  <a:close/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22756" y="2244648"/>
              <a:ext cx="2257425" cy="2256155"/>
            </a:xfrm>
            <a:custGeom>
              <a:avLst/>
              <a:gdLst/>
              <a:ahLst/>
              <a:cxnLst/>
              <a:rect l="l" t="t" r="r" b="b"/>
              <a:pathLst>
                <a:path w="2257425" h="2256154">
                  <a:moveTo>
                    <a:pt x="2256942" y="0"/>
                  </a:moveTo>
                  <a:lnTo>
                    <a:pt x="0" y="0"/>
                  </a:lnTo>
                  <a:lnTo>
                    <a:pt x="0" y="1127810"/>
                  </a:lnTo>
                  <a:lnTo>
                    <a:pt x="0" y="2256066"/>
                  </a:lnTo>
                  <a:lnTo>
                    <a:pt x="2256942" y="2256066"/>
                  </a:lnTo>
                  <a:lnTo>
                    <a:pt x="2256942" y="1127810"/>
                  </a:lnTo>
                  <a:lnTo>
                    <a:pt x="2256942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22760" y="2244635"/>
            <a:ext cx="2257425" cy="1128395"/>
          </a:xfrm>
          <a:prstGeom prst="rect">
            <a:avLst/>
          </a:prstGeom>
          <a:ln w="30692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5"/>
              </a:spcBef>
            </a:pPr>
            <a:endParaRPr sz="2200">
              <a:latin typeface="Times New Roman"/>
              <a:cs typeface="Times New Roman"/>
            </a:endParaRPr>
          </a:p>
          <a:p>
            <a:pPr marL="432434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Data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Link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2760" y="1116699"/>
            <a:ext cx="2257425" cy="1128395"/>
          </a:xfrm>
          <a:prstGeom prst="rect">
            <a:avLst/>
          </a:prstGeom>
          <a:solidFill>
            <a:srgbClr val="CBEBCC"/>
          </a:solidFill>
          <a:ln w="30692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endParaRPr sz="2200">
              <a:latin typeface="Times New Roman"/>
              <a:cs typeface="Times New Roman"/>
            </a:endParaRPr>
          </a:p>
          <a:p>
            <a:pPr marL="318135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Transaction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32628" y="926463"/>
            <a:ext cx="2152015" cy="702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3520" marR="5080" indent="-211454">
              <a:lnSpc>
                <a:spcPct val="100899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Transaction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layer </a:t>
            </a:r>
            <a:r>
              <a:rPr sz="2200" b="1" dirty="0">
                <a:latin typeface="Times New Roman"/>
                <a:cs typeface="Times New Roman"/>
              </a:rPr>
              <a:t>packets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(TLP)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2964" y="2073346"/>
            <a:ext cx="1937385" cy="702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8419">
              <a:lnSpc>
                <a:spcPct val="100899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Data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link</a:t>
            </a:r>
            <a:r>
              <a:rPr sz="2200" b="1" spc="-20" dirty="0">
                <a:latin typeface="Times New Roman"/>
                <a:cs typeface="Times New Roman"/>
              </a:rPr>
              <a:t> layer </a:t>
            </a:r>
            <a:r>
              <a:rPr sz="2200" b="1" dirty="0">
                <a:latin typeface="Times New Roman"/>
                <a:cs typeface="Times New Roman"/>
              </a:rPr>
              <a:t>packets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(DLLP)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2760" y="3372449"/>
            <a:ext cx="2257425" cy="1128395"/>
          </a:xfrm>
          <a:prstGeom prst="rect">
            <a:avLst/>
          </a:prstGeom>
          <a:ln w="30692">
            <a:solidFill>
              <a:srgbClr val="000000"/>
            </a:solidFill>
          </a:ln>
        </p:spPr>
        <p:txBody>
          <a:bodyPr vert="horz" wrap="square" lIns="0" tIns="284480" rIns="0" bIns="0" rtlCol="0">
            <a:spAutoFit/>
          </a:bodyPr>
          <a:lstStyle/>
          <a:p>
            <a:pPr marL="545465">
              <a:lnSpc>
                <a:spcPct val="100000"/>
              </a:lnSpc>
              <a:spcBef>
                <a:spcPts val="2240"/>
              </a:spcBef>
            </a:pPr>
            <a:r>
              <a:rPr sz="2200" b="1" spc="-10" dirty="0">
                <a:latin typeface="Times New Roman"/>
                <a:cs typeface="Times New Roman"/>
              </a:rPr>
              <a:t>Physical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97151" y="1101142"/>
            <a:ext cx="8095615" cy="3725545"/>
            <a:chOff x="597151" y="1101142"/>
            <a:chExt cx="8095615" cy="3725545"/>
          </a:xfrm>
        </p:grpSpPr>
        <p:sp>
          <p:nvSpPr>
            <p:cNvPr id="24" name="object 24"/>
            <p:cNvSpPr/>
            <p:nvPr/>
          </p:nvSpPr>
          <p:spPr>
            <a:xfrm>
              <a:off x="612708" y="4500704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5" h="310514">
                  <a:moveTo>
                    <a:pt x="310048" y="0"/>
                  </a:moveTo>
                  <a:lnTo>
                    <a:pt x="0" y="310112"/>
                  </a:lnTo>
                  <a:lnTo>
                    <a:pt x="310048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2708" y="4500706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5" h="310514">
                  <a:moveTo>
                    <a:pt x="0" y="310107"/>
                  </a:moveTo>
                  <a:lnTo>
                    <a:pt x="0" y="310107"/>
                  </a:lnTo>
                  <a:lnTo>
                    <a:pt x="310051" y="0"/>
                  </a:lnTo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20093" y="3372459"/>
              <a:ext cx="2257425" cy="1128395"/>
            </a:xfrm>
            <a:custGeom>
              <a:avLst/>
              <a:gdLst/>
              <a:ahLst/>
              <a:cxnLst/>
              <a:rect l="l" t="t" r="r" b="b"/>
              <a:pathLst>
                <a:path w="2257425" h="1128395">
                  <a:moveTo>
                    <a:pt x="0" y="0"/>
                  </a:moveTo>
                  <a:lnTo>
                    <a:pt x="0" y="1128244"/>
                  </a:lnTo>
                  <a:lnTo>
                    <a:pt x="2256861" y="11282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20127" y="3372449"/>
              <a:ext cx="2257425" cy="1128395"/>
            </a:xfrm>
            <a:custGeom>
              <a:avLst/>
              <a:gdLst/>
              <a:ahLst/>
              <a:cxnLst/>
              <a:rect l="l" t="t" r="r" b="b"/>
              <a:pathLst>
                <a:path w="2257425" h="1128395">
                  <a:moveTo>
                    <a:pt x="0" y="0"/>
                  </a:moveTo>
                  <a:lnTo>
                    <a:pt x="0" y="1128256"/>
                  </a:lnTo>
                  <a:lnTo>
                    <a:pt x="2256853" y="1128256"/>
                  </a:lnTo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20093" y="2244638"/>
              <a:ext cx="2257425" cy="1128395"/>
            </a:xfrm>
            <a:custGeom>
              <a:avLst/>
              <a:gdLst/>
              <a:ahLst/>
              <a:cxnLst/>
              <a:rect l="l" t="t" r="r" b="b"/>
              <a:pathLst>
                <a:path w="2257425" h="1128395">
                  <a:moveTo>
                    <a:pt x="0" y="0"/>
                  </a:moveTo>
                  <a:lnTo>
                    <a:pt x="0" y="1127820"/>
                  </a:lnTo>
                  <a:lnTo>
                    <a:pt x="2256861" y="112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20127" y="2244635"/>
              <a:ext cx="2257425" cy="1128395"/>
            </a:xfrm>
            <a:custGeom>
              <a:avLst/>
              <a:gdLst/>
              <a:ahLst/>
              <a:cxnLst/>
              <a:rect l="l" t="t" r="r" b="b"/>
              <a:pathLst>
                <a:path w="2257425" h="1128395">
                  <a:moveTo>
                    <a:pt x="0" y="0"/>
                  </a:moveTo>
                  <a:lnTo>
                    <a:pt x="0" y="1127814"/>
                  </a:lnTo>
                  <a:lnTo>
                    <a:pt x="2256853" y="1127814"/>
                  </a:lnTo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10051" y="1116695"/>
              <a:ext cx="2567305" cy="451484"/>
            </a:xfrm>
            <a:custGeom>
              <a:avLst/>
              <a:gdLst/>
              <a:ahLst/>
              <a:cxnLst/>
              <a:rect l="l" t="t" r="r" b="b"/>
              <a:pathLst>
                <a:path w="2567304" h="451484">
                  <a:moveTo>
                    <a:pt x="2566903" y="0"/>
                  </a:moveTo>
                  <a:lnTo>
                    <a:pt x="310042" y="0"/>
                  </a:lnTo>
                  <a:lnTo>
                    <a:pt x="0" y="451073"/>
                  </a:lnTo>
                  <a:lnTo>
                    <a:pt x="2341199" y="225826"/>
                  </a:lnTo>
                  <a:lnTo>
                    <a:pt x="2566903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10051" y="1116699"/>
              <a:ext cx="2567305" cy="451484"/>
            </a:xfrm>
            <a:custGeom>
              <a:avLst/>
              <a:gdLst/>
              <a:ahLst/>
              <a:cxnLst/>
              <a:rect l="l" t="t" r="r" b="b"/>
              <a:pathLst>
                <a:path w="2567304" h="451484">
                  <a:moveTo>
                    <a:pt x="310076" y="0"/>
                  </a:moveTo>
                  <a:lnTo>
                    <a:pt x="0" y="451040"/>
                  </a:lnTo>
                  <a:lnTo>
                    <a:pt x="2341253" y="225824"/>
                  </a:lnTo>
                  <a:lnTo>
                    <a:pt x="2566929" y="0"/>
                  </a:lnTo>
                  <a:lnTo>
                    <a:pt x="310076" y="0"/>
                  </a:lnTo>
                  <a:close/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10051" y="1116695"/>
              <a:ext cx="2567305" cy="1579880"/>
            </a:xfrm>
            <a:custGeom>
              <a:avLst/>
              <a:gdLst/>
              <a:ahLst/>
              <a:cxnLst/>
              <a:rect l="l" t="t" r="r" b="b"/>
              <a:pathLst>
                <a:path w="2567304" h="1579880">
                  <a:moveTo>
                    <a:pt x="310042" y="0"/>
                  </a:moveTo>
                  <a:lnTo>
                    <a:pt x="0" y="451073"/>
                  </a:lnTo>
                  <a:lnTo>
                    <a:pt x="0" y="1579321"/>
                  </a:lnTo>
                  <a:lnTo>
                    <a:pt x="2341199" y="1353647"/>
                  </a:lnTo>
                  <a:lnTo>
                    <a:pt x="2566903" y="1127942"/>
                  </a:lnTo>
                  <a:lnTo>
                    <a:pt x="310042" y="1127942"/>
                  </a:lnTo>
                  <a:lnTo>
                    <a:pt x="310042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10051" y="1116699"/>
              <a:ext cx="2567305" cy="1579880"/>
            </a:xfrm>
            <a:custGeom>
              <a:avLst/>
              <a:gdLst/>
              <a:ahLst/>
              <a:cxnLst/>
              <a:rect l="l" t="t" r="r" b="b"/>
              <a:pathLst>
                <a:path w="2567304" h="1579880">
                  <a:moveTo>
                    <a:pt x="310076" y="0"/>
                  </a:moveTo>
                  <a:lnTo>
                    <a:pt x="0" y="451040"/>
                  </a:lnTo>
                  <a:lnTo>
                    <a:pt x="0" y="1579311"/>
                  </a:lnTo>
                  <a:lnTo>
                    <a:pt x="2341253" y="1353639"/>
                  </a:lnTo>
                  <a:lnTo>
                    <a:pt x="2566929" y="1127936"/>
                  </a:lnTo>
                  <a:lnTo>
                    <a:pt x="310076" y="1127936"/>
                  </a:lnTo>
                  <a:lnTo>
                    <a:pt x="310076" y="0"/>
                  </a:lnTo>
                  <a:close/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10051" y="2244638"/>
              <a:ext cx="2567305" cy="1579880"/>
            </a:xfrm>
            <a:custGeom>
              <a:avLst/>
              <a:gdLst/>
              <a:ahLst/>
              <a:cxnLst/>
              <a:rect l="l" t="t" r="r" b="b"/>
              <a:pathLst>
                <a:path w="2567304" h="1579879">
                  <a:moveTo>
                    <a:pt x="310042" y="0"/>
                  </a:moveTo>
                  <a:lnTo>
                    <a:pt x="0" y="451378"/>
                  </a:lnTo>
                  <a:lnTo>
                    <a:pt x="0" y="1579327"/>
                  </a:lnTo>
                  <a:lnTo>
                    <a:pt x="2341199" y="1353647"/>
                  </a:lnTo>
                  <a:lnTo>
                    <a:pt x="2566903" y="1127820"/>
                  </a:lnTo>
                  <a:lnTo>
                    <a:pt x="310042" y="1127820"/>
                  </a:lnTo>
                  <a:lnTo>
                    <a:pt x="310042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10051" y="2244635"/>
              <a:ext cx="2567305" cy="1579880"/>
            </a:xfrm>
            <a:custGeom>
              <a:avLst/>
              <a:gdLst/>
              <a:ahLst/>
              <a:cxnLst/>
              <a:rect l="l" t="t" r="r" b="b"/>
              <a:pathLst>
                <a:path w="2567304" h="1579879">
                  <a:moveTo>
                    <a:pt x="310076" y="0"/>
                  </a:moveTo>
                  <a:lnTo>
                    <a:pt x="0" y="451375"/>
                  </a:lnTo>
                  <a:lnTo>
                    <a:pt x="0" y="1579330"/>
                  </a:lnTo>
                  <a:lnTo>
                    <a:pt x="2341253" y="1353639"/>
                  </a:lnTo>
                  <a:lnTo>
                    <a:pt x="2566929" y="1127814"/>
                  </a:lnTo>
                  <a:lnTo>
                    <a:pt x="310076" y="1127814"/>
                  </a:lnTo>
                  <a:lnTo>
                    <a:pt x="310076" y="0"/>
                  </a:lnTo>
                  <a:close/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110051" y="3372459"/>
              <a:ext cx="2567305" cy="1438910"/>
            </a:xfrm>
            <a:custGeom>
              <a:avLst/>
              <a:gdLst/>
              <a:ahLst/>
              <a:cxnLst/>
              <a:rect l="l" t="t" r="r" b="b"/>
              <a:pathLst>
                <a:path w="2567304" h="1438910">
                  <a:moveTo>
                    <a:pt x="310042" y="0"/>
                  </a:moveTo>
                  <a:lnTo>
                    <a:pt x="0" y="451506"/>
                  </a:lnTo>
                  <a:lnTo>
                    <a:pt x="0" y="1438357"/>
                  </a:lnTo>
                  <a:lnTo>
                    <a:pt x="2115525" y="1438357"/>
                  </a:lnTo>
                  <a:lnTo>
                    <a:pt x="2566903" y="1128244"/>
                  </a:lnTo>
                  <a:lnTo>
                    <a:pt x="310042" y="1128244"/>
                  </a:lnTo>
                  <a:lnTo>
                    <a:pt x="310042" y="0"/>
                  </a:lnTo>
                  <a:close/>
                </a:path>
              </a:pathLst>
            </a:custGeom>
            <a:solidFill>
              <a:srgbClr val="7FD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10051" y="3372449"/>
              <a:ext cx="2567305" cy="1438910"/>
            </a:xfrm>
            <a:custGeom>
              <a:avLst/>
              <a:gdLst/>
              <a:ahLst/>
              <a:cxnLst/>
              <a:rect l="l" t="t" r="r" b="b"/>
              <a:pathLst>
                <a:path w="2567304" h="1438910">
                  <a:moveTo>
                    <a:pt x="310076" y="0"/>
                  </a:moveTo>
                  <a:lnTo>
                    <a:pt x="0" y="451515"/>
                  </a:lnTo>
                  <a:lnTo>
                    <a:pt x="0" y="1438363"/>
                  </a:lnTo>
                  <a:lnTo>
                    <a:pt x="2115546" y="1438363"/>
                  </a:lnTo>
                  <a:lnTo>
                    <a:pt x="2566929" y="1128256"/>
                  </a:lnTo>
                  <a:lnTo>
                    <a:pt x="310076" y="1128256"/>
                  </a:lnTo>
                  <a:lnTo>
                    <a:pt x="310076" y="0"/>
                  </a:lnTo>
                  <a:close/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20091" y="2244648"/>
              <a:ext cx="2257425" cy="2256155"/>
            </a:xfrm>
            <a:custGeom>
              <a:avLst/>
              <a:gdLst/>
              <a:ahLst/>
              <a:cxnLst/>
              <a:rect l="l" t="t" r="r" b="b"/>
              <a:pathLst>
                <a:path w="2257425" h="2256154">
                  <a:moveTo>
                    <a:pt x="2256853" y="0"/>
                  </a:moveTo>
                  <a:lnTo>
                    <a:pt x="0" y="0"/>
                  </a:lnTo>
                  <a:lnTo>
                    <a:pt x="0" y="1127810"/>
                  </a:lnTo>
                  <a:lnTo>
                    <a:pt x="0" y="2256066"/>
                  </a:lnTo>
                  <a:lnTo>
                    <a:pt x="2256853" y="2256066"/>
                  </a:lnTo>
                  <a:lnTo>
                    <a:pt x="2256853" y="1127810"/>
                  </a:lnTo>
                  <a:lnTo>
                    <a:pt x="2256853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0051" y="4500704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4" h="310514">
                  <a:moveTo>
                    <a:pt x="310042" y="0"/>
                  </a:moveTo>
                  <a:lnTo>
                    <a:pt x="0" y="310112"/>
                  </a:lnTo>
                  <a:lnTo>
                    <a:pt x="310042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10051" y="4500706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4" h="310514">
                  <a:moveTo>
                    <a:pt x="0" y="310107"/>
                  </a:moveTo>
                  <a:lnTo>
                    <a:pt x="0" y="310107"/>
                  </a:lnTo>
                  <a:lnTo>
                    <a:pt x="310076" y="0"/>
                  </a:lnTo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3179703" y="1552742"/>
            <a:ext cx="3085465" cy="2560320"/>
            <a:chOff x="3179703" y="1552742"/>
            <a:chExt cx="3085465" cy="2560320"/>
          </a:xfrm>
        </p:grpSpPr>
        <p:sp>
          <p:nvSpPr>
            <p:cNvPr id="45" name="object 45"/>
            <p:cNvSpPr/>
            <p:nvPr/>
          </p:nvSpPr>
          <p:spPr>
            <a:xfrm>
              <a:off x="3400717" y="1680911"/>
              <a:ext cx="2643505" cy="0"/>
            </a:xfrm>
            <a:custGeom>
              <a:avLst/>
              <a:gdLst/>
              <a:ahLst/>
              <a:cxnLst/>
              <a:rect l="l" t="t" r="r" b="b"/>
              <a:pathLst>
                <a:path w="2643504">
                  <a:moveTo>
                    <a:pt x="2643312" y="0"/>
                  </a:moveTo>
                  <a:lnTo>
                    <a:pt x="2643312" y="0"/>
                  </a:lnTo>
                  <a:lnTo>
                    <a:pt x="0" y="0"/>
                  </a:lnTo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179699" y="1552752"/>
              <a:ext cx="3085465" cy="255270"/>
            </a:xfrm>
            <a:custGeom>
              <a:avLst/>
              <a:gdLst/>
              <a:ahLst/>
              <a:cxnLst/>
              <a:rect l="l" t="t" r="r" b="b"/>
              <a:pathLst>
                <a:path w="3085465" h="255269">
                  <a:moveTo>
                    <a:pt x="311137" y="0"/>
                  </a:moveTo>
                  <a:lnTo>
                    <a:pt x="0" y="128168"/>
                  </a:lnTo>
                  <a:lnTo>
                    <a:pt x="311137" y="254774"/>
                  </a:lnTo>
                  <a:lnTo>
                    <a:pt x="237439" y="128168"/>
                  </a:lnTo>
                  <a:lnTo>
                    <a:pt x="311137" y="0"/>
                  </a:lnTo>
                  <a:close/>
                </a:path>
                <a:path w="3085465" h="255269">
                  <a:moveTo>
                    <a:pt x="3085274" y="128168"/>
                  </a:moveTo>
                  <a:lnTo>
                    <a:pt x="2773680" y="0"/>
                  </a:lnTo>
                  <a:lnTo>
                    <a:pt x="2847873" y="128168"/>
                  </a:lnTo>
                  <a:lnTo>
                    <a:pt x="2773680" y="254774"/>
                  </a:lnTo>
                  <a:lnTo>
                    <a:pt x="3085274" y="128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00717" y="2808695"/>
              <a:ext cx="2643505" cy="0"/>
            </a:xfrm>
            <a:custGeom>
              <a:avLst/>
              <a:gdLst/>
              <a:ahLst/>
              <a:cxnLst/>
              <a:rect l="l" t="t" r="r" b="b"/>
              <a:pathLst>
                <a:path w="2643504">
                  <a:moveTo>
                    <a:pt x="2643312" y="0"/>
                  </a:moveTo>
                  <a:lnTo>
                    <a:pt x="2643312" y="0"/>
                  </a:lnTo>
                  <a:lnTo>
                    <a:pt x="0" y="0"/>
                  </a:lnTo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79699" y="2680537"/>
              <a:ext cx="3085465" cy="255270"/>
            </a:xfrm>
            <a:custGeom>
              <a:avLst/>
              <a:gdLst/>
              <a:ahLst/>
              <a:cxnLst/>
              <a:rect l="l" t="t" r="r" b="b"/>
              <a:pathLst>
                <a:path w="3085465" h="255269">
                  <a:moveTo>
                    <a:pt x="311137" y="0"/>
                  </a:moveTo>
                  <a:lnTo>
                    <a:pt x="0" y="128168"/>
                  </a:lnTo>
                  <a:lnTo>
                    <a:pt x="311137" y="254939"/>
                  </a:lnTo>
                  <a:lnTo>
                    <a:pt x="237439" y="128168"/>
                  </a:lnTo>
                  <a:lnTo>
                    <a:pt x="311137" y="0"/>
                  </a:lnTo>
                  <a:close/>
                </a:path>
                <a:path w="3085465" h="255269">
                  <a:moveTo>
                    <a:pt x="3085274" y="128168"/>
                  </a:moveTo>
                  <a:lnTo>
                    <a:pt x="2773680" y="0"/>
                  </a:lnTo>
                  <a:lnTo>
                    <a:pt x="2847873" y="128168"/>
                  </a:lnTo>
                  <a:lnTo>
                    <a:pt x="2773680" y="254939"/>
                  </a:lnTo>
                  <a:lnTo>
                    <a:pt x="3085274" y="1281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00717" y="3985950"/>
              <a:ext cx="2643505" cy="0"/>
            </a:xfrm>
            <a:custGeom>
              <a:avLst/>
              <a:gdLst/>
              <a:ahLst/>
              <a:cxnLst/>
              <a:rect l="l" t="t" r="r" b="b"/>
              <a:pathLst>
                <a:path w="2643504">
                  <a:moveTo>
                    <a:pt x="2643312" y="0"/>
                  </a:moveTo>
                  <a:lnTo>
                    <a:pt x="2643312" y="0"/>
                  </a:lnTo>
                  <a:lnTo>
                    <a:pt x="0" y="0"/>
                  </a:lnTo>
                </a:path>
              </a:pathLst>
            </a:custGeom>
            <a:ln w="306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179699" y="3857777"/>
              <a:ext cx="3085465" cy="255270"/>
            </a:xfrm>
            <a:custGeom>
              <a:avLst/>
              <a:gdLst/>
              <a:ahLst/>
              <a:cxnLst/>
              <a:rect l="l" t="t" r="r" b="b"/>
              <a:pathLst>
                <a:path w="3085465" h="255270">
                  <a:moveTo>
                    <a:pt x="311137" y="0"/>
                  </a:moveTo>
                  <a:lnTo>
                    <a:pt x="0" y="128181"/>
                  </a:lnTo>
                  <a:lnTo>
                    <a:pt x="311137" y="255270"/>
                  </a:lnTo>
                  <a:lnTo>
                    <a:pt x="237439" y="128181"/>
                  </a:lnTo>
                  <a:lnTo>
                    <a:pt x="311137" y="0"/>
                  </a:lnTo>
                  <a:close/>
                </a:path>
                <a:path w="3085465" h="255270">
                  <a:moveTo>
                    <a:pt x="3085274" y="128181"/>
                  </a:moveTo>
                  <a:lnTo>
                    <a:pt x="2773680" y="0"/>
                  </a:lnTo>
                  <a:lnTo>
                    <a:pt x="2847873" y="128181"/>
                  </a:lnTo>
                  <a:lnTo>
                    <a:pt x="2773680" y="255270"/>
                  </a:lnTo>
                  <a:lnTo>
                    <a:pt x="3085274" y="128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420127" y="2244635"/>
            <a:ext cx="2257425" cy="1128395"/>
          </a:xfrm>
          <a:prstGeom prst="rect">
            <a:avLst/>
          </a:prstGeom>
          <a:ln w="30692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5"/>
              </a:spcBef>
            </a:pPr>
            <a:endParaRPr sz="2200">
              <a:latin typeface="Times New Roman"/>
              <a:cs typeface="Times New Roman"/>
            </a:endParaRPr>
          </a:p>
          <a:p>
            <a:pPr marL="587375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Data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Link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20127" y="1116699"/>
            <a:ext cx="2257425" cy="1128395"/>
          </a:xfrm>
          <a:prstGeom prst="rect">
            <a:avLst/>
          </a:prstGeom>
          <a:solidFill>
            <a:srgbClr val="CBEBCC"/>
          </a:solidFill>
          <a:ln w="30692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endParaRPr sz="2200">
              <a:latin typeface="Times New Roman"/>
              <a:cs typeface="Times New Roman"/>
            </a:endParaRPr>
          </a:p>
          <a:p>
            <a:pPr marL="474980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Transaction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20127" y="3372449"/>
            <a:ext cx="2257425" cy="1128395"/>
          </a:xfrm>
          <a:prstGeom prst="rect">
            <a:avLst/>
          </a:prstGeom>
          <a:ln w="30692">
            <a:solidFill>
              <a:srgbClr val="000000"/>
            </a:solidFill>
          </a:ln>
        </p:spPr>
        <p:txBody>
          <a:bodyPr vert="horz" wrap="square" lIns="0" tIns="284480" rIns="0" bIns="0" rtlCol="0">
            <a:spAutoFit/>
          </a:bodyPr>
          <a:lstStyle/>
          <a:p>
            <a:pPr marL="701675">
              <a:lnSpc>
                <a:spcPct val="100000"/>
              </a:lnSpc>
              <a:spcBef>
                <a:spcPts val="2240"/>
              </a:spcBef>
            </a:pPr>
            <a:r>
              <a:rPr sz="2200" b="1" spc="-10" dirty="0">
                <a:latin typeface="Times New Roman"/>
                <a:cs typeface="Times New Roman"/>
              </a:rPr>
              <a:t>Physical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876274" y="5559219"/>
            <a:ext cx="177800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b="1" spc="140" dirty="0">
                <a:latin typeface="Arial"/>
                <a:cs typeface="Arial"/>
              </a:rPr>
              <a:t>Figure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Arial"/>
                <a:cs typeface="Arial"/>
              </a:rPr>
              <a:t>3</a:t>
            </a:r>
            <a:r>
              <a:rPr sz="2200" spc="-215" dirty="0">
                <a:latin typeface="Times New Roman"/>
                <a:cs typeface="Times New Roman"/>
              </a:rPr>
              <a:t> </a:t>
            </a:r>
            <a:r>
              <a:rPr sz="2200" b="1" spc="85" dirty="0">
                <a:latin typeface="Arial"/>
                <a:cs typeface="Arial"/>
              </a:rPr>
              <a:t>.2</a:t>
            </a:r>
            <a:r>
              <a:rPr sz="2200" spc="-210" dirty="0">
                <a:latin typeface="Times New Roman"/>
                <a:cs typeface="Times New Roman"/>
              </a:rPr>
              <a:t> </a:t>
            </a:r>
            <a:r>
              <a:rPr sz="2200" b="1" spc="-50" dirty="0"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63783" y="5559219"/>
            <a:ext cx="331152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b="1" dirty="0">
                <a:latin typeface="Arial"/>
                <a:cs typeface="Arial"/>
              </a:rPr>
              <a:t>PCI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Arial"/>
                <a:cs typeface="Arial"/>
              </a:rPr>
              <a:t>e</a:t>
            </a:r>
            <a:r>
              <a:rPr sz="2200" spc="509" dirty="0">
                <a:latin typeface="Times New Roman"/>
                <a:cs typeface="Times New Roman"/>
              </a:rPr>
              <a:t> </a:t>
            </a:r>
            <a:r>
              <a:rPr sz="2200" b="1" spc="145" dirty="0">
                <a:latin typeface="Arial"/>
                <a:cs typeface="Arial"/>
              </a:rPr>
              <a:t>Protocol</a:t>
            </a:r>
            <a:r>
              <a:rPr sz="2200" spc="409" dirty="0">
                <a:latin typeface="Times New Roman"/>
                <a:cs typeface="Times New Roman"/>
              </a:rPr>
              <a:t> </a:t>
            </a:r>
            <a:r>
              <a:rPr sz="2200" b="1" spc="150" dirty="0">
                <a:latin typeface="Arial"/>
                <a:cs typeface="Arial"/>
              </a:rPr>
              <a:t>Layers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5521421" y="2074468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>
                <a:moveTo>
                  <a:pt x="29931" y="0"/>
                </a:moveTo>
                <a:lnTo>
                  <a:pt x="18400" y="2392"/>
                </a:lnTo>
                <a:lnTo>
                  <a:pt x="8873" y="8873"/>
                </a:lnTo>
                <a:lnTo>
                  <a:pt x="2392" y="18400"/>
                </a:lnTo>
                <a:lnTo>
                  <a:pt x="0" y="29931"/>
                </a:lnTo>
                <a:lnTo>
                  <a:pt x="2392" y="41814"/>
                </a:lnTo>
                <a:lnTo>
                  <a:pt x="8873" y="51522"/>
                </a:lnTo>
                <a:lnTo>
                  <a:pt x="18400" y="58070"/>
                </a:lnTo>
                <a:lnTo>
                  <a:pt x="29931" y="60472"/>
                </a:lnTo>
                <a:lnTo>
                  <a:pt x="41831" y="58070"/>
                </a:lnTo>
                <a:lnTo>
                  <a:pt x="51549" y="51522"/>
                </a:lnTo>
                <a:lnTo>
                  <a:pt x="58100" y="41814"/>
                </a:lnTo>
                <a:lnTo>
                  <a:pt x="60502" y="29931"/>
                </a:lnTo>
                <a:lnTo>
                  <a:pt x="58100" y="18400"/>
                </a:lnTo>
                <a:lnTo>
                  <a:pt x="51549" y="8873"/>
                </a:lnTo>
                <a:lnTo>
                  <a:pt x="41831" y="2392"/>
                </a:lnTo>
                <a:lnTo>
                  <a:pt x="29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49376" y="2074468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>
                <a:moveTo>
                  <a:pt x="29474" y="0"/>
                </a:moveTo>
                <a:lnTo>
                  <a:pt x="18143" y="2392"/>
                </a:lnTo>
                <a:lnTo>
                  <a:pt x="8759" y="8873"/>
                </a:lnTo>
                <a:lnTo>
                  <a:pt x="2363" y="18400"/>
                </a:lnTo>
                <a:lnTo>
                  <a:pt x="0" y="29931"/>
                </a:lnTo>
                <a:lnTo>
                  <a:pt x="2363" y="41814"/>
                </a:lnTo>
                <a:lnTo>
                  <a:pt x="8759" y="51522"/>
                </a:lnTo>
                <a:lnTo>
                  <a:pt x="18143" y="58070"/>
                </a:lnTo>
                <a:lnTo>
                  <a:pt x="29474" y="60472"/>
                </a:lnTo>
                <a:lnTo>
                  <a:pt x="41615" y="58070"/>
                </a:lnTo>
                <a:lnTo>
                  <a:pt x="51415" y="51522"/>
                </a:lnTo>
                <a:lnTo>
                  <a:pt x="57964" y="41814"/>
                </a:lnTo>
                <a:lnTo>
                  <a:pt x="60350" y="29931"/>
                </a:lnTo>
                <a:lnTo>
                  <a:pt x="57964" y="18400"/>
                </a:lnTo>
                <a:lnTo>
                  <a:pt x="51415" y="8873"/>
                </a:lnTo>
                <a:lnTo>
                  <a:pt x="41615" y="2392"/>
                </a:lnTo>
                <a:lnTo>
                  <a:pt x="29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864108" y="1987815"/>
          <a:ext cx="1104899" cy="218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/>
                <a:gridCol w="54609"/>
                <a:gridCol w="410845"/>
                <a:gridCol w="228600"/>
              </a:tblGrid>
              <a:tr h="106045">
                <a:tc row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23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39" name="object 39"/>
          <p:cNvGrpSpPr/>
          <p:nvPr/>
        </p:nvGrpSpPr>
        <p:grpSpPr>
          <a:xfrm>
            <a:off x="7070107" y="1864722"/>
            <a:ext cx="552450" cy="478790"/>
            <a:chOff x="7070107" y="1864722"/>
            <a:chExt cx="552450" cy="478790"/>
          </a:xfrm>
        </p:grpSpPr>
        <p:sp>
          <p:nvSpPr>
            <p:cNvPr id="40" name="object 40"/>
            <p:cNvSpPr/>
            <p:nvPr/>
          </p:nvSpPr>
          <p:spPr>
            <a:xfrm>
              <a:off x="7078004" y="1872660"/>
              <a:ext cx="536575" cy="462915"/>
            </a:xfrm>
            <a:custGeom>
              <a:avLst/>
              <a:gdLst/>
              <a:ahLst/>
              <a:cxnLst/>
              <a:rect l="l" t="t" r="r" b="b"/>
              <a:pathLst>
                <a:path w="536575" h="462914">
                  <a:moveTo>
                    <a:pt x="402884" y="0"/>
                  </a:moveTo>
                  <a:lnTo>
                    <a:pt x="134660" y="0"/>
                  </a:lnTo>
                  <a:lnTo>
                    <a:pt x="0" y="231739"/>
                  </a:lnTo>
                  <a:lnTo>
                    <a:pt x="134660" y="462869"/>
                  </a:lnTo>
                  <a:lnTo>
                    <a:pt x="402884" y="462869"/>
                  </a:lnTo>
                  <a:lnTo>
                    <a:pt x="536447" y="231739"/>
                  </a:lnTo>
                  <a:lnTo>
                    <a:pt x="402884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78044" y="1872660"/>
              <a:ext cx="536575" cy="462915"/>
            </a:xfrm>
            <a:custGeom>
              <a:avLst/>
              <a:gdLst/>
              <a:ahLst/>
              <a:cxnLst/>
              <a:rect l="l" t="t" r="r" b="b"/>
              <a:pathLst>
                <a:path w="536575" h="462914">
                  <a:moveTo>
                    <a:pt x="134661" y="462866"/>
                  </a:moveTo>
                  <a:lnTo>
                    <a:pt x="0" y="231738"/>
                  </a:lnTo>
                  <a:lnTo>
                    <a:pt x="134661" y="0"/>
                  </a:lnTo>
                  <a:lnTo>
                    <a:pt x="402858" y="0"/>
                  </a:lnTo>
                  <a:lnTo>
                    <a:pt x="536453" y="231738"/>
                  </a:lnTo>
                  <a:lnTo>
                    <a:pt x="402858" y="462866"/>
                  </a:lnTo>
                  <a:lnTo>
                    <a:pt x="134661" y="462866"/>
                  </a:lnTo>
                  <a:close/>
                </a:path>
              </a:pathLst>
            </a:custGeom>
            <a:ln w="15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025451" y="1924811"/>
            <a:ext cx="368300" cy="3543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sz="1050" b="1" spc="-20" dirty="0">
                <a:latin typeface="Times New Roman"/>
                <a:cs typeface="Times New Roman"/>
              </a:rPr>
              <a:t>PCIe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b="1" dirty="0">
                <a:latin typeface="Times New Roman"/>
                <a:cs typeface="Times New Roman"/>
              </a:rPr>
              <a:t>lane</a:t>
            </a:r>
            <a:r>
              <a:rPr sz="1050" b="1" spc="25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6174" y="2356085"/>
            <a:ext cx="71056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dirty="0">
                <a:latin typeface="Times New Roman"/>
                <a:cs typeface="Times New Roman"/>
              </a:rPr>
              <a:t>byte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stream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21421" y="2731709"/>
            <a:ext cx="60960" cy="60325"/>
          </a:xfrm>
          <a:custGeom>
            <a:avLst/>
            <a:gdLst/>
            <a:ahLst/>
            <a:cxnLst/>
            <a:rect l="l" t="t" r="r" b="b"/>
            <a:pathLst>
              <a:path w="60960" h="60325">
                <a:moveTo>
                  <a:pt x="29931" y="0"/>
                </a:moveTo>
                <a:lnTo>
                  <a:pt x="18400" y="2361"/>
                </a:lnTo>
                <a:lnTo>
                  <a:pt x="8873" y="8740"/>
                </a:lnTo>
                <a:lnTo>
                  <a:pt x="2392" y="18079"/>
                </a:lnTo>
                <a:lnTo>
                  <a:pt x="0" y="29321"/>
                </a:lnTo>
                <a:lnTo>
                  <a:pt x="2392" y="41546"/>
                </a:lnTo>
                <a:lnTo>
                  <a:pt x="8873" y="51381"/>
                </a:lnTo>
                <a:lnTo>
                  <a:pt x="18400" y="57936"/>
                </a:lnTo>
                <a:lnTo>
                  <a:pt x="29931" y="60319"/>
                </a:lnTo>
                <a:lnTo>
                  <a:pt x="41831" y="57936"/>
                </a:lnTo>
                <a:lnTo>
                  <a:pt x="51549" y="51381"/>
                </a:lnTo>
                <a:lnTo>
                  <a:pt x="58100" y="41546"/>
                </a:lnTo>
                <a:lnTo>
                  <a:pt x="60502" y="29321"/>
                </a:lnTo>
                <a:lnTo>
                  <a:pt x="58100" y="18079"/>
                </a:lnTo>
                <a:lnTo>
                  <a:pt x="51549" y="8740"/>
                </a:lnTo>
                <a:lnTo>
                  <a:pt x="41831" y="2361"/>
                </a:lnTo>
                <a:lnTo>
                  <a:pt x="29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49376" y="2731709"/>
            <a:ext cx="60960" cy="60325"/>
          </a:xfrm>
          <a:custGeom>
            <a:avLst/>
            <a:gdLst/>
            <a:ahLst/>
            <a:cxnLst/>
            <a:rect l="l" t="t" r="r" b="b"/>
            <a:pathLst>
              <a:path w="60960" h="60325">
                <a:moveTo>
                  <a:pt x="29474" y="0"/>
                </a:moveTo>
                <a:lnTo>
                  <a:pt x="18143" y="2361"/>
                </a:lnTo>
                <a:lnTo>
                  <a:pt x="8759" y="8740"/>
                </a:lnTo>
                <a:lnTo>
                  <a:pt x="2363" y="18079"/>
                </a:lnTo>
                <a:lnTo>
                  <a:pt x="0" y="29321"/>
                </a:lnTo>
                <a:lnTo>
                  <a:pt x="2363" y="41546"/>
                </a:lnTo>
                <a:lnTo>
                  <a:pt x="8759" y="51381"/>
                </a:lnTo>
                <a:lnTo>
                  <a:pt x="18143" y="57936"/>
                </a:lnTo>
                <a:lnTo>
                  <a:pt x="29474" y="60319"/>
                </a:lnTo>
                <a:lnTo>
                  <a:pt x="41615" y="57936"/>
                </a:lnTo>
                <a:lnTo>
                  <a:pt x="51415" y="51381"/>
                </a:lnTo>
                <a:lnTo>
                  <a:pt x="57964" y="41546"/>
                </a:lnTo>
                <a:lnTo>
                  <a:pt x="60350" y="29321"/>
                </a:lnTo>
                <a:lnTo>
                  <a:pt x="57964" y="18079"/>
                </a:lnTo>
                <a:lnTo>
                  <a:pt x="51415" y="8740"/>
                </a:lnTo>
                <a:lnTo>
                  <a:pt x="41615" y="2361"/>
                </a:lnTo>
                <a:lnTo>
                  <a:pt x="29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864108" y="2644899"/>
          <a:ext cx="1104899" cy="219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/>
                <a:gridCol w="54609"/>
                <a:gridCol w="410845"/>
                <a:gridCol w="228600"/>
              </a:tblGrid>
              <a:tr h="106045">
                <a:tc row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0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76917" y="3064825"/>
            <a:ext cx="60960" cy="60325"/>
          </a:xfrm>
          <a:custGeom>
            <a:avLst/>
            <a:gdLst/>
            <a:ahLst/>
            <a:cxnLst/>
            <a:rect l="l" t="t" r="r" b="b"/>
            <a:pathLst>
              <a:path w="60959" h="60325">
                <a:moveTo>
                  <a:pt x="30943" y="0"/>
                </a:moveTo>
                <a:lnTo>
                  <a:pt x="18946" y="2380"/>
                </a:lnTo>
                <a:lnTo>
                  <a:pt x="9105" y="8919"/>
                </a:lnTo>
                <a:lnTo>
                  <a:pt x="2447" y="18709"/>
                </a:lnTo>
                <a:lnTo>
                  <a:pt x="0" y="30845"/>
                </a:lnTo>
                <a:lnTo>
                  <a:pt x="2447" y="42626"/>
                </a:lnTo>
                <a:lnTo>
                  <a:pt x="9105" y="51960"/>
                </a:lnTo>
                <a:lnTo>
                  <a:pt x="18946" y="58106"/>
                </a:lnTo>
                <a:lnTo>
                  <a:pt x="30943" y="60319"/>
                </a:lnTo>
                <a:lnTo>
                  <a:pt x="42284" y="58106"/>
                </a:lnTo>
                <a:lnTo>
                  <a:pt x="51785" y="51960"/>
                </a:lnTo>
                <a:lnTo>
                  <a:pt x="58315" y="42626"/>
                </a:lnTo>
                <a:lnTo>
                  <a:pt x="60743" y="30845"/>
                </a:lnTo>
                <a:lnTo>
                  <a:pt x="58315" y="18709"/>
                </a:lnTo>
                <a:lnTo>
                  <a:pt x="51785" y="8919"/>
                </a:lnTo>
                <a:lnTo>
                  <a:pt x="42284" y="2380"/>
                </a:lnTo>
                <a:lnTo>
                  <a:pt x="30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4814" y="3064825"/>
            <a:ext cx="60960" cy="60325"/>
          </a:xfrm>
          <a:custGeom>
            <a:avLst/>
            <a:gdLst/>
            <a:ahLst/>
            <a:cxnLst/>
            <a:rect l="l" t="t" r="r" b="b"/>
            <a:pathLst>
              <a:path w="60959" h="60325">
                <a:moveTo>
                  <a:pt x="30918" y="0"/>
                </a:moveTo>
                <a:lnTo>
                  <a:pt x="18769" y="2380"/>
                </a:lnTo>
                <a:lnTo>
                  <a:pt x="8954" y="8919"/>
                </a:lnTo>
                <a:lnTo>
                  <a:pt x="2391" y="18709"/>
                </a:lnTo>
                <a:lnTo>
                  <a:pt x="0" y="30845"/>
                </a:lnTo>
                <a:lnTo>
                  <a:pt x="2391" y="42626"/>
                </a:lnTo>
                <a:lnTo>
                  <a:pt x="8954" y="51960"/>
                </a:lnTo>
                <a:lnTo>
                  <a:pt x="18769" y="58106"/>
                </a:lnTo>
                <a:lnTo>
                  <a:pt x="30918" y="60319"/>
                </a:lnTo>
                <a:lnTo>
                  <a:pt x="42209" y="58106"/>
                </a:lnTo>
                <a:lnTo>
                  <a:pt x="51587" y="51960"/>
                </a:lnTo>
                <a:lnTo>
                  <a:pt x="57992" y="42626"/>
                </a:lnTo>
                <a:lnTo>
                  <a:pt x="60362" y="30845"/>
                </a:lnTo>
                <a:lnTo>
                  <a:pt x="57992" y="18709"/>
                </a:lnTo>
                <a:lnTo>
                  <a:pt x="51587" y="8919"/>
                </a:lnTo>
                <a:lnTo>
                  <a:pt x="42209" y="2380"/>
                </a:lnTo>
                <a:lnTo>
                  <a:pt x="309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2699" y="3064825"/>
            <a:ext cx="60960" cy="60325"/>
          </a:xfrm>
          <a:custGeom>
            <a:avLst/>
            <a:gdLst/>
            <a:ahLst/>
            <a:cxnLst/>
            <a:rect l="l" t="t" r="r" b="b"/>
            <a:pathLst>
              <a:path w="60959" h="60325">
                <a:moveTo>
                  <a:pt x="29788" y="0"/>
                </a:moveTo>
                <a:lnTo>
                  <a:pt x="18298" y="2380"/>
                </a:lnTo>
                <a:lnTo>
                  <a:pt x="8817" y="8919"/>
                </a:lnTo>
                <a:lnTo>
                  <a:pt x="2375" y="18709"/>
                </a:lnTo>
                <a:lnTo>
                  <a:pt x="0" y="30845"/>
                </a:lnTo>
                <a:lnTo>
                  <a:pt x="2375" y="42626"/>
                </a:lnTo>
                <a:lnTo>
                  <a:pt x="8817" y="51960"/>
                </a:lnTo>
                <a:lnTo>
                  <a:pt x="18298" y="58106"/>
                </a:lnTo>
                <a:lnTo>
                  <a:pt x="29788" y="60319"/>
                </a:lnTo>
                <a:lnTo>
                  <a:pt x="41731" y="58106"/>
                </a:lnTo>
                <a:lnTo>
                  <a:pt x="51441" y="51960"/>
                </a:lnTo>
                <a:lnTo>
                  <a:pt x="57966" y="42626"/>
                </a:lnTo>
                <a:lnTo>
                  <a:pt x="60353" y="30845"/>
                </a:lnTo>
                <a:lnTo>
                  <a:pt x="57966" y="18709"/>
                </a:lnTo>
                <a:lnTo>
                  <a:pt x="51441" y="8919"/>
                </a:lnTo>
                <a:lnTo>
                  <a:pt x="41731" y="2380"/>
                </a:lnTo>
                <a:lnTo>
                  <a:pt x="297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25138" y="2979080"/>
          <a:ext cx="3669658" cy="219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/>
                <a:gridCol w="54609"/>
                <a:gridCol w="410845"/>
                <a:gridCol w="54609"/>
                <a:gridCol w="410845"/>
                <a:gridCol w="54609"/>
                <a:gridCol w="410845"/>
                <a:gridCol w="54610"/>
                <a:gridCol w="410844"/>
                <a:gridCol w="55244"/>
                <a:gridCol w="410844"/>
                <a:gridCol w="54610"/>
                <a:gridCol w="410844"/>
                <a:gridCol w="54610"/>
                <a:gridCol w="410845"/>
              </a:tblGrid>
              <a:tr h="219075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462018" y="2074468"/>
            <a:ext cx="4992370" cy="2032000"/>
            <a:chOff x="462018" y="2074468"/>
            <a:chExt cx="4992370" cy="2032000"/>
          </a:xfrm>
        </p:grpSpPr>
        <p:sp>
          <p:nvSpPr>
            <p:cNvPr id="20" name="object 20"/>
            <p:cNvSpPr/>
            <p:nvPr/>
          </p:nvSpPr>
          <p:spPr>
            <a:xfrm>
              <a:off x="476919" y="2657393"/>
              <a:ext cx="4026535" cy="153670"/>
            </a:xfrm>
            <a:custGeom>
              <a:avLst/>
              <a:gdLst/>
              <a:ahLst/>
              <a:cxnLst/>
              <a:rect l="l" t="t" r="r" b="b"/>
              <a:pathLst>
                <a:path w="4026535" h="153669">
                  <a:moveTo>
                    <a:pt x="2013400" y="0"/>
                  </a:moveTo>
                  <a:lnTo>
                    <a:pt x="2011016" y="15063"/>
                  </a:lnTo>
                  <a:lnTo>
                    <a:pt x="2003994" y="28774"/>
                  </a:lnTo>
                  <a:lnTo>
                    <a:pt x="1957025" y="62339"/>
                  </a:lnTo>
                  <a:lnTo>
                    <a:pt x="1906062" y="78946"/>
                  </a:lnTo>
                  <a:lnTo>
                    <a:pt x="1841182" y="91439"/>
                  </a:lnTo>
                  <a:lnTo>
                    <a:pt x="1763932" y="100250"/>
                  </a:lnTo>
                  <a:lnTo>
                    <a:pt x="1721151" y="103409"/>
                  </a:lnTo>
                  <a:lnTo>
                    <a:pt x="1675858" y="105810"/>
                  </a:lnTo>
                  <a:lnTo>
                    <a:pt x="1628245" y="107504"/>
                  </a:lnTo>
                  <a:lnTo>
                    <a:pt x="1578506" y="108548"/>
                  </a:lnTo>
                  <a:lnTo>
                    <a:pt x="1526834" y="108994"/>
                  </a:lnTo>
                  <a:lnTo>
                    <a:pt x="1473422" y="108897"/>
                  </a:lnTo>
                  <a:lnTo>
                    <a:pt x="1418465" y="108309"/>
                  </a:lnTo>
                  <a:lnTo>
                    <a:pt x="1362154" y="107286"/>
                  </a:lnTo>
                  <a:lnTo>
                    <a:pt x="1304683" y="105881"/>
                  </a:lnTo>
                  <a:lnTo>
                    <a:pt x="1246246" y="104148"/>
                  </a:lnTo>
                  <a:lnTo>
                    <a:pt x="1187036" y="102140"/>
                  </a:lnTo>
                  <a:lnTo>
                    <a:pt x="1127246" y="99912"/>
                  </a:lnTo>
                  <a:lnTo>
                    <a:pt x="1067070" y="97517"/>
                  </a:lnTo>
                  <a:lnTo>
                    <a:pt x="1006700" y="95009"/>
                  </a:lnTo>
                  <a:lnTo>
                    <a:pt x="946330" y="92442"/>
                  </a:lnTo>
                  <a:lnTo>
                    <a:pt x="886154" y="89871"/>
                  </a:lnTo>
                  <a:lnTo>
                    <a:pt x="826364" y="87348"/>
                  </a:lnTo>
                  <a:lnTo>
                    <a:pt x="767154" y="84927"/>
                  </a:lnTo>
                  <a:lnTo>
                    <a:pt x="708717" y="82664"/>
                  </a:lnTo>
                  <a:lnTo>
                    <a:pt x="651246" y="80610"/>
                  </a:lnTo>
                  <a:lnTo>
                    <a:pt x="594935" y="78821"/>
                  </a:lnTo>
                  <a:lnTo>
                    <a:pt x="539978" y="77350"/>
                  </a:lnTo>
                  <a:lnTo>
                    <a:pt x="486566" y="76251"/>
                  </a:lnTo>
                  <a:lnTo>
                    <a:pt x="434894" y="75577"/>
                  </a:lnTo>
                  <a:lnTo>
                    <a:pt x="385155" y="75384"/>
                  </a:lnTo>
                  <a:lnTo>
                    <a:pt x="337542" y="75723"/>
                  </a:lnTo>
                  <a:lnTo>
                    <a:pt x="292249" y="76650"/>
                  </a:lnTo>
                  <a:lnTo>
                    <a:pt x="249468" y="78219"/>
                  </a:lnTo>
                  <a:lnTo>
                    <a:pt x="209393" y="80482"/>
                  </a:lnTo>
                  <a:lnTo>
                    <a:pt x="138135" y="87309"/>
                  </a:lnTo>
                  <a:lnTo>
                    <a:pt x="80020" y="97563"/>
                  </a:lnTo>
                  <a:lnTo>
                    <a:pt x="36595" y="111674"/>
                  </a:lnTo>
                  <a:lnTo>
                    <a:pt x="2383" y="141015"/>
                  </a:lnTo>
                  <a:lnTo>
                    <a:pt x="0" y="153191"/>
                  </a:lnTo>
                </a:path>
                <a:path w="4026535" h="153669">
                  <a:moveTo>
                    <a:pt x="2013400" y="0"/>
                  </a:moveTo>
                  <a:lnTo>
                    <a:pt x="2015784" y="15063"/>
                  </a:lnTo>
                  <a:lnTo>
                    <a:pt x="2022805" y="28774"/>
                  </a:lnTo>
                  <a:lnTo>
                    <a:pt x="2069763" y="62339"/>
                  </a:lnTo>
                  <a:lnTo>
                    <a:pt x="2120715" y="78946"/>
                  </a:lnTo>
                  <a:lnTo>
                    <a:pt x="2185581" y="91439"/>
                  </a:lnTo>
                  <a:lnTo>
                    <a:pt x="2262814" y="100250"/>
                  </a:lnTo>
                  <a:lnTo>
                    <a:pt x="2305586" y="103409"/>
                  </a:lnTo>
                  <a:lnTo>
                    <a:pt x="2350869" y="105810"/>
                  </a:lnTo>
                  <a:lnTo>
                    <a:pt x="2398472" y="107504"/>
                  </a:lnTo>
                  <a:lnTo>
                    <a:pt x="2448200" y="108548"/>
                  </a:lnTo>
                  <a:lnTo>
                    <a:pt x="2499861" y="108994"/>
                  </a:lnTo>
                  <a:lnTo>
                    <a:pt x="2553261" y="108897"/>
                  </a:lnTo>
                  <a:lnTo>
                    <a:pt x="2608206" y="108309"/>
                  </a:lnTo>
                  <a:lnTo>
                    <a:pt x="2664505" y="107286"/>
                  </a:lnTo>
                  <a:lnTo>
                    <a:pt x="2721963" y="105881"/>
                  </a:lnTo>
                  <a:lnTo>
                    <a:pt x="2780387" y="104148"/>
                  </a:lnTo>
                  <a:lnTo>
                    <a:pt x="2839584" y="102140"/>
                  </a:lnTo>
                  <a:lnTo>
                    <a:pt x="2899361" y="99912"/>
                  </a:lnTo>
                  <a:lnTo>
                    <a:pt x="2959525" y="97517"/>
                  </a:lnTo>
                  <a:lnTo>
                    <a:pt x="3019881" y="95009"/>
                  </a:lnTo>
                  <a:lnTo>
                    <a:pt x="3080238" y="92442"/>
                  </a:lnTo>
                  <a:lnTo>
                    <a:pt x="3140401" y="89871"/>
                  </a:lnTo>
                  <a:lnTo>
                    <a:pt x="3200178" y="87348"/>
                  </a:lnTo>
                  <a:lnTo>
                    <a:pt x="3259376" y="84927"/>
                  </a:lnTo>
                  <a:lnTo>
                    <a:pt x="3317800" y="82664"/>
                  </a:lnTo>
                  <a:lnTo>
                    <a:pt x="3375258" y="80610"/>
                  </a:lnTo>
                  <a:lnTo>
                    <a:pt x="3431556" y="78821"/>
                  </a:lnTo>
                  <a:lnTo>
                    <a:pt x="3486502" y="77350"/>
                  </a:lnTo>
                  <a:lnTo>
                    <a:pt x="3539902" y="76251"/>
                  </a:lnTo>
                  <a:lnTo>
                    <a:pt x="3591563" y="75577"/>
                  </a:lnTo>
                  <a:lnTo>
                    <a:pt x="3641291" y="75384"/>
                  </a:lnTo>
                  <a:lnTo>
                    <a:pt x="3688893" y="75723"/>
                  </a:lnTo>
                  <a:lnTo>
                    <a:pt x="3734177" y="76650"/>
                  </a:lnTo>
                  <a:lnTo>
                    <a:pt x="3776948" y="78219"/>
                  </a:lnTo>
                  <a:lnTo>
                    <a:pt x="3817014" y="80482"/>
                  </a:lnTo>
                  <a:lnTo>
                    <a:pt x="3888257" y="87309"/>
                  </a:lnTo>
                  <a:lnTo>
                    <a:pt x="3946359" y="97563"/>
                  </a:lnTo>
                  <a:lnTo>
                    <a:pt x="3989775" y="111674"/>
                  </a:lnTo>
                  <a:lnTo>
                    <a:pt x="4023979" y="141015"/>
                  </a:lnTo>
                  <a:lnTo>
                    <a:pt x="4026362" y="153191"/>
                  </a:lnTo>
                </a:path>
              </a:pathLst>
            </a:custGeom>
            <a:ln w="298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24628" y="2146198"/>
              <a:ext cx="131445" cy="138430"/>
            </a:xfrm>
            <a:custGeom>
              <a:avLst/>
              <a:gdLst/>
              <a:ahLst/>
              <a:cxnLst/>
              <a:rect l="l" t="t" r="r" b="b"/>
              <a:pathLst>
                <a:path w="131445" h="138430">
                  <a:moveTo>
                    <a:pt x="131318" y="0"/>
                  </a:moveTo>
                  <a:lnTo>
                    <a:pt x="0" y="63055"/>
                  </a:lnTo>
                  <a:lnTo>
                    <a:pt x="58521" y="82194"/>
                  </a:lnTo>
                  <a:lnTo>
                    <a:pt x="58572" y="82321"/>
                  </a:lnTo>
                  <a:lnTo>
                    <a:pt x="84493" y="138125"/>
                  </a:lnTo>
                  <a:lnTo>
                    <a:pt x="13131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03282" y="2214856"/>
              <a:ext cx="792480" cy="882650"/>
            </a:xfrm>
            <a:custGeom>
              <a:avLst/>
              <a:gdLst/>
              <a:ahLst/>
              <a:cxnLst/>
              <a:rect l="l" t="t" r="r" b="b"/>
              <a:pathLst>
                <a:path w="792479" h="882650">
                  <a:moveTo>
                    <a:pt x="0" y="882024"/>
                  </a:moveTo>
                  <a:lnTo>
                    <a:pt x="0" y="882024"/>
                  </a:lnTo>
                  <a:lnTo>
                    <a:pt x="792183" y="0"/>
                  </a:lnTo>
                </a:path>
              </a:pathLst>
            </a:custGeom>
            <a:ln w="14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24637" y="2146188"/>
              <a:ext cx="131445" cy="138430"/>
            </a:xfrm>
            <a:custGeom>
              <a:avLst/>
              <a:gdLst/>
              <a:ahLst/>
              <a:cxnLst/>
              <a:rect l="l" t="t" r="r" b="b"/>
              <a:pathLst>
                <a:path w="131445" h="138430">
                  <a:moveTo>
                    <a:pt x="131307" y="0"/>
                  </a:moveTo>
                  <a:lnTo>
                    <a:pt x="0" y="63063"/>
                  </a:lnTo>
                  <a:lnTo>
                    <a:pt x="58521" y="82204"/>
                  </a:lnTo>
                  <a:lnTo>
                    <a:pt x="84490" y="138135"/>
                  </a:lnTo>
                  <a:lnTo>
                    <a:pt x="1313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09908" y="2759963"/>
              <a:ext cx="145415" cy="105410"/>
            </a:xfrm>
            <a:custGeom>
              <a:avLst/>
              <a:gdLst/>
              <a:ahLst/>
              <a:cxnLst/>
              <a:rect l="l" t="t" r="r" b="b"/>
              <a:pathLst>
                <a:path w="145414" h="105410">
                  <a:moveTo>
                    <a:pt x="144818" y="3810"/>
                  </a:moveTo>
                  <a:lnTo>
                    <a:pt x="0" y="0"/>
                  </a:lnTo>
                  <a:lnTo>
                    <a:pt x="42214" y="43319"/>
                  </a:lnTo>
                  <a:lnTo>
                    <a:pt x="42202" y="43738"/>
                  </a:lnTo>
                  <a:lnTo>
                    <a:pt x="41186" y="105308"/>
                  </a:lnTo>
                  <a:lnTo>
                    <a:pt x="144818" y="381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03282" y="2796594"/>
              <a:ext cx="767080" cy="300355"/>
            </a:xfrm>
            <a:custGeom>
              <a:avLst/>
              <a:gdLst/>
              <a:ahLst/>
              <a:cxnLst/>
              <a:rect l="l" t="t" r="r" b="b"/>
              <a:pathLst>
                <a:path w="767079" h="300355">
                  <a:moveTo>
                    <a:pt x="0" y="300287"/>
                  </a:moveTo>
                  <a:lnTo>
                    <a:pt x="0" y="300287"/>
                  </a:lnTo>
                  <a:lnTo>
                    <a:pt x="766975" y="0"/>
                  </a:lnTo>
                </a:path>
              </a:pathLst>
            </a:custGeom>
            <a:ln w="14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09915" y="2759964"/>
              <a:ext cx="145415" cy="105410"/>
            </a:xfrm>
            <a:custGeom>
              <a:avLst/>
              <a:gdLst/>
              <a:ahLst/>
              <a:cxnLst/>
              <a:rect l="l" t="t" r="r" b="b"/>
              <a:pathLst>
                <a:path w="145414" h="105410">
                  <a:moveTo>
                    <a:pt x="0" y="0"/>
                  </a:moveTo>
                  <a:lnTo>
                    <a:pt x="42214" y="43312"/>
                  </a:lnTo>
                  <a:lnTo>
                    <a:pt x="41178" y="105308"/>
                  </a:lnTo>
                  <a:lnTo>
                    <a:pt x="144810" y="38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24628" y="3909136"/>
              <a:ext cx="131445" cy="137160"/>
            </a:xfrm>
            <a:custGeom>
              <a:avLst/>
              <a:gdLst/>
              <a:ahLst/>
              <a:cxnLst/>
              <a:rect l="l" t="t" r="r" b="b"/>
              <a:pathLst>
                <a:path w="131445" h="137160">
                  <a:moveTo>
                    <a:pt x="131318" y="136918"/>
                  </a:moveTo>
                  <a:lnTo>
                    <a:pt x="84493" y="0"/>
                  </a:lnTo>
                  <a:lnTo>
                    <a:pt x="58572" y="55638"/>
                  </a:lnTo>
                  <a:lnTo>
                    <a:pt x="58521" y="55765"/>
                  </a:lnTo>
                  <a:lnTo>
                    <a:pt x="0" y="75069"/>
                  </a:lnTo>
                  <a:lnTo>
                    <a:pt x="131318" y="136918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03282" y="3095662"/>
              <a:ext cx="792480" cy="883285"/>
            </a:xfrm>
            <a:custGeom>
              <a:avLst/>
              <a:gdLst/>
              <a:ahLst/>
              <a:cxnLst/>
              <a:rect l="l" t="t" r="r" b="b"/>
              <a:pathLst>
                <a:path w="792479" h="883285">
                  <a:moveTo>
                    <a:pt x="0" y="0"/>
                  </a:moveTo>
                  <a:lnTo>
                    <a:pt x="0" y="0"/>
                  </a:lnTo>
                  <a:lnTo>
                    <a:pt x="792183" y="882762"/>
                  </a:lnTo>
                </a:path>
              </a:pathLst>
            </a:custGeom>
            <a:ln w="14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24637" y="3909130"/>
              <a:ext cx="131445" cy="137160"/>
            </a:xfrm>
            <a:custGeom>
              <a:avLst/>
              <a:gdLst/>
              <a:ahLst/>
              <a:cxnLst/>
              <a:rect l="l" t="t" r="r" b="b"/>
              <a:pathLst>
                <a:path w="131445" h="137160">
                  <a:moveTo>
                    <a:pt x="84490" y="0"/>
                  </a:moveTo>
                  <a:lnTo>
                    <a:pt x="58521" y="55769"/>
                  </a:lnTo>
                  <a:lnTo>
                    <a:pt x="0" y="75069"/>
                  </a:lnTo>
                  <a:lnTo>
                    <a:pt x="131307" y="136922"/>
                  </a:lnTo>
                  <a:lnTo>
                    <a:pt x="844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09908" y="3328174"/>
              <a:ext cx="145415" cy="105410"/>
            </a:xfrm>
            <a:custGeom>
              <a:avLst/>
              <a:gdLst/>
              <a:ahLst/>
              <a:cxnLst/>
              <a:rect l="l" t="t" r="r" b="b"/>
              <a:pathLst>
                <a:path w="145414" h="105410">
                  <a:moveTo>
                    <a:pt x="144818" y="101803"/>
                  </a:moveTo>
                  <a:lnTo>
                    <a:pt x="41186" y="0"/>
                  </a:lnTo>
                  <a:lnTo>
                    <a:pt x="42202" y="61442"/>
                  </a:lnTo>
                  <a:lnTo>
                    <a:pt x="42214" y="61849"/>
                  </a:lnTo>
                  <a:lnTo>
                    <a:pt x="0" y="105156"/>
                  </a:lnTo>
                  <a:lnTo>
                    <a:pt x="144818" y="101803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03282" y="3096881"/>
              <a:ext cx="767080" cy="300355"/>
            </a:xfrm>
            <a:custGeom>
              <a:avLst/>
              <a:gdLst/>
              <a:ahLst/>
              <a:cxnLst/>
              <a:rect l="l" t="t" r="r" b="b"/>
              <a:pathLst>
                <a:path w="767079" h="300354">
                  <a:moveTo>
                    <a:pt x="0" y="0"/>
                  </a:moveTo>
                  <a:lnTo>
                    <a:pt x="0" y="0"/>
                  </a:lnTo>
                  <a:lnTo>
                    <a:pt x="766975" y="299829"/>
                  </a:lnTo>
                </a:path>
              </a:pathLst>
            </a:custGeom>
            <a:ln w="14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09915" y="3328172"/>
              <a:ext cx="145415" cy="105410"/>
            </a:xfrm>
            <a:custGeom>
              <a:avLst/>
              <a:gdLst/>
              <a:ahLst/>
              <a:cxnLst/>
              <a:rect l="l" t="t" r="r" b="b"/>
              <a:pathLst>
                <a:path w="145414" h="105410">
                  <a:moveTo>
                    <a:pt x="41178" y="0"/>
                  </a:moveTo>
                  <a:lnTo>
                    <a:pt x="42214" y="61843"/>
                  </a:lnTo>
                  <a:lnTo>
                    <a:pt x="0" y="105155"/>
                  </a:lnTo>
                  <a:lnTo>
                    <a:pt x="144810" y="101803"/>
                  </a:lnTo>
                  <a:lnTo>
                    <a:pt x="411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64803" y="2142833"/>
              <a:ext cx="306070" cy="924560"/>
            </a:xfrm>
            <a:custGeom>
              <a:avLst/>
              <a:gdLst/>
              <a:ahLst/>
              <a:cxnLst/>
              <a:rect l="l" t="t" r="r" b="b"/>
              <a:pathLst>
                <a:path w="306070" h="924560">
                  <a:moveTo>
                    <a:pt x="0" y="0"/>
                  </a:moveTo>
                  <a:lnTo>
                    <a:pt x="37704" y="10485"/>
                  </a:lnTo>
                  <a:lnTo>
                    <a:pt x="56845" y="19629"/>
                  </a:lnTo>
                </a:path>
                <a:path w="306070" h="924560">
                  <a:moveTo>
                    <a:pt x="107443" y="53949"/>
                  </a:moveTo>
                  <a:lnTo>
                    <a:pt x="132375" y="77662"/>
                  </a:lnTo>
                  <a:lnTo>
                    <a:pt x="148164" y="98023"/>
                  </a:lnTo>
                </a:path>
                <a:path w="306070" h="924560">
                  <a:moveTo>
                    <a:pt x="181449" y="149686"/>
                  </a:moveTo>
                  <a:lnTo>
                    <a:pt x="182516" y="149686"/>
                  </a:lnTo>
                  <a:lnTo>
                    <a:pt x="203334" y="192693"/>
                  </a:lnTo>
                  <a:lnTo>
                    <a:pt x="207753" y="204397"/>
                  </a:lnTo>
                </a:path>
                <a:path w="306070" h="924560">
                  <a:moveTo>
                    <a:pt x="228266" y="261394"/>
                  </a:moveTo>
                  <a:lnTo>
                    <a:pt x="238447" y="292392"/>
                  </a:lnTo>
                  <a:lnTo>
                    <a:pt x="245579" y="319428"/>
                  </a:lnTo>
                </a:path>
                <a:path w="306070" h="924560">
                  <a:moveTo>
                    <a:pt x="259113" y="378711"/>
                  </a:moveTo>
                  <a:lnTo>
                    <a:pt x="264721" y="406204"/>
                  </a:lnTo>
                  <a:lnTo>
                    <a:pt x="270512" y="438269"/>
                  </a:lnTo>
                </a:path>
                <a:path w="306070" h="924560">
                  <a:moveTo>
                    <a:pt x="279473" y="498771"/>
                  </a:moveTo>
                  <a:lnTo>
                    <a:pt x="284015" y="531872"/>
                  </a:lnTo>
                  <a:lnTo>
                    <a:pt x="286606" y="559091"/>
                  </a:lnTo>
                </a:path>
                <a:path w="306070" h="924560">
                  <a:moveTo>
                    <a:pt x="293464" y="619410"/>
                  </a:moveTo>
                  <a:lnTo>
                    <a:pt x="296786" y="666227"/>
                  </a:lnTo>
                  <a:lnTo>
                    <a:pt x="298005" y="680187"/>
                  </a:lnTo>
                </a:path>
                <a:path w="306070" h="924560">
                  <a:moveTo>
                    <a:pt x="301358" y="741604"/>
                  </a:moveTo>
                  <a:lnTo>
                    <a:pt x="301358" y="741604"/>
                  </a:lnTo>
                  <a:lnTo>
                    <a:pt x="303644" y="801924"/>
                  </a:lnTo>
                </a:path>
                <a:path w="306070" h="924560">
                  <a:moveTo>
                    <a:pt x="304681" y="862700"/>
                  </a:moveTo>
                  <a:lnTo>
                    <a:pt x="305900" y="878519"/>
                  </a:lnTo>
                  <a:lnTo>
                    <a:pt x="305900" y="924269"/>
                  </a:lnTo>
                </a:path>
              </a:pathLst>
            </a:custGeom>
            <a:ln w="15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010363" y="3049005"/>
              <a:ext cx="121285" cy="142875"/>
            </a:xfrm>
            <a:custGeom>
              <a:avLst/>
              <a:gdLst/>
              <a:ahLst/>
              <a:cxnLst/>
              <a:rect l="l" t="t" r="r" b="b"/>
              <a:pathLst>
                <a:path w="121285" h="142875">
                  <a:moveTo>
                    <a:pt x="120670" y="0"/>
                  </a:moveTo>
                  <a:lnTo>
                    <a:pt x="60319" y="24780"/>
                  </a:lnTo>
                  <a:lnTo>
                    <a:pt x="0" y="0"/>
                  </a:lnTo>
                  <a:lnTo>
                    <a:pt x="60319" y="142554"/>
                  </a:lnTo>
                  <a:lnTo>
                    <a:pt x="1206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64803" y="3121783"/>
              <a:ext cx="306070" cy="924560"/>
            </a:xfrm>
            <a:custGeom>
              <a:avLst/>
              <a:gdLst/>
              <a:ahLst/>
              <a:cxnLst/>
              <a:rect l="l" t="t" r="r" b="b"/>
              <a:pathLst>
                <a:path w="306070" h="924560">
                  <a:moveTo>
                    <a:pt x="0" y="924269"/>
                  </a:moveTo>
                  <a:lnTo>
                    <a:pt x="37704" y="913626"/>
                  </a:lnTo>
                  <a:lnTo>
                    <a:pt x="56845" y="903446"/>
                  </a:lnTo>
                </a:path>
                <a:path w="306070" h="924560">
                  <a:moveTo>
                    <a:pt x="107443" y="870619"/>
                  </a:moveTo>
                  <a:lnTo>
                    <a:pt x="132375" y="845391"/>
                  </a:lnTo>
                  <a:lnTo>
                    <a:pt x="148164" y="826091"/>
                  </a:lnTo>
                </a:path>
                <a:path w="306070" h="924560">
                  <a:moveTo>
                    <a:pt x="181449" y="774882"/>
                  </a:moveTo>
                  <a:lnTo>
                    <a:pt x="182516" y="773358"/>
                  </a:lnTo>
                  <a:lnTo>
                    <a:pt x="203334" y="730351"/>
                  </a:lnTo>
                  <a:lnTo>
                    <a:pt x="207753" y="719719"/>
                  </a:lnTo>
                </a:path>
                <a:path w="306070" h="924560">
                  <a:moveTo>
                    <a:pt x="228266" y="662722"/>
                  </a:moveTo>
                  <a:lnTo>
                    <a:pt x="238447" y="630657"/>
                  </a:lnTo>
                  <a:lnTo>
                    <a:pt x="245579" y="603622"/>
                  </a:lnTo>
                </a:path>
                <a:path w="306070" h="924560">
                  <a:moveTo>
                    <a:pt x="259113" y="544339"/>
                  </a:moveTo>
                  <a:lnTo>
                    <a:pt x="264721" y="517913"/>
                  </a:lnTo>
                  <a:lnTo>
                    <a:pt x="270512" y="484781"/>
                  </a:lnTo>
                </a:path>
                <a:path w="306070" h="924560">
                  <a:moveTo>
                    <a:pt x="279473" y="424309"/>
                  </a:moveTo>
                  <a:lnTo>
                    <a:pt x="284015" y="392244"/>
                  </a:lnTo>
                  <a:lnTo>
                    <a:pt x="286606" y="363959"/>
                  </a:lnTo>
                </a:path>
                <a:path w="306070" h="924560">
                  <a:moveTo>
                    <a:pt x="293464" y="303639"/>
                  </a:moveTo>
                  <a:lnTo>
                    <a:pt x="296786" y="258042"/>
                  </a:lnTo>
                  <a:lnTo>
                    <a:pt x="298005" y="242863"/>
                  </a:lnTo>
                </a:path>
                <a:path w="306070" h="924560">
                  <a:moveTo>
                    <a:pt x="301358" y="182513"/>
                  </a:moveTo>
                  <a:lnTo>
                    <a:pt x="301358" y="182513"/>
                  </a:lnTo>
                  <a:lnTo>
                    <a:pt x="303644" y="122193"/>
                  </a:lnTo>
                </a:path>
                <a:path w="306070" h="924560">
                  <a:moveTo>
                    <a:pt x="304681" y="60350"/>
                  </a:moveTo>
                  <a:lnTo>
                    <a:pt x="305900" y="44531"/>
                  </a:lnTo>
                  <a:lnTo>
                    <a:pt x="305900" y="0"/>
                  </a:lnTo>
                </a:path>
              </a:pathLst>
            </a:custGeom>
            <a:ln w="15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393614" y="2074468"/>
              <a:ext cx="60960" cy="2032000"/>
            </a:xfrm>
            <a:custGeom>
              <a:avLst/>
              <a:gdLst/>
              <a:ahLst/>
              <a:cxnLst/>
              <a:rect l="l" t="t" r="r" b="b"/>
              <a:pathLst>
                <a:path w="60960" h="2032000">
                  <a:moveTo>
                    <a:pt x="60350" y="2000910"/>
                  </a:moveTo>
                  <a:lnTo>
                    <a:pt x="57962" y="1989658"/>
                  </a:lnTo>
                  <a:lnTo>
                    <a:pt x="51460" y="1980323"/>
                  </a:lnTo>
                  <a:lnTo>
                    <a:pt x="41757" y="1973948"/>
                  </a:lnTo>
                  <a:lnTo>
                    <a:pt x="29806" y="1971586"/>
                  </a:lnTo>
                  <a:lnTo>
                    <a:pt x="18288" y="1973948"/>
                  </a:lnTo>
                  <a:lnTo>
                    <a:pt x="8801" y="1980323"/>
                  </a:lnTo>
                  <a:lnTo>
                    <a:pt x="2362" y="1989658"/>
                  </a:lnTo>
                  <a:lnTo>
                    <a:pt x="0" y="2000910"/>
                  </a:lnTo>
                  <a:lnTo>
                    <a:pt x="2362" y="2013064"/>
                  </a:lnTo>
                  <a:lnTo>
                    <a:pt x="8801" y="2022919"/>
                  </a:lnTo>
                  <a:lnTo>
                    <a:pt x="18288" y="2029510"/>
                  </a:lnTo>
                  <a:lnTo>
                    <a:pt x="29806" y="2031923"/>
                  </a:lnTo>
                  <a:lnTo>
                    <a:pt x="41757" y="2029510"/>
                  </a:lnTo>
                  <a:lnTo>
                    <a:pt x="51460" y="2022919"/>
                  </a:lnTo>
                  <a:lnTo>
                    <a:pt x="57962" y="2013064"/>
                  </a:lnTo>
                  <a:lnTo>
                    <a:pt x="60350" y="2000910"/>
                  </a:lnTo>
                  <a:close/>
                </a:path>
                <a:path w="60960" h="2032000">
                  <a:moveTo>
                    <a:pt x="60350" y="1343812"/>
                  </a:moveTo>
                  <a:lnTo>
                    <a:pt x="57962" y="1332547"/>
                  </a:lnTo>
                  <a:lnTo>
                    <a:pt x="51460" y="1323149"/>
                  </a:lnTo>
                  <a:lnTo>
                    <a:pt x="41757" y="1316723"/>
                  </a:lnTo>
                  <a:lnTo>
                    <a:pt x="29806" y="1314335"/>
                  </a:lnTo>
                  <a:lnTo>
                    <a:pt x="18288" y="1316723"/>
                  </a:lnTo>
                  <a:lnTo>
                    <a:pt x="8801" y="1323149"/>
                  </a:lnTo>
                  <a:lnTo>
                    <a:pt x="2362" y="1332547"/>
                  </a:lnTo>
                  <a:lnTo>
                    <a:pt x="0" y="1343812"/>
                  </a:lnTo>
                  <a:lnTo>
                    <a:pt x="2362" y="1355953"/>
                  </a:lnTo>
                  <a:lnTo>
                    <a:pt x="8801" y="1365745"/>
                  </a:lnTo>
                  <a:lnTo>
                    <a:pt x="18288" y="1372298"/>
                  </a:lnTo>
                  <a:lnTo>
                    <a:pt x="29806" y="1374686"/>
                  </a:lnTo>
                  <a:lnTo>
                    <a:pt x="41757" y="1372298"/>
                  </a:lnTo>
                  <a:lnTo>
                    <a:pt x="51460" y="1365745"/>
                  </a:lnTo>
                  <a:lnTo>
                    <a:pt x="57962" y="1355953"/>
                  </a:lnTo>
                  <a:lnTo>
                    <a:pt x="60350" y="1343812"/>
                  </a:lnTo>
                  <a:close/>
                </a:path>
                <a:path w="60960" h="2032000">
                  <a:moveTo>
                    <a:pt x="60350" y="686562"/>
                  </a:moveTo>
                  <a:lnTo>
                    <a:pt x="57962" y="675322"/>
                  </a:lnTo>
                  <a:lnTo>
                    <a:pt x="51460" y="665988"/>
                  </a:lnTo>
                  <a:lnTo>
                    <a:pt x="41757" y="659612"/>
                  </a:lnTo>
                  <a:lnTo>
                    <a:pt x="29806" y="657250"/>
                  </a:lnTo>
                  <a:lnTo>
                    <a:pt x="18288" y="659612"/>
                  </a:lnTo>
                  <a:lnTo>
                    <a:pt x="8801" y="665988"/>
                  </a:lnTo>
                  <a:lnTo>
                    <a:pt x="2362" y="675322"/>
                  </a:lnTo>
                  <a:lnTo>
                    <a:pt x="0" y="686562"/>
                  </a:lnTo>
                  <a:lnTo>
                    <a:pt x="2362" y="698792"/>
                  </a:lnTo>
                  <a:lnTo>
                    <a:pt x="8801" y="708621"/>
                  </a:lnTo>
                  <a:lnTo>
                    <a:pt x="18288" y="715187"/>
                  </a:lnTo>
                  <a:lnTo>
                    <a:pt x="29806" y="717562"/>
                  </a:lnTo>
                  <a:lnTo>
                    <a:pt x="41757" y="715187"/>
                  </a:lnTo>
                  <a:lnTo>
                    <a:pt x="51460" y="708621"/>
                  </a:lnTo>
                  <a:lnTo>
                    <a:pt x="57962" y="698792"/>
                  </a:lnTo>
                  <a:lnTo>
                    <a:pt x="60350" y="686562"/>
                  </a:lnTo>
                  <a:close/>
                </a:path>
                <a:path w="60960" h="2032000">
                  <a:moveTo>
                    <a:pt x="60350" y="29933"/>
                  </a:moveTo>
                  <a:lnTo>
                    <a:pt x="57962" y="18402"/>
                  </a:lnTo>
                  <a:lnTo>
                    <a:pt x="51460" y="8877"/>
                  </a:lnTo>
                  <a:lnTo>
                    <a:pt x="41757" y="2400"/>
                  </a:lnTo>
                  <a:lnTo>
                    <a:pt x="29806" y="0"/>
                  </a:lnTo>
                  <a:lnTo>
                    <a:pt x="18288" y="2400"/>
                  </a:lnTo>
                  <a:lnTo>
                    <a:pt x="8801" y="8877"/>
                  </a:lnTo>
                  <a:lnTo>
                    <a:pt x="2362" y="18402"/>
                  </a:lnTo>
                  <a:lnTo>
                    <a:pt x="0" y="29933"/>
                  </a:lnTo>
                  <a:lnTo>
                    <a:pt x="2362" y="41821"/>
                  </a:lnTo>
                  <a:lnTo>
                    <a:pt x="8801" y="51523"/>
                  </a:lnTo>
                  <a:lnTo>
                    <a:pt x="18288" y="58077"/>
                  </a:lnTo>
                  <a:lnTo>
                    <a:pt x="29806" y="60477"/>
                  </a:lnTo>
                  <a:lnTo>
                    <a:pt x="41757" y="58077"/>
                  </a:lnTo>
                  <a:lnTo>
                    <a:pt x="51460" y="51523"/>
                  </a:lnTo>
                  <a:lnTo>
                    <a:pt x="57962" y="41821"/>
                  </a:lnTo>
                  <a:lnTo>
                    <a:pt x="60350" y="299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157725" y="1932757"/>
            <a:ext cx="379095" cy="390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40"/>
              </a:lnSpc>
              <a:spcBef>
                <a:spcPts val="95"/>
              </a:spcBef>
            </a:pPr>
            <a:r>
              <a:rPr sz="1200" b="1" spc="-10" dirty="0">
                <a:latin typeface="Times New Roman"/>
                <a:cs typeface="Times New Roman"/>
              </a:rPr>
              <a:t>128b/</a:t>
            </a:r>
            <a:endParaRPr sz="120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</a:pPr>
            <a:r>
              <a:rPr sz="1200" b="1" spc="-20" dirty="0">
                <a:latin typeface="Times New Roman"/>
                <a:cs typeface="Times New Roman"/>
              </a:rPr>
              <a:t>130b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933193" y="2040117"/>
            <a:ext cx="1009650" cy="125095"/>
            <a:chOff x="6933193" y="2040117"/>
            <a:chExt cx="1009650" cy="125095"/>
          </a:xfrm>
        </p:grpSpPr>
        <p:sp>
          <p:nvSpPr>
            <p:cNvPr id="44" name="object 44"/>
            <p:cNvSpPr/>
            <p:nvPr/>
          </p:nvSpPr>
          <p:spPr>
            <a:xfrm>
              <a:off x="6933193" y="2040117"/>
              <a:ext cx="151130" cy="125095"/>
            </a:xfrm>
            <a:custGeom>
              <a:avLst/>
              <a:gdLst/>
              <a:ahLst/>
              <a:cxnLst/>
              <a:rect l="l" t="t" r="r" b="b"/>
              <a:pathLst>
                <a:path w="151129" h="125094">
                  <a:moveTo>
                    <a:pt x="0" y="0"/>
                  </a:moveTo>
                  <a:lnTo>
                    <a:pt x="35417" y="61996"/>
                  </a:lnTo>
                  <a:lnTo>
                    <a:pt x="0" y="124602"/>
                  </a:lnTo>
                  <a:lnTo>
                    <a:pt x="150906" y="6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606573" y="2102112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0" y="0"/>
                  </a:lnTo>
                  <a:lnTo>
                    <a:pt x="228266" y="0"/>
                  </a:lnTo>
                </a:path>
              </a:pathLst>
            </a:custGeom>
            <a:ln w="14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791358" y="2040117"/>
              <a:ext cx="151130" cy="125095"/>
            </a:xfrm>
            <a:custGeom>
              <a:avLst/>
              <a:gdLst/>
              <a:ahLst/>
              <a:cxnLst/>
              <a:rect l="l" t="t" r="r" b="b"/>
              <a:pathLst>
                <a:path w="151129" h="125094">
                  <a:moveTo>
                    <a:pt x="0" y="0"/>
                  </a:moveTo>
                  <a:lnTo>
                    <a:pt x="35539" y="61996"/>
                  </a:lnTo>
                  <a:lnTo>
                    <a:pt x="0" y="124602"/>
                  </a:lnTo>
                  <a:lnTo>
                    <a:pt x="150906" y="6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7070107" y="2521958"/>
            <a:ext cx="552450" cy="478790"/>
            <a:chOff x="7070107" y="2521958"/>
            <a:chExt cx="552450" cy="478790"/>
          </a:xfrm>
        </p:grpSpPr>
        <p:sp>
          <p:nvSpPr>
            <p:cNvPr id="49" name="object 49"/>
            <p:cNvSpPr/>
            <p:nvPr/>
          </p:nvSpPr>
          <p:spPr>
            <a:xfrm>
              <a:off x="7078004" y="2529901"/>
              <a:ext cx="536575" cy="462915"/>
            </a:xfrm>
            <a:custGeom>
              <a:avLst/>
              <a:gdLst/>
              <a:ahLst/>
              <a:cxnLst/>
              <a:rect l="l" t="t" r="r" b="b"/>
              <a:pathLst>
                <a:path w="536575" h="462914">
                  <a:moveTo>
                    <a:pt x="402884" y="0"/>
                  </a:moveTo>
                  <a:lnTo>
                    <a:pt x="134660" y="0"/>
                  </a:lnTo>
                  <a:lnTo>
                    <a:pt x="0" y="231129"/>
                  </a:lnTo>
                  <a:lnTo>
                    <a:pt x="134660" y="462869"/>
                  </a:lnTo>
                  <a:lnTo>
                    <a:pt x="402884" y="462869"/>
                  </a:lnTo>
                  <a:lnTo>
                    <a:pt x="536447" y="231129"/>
                  </a:lnTo>
                  <a:lnTo>
                    <a:pt x="402884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78044" y="2529896"/>
              <a:ext cx="536575" cy="462915"/>
            </a:xfrm>
            <a:custGeom>
              <a:avLst/>
              <a:gdLst/>
              <a:ahLst/>
              <a:cxnLst/>
              <a:rect l="l" t="t" r="r" b="b"/>
              <a:pathLst>
                <a:path w="536575" h="462914">
                  <a:moveTo>
                    <a:pt x="134661" y="462896"/>
                  </a:moveTo>
                  <a:lnTo>
                    <a:pt x="0" y="231128"/>
                  </a:lnTo>
                  <a:lnTo>
                    <a:pt x="134661" y="0"/>
                  </a:lnTo>
                  <a:lnTo>
                    <a:pt x="402858" y="0"/>
                  </a:lnTo>
                  <a:lnTo>
                    <a:pt x="536453" y="231128"/>
                  </a:lnTo>
                  <a:lnTo>
                    <a:pt x="402858" y="462896"/>
                  </a:lnTo>
                  <a:lnTo>
                    <a:pt x="134661" y="462896"/>
                  </a:lnTo>
                  <a:close/>
                </a:path>
              </a:pathLst>
            </a:custGeom>
            <a:ln w="15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157725" y="2589982"/>
            <a:ext cx="379095" cy="389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40"/>
              </a:lnSpc>
              <a:spcBef>
                <a:spcPts val="95"/>
              </a:spcBef>
            </a:pPr>
            <a:r>
              <a:rPr sz="1200" b="1" spc="-10" dirty="0">
                <a:latin typeface="Times New Roman"/>
                <a:cs typeface="Times New Roman"/>
              </a:rPr>
              <a:t>128b/</a:t>
            </a:r>
            <a:endParaRPr sz="1200">
              <a:latin typeface="Times New Roman"/>
              <a:cs typeface="Times New Roman"/>
            </a:endParaRPr>
          </a:p>
          <a:p>
            <a:pPr marL="34290">
              <a:lnSpc>
                <a:spcPts val="1440"/>
              </a:lnSpc>
            </a:pPr>
            <a:r>
              <a:rPr sz="1200" b="1" spc="-20" dirty="0">
                <a:latin typeface="Times New Roman"/>
                <a:cs typeface="Times New Roman"/>
              </a:rPr>
              <a:t>130b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933193" y="2697358"/>
            <a:ext cx="1009650" cy="124460"/>
            <a:chOff x="6933193" y="2697358"/>
            <a:chExt cx="1009650" cy="124460"/>
          </a:xfrm>
        </p:grpSpPr>
        <p:sp>
          <p:nvSpPr>
            <p:cNvPr id="53" name="object 53"/>
            <p:cNvSpPr/>
            <p:nvPr/>
          </p:nvSpPr>
          <p:spPr>
            <a:xfrm>
              <a:off x="6933193" y="2697358"/>
              <a:ext cx="151130" cy="124460"/>
            </a:xfrm>
            <a:custGeom>
              <a:avLst/>
              <a:gdLst/>
              <a:ahLst/>
              <a:cxnLst/>
              <a:rect l="l" t="t" r="r" b="b"/>
              <a:pathLst>
                <a:path w="151129" h="124460">
                  <a:moveTo>
                    <a:pt x="0" y="0"/>
                  </a:moveTo>
                  <a:lnTo>
                    <a:pt x="35417" y="61539"/>
                  </a:lnTo>
                  <a:lnTo>
                    <a:pt x="0" y="124449"/>
                  </a:lnTo>
                  <a:lnTo>
                    <a:pt x="150906" y="61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606573" y="2758891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0" y="0"/>
                  </a:lnTo>
                  <a:lnTo>
                    <a:pt x="228266" y="0"/>
                  </a:lnTo>
                </a:path>
              </a:pathLst>
            </a:custGeom>
            <a:ln w="14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791358" y="2697358"/>
              <a:ext cx="151130" cy="124460"/>
            </a:xfrm>
            <a:custGeom>
              <a:avLst/>
              <a:gdLst/>
              <a:ahLst/>
              <a:cxnLst/>
              <a:rect l="l" t="t" r="r" b="b"/>
              <a:pathLst>
                <a:path w="151129" h="124460">
                  <a:moveTo>
                    <a:pt x="0" y="0"/>
                  </a:moveTo>
                  <a:lnTo>
                    <a:pt x="35539" y="61539"/>
                  </a:lnTo>
                  <a:lnTo>
                    <a:pt x="0" y="124449"/>
                  </a:lnTo>
                  <a:lnTo>
                    <a:pt x="150906" y="61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025451" y="2582062"/>
            <a:ext cx="368300" cy="3543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sz="1050" b="1" spc="-20" dirty="0">
                <a:latin typeface="Times New Roman"/>
                <a:cs typeface="Times New Roman"/>
              </a:rPr>
              <a:t>PCIe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b="1" dirty="0">
                <a:latin typeface="Times New Roman"/>
                <a:cs typeface="Times New Roman"/>
              </a:rPr>
              <a:t>lane</a:t>
            </a:r>
            <a:r>
              <a:rPr sz="1050" b="1" spc="25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21421" y="3388797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>
                <a:moveTo>
                  <a:pt x="29931" y="0"/>
                </a:moveTo>
                <a:lnTo>
                  <a:pt x="18400" y="2385"/>
                </a:lnTo>
                <a:lnTo>
                  <a:pt x="8873" y="8816"/>
                </a:lnTo>
                <a:lnTo>
                  <a:pt x="2392" y="18207"/>
                </a:lnTo>
                <a:lnTo>
                  <a:pt x="0" y="29474"/>
                </a:lnTo>
                <a:lnTo>
                  <a:pt x="2392" y="41615"/>
                </a:lnTo>
                <a:lnTo>
                  <a:pt x="8873" y="51415"/>
                </a:lnTo>
                <a:lnTo>
                  <a:pt x="18400" y="57964"/>
                </a:lnTo>
                <a:lnTo>
                  <a:pt x="29931" y="60350"/>
                </a:lnTo>
                <a:lnTo>
                  <a:pt x="41831" y="57964"/>
                </a:lnTo>
                <a:lnTo>
                  <a:pt x="51549" y="51415"/>
                </a:lnTo>
                <a:lnTo>
                  <a:pt x="58100" y="41615"/>
                </a:lnTo>
                <a:lnTo>
                  <a:pt x="60502" y="29474"/>
                </a:lnTo>
                <a:lnTo>
                  <a:pt x="58100" y="18207"/>
                </a:lnTo>
                <a:lnTo>
                  <a:pt x="51549" y="8816"/>
                </a:lnTo>
                <a:lnTo>
                  <a:pt x="41831" y="2385"/>
                </a:lnTo>
                <a:lnTo>
                  <a:pt x="29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49376" y="3388797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60" h="60960">
                <a:moveTo>
                  <a:pt x="29474" y="0"/>
                </a:moveTo>
                <a:lnTo>
                  <a:pt x="18143" y="2385"/>
                </a:lnTo>
                <a:lnTo>
                  <a:pt x="8759" y="8816"/>
                </a:lnTo>
                <a:lnTo>
                  <a:pt x="2363" y="18207"/>
                </a:lnTo>
                <a:lnTo>
                  <a:pt x="0" y="29474"/>
                </a:lnTo>
                <a:lnTo>
                  <a:pt x="2363" y="41615"/>
                </a:lnTo>
                <a:lnTo>
                  <a:pt x="8759" y="51415"/>
                </a:lnTo>
                <a:lnTo>
                  <a:pt x="18143" y="57964"/>
                </a:lnTo>
                <a:lnTo>
                  <a:pt x="29474" y="60350"/>
                </a:lnTo>
                <a:lnTo>
                  <a:pt x="41615" y="57964"/>
                </a:lnTo>
                <a:lnTo>
                  <a:pt x="51415" y="51415"/>
                </a:lnTo>
                <a:lnTo>
                  <a:pt x="57964" y="41615"/>
                </a:lnTo>
                <a:lnTo>
                  <a:pt x="60350" y="29474"/>
                </a:lnTo>
                <a:lnTo>
                  <a:pt x="57964" y="18207"/>
                </a:lnTo>
                <a:lnTo>
                  <a:pt x="51415" y="8816"/>
                </a:lnTo>
                <a:lnTo>
                  <a:pt x="41615" y="2385"/>
                </a:lnTo>
                <a:lnTo>
                  <a:pt x="29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864108" y="3302013"/>
          <a:ext cx="1104899" cy="219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/>
                <a:gridCol w="54609"/>
                <a:gridCol w="410845"/>
                <a:gridCol w="228600"/>
              </a:tblGrid>
              <a:tr h="106045">
                <a:tc row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0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57" name="object 57"/>
          <p:cNvGrpSpPr/>
          <p:nvPr/>
        </p:nvGrpSpPr>
        <p:grpSpPr>
          <a:xfrm>
            <a:off x="7070107" y="3178737"/>
            <a:ext cx="552450" cy="479425"/>
            <a:chOff x="7070107" y="3178737"/>
            <a:chExt cx="552450" cy="479425"/>
          </a:xfrm>
        </p:grpSpPr>
        <p:sp>
          <p:nvSpPr>
            <p:cNvPr id="58" name="object 58"/>
            <p:cNvSpPr/>
            <p:nvPr/>
          </p:nvSpPr>
          <p:spPr>
            <a:xfrm>
              <a:off x="7078004" y="3186684"/>
              <a:ext cx="536575" cy="463550"/>
            </a:xfrm>
            <a:custGeom>
              <a:avLst/>
              <a:gdLst/>
              <a:ahLst/>
              <a:cxnLst/>
              <a:rect l="l" t="t" r="r" b="b"/>
              <a:pathLst>
                <a:path w="536575" h="463550">
                  <a:moveTo>
                    <a:pt x="402884" y="0"/>
                  </a:moveTo>
                  <a:lnTo>
                    <a:pt x="134660" y="0"/>
                  </a:lnTo>
                  <a:lnTo>
                    <a:pt x="0" y="231587"/>
                  </a:lnTo>
                  <a:lnTo>
                    <a:pt x="134660" y="463174"/>
                  </a:lnTo>
                  <a:lnTo>
                    <a:pt x="402884" y="463174"/>
                  </a:lnTo>
                  <a:lnTo>
                    <a:pt x="536447" y="231587"/>
                  </a:lnTo>
                  <a:lnTo>
                    <a:pt x="402884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078044" y="3186675"/>
              <a:ext cx="536575" cy="463550"/>
            </a:xfrm>
            <a:custGeom>
              <a:avLst/>
              <a:gdLst/>
              <a:ahLst/>
              <a:cxnLst/>
              <a:rect l="l" t="t" r="r" b="b"/>
              <a:pathLst>
                <a:path w="536575" h="463550">
                  <a:moveTo>
                    <a:pt x="134661" y="463201"/>
                  </a:moveTo>
                  <a:lnTo>
                    <a:pt x="0" y="231616"/>
                  </a:lnTo>
                  <a:lnTo>
                    <a:pt x="134661" y="0"/>
                  </a:lnTo>
                  <a:lnTo>
                    <a:pt x="402858" y="0"/>
                  </a:lnTo>
                  <a:lnTo>
                    <a:pt x="536453" y="231616"/>
                  </a:lnTo>
                  <a:lnTo>
                    <a:pt x="402858" y="463201"/>
                  </a:lnTo>
                  <a:lnTo>
                    <a:pt x="134661" y="463201"/>
                  </a:lnTo>
                  <a:close/>
                </a:path>
              </a:pathLst>
            </a:custGeom>
            <a:ln w="15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157725" y="3247081"/>
            <a:ext cx="379095" cy="390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40"/>
              </a:lnSpc>
              <a:spcBef>
                <a:spcPts val="95"/>
              </a:spcBef>
            </a:pPr>
            <a:r>
              <a:rPr sz="1200" b="1" spc="-10" dirty="0">
                <a:latin typeface="Times New Roman"/>
                <a:cs typeface="Times New Roman"/>
              </a:rPr>
              <a:t>128b/</a:t>
            </a:r>
            <a:endParaRPr sz="120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</a:pPr>
            <a:r>
              <a:rPr sz="1200" b="1" spc="-20" dirty="0">
                <a:latin typeface="Times New Roman"/>
                <a:cs typeface="Times New Roman"/>
              </a:rPr>
              <a:t>130b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933193" y="3354446"/>
            <a:ext cx="1009650" cy="125095"/>
            <a:chOff x="6933193" y="3354446"/>
            <a:chExt cx="1009650" cy="125095"/>
          </a:xfrm>
        </p:grpSpPr>
        <p:sp>
          <p:nvSpPr>
            <p:cNvPr id="62" name="object 62"/>
            <p:cNvSpPr/>
            <p:nvPr/>
          </p:nvSpPr>
          <p:spPr>
            <a:xfrm>
              <a:off x="6933193" y="3354446"/>
              <a:ext cx="151130" cy="125095"/>
            </a:xfrm>
            <a:custGeom>
              <a:avLst/>
              <a:gdLst/>
              <a:ahLst/>
              <a:cxnLst/>
              <a:rect l="l" t="t" r="r" b="b"/>
              <a:pathLst>
                <a:path w="151129" h="125095">
                  <a:moveTo>
                    <a:pt x="0" y="0"/>
                  </a:moveTo>
                  <a:lnTo>
                    <a:pt x="35417" y="61539"/>
                  </a:lnTo>
                  <a:lnTo>
                    <a:pt x="0" y="124632"/>
                  </a:lnTo>
                  <a:lnTo>
                    <a:pt x="150906" y="61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606573" y="3416005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0" y="0"/>
                  </a:lnTo>
                  <a:lnTo>
                    <a:pt x="228266" y="0"/>
                  </a:lnTo>
                </a:path>
              </a:pathLst>
            </a:custGeom>
            <a:ln w="14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791358" y="3354446"/>
              <a:ext cx="151130" cy="125095"/>
            </a:xfrm>
            <a:custGeom>
              <a:avLst/>
              <a:gdLst/>
              <a:ahLst/>
              <a:cxnLst/>
              <a:rect l="l" t="t" r="r" b="b"/>
              <a:pathLst>
                <a:path w="151129" h="125095">
                  <a:moveTo>
                    <a:pt x="0" y="0"/>
                  </a:moveTo>
                  <a:lnTo>
                    <a:pt x="35539" y="61539"/>
                  </a:lnTo>
                  <a:lnTo>
                    <a:pt x="0" y="124632"/>
                  </a:lnTo>
                  <a:lnTo>
                    <a:pt x="150906" y="61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8025451" y="3239161"/>
            <a:ext cx="368300" cy="3543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sz="1050" b="1" spc="-20" dirty="0">
                <a:latin typeface="Times New Roman"/>
                <a:cs typeface="Times New Roman"/>
              </a:rPr>
              <a:t>PCIe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b="1" dirty="0">
                <a:latin typeface="Times New Roman"/>
                <a:cs typeface="Times New Roman"/>
              </a:rPr>
              <a:t>lane</a:t>
            </a:r>
            <a:r>
              <a:rPr sz="1050" b="1" spc="25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521421" y="4046052"/>
            <a:ext cx="60960" cy="60325"/>
          </a:xfrm>
          <a:custGeom>
            <a:avLst/>
            <a:gdLst/>
            <a:ahLst/>
            <a:cxnLst/>
            <a:rect l="l" t="t" r="r" b="b"/>
            <a:pathLst>
              <a:path w="60960" h="60325">
                <a:moveTo>
                  <a:pt x="29931" y="0"/>
                </a:moveTo>
                <a:lnTo>
                  <a:pt x="18400" y="2358"/>
                </a:lnTo>
                <a:lnTo>
                  <a:pt x="8873" y="8733"/>
                </a:lnTo>
                <a:lnTo>
                  <a:pt x="2392" y="18072"/>
                </a:lnTo>
                <a:lnTo>
                  <a:pt x="0" y="29324"/>
                </a:lnTo>
                <a:lnTo>
                  <a:pt x="2392" y="41478"/>
                </a:lnTo>
                <a:lnTo>
                  <a:pt x="8873" y="51323"/>
                </a:lnTo>
                <a:lnTo>
                  <a:pt x="18400" y="57920"/>
                </a:lnTo>
                <a:lnTo>
                  <a:pt x="29931" y="60329"/>
                </a:lnTo>
                <a:lnTo>
                  <a:pt x="41831" y="57920"/>
                </a:lnTo>
                <a:lnTo>
                  <a:pt x="51549" y="51323"/>
                </a:lnTo>
                <a:lnTo>
                  <a:pt x="58100" y="41478"/>
                </a:lnTo>
                <a:lnTo>
                  <a:pt x="60502" y="29324"/>
                </a:lnTo>
                <a:lnTo>
                  <a:pt x="58100" y="18072"/>
                </a:lnTo>
                <a:lnTo>
                  <a:pt x="51549" y="8733"/>
                </a:lnTo>
                <a:lnTo>
                  <a:pt x="41831" y="2358"/>
                </a:lnTo>
                <a:lnTo>
                  <a:pt x="29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649376" y="4046052"/>
            <a:ext cx="60960" cy="60325"/>
          </a:xfrm>
          <a:custGeom>
            <a:avLst/>
            <a:gdLst/>
            <a:ahLst/>
            <a:cxnLst/>
            <a:rect l="l" t="t" r="r" b="b"/>
            <a:pathLst>
              <a:path w="60960" h="60325">
                <a:moveTo>
                  <a:pt x="29474" y="0"/>
                </a:moveTo>
                <a:lnTo>
                  <a:pt x="18143" y="2358"/>
                </a:lnTo>
                <a:lnTo>
                  <a:pt x="8759" y="8733"/>
                </a:lnTo>
                <a:lnTo>
                  <a:pt x="2363" y="18072"/>
                </a:lnTo>
                <a:lnTo>
                  <a:pt x="0" y="29324"/>
                </a:lnTo>
                <a:lnTo>
                  <a:pt x="2363" y="41478"/>
                </a:lnTo>
                <a:lnTo>
                  <a:pt x="8759" y="51323"/>
                </a:lnTo>
                <a:lnTo>
                  <a:pt x="18143" y="57920"/>
                </a:lnTo>
                <a:lnTo>
                  <a:pt x="29474" y="60329"/>
                </a:lnTo>
                <a:lnTo>
                  <a:pt x="41615" y="57920"/>
                </a:lnTo>
                <a:lnTo>
                  <a:pt x="51415" y="51323"/>
                </a:lnTo>
                <a:lnTo>
                  <a:pt x="57964" y="41478"/>
                </a:lnTo>
                <a:lnTo>
                  <a:pt x="60350" y="29324"/>
                </a:lnTo>
                <a:lnTo>
                  <a:pt x="57964" y="18072"/>
                </a:lnTo>
                <a:lnTo>
                  <a:pt x="51415" y="8733"/>
                </a:lnTo>
                <a:lnTo>
                  <a:pt x="41615" y="2358"/>
                </a:lnTo>
                <a:lnTo>
                  <a:pt x="29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864108" y="3959253"/>
          <a:ext cx="1104899" cy="218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/>
                <a:gridCol w="54609"/>
                <a:gridCol w="410845"/>
                <a:gridCol w="228600"/>
              </a:tblGrid>
              <a:tr h="105410">
                <a:tc row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0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BEB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66" name="object 66"/>
          <p:cNvGrpSpPr/>
          <p:nvPr/>
        </p:nvGrpSpPr>
        <p:grpSpPr>
          <a:xfrm>
            <a:off x="7070107" y="3835840"/>
            <a:ext cx="552450" cy="479425"/>
            <a:chOff x="7070107" y="3835840"/>
            <a:chExt cx="552450" cy="479425"/>
          </a:xfrm>
        </p:grpSpPr>
        <p:sp>
          <p:nvSpPr>
            <p:cNvPr id="67" name="object 67"/>
            <p:cNvSpPr/>
            <p:nvPr/>
          </p:nvSpPr>
          <p:spPr>
            <a:xfrm>
              <a:off x="7078004" y="3843778"/>
              <a:ext cx="536575" cy="463550"/>
            </a:xfrm>
            <a:custGeom>
              <a:avLst/>
              <a:gdLst/>
              <a:ahLst/>
              <a:cxnLst/>
              <a:rect l="l" t="t" r="r" b="b"/>
              <a:pathLst>
                <a:path w="536575" h="463550">
                  <a:moveTo>
                    <a:pt x="402884" y="0"/>
                  </a:moveTo>
                  <a:lnTo>
                    <a:pt x="134660" y="0"/>
                  </a:lnTo>
                  <a:lnTo>
                    <a:pt x="0" y="231599"/>
                  </a:lnTo>
                  <a:lnTo>
                    <a:pt x="134660" y="463344"/>
                  </a:lnTo>
                  <a:lnTo>
                    <a:pt x="402884" y="463344"/>
                  </a:lnTo>
                  <a:lnTo>
                    <a:pt x="536447" y="231599"/>
                  </a:lnTo>
                  <a:lnTo>
                    <a:pt x="402884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078044" y="3843777"/>
              <a:ext cx="536575" cy="463550"/>
            </a:xfrm>
            <a:custGeom>
              <a:avLst/>
              <a:gdLst/>
              <a:ahLst/>
              <a:cxnLst/>
              <a:rect l="l" t="t" r="r" b="b"/>
              <a:pathLst>
                <a:path w="536575" h="463550">
                  <a:moveTo>
                    <a:pt x="134661" y="463345"/>
                  </a:moveTo>
                  <a:lnTo>
                    <a:pt x="0" y="231600"/>
                  </a:lnTo>
                  <a:lnTo>
                    <a:pt x="134661" y="0"/>
                  </a:lnTo>
                  <a:lnTo>
                    <a:pt x="402858" y="0"/>
                  </a:lnTo>
                  <a:lnTo>
                    <a:pt x="536453" y="231600"/>
                  </a:lnTo>
                  <a:lnTo>
                    <a:pt x="402858" y="463345"/>
                  </a:lnTo>
                  <a:lnTo>
                    <a:pt x="134661" y="463345"/>
                  </a:lnTo>
                  <a:close/>
                </a:path>
              </a:pathLst>
            </a:custGeom>
            <a:ln w="158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157725" y="3904331"/>
            <a:ext cx="379095" cy="389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40"/>
              </a:lnSpc>
              <a:spcBef>
                <a:spcPts val="95"/>
              </a:spcBef>
            </a:pPr>
            <a:r>
              <a:rPr sz="1200" b="1" spc="-10" dirty="0">
                <a:latin typeface="Times New Roman"/>
                <a:cs typeface="Times New Roman"/>
              </a:rPr>
              <a:t>128b/</a:t>
            </a:r>
            <a:endParaRPr sz="1200">
              <a:latin typeface="Times New Roman"/>
              <a:cs typeface="Times New Roman"/>
            </a:endParaRPr>
          </a:p>
          <a:p>
            <a:pPr marL="34290">
              <a:lnSpc>
                <a:spcPts val="1440"/>
              </a:lnSpc>
            </a:pPr>
            <a:r>
              <a:rPr sz="1200" b="1" spc="-20" dirty="0">
                <a:latin typeface="Times New Roman"/>
                <a:cs typeface="Times New Roman"/>
              </a:rPr>
              <a:t>130b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933193" y="4011704"/>
            <a:ext cx="1009650" cy="124460"/>
            <a:chOff x="6933193" y="4011704"/>
            <a:chExt cx="1009650" cy="124460"/>
          </a:xfrm>
        </p:grpSpPr>
        <p:sp>
          <p:nvSpPr>
            <p:cNvPr id="71" name="object 71"/>
            <p:cNvSpPr/>
            <p:nvPr/>
          </p:nvSpPr>
          <p:spPr>
            <a:xfrm>
              <a:off x="6933193" y="4011704"/>
              <a:ext cx="151130" cy="124460"/>
            </a:xfrm>
            <a:custGeom>
              <a:avLst/>
              <a:gdLst/>
              <a:ahLst/>
              <a:cxnLst/>
              <a:rect l="l" t="t" r="r" b="b"/>
              <a:pathLst>
                <a:path w="151129" h="124460">
                  <a:moveTo>
                    <a:pt x="0" y="0"/>
                  </a:moveTo>
                  <a:lnTo>
                    <a:pt x="35417" y="61386"/>
                  </a:lnTo>
                  <a:lnTo>
                    <a:pt x="0" y="124455"/>
                  </a:lnTo>
                  <a:lnTo>
                    <a:pt x="150906" y="61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606573" y="4073092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0" y="0"/>
                  </a:lnTo>
                  <a:lnTo>
                    <a:pt x="228266" y="0"/>
                  </a:lnTo>
                </a:path>
              </a:pathLst>
            </a:custGeom>
            <a:ln w="14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791358" y="4011704"/>
              <a:ext cx="151130" cy="124460"/>
            </a:xfrm>
            <a:custGeom>
              <a:avLst/>
              <a:gdLst/>
              <a:ahLst/>
              <a:cxnLst/>
              <a:rect l="l" t="t" r="r" b="b"/>
              <a:pathLst>
                <a:path w="151129" h="124460">
                  <a:moveTo>
                    <a:pt x="0" y="0"/>
                  </a:moveTo>
                  <a:lnTo>
                    <a:pt x="35539" y="61386"/>
                  </a:lnTo>
                  <a:lnTo>
                    <a:pt x="0" y="124455"/>
                  </a:lnTo>
                  <a:lnTo>
                    <a:pt x="150906" y="61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8025451" y="3896412"/>
            <a:ext cx="368300" cy="3543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sz="1050" b="1" spc="-20" dirty="0">
                <a:latin typeface="Times New Roman"/>
                <a:cs typeface="Times New Roman"/>
              </a:rPr>
              <a:t>PCIe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50" b="1" dirty="0">
                <a:latin typeface="Times New Roman"/>
                <a:cs typeface="Times New Roman"/>
              </a:rPr>
              <a:t>lane</a:t>
            </a:r>
            <a:r>
              <a:rPr sz="1050" b="1" spc="25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2017" y="5447571"/>
            <a:ext cx="469011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dirty="0">
                <a:latin typeface="Times New Roman"/>
                <a:cs typeface="Times New Roman"/>
              </a:rPr>
              <a:t>Figure</a:t>
            </a:r>
            <a:r>
              <a:rPr sz="2150" b="1" spc="-50" dirty="0">
                <a:latin typeface="Times New Roman"/>
                <a:cs typeface="Times New Roman"/>
              </a:rPr>
              <a:t> </a:t>
            </a:r>
            <a:r>
              <a:rPr sz="2150" b="1" dirty="0">
                <a:latin typeface="Times New Roman"/>
                <a:cs typeface="Times New Roman"/>
              </a:rPr>
              <a:t>3.23</a:t>
            </a:r>
            <a:r>
              <a:rPr sz="2150" b="1" spc="-50" dirty="0">
                <a:latin typeface="Times New Roman"/>
                <a:cs typeface="Times New Roman"/>
              </a:rPr>
              <a:t> </a:t>
            </a:r>
            <a:r>
              <a:rPr sz="2150" b="1" dirty="0">
                <a:latin typeface="Times New Roman"/>
                <a:cs typeface="Times New Roman"/>
              </a:rPr>
              <a:t>PCIe</a:t>
            </a:r>
            <a:r>
              <a:rPr sz="2150" b="1" spc="-55" dirty="0">
                <a:latin typeface="Times New Roman"/>
                <a:cs typeface="Times New Roman"/>
              </a:rPr>
              <a:t> </a:t>
            </a:r>
            <a:r>
              <a:rPr sz="2150" b="1" dirty="0">
                <a:latin typeface="Times New Roman"/>
                <a:cs typeface="Times New Roman"/>
              </a:rPr>
              <a:t>Multilane</a:t>
            </a:r>
            <a:r>
              <a:rPr sz="2150" b="1" spc="-50" dirty="0">
                <a:latin typeface="Times New Roman"/>
                <a:cs typeface="Times New Roman"/>
              </a:rPr>
              <a:t> </a:t>
            </a:r>
            <a:r>
              <a:rPr sz="2150" b="1" spc="-10" dirty="0">
                <a:latin typeface="Times New Roman"/>
                <a:cs typeface="Times New Roman"/>
              </a:rPr>
              <a:t>Distribution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bject 54"/>
          <p:cNvSpPr txBox="1"/>
          <p:nvPr/>
        </p:nvSpPr>
        <p:spPr>
          <a:xfrm>
            <a:off x="4853842" y="33849"/>
            <a:ext cx="511809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dirty="0">
                <a:latin typeface="Times New Roman"/>
                <a:cs typeface="Times New Roman"/>
              </a:rPr>
              <a:t>D+</a:t>
            </a:r>
            <a:r>
              <a:rPr sz="1150" b="1" spc="180" dirty="0">
                <a:latin typeface="Times New Roman"/>
                <a:cs typeface="Times New Roman"/>
              </a:rPr>
              <a:t>  </a:t>
            </a:r>
            <a:r>
              <a:rPr sz="1150" b="1" spc="-25" dirty="0">
                <a:latin typeface="Times New Roman"/>
                <a:cs typeface="Times New Roman"/>
              </a:rPr>
              <a:t>D–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056668" y="727272"/>
            <a:ext cx="1591310" cy="454659"/>
          </a:xfrm>
          <a:prstGeom prst="rect">
            <a:avLst/>
          </a:prstGeom>
          <a:solidFill>
            <a:srgbClr val="CBEBCC"/>
          </a:solidFill>
          <a:ln w="20602">
            <a:solidFill>
              <a:srgbClr val="000000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1120"/>
              </a:spcBef>
            </a:pPr>
            <a:r>
              <a:rPr sz="1150" b="1" spc="-10" dirty="0">
                <a:latin typeface="Times New Roman"/>
                <a:cs typeface="Times New Roman"/>
              </a:rPr>
              <a:t>Scrambler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766904" y="235194"/>
            <a:ext cx="171450" cy="492125"/>
            <a:chOff x="2766904" y="235194"/>
            <a:chExt cx="171450" cy="492125"/>
          </a:xfrm>
        </p:grpSpPr>
        <p:sp>
          <p:nvSpPr>
            <p:cNvPr id="25" name="object 25"/>
            <p:cNvSpPr/>
            <p:nvPr/>
          </p:nvSpPr>
          <p:spPr>
            <a:xfrm>
              <a:off x="2852203" y="235194"/>
              <a:ext cx="0" cy="343535"/>
            </a:xfrm>
            <a:custGeom>
              <a:avLst/>
              <a:gdLst/>
              <a:ahLst/>
              <a:cxnLst/>
              <a:rect l="l" t="t" r="r" b="b"/>
              <a:pathLst>
                <a:path h="343534">
                  <a:moveTo>
                    <a:pt x="0" y="343129"/>
                  </a:moveTo>
                  <a:lnTo>
                    <a:pt x="0" y="343129"/>
                  </a:lnTo>
                  <a:lnTo>
                    <a:pt x="0" y="0"/>
                  </a:lnTo>
                </a:path>
              </a:pathLst>
            </a:custGeom>
            <a:ln w="837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66904" y="517581"/>
              <a:ext cx="171450" cy="210185"/>
            </a:xfrm>
            <a:custGeom>
              <a:avLst/>
              <a:gdLst/>
              <a:ahLst/>
              <a:cxnLst/>
              <a:rect l="l" t="t" r="r" b="b"/>
              <a:pathLst>
                <a:path w="171450" h="210184">
                  <a:moveTo>
                    <a:pt x="171047" y="0"/>
                  </a:moveTo>
                  <a:lnTo>
                    <a:pt x="85310" y="49590"/>
                  </a:lnTo>
                  <a:lnTo>
                    <a:pt x="0" y="0"/>
                  </a:lnTo>
                  <a:lnTo>
                    <a:pt x="85310" y="209702"/>
                  </a:lnTo>
                  <a:lnTo>
                    <a:pt x="1710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952142" y="321810"/>
            <a:ext cx="18034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25" dirty="0">
                <a:latin typeface="Times New Roman"/>
                <a:cs typeface="Times New Roman"/>
              </a:rPr>
              <a:t>8b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905115" y="233609"/>
            <a:ext cx="113030" cy="492125"/>
            <a:chOff x="4905115" y="233609"/>
            <a:chExt cx="113030" cy="492125"/>
          </a:xfrm>
        </p:grpSpPr>
        <p:sp>
          <p:nvSpPr>
            <p:cNvPr id="56" name="object 56"/>
            <p:cNvSpPr/>
            <p:nvPr/>
          </p:nvSpPr>
          <p:spPr>
            <a:xfrm>
              <a:off x="4961184" y="233609"/>
              <a:ext cx="0" cy="394335"/>
            </a:xfrm>
            <a:custGeom>
              <a:avLst/>
              <a:gdLst/>
              <a:ahLst/>
              <a:cxnLst/>
              <a:rect l="l" t="t" r="r" b="b"/>
              <a:pathLst>
                <a:path h="394334">
                  <a:moveTo>
                    <a:pt x="0" y="394302"/>
                  </a:moveTo>
                  <a:lnTo>
                    <a:pt x="0" y="394302"/>
                  </a:lnTo>
                  <a:lnTo>
                    <a:pt x="0" y="0"/>
                  </a:lnTo>
                </a:path>
              </a:pathLst>
            </a:custGeom>
            <a:ln w="20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905115" y="587776"/>
              <a:ext cx="113030" cy="138430"/>
            </a:xfrm>
            <a:custGeom>
              <a:avLst/>
              <a:gdLst/>
              <a:ahLst/>
              <a:cxnLst/>
              <a:rect l="l" t="t" r="r" b="b"/>
              <a:pathLst>
                <a:path w="113029" h="138429">
                  <a:moveTo>
                    <a:pt x="112928" y="0"/>
                  </a:moveTo>
                  <a:lnTo>
                    <a:pt x="56083" y="32339"/>
                  </a:lnTo>
                  <a:lnTo>
                    <a:pt x="0" y="0"/>
                  </a:lnTo>
                  <a:lnTo>
                    <a:pt x="56083" y="137921"/>
                  </a:lnTo>
                  <a:lnTo>
                    <a:pt x="1129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5208208" y="233609"/>
            <a:ext cx="113030" cy="492125"/>
            <a:chOff x="5208208" y="233609"/>
            <a:chExt cx="113030" cy="492125"/>
          </a:xfrm>
        </p:grpSpPr>
        <p:sp>
          <p:nvSpPr>
            <p:cNvPr id="59" name="object 59"/>
            <p:cNvSpPr/>
            <p:nvPr/>
          </p:nvSpPr>
          <p:spPr>
            <a:xfrm>
              <a:off x="5264198" y="233609"/>
              <a:ext cx="0" cy="394335"/>
            </a:xfrm>
            <a:custGeom>
              <a:avLst/>
              <a:gdLst/>
              <a:ahLst/>
              <a:cxnLst/>
              <a:rect l="l" t="t" r="r" b="b"/>
              <a:pathLst>
                <a:path h="394334">
                  <a:moveTo>
                    <a:pt x="0" y="394302"/>
                  </a:moveTo>
                  <a:lnTo>
                    <a:pt x="0" y="394302"/>
                  </a:lnTo>
                  <a:lnTo>
                    <a:pt x="0" y="0"/>
                  </a:lnTo>
                </a:path>
              </a:pathLst>
            </a:custGeom>
            <a:ln w="20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208208" y="587776"/>
              <a:ext cx="113030" cy="138430"/>
            </a:xfrm>
            <a:custGeom>
              <a:avLst/>
              <a:gdLst/>
              <a:ahLst/>
              <a:cxnLst/>
              <a:rect l="l" t="t" r="r" b="b"/>
              <a:pathLst>
                <a:path w="113029" h="138429">
                  <a:moveTo>
                    <a:pt x="112958" y="0"/>
                  </a:moveTo>
                  <a:lnTo>
                    <a:pt x="56022" y="32339"/>
                  </a:lnTo>
                  <a:lnTo>
                    <a:pt x="0" y="0"/>
                  </a:lnTo>
                  <a:lnTo>
                    <a:pt x="56022" y="137921"/>
                  </a:lnTo>
                  <a:lnTo>
                    <a:pt x="1129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/>
          <p:cNvSpPr txBox="1"/>
          <p:nvPr/>
        </p:nvSpPr>
        <p:spPr>
          <a:xfrm>
            <a:off x="4315866" y="727272"/>
            <a:ext cx="1590675" cy="454659"/>
          </a:xfrm>
          <a:prstGeom prst="rect">
            <a:avLst/>
          </a:prstGeom>
          <a:solidFill>
            <a:srgbClr val="CBEBCC"/>
          </a:solidFill>
          <a:ln w="20602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524510" marR="425450" indent="-90170">
              <a:lnSpc>
                <a:spcPct val="100000"/>
              </a:lnSpc>
              <a:spcBef>
                <a:spcPts val="290"/>
              </a:spcBef>
            </a:pPr>
            <a:r>
              <a:rPr sz="1150" b="1" spc="-10" dirty="0">
                <a:latin typeface="Times New Roman"/>
                <a:cs typeface="Times New Roman"/>
              </a:rPr>
              <a:t>Differential Receiver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2138" y="1268251"/>
            <a:ext cx="18034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25" dirty="0">
                <a:latin typeface="Times New Roman"/>
                <a:cs typeface="Times New Roman"/>
              </a:rPr>
              <a:t>8b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59318" y="1278438"/>
            <a:ext cx="18034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25" dirty="0">
                <a:latin typeface="Times New Roman"/>
                <a:cs typeface="Times New Roman"/>
              </a:rPr>
              <a:t>1b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1406" y="1202130"/>
            <a:ext cx="1136650" cy="454659"/>
          </a:xfrm>
          <a:prstGeom prst="rect">
            <a:avLst/>
          </a:prstGeom>
          <a:solidFill>
            <a:srgbClr val="CBEBCC"/>
          </a:solidFill>
          <a:ln w="20602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365760" marR="86995" indent="-271780">
              <a:lnSpc>
                <a:spcPct val="100899"/>
              </a:lnSpc>
              <a:spcBef>
                <a:spcPts val="275"/>
              </a:spcBef>
            </a:pPr>
            <a:r>
              <a:rPr sz="1150" b="1" dirty="0">
                <a:latin typeface="Times New Roman"/>
                <a:cs typeface="Times New Roman"/>
              </a:rPr>
              <a:t>Clock</a:t>
            </a:r>
            <a:r>
              <a:rPr sz="1150" b="1" spc="-2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recovery circuit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6668" y="1673757"/>
            <a:ext cx="1591310" cy="454659"/>
          </a:xfrm>
          <a:prstGeom prst="rect">
            <a:avLst/>
          </a:prstGeom>
          <a:solidFill>
            <a:srgbClr val="CBEBCC"/>
          </a:solidFill>
          <a:ln w="20602">
            <a:solidFill>
              <a:srgbClr val="000000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120"/>
              </a:spcBef>
            </a:pPr>
            <a:r>
              <a:rPr sz="1150" b="1" dirty="0">
                <a:latin typeface="Times New Roman"/>
                <a:cs typeface="Times New Roman"/>
              </a:rPr>
              <a:t>128b/130b</a:t>
            </a:r>
            <a:r>
              <a:rPr sz="1150" b="1" spc="-3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Encoding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766904" y="1181557"/>
            <a:ext cx="171450" cy="492759"/>
            <a:chOff x="2766904" y="1181557"/>
            <a:chExt cx="171450" cy="492759"/>
          </a:xfrm>
        </p:grpSpPr>
        <p:sp>
          <p:nvSpPr>
            <p:cNvPr id="20" name="object 20"/>
            <p:cNvSpPr/>
            <p:nvPr/>
          </p:nvSpPr>
          <p:spPr>
            <a:xfrm>
              <a:off x="2852203" y="1181557"/>
              <a:ext cx="0" cy="343535"/>
            </a:xfrm>
            <a:custGeom>
              <a:avLst/>
              <a:gdLst/>
              <a:ahLst/>
              <a:cxnLst/>
              <a:rect l="l" t="t" r="r" b="b"/>
              <a:pathLst>
                <a:path h="343534">
                  <a:moveTo>
                    <a:pt x="0" y="343220"/>
                  </a:moveTo>
                  <a:lnTo>
                    <a:pt x="0" y="343220"/>
                  </a:lnTo>
                  <a:lnTo>
                    <a:pt x="0" y="0"/>
                  </a:lnTo>
                </a:path>
              </a:pathLst>
            </a:custGeom>
            <a:ln w="837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66904" y="1464046"/>
              <a:ext cx="171450" cy="210185"/>
            </a:xfrm>
            <a:custGeom>
              <a:avLst/>
              <a:gdLst/>
              <a:ahLst/>
              <a:cxnLst/>
              <a:rect l="l" t="t" r="r" b="b"/>
              <a:pathLst>
                <a:path w="171450" h="210185">
                  <a:moveTo>
                    <a:pt x="171047" y="0"/>
                  </a:moveTo>
                  <a:lnTo>
                    <a:pt x="85310" y="49469"/>
                  </a:lnTo>
                  <a:lnTo>
                    <a:pt x="0" y="0"/>
                  </a:lnTo>
                  <a:lnTo>
                    <a:pt x="85310" y="209702"/>
                  </a:lnTo>
                  <a:lnTo>
                    <a:pt x="1710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73570" y="2183926"/>
            <a:ext cx="32702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20" dirty="0">
                <a:latin typeface="Times New Roman"/>
                <a:cs typeface="Times New Roman"/>
              </a:rPr>
              <a:t>130b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305565" y="1662602"/>
          <a:ext cx="1590675" cy="850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100"/>
                <a:gridCol w="790575"/>
              </a:tblGrid>
              <a:tr h="454025">
                <a:tc gridSpan="2">
                  <a:txBody>
                    <a:bodyPr/>
                    <a:lstStyle/>
                    <a:p>
                      <a:pPr marL="593725" marR="347345" indent="-239395">
                        <a:lnSpc>
                          <a:spcPct val="100800"/>
                        </a:lnSpc>
                        <a:spcBef>
                          <a:spcPts val="285"/>
                        </a:spcBef>
                      </a:pPr>
                      <a:r>
                        <a:rPr sz="115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150" b="1" spc="-10" dirty="0">
                          <a:latin typeface="Times New Roman"/>
                          <a:cs typeface="Times New Roman"/>
                        </a:rPr>
                        <a:t> recovery circuit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150" b="1" spc="-25" dirty="0">
                          <a:latin typeface="Times New Roman"/>
                          <a:cs typeface="Times New Roman"/>
                        </a:rPr>
                        <a:t>1b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47" name="object 47"/>
          <p:cNvGrpSpPr/>
          <p:nvPr/>
        </p:nvGrpSpPr>
        <p:grpSpPr>
          <a:xfrm>
            <a:off x="5059740" y="1183111"/>
            <a:ext cx="1710055" cy="774700"/>
            <a:chOff x="5059740" y="1183111"/>
            <a:chExt cx="1710055" cy="774700"/>
          </a:xfrm>
        </p:grpSpPr>
        <p:sp>
          <p:nvSpPr>
            <p:cNvPr id="48" name="object 48"/>
            <p:cNvSpPr/>
            <p:nvPr/>
          </p:nvSpPr>
          <p:spPr>
            <a:xfrm>
              <a:off x="5115845" y="1183111"/>
              <a:ext cx="0" cy="394970"/>
            </a:xfrm>
            <a:custGeom>
              <a:avLst/>
              <a:gdLst/>
              <a:ahLst/>
              <a:cxnLst/>
              <a:rect l="l" t="t" r="r" b="b"/>
              <a:pathLst>
                <a:path h="394969">
                  <a:moveTo>
                    <a:pt x="0" y="394394"/>
                  </a:moveTo>
                  <a:lnTo>
                    <a:pt x="0" y="394394"/>
                  </a:lnTo>
                  <a:lnTo>
                    <a:pt x="0" y="0"/>
                  </a:lnTo>
                </a:path>
              </a:pathLst>
            </a:custGeom>
            <a:ln w="20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59740" y="1537289"/>
              <a:ext cx="113030" cy="138430"/>
            </a:xfrm>
            <a:custGeom>
              <a:avLst/>
              <a:gdLst/>
              <a:ahLst/>
              <a:cxnLst/>
              <a:rect l="l" t="t" r="r" b="b"/>
              <a:pathLst>
                <a:path w="113029" h="138430">
                  <a:moveTo>
                    <a:pt x="112958" y="0"/>
                  </a:moveTo>
                  <a:lnTo>
                    <a:pt x="56113" y="33192"/>
                  </a:lnTo>
                  <a:lnTo>
                    <a:pt x="0" y="0"/>
                  </a:lnTo>
                  <a:lnTo>
                    <a:pt x="56113" y="138013"/>
                  </a:lnTo>
                  <a:lnTo>
                    <a:pt x="1129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19717" y="1409507"/>
              <a:ext cx="967105" cy="0"/>
            </a:xfrm>
            <a:custGeom>
              <a:avLst/>
              <a:gdLst/>
              <a:ahLst/>
              <a:cxnLst/>
              <a:rect l="l" t="t" r="r" b="b"/>
              <a:pathLst>
                <a:path w="967104">
                  <a:moveTo>
                    <a:pt x="966620" y="0"/>
                  </a:moveTo>
                  <a:lnTo>
                    <a:pt x="966620" y="0"/>
                  </a:lnTo>
                  <a:lnTo>
                    <a:pt x="0" y="0"/>
                  </a:lnTo>
                </a:path>
              </a:pathLst>
            </a:custGeom>
            <a:ln w="206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46225" y="1353434"/>
              <a:ext cx="138430" cy="113030"/>
            </a:xfrm>
            <a:custGeom>
              <a:avLst/>
              <a:gdLst/>
              <a:ahLst/>
              <a:cxnLst/>
              <a:rect l="l" t="t" r="r" b="b"/>
              <a:pathLst>
                <a:path w="138429" h="113030">
                  <a:moveTo>
                    <a:pt x="0" y="0"/>
                  </a:moveTo>
                  <a:lnTo>
                    <a:pt x="32369" y="56083"/>
                  </a:lnTo>
                  <a:lnTo>
                    <a:pt x="0" y="112928"/>
                  </a:lnTo>
                  <a:lnTo>
                    <a:pt x="137952" y="560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07543" y="1656506"/>
              <a:ext cx="752475" cy="244475"/>
            </a:xfrm>
            <a:custGeom>
              <a:avLst/>
              <a:gdLst/>
              <a:ahLst/>
              <a:cxnLst/>
              <a:rect l="l" t="t" r="r" b="b"/>
              <a:pathLst>
                <a:path w="752475" h="244475">
                  <a:moveTo>
                    <a:pt x="751941" y="0"/>
                  </a:moveTo>
                  <a:lnTo>
                    <a:pt x="751941" y="244347"/>
                  </a:lnTo>
                  <a:lnTo>
                    <a:pt x="0" y="244347"/>
                  </a:lnTo>
                </a:path>
              </a:pathLst>
            </a:custGeom>
            <a:ln w="206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909736" y="1844771"/>
              <a:ext cx="138430" cy="113030"/>
            </a:xfrm>
            <a:custGeom>
              <a:avLst/>
              <a:gdLst/>
              <a:ahLst/>
              <a:cxnLst/>
              <a:rect l="l" t="t" r="r" b="b"/>
              <a:pathLst>
                <a:path w="138429" h="113030">
                  <a:moveTo>
                    <a:pt x="138043" y="0"/>
                  </a:moveTo>
                  <a:lnTo>
                    <a:pt x="0" y="56083"/>
                  </a:lnTo>
                  <a:lnTo>
                    <a:pt x="138043" y="112928"/>
                  </a:lnTo>
                  <a:lnTo>
                    <a:pt x="104851" y="56083"/>
                  </a:lnTo>
                  <a:lnTo>
                    <a:pt x="138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046367" y="2609880"/>
          <a:ext cx="1591310" cy="847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5655"/>
                <a:gridCol w="795655"/>
              </a:tblGrid>
              <a:tr h="454025">
                <a:tc gridSpan="2"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150" b="1" dirty="0">
                          <a:latin typeface="Times New Roman"/>
                          <a:cs typeface="Times New Roman"/>
                        </a:rPr>
                        <a:t>Parallel</a:t>
                      </a:r>
                      <a:r>
                        <a:rPr sz="11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50" b="1" spc="-10" dirty="0">
                          <a:latin typeface="Times New Roman"/>
                          <a:cs typeface="Times New Roman"/>
                        </a:rPr>
                        <a:t>serial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142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93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150" b="1" spc="-25" dirty="0">
                          <a:latin typeface="Times New Roman"/>
                          <a:cs typeface="Times New Roman"/>
                        </a:rPr>
                        <a:t>1b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13208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30" name="object 30"/>
          <p:cNvGrpSpPr/>
          <p:nvPr/>
        </p:nvGrpSpPr>
        <p:grpSpPr>
          <a:xfrm>
            <a:off x="2715517" y="2128012"/>
            <a:ext cx="274320" cy="492759"/>
            <a:chOff x="2715517" y="2128012"/>
            <a:chExt cx="274320" cy="492759"/>
          </a:xfrm>
        </p:grpSpPr>
        <p:sp>
          <p:nvSpPr>
            <p:cNvPr id="31" name="object 31"/>
            <p:cNvSpPr/>
            <p:nvPr/>
          </p:nvSpPr>
          <p:spPr>
            <a:xfrm>
              <a:off x="2852203" y="2128012"/>
              <a:ext cx="0" cy="254635"/>
            </a:xfrm>
            <a:custGeom>
              <a:avLst/>
              <a:gdLst/>
              <a:ahLst/>
              <a:cxnLst/>
              <a:rect l="l" t="t" r="r" b="b"/>
              <a:pathLst>
                <a:path h="254635">
                  <a:moveTo>
                    <a:pt x="0" y="254009"/>
                  </a:moveTo>
                  <a:lnTo>
                    <a:pt x="0" y="254009"/>
                  </a:lnTo>
                  <a:lnTo>
                    <a:pt x="0" y="0"/>
                  </a:lnTo>
                </a:path>
              </a:pathLst>
            </a:custGeom>
            <a:ln w="167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15517" y="2285055"/>
              <a:ext cx="274320" cy="335280"/>
            </a:xfrm>
            <a:custGeom>
              <a:avLst/>
              <a:gdLst/>
              <a:ahLst/>
              <a:cxnLst/>
              <a:rect l="l" t="t" r="r" b="b"/>
              <a:pathLst>
                <a:path w="274319" h="335280">
                  <a:moveTo>
                    <a:pt x="273807" y="0"/>
                  </a:moveTo>
                  <a:lnTo>
                    <a:pt x="136696" y="79552"/>
                  </a:lnTo>
                  <a:lnTo>
                    <a:pt x="0" y="0"/>
                  </a:lnTo>
                  <a:lnTo>
                    <a:pt x="136696" y="335127"/>
                  </a:lnTo>
                  <a:lnTo>
                    <a:pt x="2738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07057" y="2620181"/>
            <a:ext cx="1591310" cy="454659"/>
          </a:xfrm>
          <a:prstGeom prst="rect">
            <a:avLst/>
          </a:prstGeom>
          <a:solidFill>
            <a:srgbClr val="CBEBCC"/>
          </a:solidFill>
          <a:ln w="20602">
            <a:solidFill>
              <a:srgbClr val="000000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261620">
              <a:lnSpc>
                <a:spcPct val="100000"/>
              </a:lnSpc>
              <a:spcBef>
                <a:spcPts val="1120"/>
              </a:spcBef>
            </a:pPr>
            <a:r>
              <a:rPr sz="1150" b="1" dirty="0">
                <a:latin typeface="Times New Roman"/>
                <a:cs typeface="Times New Roman"/>
              </a:rPr>
              <a:t>Serial</a:t>
            </a:r>
            <a:r>
              <a:rPr sz="1150" b="1" spc="-3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to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parallel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059740" y="2483723"/>
            <a:ext cx="113030" cy="138430"/>
          </a:xfrm>
          <a:custGeom>
            <a:avLst/>
            <a:gdLst/>
            <a:ahLst/>
            <a:cxnLst/>
            <a:rect l="l" t="t" r="r" b="b"/>
            <a:pathLst>
              <a:path w="113029" h="138430">
                <a:moveTo>
                  <a:pt x="112958" y="0"/>
                </a:moveTo>
                <a:lnTo>
                  <a:pt x="56113" y="33101"/>
                </a:lnTo>
                <a:lnTo>
                  <a:pt x="0" y="0"/>
                </a:lnTo>
                <a:lnTo>
                  <a:pt x="56113" y="137952"/>
                </a:lnTo>
                <a:lnTo>
                  <a:pt x="1129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21700" y="3179134"/>
            <a:ext cx="32702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20" dirty="0">
                <a:latin typeface="Times New Roman"/>
                <a:cs typeface="Times New Roman"/>
              </a:rPr>
              <a:t>130b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56668" y="3566545"/>
            <a:ext cx="1591310" cy="454659"/>
          </a:xfrm>
          <a:prstGeom prst="rect">
            <a:avLst/>
          </a:prstGeom>
          <a:solidFill>
            <a:srgbClr val="CBEBCC"/>
          </a:solidFill>
          <a:ln w="20602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579120" marR="40005" indent="-551815">
              <a:lnSpc>
                <a:spcPct val="100000"/>
              </a:lnSpc>
              <a:spcBef>
                <a:spcPts val="370"/>
              </a:spcBef>
            </a:pPr>
            <a:r>
              <a:rPr sz="1150" b="1" spc="-10" dirty="0">
                <a:latin typeface="Times New Roman"/>
                <a:cs typeface="Times New Roman"/>
              </a:rPr>
              <a:t>Transmitter</a:t>
            </a:r>
            <a:r>
              <a:rPr sz="1150" b="1" spc="-1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Differential Driver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796110" y="3428603"/>
            <a:ext cx="113030" cy="138430"/>
          </a:xfrm>
          <a:custGeom>
            <a:avLst/>
            <a:gdLst/>
            <a:ahLst/>
            <a:cxnLst/>
            <a:rect l="l" t="t" r="r" b="b"/>
            <a:pathLst>
              <a:path w="113030" h="138429">
                <a:moveTo>
                  <a:pt x="112943" y="0"/>
                </a:moveTo>
                <a:lnTo>
                  <a:pt x="56104" y="32369"/>
                </a:lnTo>
                <a:lnTo>
                  <a:pt x="0" y="0"/>
                </a:lnTo>
                <a:lnTo>
                  <a:pt x="56104" y="137952"/>
                </a:lnTo>
                <a:lnTo>
                  <a:pt x="1129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315866" y="3566545"/>
            <a:ext cx="1590675" cy="454659"/>
          </a:xfrm>
          <a:prstGeom prst="rect">
            <a:avLst/>
          </a:prstGeom>
          <a:solidFill>
            <a:srgbClr val="CBEBCC"/>
          </a:solidFill>
          <a:ln w="20602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955"/>
              </a:spcBef>
            </a:pPr>
            <a:r>
              <a:rPr sz="1150" b="1" dirty="0">
                <a:latin typeface="Times New Roman"/>
                <a:cs typeface="Times New Roman"/>
              </a:rPr>
              <a:t>128b/130b</a:t>
            </a:r>
            <a:r>
              <a:rPr sz="1150" b="1" spc="-3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Decoding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979487" y="3079191"/>
            <a:ext cx="274320" cy="492125"/>
            <a:chOff x="4979487" y="3079191"/>
            <a:chExt cx="274320" cy="492125"/>
          </a:xfrm>
        </p:grpSpPr>
        <p:sp>
          <p:nvSpPr>
            <p:cNvPr id="34" name="object 34"/>
            <p:cNvSpPr/>
            <p:nvPr/>
          </p:nvSpPr>
          <p:spPr>
            <a:xfrm>
              <a:off x="5115846" y="3079191"/>
              <a:ext cx="0" cy="254635"/>
            </a:xfrm>
            <a:custGeom>
              <a:avLst/>
              <a:gdLst/>
              <a:ahLst/>
              <a:cxnLst/>
              <a:rect l="l" t="t" r="r" b="b"/>
              <a:pathLst>
                <a:path h="254635">
                  <a:moveTo>
                    <a:pt x="0" y="254009"/>
                  </a:moveTo>
                  <a:lnTo>
                    <a:pt x="0" y="254009"/>
                  </a:lnTo>
                  <a:lnTo>
                    <a:pt x="0" y="0"/>
                  </a:lnTo>
                </a:path>
              </a:pathLst>
            </a:custGeom>
            <a:ln w="167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79487" y="3236153"/>
              <a:ext cx="274320" cy="335280"/>
            </a:xfrm>
            <a:custGeom>
              <a:avLst/>
              <a:gdLst/>
              <a:ahLst/>
              <a:cxnLst/>
              <a:rect l="l" t="t" r="r" b="b"/>
              <a:pathLst>
                <a:path w="274320" h="335279">
                  <a:moveTo>
                    <a:pt x="273801" y="0"/>
                  </a:moveTo>
                  <a:lnTo>
                    <a:pt x="136367" y="79522"/>
                  </a:lnTo>
                  <a:lnTo>
                    <a:pt x="0" y="0"/>
                  </a:lnTo>
                  <a:lnTo>
                    <a:pt x="136367" y="335127"/>
                  </a:lnTo>
                  <a:lnTo>
                    <a:pt x="2738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21700" y="4118455"/>
            <a:ext cx="32702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20" dirty="0">
                <a:latin typeface="Times New Roman"/>
                <a:cs typeface="Times New Roman"/>
              </a:rPr>
              <a:t>128b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3235" y="4475753"/>
            <a:ext cx="51308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dirty="0">
                <a:latin typeface="Times New Roman"/>
                <a:cs typeface="Times New Roman"/>
              </a:rPr>
              <a:t>D+</a:t>
            </a:r>
            <a:r>
              <a:rPr sz="1150" b="1" spc="185" dirty="0">
                <a:latin typeface="Times New Roman"/>
                <a:cs typeface="Times New Roman"/>
              </a:rPr>
              <a:t>  </a:t>
            </a:r>
            <a:r>
              <a:rPr sz="1150" b="1" spc="-25" dirty="0">
                <a:latin typeface="Times New Roman"/>
                <a:cs typeface="Times New Roman"/>
              </a:rPr>
              <a:t>D–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644603" y="4020918"/>
            <a:ext cx="113030" cy="492125"/>
            <a:chOff x="2644603" y="4020918"/>
            <a:chExt cx="113030" cy="492125"/>
          </a:xfrm>
        </p:grpSpPr>
        <p:sp>
          <p:nvSpPr>
            <p:cNvPr id="42" name="object 42"/>
            <p:cNvSpPr/>
            <p:nvPr/>
          </p:nvSpPr>
          <p:spPr>
            <a:xfrm>
              <a:off x="2700590" y="4020918"/>
              <a:ext cx="0" cy="393700"/>
            </a:xfrm>
            <a:custGeom>
              <a:avLst/>
              <a:gdLst/>
              <a:ahLst/>
              <a:cxnLst/>
              <a:rect l="l" t="t" r="r" b="b"/>
              <a:pathLst>
                <a:path h="393700">
                  <a:moveTo>
                    <a:pt x="0" y="393549"/>
                  </a:moveTo>
                  <a:lnTo>
                    <a:pt x="0" y="393549"/>
                  </a:lnTo>
                  <a:lnTo>
                    <a:pt x="0" y="0"/>
                  </a:lnTo>
                </a:path>
              </a:pathLst>
            </a:custGeom>
            <a:ln w="20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44603" y="4375071"/>
              <a:ext cx="113030" cy="138430"/>
            </a:xfrm>
            <a:custGeom>
              <a:avLst/>
              <a:gdLst/>
              <a:ahLst/>
              <a:cxnLst/>
              <a:rect l="l" t="t" r="r" b="b"/>
              <a:pathLst>
                <a:path w="113030" h="138429">
                  <a:moveTo>
                    <a:pt x="112943" y="0"/>
                  </a:moveTo>
                  <a:lnTo>
                    <a:pt x="55994" y="32348"/>
                  </a:lnTo>
                  <a:lnTo>
                    <a:pt x="0" y="0"/>
                  </a:lnTo>
                  <a:lnTo>
                    <a:pt x="55994" y="137934"/>
                  </a:lnTo>
                  <a:lnTo>
                    <a:pt x="112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2947617" y="4020918"/>
            <a:ext cx="113030" cy="492125"/>
            <a:chOff x="2947617" y="4020918"/>
            <a:chExt cx="113030" cy="492125"/>
          </a:xfrm>
        </p:grpSpPr>
        <p:sp>
          <p:nvSpPr>
            <p:cNvPr id="45" name="object 45"/>
            <p:cNvSpPr/>
            <p:nvPr/>
          </p:nvSpPr>
          <p:spPr>
            <a:xfrm>
              <a:off x="3003710" y="4020918"/>
              <a:ext cx="0" cy="393700"/>
            </a:xfrm>
            <a:custGeom>
              <a:avLst/>
              <a:gdLst/>
              <a:ahLst/>
              <a:cxnLst/>
              <a:rect l="l" t="t" r="r" b="b"/>
              <a:pathLst>
                <a:path h="393700">
                  <a:moveTo>
                    <a:pt x="0" y="393549"/>
                  </a:moveTo>
                  <a:lnTo>
                    <a:pt x="0" y="393549"/>
                  </a:lnTo>
                  <a:lnTo>
                    <a:pt x="0" y="0"/>
                  </a:lnTo>
                </a:path>
              </a:pathLst>
            </a:custGeom>
            <a:ln w="20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47617" y="4375071"/>
              <a:ext cx="113030" cy="138430"/>
            </a:xfrm>
            <a:custGeom>
              <a:avLst/>
              <a:gdLst/>
              <a:ahLst/>
              <a:cxnLst/>
              <a:rect l="l" t="t" r="r" b="b"/>
              <a:pathLst>
                <a:path w="113030" h="138429">
                  <a:moveTo>
                    <a:pt x="112727" y="0"/>
                  </a:moveTo>
                  <a:lnTo>
                    <a:pt x="56104" y="32348"/>
                  </a:lnTo>
                  <a:lnTo>
                    <a:pt x="0" y="0"/>
                  </a:lnTo>
                  <a:lnTo>
                    <a:pt x="56104" y="137934"/>
                  </a:lnTo>
                  <a:lnTo>
                    <a:pt x="112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15866" y="4513003"/>
            <a:ext cx="1590675" cy="454659"/>
          </a:xfrm>
          <a:prstGeom prst="rect">
            <a:avLst/>
          </a:prstGeom>
          <a:solidFill>
            <a:srgbClr val="CBEBCC"/>
          </a:solidFill>
          <a:ln w="20602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955"/>
              </a:spcBef>
            </a:pPr>
            <a:r>
              <a:rPr sz="1150" b="1" spc="-10" dirty="0">
                <a:latin typeface="Times New Roman"/>
                <a:cs typeface="Times New Roman"/>
              </a:rPr>
              <a:t>Descrambler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79487" y="4025539"/>
            <a:ext cx="274320" cy="492759"/>
            <a:chOff x="4979487" y="4025539"/>
            <a:chExt cx="274320" cy="492759"/>
          </a:xfrm>
        </p:grpSpPr>
        <p:sp>
          <p:nvSpPr>
            <p:cNvPr id="37" name="object 37"/>
            <p:cNvSpPr/>
            <p:nvPr/>
          </p:nvSpPr>
          <p:spPr>
            <a:xfrm>
              <a:off x="5115846" y="4025539"/>
              <a:ext cx="0" cy="254635"/>
            </a:xfrm>
            <a:custGeom>
              <a:avLst/>
              <a:gdLst/>
              <a:ahLst/>
              <a:cxnLst/>
              <a:rect l="l" t="t" r="r" b="b"/>
              <a:pathLst>
                <a:path h="254635">
                  <a:moveTo>
                    <a:pt x="0" y="254030"/>
                  </a:moveTo>
                  <a:lnTo>
                    <a:pt x="0" y="254030"/>
                  </a:lnTo>
                  <a:lnTo>
                    <a:pt x="0" y="0"/>
                  </a:lnTo>
                </a:path>
              </a:pathLst>
            </a:custGeom>
            <a:ln w="167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79487" y="4182605"/>
              <a:ext cx="274320" cy="335280"/>
            </a:xfrm>
            <a:custGeom>
              <a:avLst/>
              <a:gdLst/>
              <a:ahLst/>
              <a:cxnLst/>
              <a:rect l="l" t="t" r="r" b="b"/>
              <a:pathLst>
                <a:path w="274320" h="335279">
                  <a:moveTo>
                    <a:pt x="273801" y="0"/>
                  </a:moveTo>
                  <a:lnTo>
                    <a:pt x="136367" y="79522"/>
                  </a:lnTo>
                  <a:lnTo>
                    <a:pt x="0" y="0"/>
                  </a:lnTo>
                  <a:lnTo>
                    <a:pt x="136367" y="335124"/>
                  </a:lnTo>
                  <a:lnTo>
                    <a:pt x="2738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50186" y="4880339"/>
            <a:ext cx="98488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dirty="0">
                <a:latin typeface="Times New Roman"/>
                <a:cs typeface="Times New Roman"/>
              </a:rPr>
              <a:t>(a)</a:t>
            </a:r>
            <a:r>
              <a:rPr sz="1150" b="1" spc="-3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Transmitter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80071" y="5072795"/>
            <a:ext cx="4531360" cy="1312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035050" algn="r">
              <a:lnSpc>
                <a:spcPct val="100000"/>
              </a:lnSpc>
              <a:spcBef>
                <a:spcPts val="105"/>
              </a:spcBef>
            </a:pPr>
            <a:r>
              <a:rPr sz="1150" b="1" spc="-25" dirty="0">
                <a:latin typeface="Times New Roman"/>
                <a:cs typeface="Times New Roman"/>
              </a:rPr>
              <a:t>8b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150">
              <a:latin typeface="Times New Roman"/>
              <a:cs typeface="Times New Roman"/>
            </a:endParaRPr>
          </a:p>
          <a:p>
            <a:pPr marL="2741295">
              <a:lnSpc>
                <a:spcPct val="100000"/>
              </a:lnSpc>
              <a:spcBef>
                <a:spcPts val="5"/>
              </a:spcBef>
            </a:pPr>
            <a:r>
              <a:rPr sz="1150" b="1" dirty="0">
                <a:latin typeface="Times New Roman"/>
                <a:cs typeface="Times New Roman"/>
              </a:rPr>
              <a:t>(b)</a:t>
            </a:r>
            <a:r>
              <a:rPr sz="1150" b="1" spc="-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Receiver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Times New Roman"/>
                <a:cs typeface="Times New Roman"/>
              </a:rPr>
              <a:t>Figure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3.24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PCIe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Transmit</a:t>
            </a:r>
            <a:r>
              <a:rPr sz="1500" b="1" spc="-7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and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Receive</a:t>
            </a:r>
            <a:r>
              <a:rPr sz="1500" b="1" spc="-6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Block</a:t>
            </a:r>
            <a:r>
              <a:rPr sz="1500" b="1" spc="-7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Diagrams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030541" y="4976730"/>
            <a:ext cx="171450" cy="492125"/>
            <a:chOff x="5030541" y="4976730"/>
            <a:chExt cx="171450" cy="492125"/>
          </a:xfrm>
        </p:grpSpPr>
        <p:sp>
          <p:nvSpPr>
            <p:cNvPr id="28" name="object 28"/>
            <p:cNvSpPr/>
            <p:nvPr/>
          </p:nvSpPr>
          <p:spPr>
            <a:xfrm>
              <a:off x="5115846" y="4976730"/>
              <a:ext cx="0" cy="344170"/>
            </a:xfrm>
            <a:custGeom>
              <a:avLst/>
              <a:gdLst/>
              <a:ahLst/>
              <a:cxnLst/>
              <a:rect l="l" t="t" r="r" b="b"/>
              <a:pathLst>
                <a:path h="344170">
                  <a:moveTo>
                    <a:pt x="0" y="343945"/>
                  </a:moveTo>
                  <a:lnTo>
                    <a:pt x="0" y="343945"/>
                  </a:lnTo>
                  <a:lnTo>
                    <a:pt x="0" y="0"/>
                  </a:lnTo>
                </a:path>
              </a:pathLst>
            </a:custGeom>
            <a:ln w="837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30541" y="5259955"/>
              <a:ext cx="171450" cy="208915"/>
            </a:xfrm>
            <a:custGeom>
              <a:avLst/>
              <a:gdLst/>
              <a:ahLst/>
              <a:cxnLst/>
              <a:rect l="l" t="t" r="r" b="b"/>
              <a:pathLst>
                <a:path w="171450" h="208914">
                  <a:moveTo>
                    <a:pt x="171358" y="0"/>
                  </a:moveTo>
                  <a:lnTo>
                    <a:pt x="85313" y="49804"/>
                  </a:lnTo>
                  <a:lnTo>
                    <a:pt x="0" y="0"/>
                  </a:lnTo>
                  <a:lnTo>
                    <a:pt x="85313" y="208858"/>
                  </a:lnTo>
                  <a:lnTo>
                    <a:pt x="1713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203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59079" y="228537"/>
            <a:ext cx="3474720" cy="6345555"/>
            <a:chOff x="259079" y="228537"/>
            <a:chExt cx="3474720" cy="6345555"/>
          </a:xfrm>
        </p:grpSpPr>
        <p:sp>
          <p:nvSpPr>
            <p:cNvPr id="4" name="object 4"/>
            <p:cNvSpPr/>
            <p:nvPr/>
          </p:nvSpPr>
          <p:spPr>
            <a:xfrm>
              <a:off x="282570" y="228537"/>
              <a:ext cx="3451225" cy="6345555"/>
            </a:xfrm>
            <a:custGeom>
              <a:avLst/>
              <a:gdLst/>
              <a:ahLst/>
              <a:cxnLst/>
              <a:rect l="l" t="t" r="r" b="b"/>
              <a:pathLst>
                <a:path w="3451225" h="6345555">
                  <a:moveTo>
                    <a:pt x="3451219" y="0"/>
                  </a:moveTo>
                  <a:lnTo>
                    <a:pt x="0" y="0"/>
                  </a:lnTo>
                  <a:lnTo>
                    <a:pt x="0" y="6345295"/>
                  </a:lnTo>
                  <a:lnTo>
                    <a:pt x="3451219" y="6345295"/>
                  </a:lnTo>
                  <a:lnTo>
                    <a:pt x="3451219" y="0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4940" y="1493520"/>
              <a:ext cx="1110996" cy="6522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9079" y="2194559"/>
              <a:ext cx="3371088" cy="6522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82570" y="228537"/>
            <a:ext cx="3451225" cy="634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ts val="5880"/>
              </a:lnSpc>
            </a:pPr>
            <a:r>
              <a:rPr sz="54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5400">
              <a:latin typeface="Times New Roman"/>
              <a:cs typeface="Times New Roman"/>
            </a:endParaRPr>
          </a:p>
          <a:p>
            <a:pPr marR="144145" algn="ctr">
              <a:lnSpc>
                <a:spcPct val="100000"/>
              </a:lnSpc>
              <a:spcBef>
                <a:spcPts val="4755"/>
              </a:spcBef>
            </a:pPr>
            <a:r>
              <a:rPr sz="2300" spc="-20" dirty="0">
                <a:solidFill>
                  <a:srgbClr val="FFFFFF"/>
                </a:solidFill>
                <a:latin typeface="Rockwell"/>
                <a:cs typeface="Rockwell"/>
              </a:rPr>
              <a:t>PCIe</a:t>
            </a:r>
            <a:endParaRPr sz="23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300">
              <a:latin typeface="Rockwell"/>
              <a:cs typeface="Rockwell"/>
            </a:endParaRPr>
          </a:p>
          <a:p>
            <a:pPr marR="143510" algn="ctr">
              <a:lnSpc>
                <a:spcPct val="100000"/>
              </a:lnSpc>
            </a:pPr>
            <a:r>
              <a:rPr sz="2300" dirty="0">
                <a:solidFill>
                  <a:srgbClr val="FFFFFF"/>
                </a:solidFill>
                <a:latin typeface="Rockwell"/>
                <a:cs typeface="Rockwell"/>
              </a:rPr>
              <a:t>Transaction</a:t>
            </a:r>
            <a:r>
              <a:rPr sz="23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Rockwell"/>
                <a:cs typeface="Rockwell"/>
              </a:rPr>
              <a:t>Layer</a:t>
            </a:r>
            <a:r>
              <a:rPr sz="23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Rockwell"/>
                <a:cs typeface="Rockwell"/>
              </a:rPr>
              <a:t>(TL)</a:t>
            </a:r>
            <a:endParaRPr sz="2300">
              <a:latin typeface="Rockwell"/>
              <a:cs typeface="Rockwel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48407" y="298444"/>
            <a:ext cx="42710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Receives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read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write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requests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software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above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TL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creates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request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packets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transmission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destination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via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link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layer</a:t>
            </a:r>
            <a:endParaRPr sz="1800">
              <a:latin typeface="Rockwell"/>
              <a:cs typeface="Rockwel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9244" y="3323844"/>
            <a:ext cx="2268220" cy="2025650"/>
            <a:chOff x="809244" y="3323844"/>
            <a:chExt cx="2268220" cy="202565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244" y="3323844"/>
              <a:ext cx="2267712" cy="20253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2876" y="3427476"/>
              <a:ext cx="2060447" cy="181813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248407" y="1650614"/>
            <a:ext cx="4330065" cy="300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Most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transactions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use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595959"/>
                </a:solidFill>
                <a:latin typeface="Rockwell"/>
                <a:cs typeface="Rockwell"/>
              </a:rPr>
              <a:t>split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i="1" spc="-10" dirty="0">
                <a:solidFill>
                  <a:srgbClr val="595959"/>
                </a:solidFill>
                <a:latin typeface="Rockwell"/>
                <a:cs typeface="Rockwell"/>
              </a:rPr>
              <a:t>transaction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technique</a:t>
            </a:r>
            <a:endParaRPr sz="1800">
              <a:latin typeface="Rockwell"/>
              <a:cs typeface="Rockwell"/>
            </a:endParaRPr>
          </a:p>
          <a:p>
            <a:pPr marL="469900" marR="28575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request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packet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sent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out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source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PCIe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device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which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then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waits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response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called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i="1" spc="-10" dirty="0">
                <a:solidFill>
                  <a:srgbClr val="595959"/>
                </a:solidFill>
                <a:latin typeface="Rockwell"/>
                <a:cs typeface="Rockwell"/>
              </a:rPr>
              <a:t>completion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packet</a:t>
            </a:r>
            <a:endParaRPr sz="1800">
              <a:latin typeface="Rockwell"/>
              <a:cs typeface="Rockwell"/>
            </a:endParaRPr>
          </a:p>
          <a:p>
            <a:pPr marL="263525" marR="311785" indent="-228600">
              <a:lnSpc>
                <a:spcPct val="100000"/>
              </a:lnSpc>
              <a:spcBef>
                <a:spcPts val="125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6352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TL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messages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some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write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transactions</a:t>
            </a:r>
            <a:r>
              <a:rPr sz="18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8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posted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transactions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(meaning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no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response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expected)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0632" y="4883351"/>
            <a:ext cx="38836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TL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packet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format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supports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32-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addressing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extended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64-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addressing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07588" y="6575861"/>
            <a:ext cx="37560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1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2016</a:t>
            </a:r>
            <a:r>
              <a:rPr sz="11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Pearson</a:t>
            </a:r>
            <a:r>
              <a:rPr sz="11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Education,</a:t>
            </a:r>
            <a:r>
              <a:rPr sz="11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Inc.,</a:t>
            </a:r>
            <a:r>
              <a:rPr sz="11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Hoboken, NJ.</a:t>
            </a:r>
            <a:r>
              <a:rPr sz="11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r>
              <a:rPr sz="11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rights</a:t>
            </a:r>
            <a:r>
              <a:rPr sz="11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reserved.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06324" y="382524"/>
            <a:ext cx="6807834" cy="1560830"/>
            <a:chOff x="306324" y="382524"/>
            <a:chExt cx="6807834" cy="15608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" y="382524"/>
              <a:ext cx="6807708" cy="10119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324" y="931164"/>
              <a:ext cx="2180844" cy="101193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85011" y="501848"/>
            <a:ext cx="65347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4495" marR="30480" indent="-36703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52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The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/>
              <a:t>TL</a:t>
            </a:r>
            <a:r>
              <a:rPr sz="3600" spc="30" dirty="0">
                <a:latin typeface="Times New Roman"/>
                <a:cs typeface="Times New Roman"/>
              </a:rPr>
              <a:t> </a:t>
            </a:r>
            <a:r>
              <a:rPr sz="3600" dirty="0"/>
              <a:t>supports</a:t>
            </a:r>
            <a:r>
              <a:rPr sz="3600" spc="20" dirty="0">
                <a:latin typeface="Times New Roman"/>
                <a:cs typeface="Times New Roman"/>
              </a:rPr>
              <a:t> </a:t>
            </a:r>
            <a:r>
              <a:rPr sz="3600" dirty="0"/>
              <a:t>four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spc="-30" dirty="0"/>
              <a:t>address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spc="-10" dirty="0"/>
              <a:t>spaces: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166872" y="282580"/>
            <a:ext cx="685800" cy="1600200"/>
          </a:xfrm>
          <a:custGeom>
            <a:avLst/>
            <a:gdLst/>
            <a:ahLst/>
            <a:cxnLst/>
            <a:rect l="l" t="t" r="r" b="b"/>
            <a:pathLst>
              <a:path w="685800" h="1600200">
                <a:moveTo>
                  <a:pt x="685799" y="0"/>
                </a:moveTo>
                <a:lnTo>
                  <a:pt x="0" y="0"/>
                </a:lnTo>
                <a:lnTo>
                  <a:pt x="0" y="1600199"/>
                </a:lnTo>
                <a:lnTo>
                  <a:pt x="685799" y="1600199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1660" y="1936318"/>
            <a:ext cx="3375025" cy="372872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95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700">
              <a:latin typeface="Rockwell"/>
              <a:cs typeface="Rockwell"/>
            </a:endParaRPr>
          </a:p>
          <a:p>
            <a:pPr marL="469900" marR="95250" lvl="1" indent="-229235">
              <a:lnSpc>
                <a:spcPts val="1839"/>
              </a:lnSpc>
              <a:spcBef>
                <a:spcPts val="62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90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space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includes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system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PCIe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devices</a:t>
            </a:r>
            <a:endParaRPr sz="1700">
              <a:latin typeface="Rockwell"/>
              <a:cs typeface="Rockwell"/>
            </a:endParaRPr>
          </a:p>
          <a:p>
            <a:pPr marL="469900" marR="287655" lvl="1" indent="-229235">
              <a:lnSpc>
                <a:spcPts val="1839"/>
              </a:lnSpc>
              <a:spcBef>
                <a:spcPts val="58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90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Certain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ranges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addresses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map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into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devices</a:t>
            </a:r>
            <a:endParaRPr sz="1700">
              <a:latin typeface="Rockwell"/>
              <a:cs typeface="Rockwell"/>
            </a:endParaRPr>
          </a:p>
          <a:p>
            <a:pPr lvl="1">
              <a:lnSpc>
                <a:spcPct val="100000"/>
              </a:lnSpc>
              <a:spcBef>
                <a:spcPts val="1075"/>
              </a:spcBef>
              <a:buFont typeface="Wingdings"/>
              <a:buChar char=""/>
            </a:pP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Configuration</a:t>
            </a:r>
            <a:endParaRPr sz="1800">
              <a:latin typeface="Rockwell"/>
              <a:cs typeface="Rockwell"/>
            </a:endParaRPr>
          </a:p>
          <a:p>
            <a:pPr marL="469900" marR="5080" lvl="1" indent="-22923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space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enables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TL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read/write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configuration</a:t>
            </a:r>
            <a:r>
              <a:rPr sz="1800" spc="-1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registers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associated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devices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9453" y="1935755"/>
            <a:ext cx="3396615" cy="37338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endParaRPr sz="1800">
              <a:latin typeface="Rockwell"/>
              <a:cs typeface="Rockwell"/>
            </a:endParaRPr>
          </a:p>
          <a:p>
            <a:pPr marL="469900" marR="5080" lvl="1" indent="-228600">
              <a:lnSpc>
                <a:spcPct val="100000"/>
              </a:lnSpc>
              <a:spcBef>
                <a:spcPts val="60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space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legacy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PCI</a:t>
            </a:r>
            <a:r>
              <a:rPr sz="18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devices,</a:t>
            </a:r>
            <a:r>
              <a:rPr sz="1800" spc="-1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reserved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8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ranges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legacy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devices</a:t>
            </a:r>
            <a:endParaRPr sz="1800">
              <a:latin typeface="Rockwell"/>
              <a:cs typeface="Rockwell"/>
            </a:endParaRPr>
          </a:p>
          <a:p>
            <a:pPr lvl="1">
              <a:lnSpc>
                <a:spcPct val="100000"/>
              </a:lnSpc>
              <a:spcBef>
                <a:spcPts val="1520"/>
              </a:spcBef>
              <a:buClr>
                <a:srgbClr val="B86FB8"/>
              </a:buClr>
              <a:buFont typeface="Wingdings"/>
              <a:buChar char=""/>
            </a:pPr>
            <a:endParaRPr sz="1800">
              <a:latin typeface="Rockwell"/>
              <a:cs typeface="Rockwell"/>
            </a:endParaRPr>
          </a:p>
          <a:p>
            <a:pPr marL="241300" indent="-228600">
              <a:lnSpc>
                <a:spcPct val="100000"/>
              </a:lnSpc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Message</a:t>
            </a:r>
            <a:endParaRPr sz="1800">
              <a:latin typeface="Rockwell"/>
              <a:cs typeface="Rockwell"/>
            </a:endParaRPr>
          </a:p>
          <a:p>
            <a:pPr marL="469900" marR="179705" lvl="1" indent="-228600">
              <a:lnSpc>
                <a:spcPct val="100000"/>
              </a:lnSpc>
              <a:spcBef>
                <a:spcPts val="60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space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signals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related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interrupts,</a:t>
            </a:r>
            <a:r>
              <a:rPr sz="1800" spc="-1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error</a:t>
            </a:r>
            <a:r>
              <a:rPr sz="18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handling,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power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management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72210" y="17774"/>
            <a:ext cx="57981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Table</a:t>
            </a:r>
            <a:r>
              <a:rPr spc="-215" dirty="0">
                <a:latin typeface="Times New Roman"/>
                <a:cs typeface="Times New Roman"/>
              </a:rPr>
              <a:t> </a:t>
            </a:r>
            <a:r>
              <a:rPr spc="-25" dirty="0"/>
              <a:t>3.2</a:t>
            </a:r>
          </a:p>
          <a:p>
            <a:pPr algn="ctr">
              <a:lnSpc>
                <a:spcPct val="100000"/>
              </a:lnSpc>
            </a:pPr>
            <a:r>
              <a:rPr dirty="0"/>
              <a:t>PCIe</a:t>
            </a:r>
            <a:r>
              <a:rPr spc="-175" dirty="0">
                <a:latin typeface="Times New Roman"/>
                <a:cs typeface="Times New Roman"/>
              </a:rPr>
              <a:t> </a:t>
            </a:r>
            <a:r>
              <a:rPr dirty="0"/>
              <a:t>TLP</a:t>
            </a:r>
            <a:r>
              <a:rPr spc="-170" dirty="0">
                <a:latin typeface="Times New Roman"/>
                <a:cs typeface="Times New Roman"/>
              </a:rPr>
              <a:t> </a:t>
            </a:r>
            <a:r>
              <a:rPr spc="-10" dirty="0"/>
              <a:t>Transaction</a:t>
            </a:r>
            <a:r>
              <a:rPr spc="-170" dirty="0">
                <a:latin typeface="Times New Roman"/>
                <a:cs typeface="Times New Roman"/>
              </a:rPr>
              <a:t> </a:t>
            </a:r>
            <a:r>
              <a:rPr spc="-10" dirty="0"/>
              <a:t>Types</a:t>
            </a:r>
          </a:p>
        </p:txBody>
      </p:sp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9510" y="1262247"/>
          <a:ext cx="8789035" cy="5196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3255"/>
                <a:gridCol w="2981960"/>
                <a:gridCol w="3893820"/>
              </a:tblGrid>
              <a:tr h="30543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750" b="1" spc="-100" dirty="0">
                          <a:latin typeface="Arial"/>
                          <a:cs typeface="Arial"/>
                        </a:rPr>
                        <a:t>Address</a:t>
                      </a:r>
                      <a:r>
                        <a:rPr sz="1750" spc="-3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20" dirty="0">
                          <a:latin typeface="Arial"/>
                          <a:cs typeface="Arial"/>
                        </a:rPr>
                        <a:t>Space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121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750" b="1" dirty="0">
                          <a:latin typeface="Arial"/>
                          <a:cs typeface="Arial"/>
                        </a:rPr>
                        <a:t>TLP</a:t>
                      </a:r>
                      <a:r>
                        <a:rPr sz="17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20" dirty="0">
                          <a:latin typeface="Arial"/>
                          <a:cs typeface="Arial"/>
                        </a:rPr>
                        <a:t>Type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750" b="1" spc="-10" dirty="0">
                          <a:latin typeface="Arial"/>
                          <a:cs typeface="Arial"/>
                        </a:rPr>
                        <a:t>Purpose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3083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</a:pPr>
                      <a:r>
                        <a:rPr sz="1750" b="1" spc="-2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50" spc="-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10" dirty="0">
                          <a:latin typeface="Arial"/>
                          <a:cs typeface="Arial"/>
                        </a:rPr>
                        <a:t>emory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7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Read</a:t>
                      </a:r>
                      <a:r>
                        <a:rPr sz="17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Request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02870" marR="192405">
                        <a:lnSpc>
                          <a:spcPts val="2030"/>
                        </a:lnSpc>
                        <a:spcBef>
                          <a:spcPts val="1785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7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7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7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17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7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75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75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map.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266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130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7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Read</a:t>
                      </a:r>
                      <a:r>
                        <a:rPr sz="17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Lock</a:t>
                      </a:r>
                      <a:r>
                        <a:rPr sz="17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Request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66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124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7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Request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66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30835">
                <a:tc rowSpan="2"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750" b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750" spc="-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25" dirty="0">
                          <a:latin typeface="Arial"/>
                          <a:cs typeface="Arial"/>
                        </a:rPr>
                        <a:t>/O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1917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I/O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Read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Request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2870" marR="192405">
                        <a:lnSpc>
                          <a:spcPts val="2030"/>
                        </a:lnSpc>
                        <a:spcBef>
                          <a:spcPts val="625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7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7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7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17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7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7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7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17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7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legacy</a:t>
                      </a:r>
                      <a:r>
                        <a:rPr sz="17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devices.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676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17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I/O</a:t>
                      </a:r>
                      <a:r>
                        <a:rPr sz="175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Request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93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3083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</a:pPr>
                      <a:r>
                        <a:rPr sz="1750" b="1" spc="-20" dirty="0">
                          <a:latin typeface="Arial"/>
                          <a:cs typeface="Arial"/>
                        </a:rPr>
                        <a:t>Configuration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2311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Config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17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7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Read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Request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2870" marR="192405">
                        <a:lnSpc>
                          <a:spcPts val="2030"/>
                        </a:lnSpc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7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7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7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17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7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configuration</a:t>
                      </a:r>
                      <a:r>
                        <a:rPr sz="17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space</a:t>
                      </a:r>
                      <a:r>
                        <a:rPr sz="17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PCIe</a:t>
                      </a:r>
                      <a:r>
                        <a:rPr sz="17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device.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1187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3130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11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Config</a:t>
                      </a:r>
                      <a:r>
                        <a:rPr sz="175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17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75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7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Request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87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3124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11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Config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17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7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Read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Request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87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3308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11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Config</a:t>
                      </a:r>
                      <a:r>
                        <a:rPr sz="175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17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75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7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Request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87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</a:tr>
              <a:tr h="312420">
                <a:tc rowSpan="2"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750" b="1" spc="-2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50" spc="-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40" dirty="0">
                          <a:latin typeface="Arial"/>
                          <a:cs typeface="Arial"/>
                        </a:rPr>
                        <a:t>essage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1917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Message</a:t>
                      </a:r>
                      <a:r>
                        <a:rPr sz="175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Request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2870" marR="387985">
                        <a:lnSpc>
                          <a:spcPts val="1880"/>
                        </a:lnSpc>
                        <a:spcBef>
                          <a:spcPts val="74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in-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band</a:t>
                      </a:r>
                      <a:r>
                        <a:rPr sz="175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messaging</a:t>
                      </a:r>
                      <a:r>
                        <a:rPr sz="175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75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event reporting.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17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Message</a:t>
                      </a:r>
                      <a:r>
                        <a:rPr sz="17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175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75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46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3083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0965" marR="481330">
                        <a:lnSpc>
                          <a:spcPts val="2020"/>
                        </a:lnSpc>
                      </a:pPr>
                      <a:r>
                        <a:rPr sz="1750" b="1" spc="-2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50" spc="-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100" dirty="0">
                          <a:latin typeface="Arial"/>
                          <a:cs typeface="Arial"/>
                        </a:rPr>
                        <a:t>emory,</a:t>
                      </a:r>
                      <a:r>
                        <a:rPr sz="17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750" spc="-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25" dirty="0">
                          <a:latin typeface="Arial"/>
                          <a:cs typeface="Arial"/>
                        </a:rPr>
                        <a:t>/O,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95" dirty="0">
                          <a:latin typeface="Arial"/>
                          <a:cs typeface="Arial"/>
                        </a:rPr>
                        <a:t>Configuration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1193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Completion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Returned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7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certain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requests.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311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124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Completion</a:t>
                      </a:r>
                      <a:r>
                        <a:rPr sz="17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7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11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124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Completion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Locked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11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  <a:tr h="3130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Completion</a:t>
                      </a:r>
                      <a:r>
                        <a:rPr sz="17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Locked</a:t>
                      </a:r>
                      <a:r>
                        <a:rPr sz="17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75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11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3465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2157189" y="74881"/>
            <a:ext cx="414020" cy="412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27940" indent="-1270" algn="r">
              <a:lnSpc>
                <a:spcPct val="101600"/>
              </a:lnSpc>
              <a:spcBef>
                <a:spcPts val="95"/>
              </a:spcBef>
            </a:pPr>
            <a:r>
              <a:rPr sz="800" b="1" spc="-10" dirty="0">
                <a:latin typeface="Times New Roman"/>
                <a:cs typeface="Times New Roman"/>
              </a:rPr>
              <a:t>Number</a:t>
            </a:r>
            <a:r>
              <a:rPr sz="800" b="1" spc="500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of </a:t>
            </a:r>
            <a:r>
              <a:rPr sz="800" b="1" spc="-10" dirty="0">
                <a:latin typeface="Times New Roman"/>
                <a:cs typeface="Times New Roman"/>
              </a:rPr>
              <a:t>octets</a:t>
            </a:r>
            <a:endParaRPr sz="8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800" b="1" spc="-50" dirty="0"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4167" y="601215"/>
            <a:ext cx="77470" cy="149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50" dirty="0">
                <a:latin typeface="Times New Roman"/>
                <a:cs typeface="Times New Roman"/>
              </a:rPr>
              <a:t>2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7438" y="736567"/>
            <a:ext cx="264160" cy="379095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8415" marR="5080" indent="-6350">
              <a:lnSpc>
                <a:spcPct val="101600"/>
              </a:lnSpc>
              <a:spcBef>
                <a:spcPts val="5"/>
              </a:spcBef>
            </a:pPr>
            <a:r>
              <a:rPr sz="800" b="1" spc="-10" dirty="0">
                <a:latin typeface="Times New Roman"/>
                <a:cs typeface="Times New Roman"/>
              </a:rPr>
              <a:t>Created</a:t>
            </a:r>
            <a:r>
              <a:rPr sz="800" b="1" spc="500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by </a:t>
            </a:r>
            <a:r>
              <a:rPr sz="800" b="1" spc="-25" dirty="0">
                <a:latin typeface="Times New Roman"/>
                <a:cs typeface="Times New Roman"/>
              </a:rPr>
              <a:t>DLL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92172" y="1365240"/>
            <a:ext cx="377190" cy="149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latin typeface="Times New Roman"/>
                <a:cs typeface="Times New Roman"/>
              </a:rPr>
              <a:t>12</a:t>
            </a:r>
            <a:r>
              <a:rPr sz="800" b="1" spc="-5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or</a:t>
            </a:r>
            <a:r>
              <a:rPr sz="800" b="1" spc="5" dirty="0">
                <a:latin typeface="Times New Roman"/>
                <a:cs typeface="Times New Roman"/>
              </a:rPr>
              <a:t> </a:t>
            </a:r>
            <a:r>
              <a:rPr sz="800" b="1" spc="-25" dirty="0">
                <a:latin typeface="Times New Roman"/>
                <a:cs typeface="Times New Roman"/>
              </a:rPr>
              <a:t>16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0152" y="3232268"/>
            <a:ext cx="416559" cy="149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latin typeface="Times New Roman"/>
                <a:cs typeface="Times New Roman"/>
              </a:rPr>
              <a:t>0</a:t>
            </a:r>
            <a:r>
              <a:rPr sz="800" b="1" spc="-5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to </a:t>
            </a:r>
            <a:r>
              <a:rPr sz="800" b="1" spc="-20" dirty="0">
                <a:latin typeface="Times New Roman"/>
                <a:cs typeface="Times New Roman"/>
              </a:rPr>
              <a:t>4096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18267" y="2276560"/>
            <a:ext cx="140335" cy="1353185"/>
          </a:xfrm>
          <a:prstGeom prst="rect">
            <a:avLst/>
          </a:prstGeom>
        </p:spPr>
        <p:txBody>
          <a:bodyPr vert="vert270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b="1" dirty="0">
                <a:latin typeface="Times New Roman"/>
                <a:cs typeface="Times New Roman"/>
              </a:rPr>
              <a:t>Created</a:t>
            </a:r>
            <a:r>
              <a:rPr sz="800" b="1" spc="-10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by</a:t>
            </a:r>
            <a:r>
              <a:rPr sz="800" b="1" spc="-15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Transaction</a:t>
            </a:r>
            <a:r>
              <a:rPr sz="800" b="1" spc="-5" dirty="0">
                <a:latin typeface="Times New Roman"/>
                <a:cs typeface="Times New Roman"/>
              </a:rPr>
              <a:t> </a:t>
            </a:r>
            <a:r>
              <a:rPr sz="800" b="1" spc="-20" dirty="0">
                <a:latin typeface="Times New Roman"/>
                <a:cs typeface="Times New Roman"/>
              </a:rPr>
              <a:t>Layer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50559" y="2295167"/>
            <a:ext cx="140335" cy="1378585"/>
          </a:xfrm>
          <a:prstGeom prst="rect">
            <a:avLst/>
          </a:prstGeom>
        </p:spPr>
        <p:txBody>
          <a:bodyPr vert="vert270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b="1" dirty="0">
                <a:latin typeface="Times New Roman"/>
                <a:cs typeface="Times New Roman"/>
              </a:rPr>
              <a:t>Appended</a:t>
            </a:r>
            <a:r>
              <a:rPr sz="800" b="1" spc="5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by</a:t>
            </a:r>
            <a:r>
              <a:rPr sz="800" b="1" spc="10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Data</a:t>
            </a:r>
            <a:r>
              <a:rPr sz="800" b="1" spc="5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Link</a:t>
            </a:r>
            <a:r>
              <a:rPr sz="800" b="1" spc="10" dirty="0">
                <a:latin typeface="Times New Roman"/>
                <a:cs typeface="Times New Roman"/>
              </a:rPr>
              <a:t> </a:t>
            </a:r>
            <a:r>
              <a:rPr sz="800" b="1" spc="-10" dirty="0">
                <a:latin typeface="Times New Roman"/>
                <a:cs typeface="Times New Roman"/>
              </a:rPr>
              <a:t>Layer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674481" y="2337233"/>
            <a:ext cx="142875" cy="1295400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b="1" baseline="3472" dirty="0">
                <a:latin typeface="Times New Roman"/>
                <a:cs typeface="Times New Roman"/>
              </a:rPr>
              <a:t>Appe</a:t>
            </a:r>
            <a:r>
              <a:rPr sz="800" b="1" dirty="0">
                <a:latin typeface="Times New Roman"/>
                <a:cs typeface="Times New Roman"/>
              </a:rPr>
              <a:t>nded</a:t>
            </a:r>
            <a:r>
              <a:rPr sz="800" b="1" spc="-20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by</a:t>
            </a:r>
            <a:r>
              <a:rPr sz="800" b="1" spc="-20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Physical</a:t>
            </a:r>
            <a:r>
              <a:rPr sz="800" b="1" spc="-20" dirty="0">
                <a:latin typeface="Times New Roman"/>
                <a:cs typeface="Times New Roman"/>
              </a:rPr>
              <a:t> Layer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5405" y="4689886"/>
            <a:ext cx="275590" cy="149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latin typeface="Times New Roman"/>
                <a:cs typeface="Times New Roman"/>
              </a:rPr>
              <a:t>0</a:t>
            </a:r>
            <a:r>
              <a:rPr sz="800" b="1" spc="-5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Times New Roman"/>
                <a:cs typeface="Times New Roman"/>
              </a:rPr>
              <a:t>or </a:t>
            </a:r>
            <a:r>
              <a:rPr sz="800" b="1" spc="-50" dirty="0"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67713" y="5158576"/>
            <a:ext cx="4160520" cy="11182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10"/>
              </a:spcBef>
            </a:pPr>
            <a:r>
              <a:rPr sz="800" b="1" spc="-50" dirty="0"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800">
              <a:latin typeface="Times New Roman"/>
              <a:cs typeface="Times New Roman"/>
            </a:endParaRPr>
          </a:p>
          <a:p>
            <a:pPr marL="38735">
              <a:lnSpc>
                <a:spcPct val="100000"/>
              </a:lnSpc>
              <a:spcBef>
                <a:spcPts val="5"/>
              </a:spcBef>
            </a:pPr>
            <a:r>
              <a:rPr sz="800" b="1" spc="-50" dirty="0"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733675" algn="l"/>
              </a:tabLst>
            </a:pPr>
            <a:r>
              <a:rPr sz="950" b="1" dirty="0">
                <a:latin typeface="Times New Roman"/>
                <a:cs typeface="Times New Roman"/>
              </a:rPr>
              <a:t>(a)</a:t>
            </a:r>
            <a:r>
              <a:rPr sz="950" b="1" spc="-40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Transaction</a:t>
            </a:r>
            <a:r>
              <a:rPr sz="950" b="1" spc="-35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Layer </a:t>
            </a:r>
            <a:r>
              <a:rPr sz="950" b="1" spc="-10" dirty="0">
                <a:latin typeface="Times New Roman"/>
                <a:cs typeface="Times New Roman"/>
              </a:rPr>
              <a:t>Packet</a:t>
            </a:r>
            <a:r>
              <a:rPr sz="950" b="1" dirty="0">
                <a:latin typeface="Times New Roman"/>
                <a:cs typeface="Times New Roman"/>
              </a:rPr>
              <a:t>	(b)</a:t>
            </a:r>
            <a:r>
              <a:rPr sz="950" b="1" spc="-25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Data</a:t>
            </a:r>
            <a:r>
              <a:rPr sz="950" b="1" spc="-30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Link</a:t>
            </a:r>
            <a:r>
              <a:rPr sz="950" b="1" spc="-25" dirty="0">
                <a:latin typeface="Times New Roman"/>
                <a:cs typeface="Times New Roman"/>
              </a:rPr>
              <a:t> </a:t>
            </a:r>
            <a:r>
              <a:rPr sz="950" b="1" dirty="0">
                <a:latin typeface="Times New Roman"/>
                <a:cs typeface="Times New Roman"/>
              </a:rPr>
              <a:t>Layer</a:t>
            </a:r>
            <a:r>
              <a:rPr sz="950" b="1" spc="5" dirty="0">
                <a:latin typeface="Times New Roman"/>
                <a:cs typeface="Times New Roman"/>
              </a:rPr>
              <a:t> </a:t>
            </a:r>
            <a:r>
              <a:rPr sz="950" b="1" spc="-10" dirty="0">
                <a:latin typeface="Times New Roman"/>
                <a:cs typeface="Times New Roman"/>
              </a:rPr>
              <a:t>Packet</a:t>
            </a:r>
            <a:endParaRPr sz="950">
              <a:latin typeface="Times New Roman"/>
              <a:cs typeface="Times New Roman"/>
            </a:endParaRPr>
          </a:p>
          <a:p>
            <a:pPr marL="584835">
              <a:lnSpc>
                <a:spcPct val="100000"/>
              </a:lnSpc>
              <a:spcBef>
                <a:spcPts val="695"/>
              </a:spcBef>
            </a:pPr>
            <a:r>
              <a:rPr sz="1050" b="1" spc="80" dirty="0">
                <a:latin typeface="Arial"/>
                <a:cs typeface="Arial"/>
              </a:rPr>
              <a:t>Figure</a:t>
            </a:r>
            <a:r>
              <a:rPr sz="1050" spc="2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Arial"/>
                <a:cs typeface="Arial"/>
              </a:rPr>
              <a:t>3</a:t>
            </a:r>
            <a:r>
              <a:rPr sz="1050" spc="-90" dirty="0">
                <a:latin typeface="Times New Roman"/>
                <a:cs typeface="Times New Roman"/>
              </a:rPr>
              <a:t> </a:t>
            </a:r>
            <a:r>
              <a:rPr sz="1050" b="1" spc="50" dirty="0">
                <a:latin typeface="Arial"/>
                <a:cs typeface="Arial"/>
              </a:rPr>
              <a:t>.2</a:t>
            </a:r>
            <a:r>
              <a:rPr sz="1050" spc="-8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Arial"/>
                <a:cs typeface="Arial"/>
              </a:rPr>
              <a:t>5</a:t>
            </a:r>
            <a:r>
              <a:rPr sz="1050" spc="29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Arial"/>
                <a:cs typeface="Arial"/>
              </a:rPr>
              <a:t>PCI</a:t>
            </a:r>
            <a:r>
              <a:rPr sz="1050" spc="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Arial"/>
                <a:cs typeface="Arial"/>
              </a:rPr>
              <a:t>e</a:t>
            </a:r>
            <a:r>
              <a:rPr sz="1050" spc="240" dirty="0">
                <a:latin typeface="Times New Roman"/>
                <a:cs typeface="Times New Roman"/>
              </a:rPr>
              <a:t> </a:t>
            </a:r>
            <a:r>
              <a:rPr sz="1050" b="1" spc="85" dirty="0">
                <a:latin typeface="Arial"/>
                <a:cs typeface="Arial"/>
              </a:rPr>
              <a:t>Protocol</a:t>
            </a:r>
            <a:r>
              <a:rPr sz="1050" spc="190" dirty="0">
                <a:latin typeface="Times New Roman"/>
                <a:cs typeface="Times New Roman"/>
              </a:rPr>
              <a:t> </a:t>
            </a:r>
            <a:r>
              <a:rPr sz="1050" b="1" spc="100" dirty="0">
                <a:latin typeface="Arial"/>
                <a:cs typeface="Arial"/>
              </a:rPr>
              <a:t>Data</a:t>
            </a:r>
            <a:r>
              <a:rPr sz="1050" spc="250" dirty="0">
                <a:latin typeface="Times New Roman"/>
                <a:cs typeface="Times New Roman"/>
              </a:rPr>
              <a:t> </a:t>
            </a:r>
            <a:r>
              <a:rPr sz="1050" b="1" spc="75" dirty="0">
                <a:latin typeface="Arial"/>
                <a:cs typeface="Arial"/>
              </a:rPr>
              <a:t>Unit</a:t>
            </a:r>
            <a:r>
              <a:rPr sz="1050" spc="260" dirty="0">
                <a:latin typeface="Times New Roman"/>
                <a:cs typeface="Times New Roman"/>
              </a:rPr>
              <a:t> </a:t>
            </a:r>
            <a:r>
              <a:rPr sz="1050" b="1" spc="75" dirty="0">
                <a:latin typeface="Arial"/>
                <a:cs typeface="Arial"/>
              </a:rPr>
              <a:t>Form</a:t>
            </a:r>
            <a:r>
              <a:rPr sz="1050" spc="-70" dirty="0">
                <a:latin typeface="Times New Roman"/>
                <a:cs typeface="Times New Roman"/>
              </a:rPr>
              <a:t> </a:t>
            </a:r>
            <a:r>
              <a:rPr sz="1050" b="1" spc="40" dirty="0">
                <a:latin typeface="Arial"/>
                <a:cs typeface="Arial"/>
              </a:rPr>
              <a:t>at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615204" y="311257"/>
            <a:ext cx="86995" cy="5386705"/>
          </a:xfrm>
          <a:custGeom>
            <a:avLst/>
            <a:gdLst/>
            <a:ahLst/>
            <a:cxnLst/>
            <a:rect l="l" t="t" r="r" b="b"/>
            <a:pathLst>
              <a:path w="86994" h="5386705">
                <a:moveTo>
                  <a:pt x="0" y="3002823"/>
                </a:moveTo>
                <a:lnTo>
                  <a:pt x="13763" y="2998788"/>
                </a:lnTo>
                <a:lnTo>
                  <a:pt x="25461" y="2987049"/>
                </a:lnTo>
                <a:lnTo>
                  <a:pt x="43223" y="2942660"/>
                </a:lnTo>
                <a:lnTo>
                  <a:pt x="54413" y="2874059"/>
                </a:lnTo>
                <a:lnTo>
                  <a:pt x="57896" y="2832055"/>
                </a:lnTo>
                <a:lnTo>
                  <a:pt x="60158" y="2785648"/>
                </a:lnTo>
                <a:lnTo>
                  <a:pt x="61341" y="2735390"/>
                </a:lnTo>
                <a:lnTo>
                  <a:pt x="61586" y="2681830"/>
                </a:lnTo>
                <a:lnTo>
                  <a:pt x="61032" y="2625518"/>
                </a:lnTo>
                <a:lnTo>
                  <a:pt x="59823" y="2567006"/>
                </a:lnTo>
                <a:lnTo>
                  <a:pt x="58097" y="2506842"/>
                </a:lnTo>
                <a:lnTo>
                  <a:pt x="55996" y="2445578"/>
                </a:lnTo>
                <a:lnTo>
                  <a:pt x="53662" y="2383764"/>
                </a:lnTo>
                <a:lnTo>
                  <a:pt x="51234" y="2321950"/>
                </a:lnTo>
                <a:lnTo>
                  <a:pt x="48854" y="2260686"/>
                </a:lnTo>
                <a:lnTo>
                  <a:pt x="46662" y="2200522"/>
                </a:lnTo>
                <a:lnTo>
                  <a:pt x="44800" y="2142010"/>
                </a:lnTo>
                <a:lnTo>
                  <a:pt x="43409" y="2085698"/>
                </a:lnTo>
                <a:lnTo>
                  <a:pt x="42629" y="2032138"/>
                </a:lnTo>
                <a:lnTo>
                  <a:pt x="42601" y="1981880"/>
                </a:lnTo>
                <a:lnTo>
                  <a:pt x="43467" y="1935473"/>
                </a:lnTo>
                <a:lnTo>
                  <a:pt x="45366" y="1893469"/>
                </a:lnTo>
                <a:lnTo>
                  <a:pt x="52830" y="1824868"/>
                </a:lnTo>
                <a:lnTo>
                  <a:pt x="66122" y="1780479"/>
                </a:lnTo>
                <a:lnTo>
                  <a:pt x="75305" y="1768740"/>
                </a:lnTo>
                <a:lnTo>
                  <a:pt x="86367" y="1764705"/>
                </a:lnTo>
              </a:path>
              <a:path w="86994" h="5386705">
                <a:moveTo>
                  <a:pt x="0" y="3002823"/>
                </a:moveTo>
                <a:lnTo>
                  <a:pt x="13763" y="3006859"/>
                </a:lnTo>
                <a:lnTo>
                  <a:pt x="25461" y="3018598"/>
                </a:lnTo>
                <a:lnTo>
                  <a:pt x="43223" y="3062988"/>
                </a:lnTo>
                <a:lnTo>
                  <a:pt x="54413" y="3131590"/>
                </a:lnTo>
                <a:lnTo>
                  <a:pt x="57896" y="3173596"/>
                </a:lnTo>
                <a:lnTo>
                  <a:pt x="60158" y="3220003"/>
                </a:lnTo>
                <a:lnTo>
                  <a:pt x="61341" y="3270262"/>
                </a:lnTo>
                <a:lnTo>
                  <a:pt x="61586" y="3323824"/>
                </a:lnTo>
                <a:lnTo>
                  <a:pt x="61032" y="3380136"/>
                </a:lnTo>
                <a:lnTo>
                  <a:pt x="59823" y="3438650"/>
                </a:lnTo>
                <a:lnTo>
                  <a:pt x="58097" y="3498815"/>
                </a:lnTo>
                <a:lnTo>
                  <a:pt x="55996" y="3560080"/>
                </a:lnTo>
                <a:lnTo>
                  <a:pt x="53662" y="3621895"/>
                </a:lnTo>
                <a:lnTo>
                  <a:pt x="51234" y="3683711"/>
                </a:lnTo>
                <a:lnTo>
                  <a:pt x="48854" y="3744976"/>
                </a:lnTo>
                <a:lnTo>
                  <a:pt x="46662" y="3805140"/>
                </a:lnTo>
                <a:lnTo>
                  <a:pt x="44800" y="3863654"/>
                </a:lnTo>
                <a:lnTo>
                  <a:pt x="43409" y="3919967"/>
                </a:lnTo>
                <a:lnTo>
                  <a:pt x="42629" y="3973528"/>
                </a:lnTo>
                <a:lnTo>
                  <a:pt x="42601" y="4023787"/>
                </a:lnTo>
                <a:lnTo>
                  <a:pt x="43467" y="4070195"/>
                </a:lnTo>
                <a:lnTo>
                  <a:pt x="45366" y="4112200"/>
                </a:lnTo>
                <a:lnTo>
                  <a:pt x="52830" y="4180802"/>
                </a:lnTo>
                <a:lnTo>
                  <a:pt x="66122" y="4225192"/>
                </a:lnTo>
                <a:lnTo>
                  <a:pt x="75305" y="4236931"/>
                </a:lnTo>
                <a:lnTo>
                  <a:pt x="86367" y="4240967"/>
                </a:lnTo>
              </a:path>
              <a:path w="86994" h="5386705">
                <a:moveTo>
                  <a:pt x="0" y="4473162"/>
                </a:moveTo>
                <a:lnTo>
                  <a:pt x="32751" y="4467754"/>
                </a:lnTo>
                <a:lnTo>
                  <a:pt x="51948" y="4452926"/>
                </a:lnTo>
                <a:lnTo>
                  <a:pt x="60449" y="4430770"/>
                </a:lnTo>
                <a:lnTo>
                  <a:pt x="61112" y="4403381"/>
                </a:lnTo>
                <a:lnTo>
                  <a:pt x="56795" y="4372852"/>
                </a:lnTo>
                <a:lnTo>
                  <a:pt x="50355" y="4341277"/>
                </a:lnTo>
                <a:lnTo>
                  <a:pt x="44652" y="4310748"/>
                </a:lnTo>
                <a:lnTo>
                  <a:pt x="42544" y="4283359"/>
                </a:lnTo>
                <a:lnTo>
                  <a:pt x="46888" y="4261203"/>
                </a:lnTo>
                <a:lnTo>
                  <a:pt x="60543" y="4246375"/>
                </a:lnTo>
                <a:lnTo>
                  <a:pt x="86367" y="4240967"/>
                </a:lnTo>
              </a:path>
              <a:path w="86994" h="5386705">
                <a:moveTo>
                  <a:pt x="0" y="4473162"/>
                </a:moveTo>
                <a:lnTo>
                  <a:pt x="32751" y="4478572"/>
                </a:lnTo>
                <a:lnTo>
                  <a:pt x="51948" y="4493406"/>
                </a:lnTo>
                <a:lnTo>
                  <a:pt x="60449" y="4515569"/>
                </a:lnTo>
                <a:lnTo>
                  <a:pt x="61112" y="4542968"/>
                </a:lnTo>
                <a:lnTo>
                  <a:pt x="56795" y="4573507"/>
                </a:lnTo>
                <a:lnTo>
                  <a:pt x="50355" y="4605094"/>
                </a:lnTo>
                <a:lnTo>
                  <a:pt x="44652" y="4635634"/>
                </a:lnTo>
                <a:lnTo>
                  <a:pt x="42544" y="4663033"/>
                </a:lnTo>
                <a:lnTo>
                  <a:pt x="46888" y="4685196"/>
                </a:lnTo>
                <a:lnTo>
                  <a:pt x="60543" y="4700030"/>
                </a:lnTo>
                <a:lnTo>
                  <a:pt x="86367" y="4705440"/>
                </a:lnTo>
              </a:path>
              <a:path w="86994" h="5386705">
                <a:moveTo>
                  <a:pt x="0" y="4937470"/>
                </a:moveTo>
                <a:lnTo>
                  <a:pt x="32751" y="4932066"/>
                </a:lnTo>
                <a:lnTo>
                  <a:pt x="51948" y="4917248"/>
                </a:lnTo>
                <a:lnTo>
                  <a:pt x="60449" y="4895109"/>
                </a:lnTo>
                <a:lnTo>
                  <a:pt x="61112" y="4867739"/>
                </a:lnTo>
                <a:lnTo>
                  <a:pt x="56795" y="4837232"/>
                </a:lnTo>
                <a:lnTo>
                  <a:pt x="50355" y="4805678"/>
                </a:lnTo>
                <a:lnTo>
                  <a:pt x="44652" y="4775171"/>
                </a:lnTo>
                <a:lnTo>
                  <a:pt x="42544" y="4747801"/>
                </a:lnTo>
                <a:lnTo>
                  <a:pt x="46888" y="4725662"/>
                </a:lnTo>
                <a:lnTo>
                  <a:pt x="60543" y="4710844"/>
                </a:lnTo>
                <a:lnTo>
                  <a:pt x="86367" y="4705440"/>
                </a:lnTo>
              </a:path>
              <a:path w="86994" h="5386705">
                <a:moveTo>
                  <a:pt x="0" y="4937470"/>
                </a:moveTo>
                <a:lnTo>
                  <a:pt x="32751" y="4942878"/>
                </a:lnTo>
                <a:lnTo>
                  <a:pt x="51948" y="4957707"/>
                </a:lnTo>
                <a:lnTo>
                  <a:pt x="60449" y="4979862"/>
                </a:lnTo>
                <a:lnTo>
                  <a:pt x="61112" y="5007251"/>
                </a:lnTo>
                <a:lnTo>
                  <a:pt x="56795" y="5037780"/>
                </a:lnTo>
                <a:lnTo>
                  <a:pt x="50355" y="5069356"/>
                </a:lnTo>
                <a:lnTo>
                  <a:pt x="44652" y="5099885"/>
                </a:lnTo>
                <a:lnTo>
                  <a:pt x="42544" y="5127274"/>
                </a:lnTo>
                <a:lnTo>
                  <a:pt x="46888" y="5149429"/>
                </a:lnTo>
                <a:lnTo>
                  <a:pt x="60543" y="5164258"/>
                </a:lnTo>
                <a:lnTo>
                  <a:pt x="86367" y="5169666"/>
                </a:lnTo>
              </a:path>
              <a:path w="86994" h="5386705">
                <a:moveTo>
                  <a:pt x="0" y="5277988"/>
                </a:moveTo>
                <a:lnTo>
                  <a:pt x="38088" y="5274273"/>
                </a:lnTo>
                <a:lnTo>
                  <a:pt x="56877" y="5264318"/>
                </a:lnTo>
                <a:lnTo>
                  <a:pt x="61586" y="5249905"/>
                </a:lnTo>
                <a:lnTo>
                  <a:pt x="57431" y="5232817"/>
                </a:lnTo>
                <a:lnTo>
                  <a:pt x="49633" y="5214837"/>
                </a:lnTo>
                <a:lnTo>
                  <a:pt x="43409" y="5197749"/>
                </a:lnTo>
                <a:lnTo>
                  <a:pt x="43978" y="5183336"/>
                </a:lnTo>
                <a:lnTo>
                  <a:pt x="56558" y="5173381"/>
                </a:lnTo>
                <a:lnTo>
                  <a:pt x="86367" y="5169666"/>
                </a:lnTo>
              </a:path>
              <a:path w="86994" h="5386705">
                <a:moveTo>
                  <a:pt x="0" y="5277988"/>
                </a:moveTo>
                <a:lnTo>
                  <a:pt x="38088" y="5281703"/>
                </a:lnTo>
                <a:lnTo>
                  <a:pt x="56877" y="5291660"/>
                </a:lnTo>
                <a:lnTo>
                  <a:pt x="61586" y="5306075"/>
                </a:lnTo>
                <a:lnTo>
                  <a:pt x="57431" y="5323165"/>
                </a:lnTo>
                <a:lnTo>
                  <a:pt x="49633" y="5341146"/>
                </a:lnTo>
                <a:lnTo>
                  <a:pt x="43409" y="5358236"/>
                </a:lnTo>
                <a:lnTo>
                  <a:pt x="43978" y="5372651"/>
                </a:lnTo>
                <a:lnTo>
                  <a:pt x="56558" y="5382608"/>
                </a:lnTo>
                <a:lnTo>
                  <a:pt x="86367" y="5386323"/>
                </a:lnTo>
              </a:path>
              <a:path w="86994" h="5386705">
                <a:moveTo>
                  <a:pt x="0" y="1146041"/>
                </a:moveTo>
                <a:lnTo>
                  <a:pt x="21782" y="1140522"/>
                </a:lnTo>
                <a:lnTo>
                  <a:pt x="38088" y="1124813"/>
                </a:lnTo>
                <a:lnTo>
                  <a:pt x="49569" y="1100187"/>
                </a:lnTo>
                <a:lnTo>
                  <a:pt x="56877" y="1067920"/>
                </a:lnTo>
                <a:lnTo>
                  <a:pt x="60665" y="1029283"/>
                </a:lnTo>
                <a:lnTo>
                  <a:pt x="61586" y="985552"/>
                </a:lnTo>
                <a:lnTo>
                  <a:pt x="60290" y="938000"/>
                </a:lnTo>
                <a:lnTo>
                  <a:pt x="57431" y="887900"/>
                </a:lnTo>
                <a:lnTo>
                  <a:pt x="53662" y="836527"/>
                </a:lnTo>
                <a:lnTo>
                  <a:pt x="49633" y="785153"/>
                </a:lnTo>
                <a:lnTo>
                  <a:pt x="45998" y="735054"/>
                </a:lnTo>
                <a:lnTo>
                  <a:pt x="43409" y="687501"/>
                </a:lnTo>
                <a:lnTo>
                  <a:pt x="42518" y="643770"/>
                </a:lnTo>
                <a:lnTo>
                  <a:pt x="43978" y="605134"/>
                </a:lnTo>
                <a:lnTo>
                  <a:pt x="48440" y="572866"/>
                </a:lnTo>
                <a:lnTo>
                  <a:pt x="56558" y="548241"/>
                </a:lnTo>
                <a:lnTo>
                  <a:pt x="68983" y="532532"/>
                </a:lnTo>
                <a:lnTo>
                  <a:pt x="86367" y="527012"/>
                </a:lnTo>
              </a:path>
              <a:path w="86994" h="5386705">
                <a:moveTo>
                  <a:pt x="0" y="1146041"/>
                </a:moveTo>
                <a:lnTo>
                  <a:pt x="21782" y="1151563"/>
                </a:lnTo>
                <a:lnTo>
                  <a:pt x="38088" y="1167278"/>
                </a:lnTo>
                <a:lnTo>
                  <a:pt x="49569" y="1191913"/>
                </a:lnTo>
                <a:lnTo>
                  <a:pt x="56877" y="1224194"/>
                </a:lnTo>
                <a:lnTo>
                  <a:pt x="60665" y="1262845"/>
                </a:lnTo>
                <a:lnTo>
                  <a:pt x="61586" y="1306594"/>
                </a:lnTo>
                <a:lnTo>
                  <a:pt x="60290" y="1354165"/>
                </a:lnTo>
                <a:lnTo>
                  <a:pt x="57431" y="1404284"/>
                </a:lnTo>
                <a:lnTo>
                  <a:pt x="53662" y="1455678"/>
                </a:lnTo>
                <a:lnTo>
                  <a:pt x="49633" y="1507071"/>
                </a:lnTo>
                <a:lnTo>
                  <a:pt x="45998" y="1557191"/>
                </a:lnTo>
                <a:lnTo>
                  <a:pt x="43409" y="1604762"/>
                </a:lnTo>
                <a:lnTo>
                  <a:pt x="42518" y="1648510"/>
                </a:lnTo>
                <a:lnTo>
                  <a:pt x="43978" y="1687162"/>
                </a:lnTo>
                <a:lnTo>
                  <a:pt x="48440" y="1719442"/>
                </a:lnTo>
                <a:lnTo>
                  <a:pt x="56558" y="1744077"/>
                </a:lnTo>
                <a:lnTo>
                  <a:pt x="68983" y="1759792"/>
                </a:lnTo>
                <a:lnTo>
                  <a:pt x="86367" y="1765314"/>
                </a:lnTo>
              </a:path>
              <a:path w="86994" h="5386705">
                <a:moveTo>
                  <a:pt x="0" y="371508"/>
                </a:moveTo>
                <a:lnTo>
                  <a:pt x="35234" y="367179"/>
                </a:lnTo>
                <a:lnTo>
                  <a:pt x="54413" y="355428"/>
                </a:lnTo>
                <a:lnTo>
                  <a:pt x="61341" y="338110"/>
                </a:lnTo>
                <a:lnTo>
                  <a:pt x="59823" y="317082"/>
                </a:lnTo>
                <a:lnTo>
                  <a:pt x="53662" y="294198"/>
                </a:lnTo>
                <a:lnTo>
                  <a:pt x="46662" y="271315"/>
                </a:lnTo>
                <a:lnTo>
                  <a:pt x="42629" y="250286"/>
                </a:lnTo>
                <a:lnTo>
                  <a:pt x="45366" y="232969"/>
                </a:lnTo>
                <a:lnTo>
                  <a:pt x="58677" y="221218"/>
                </a:lnTo>
                <a:lnTo>
                  <a:pt x="86367" y="216888"/>
                </a:lnTo>
              </a:path>
              <a:path w="86994" h="5386705">
                <a:moveTo>
                  <a:pt x="0" y="371508"/>
                </a:moveTo>
                <a:lnTo>
                  <a:pt x="35234" y="375843"/>
                </a:lnTo>
                <a:lnTo>
                  <a:pt x="54413" y="387608"/>
                </a:lnTo>
                <a:lnTo>
                  <a:pt x="61341" y="404946"/>
                </a:lnTo>
                <a:lnTo>
                  <a:pt x="59823" y="425999"/>
                </a:lnTo>
                <a:lnTo>
                  <a:pt x="53662" y="448910"/>
                </a:lnTo>
                <a:lnTo>
                  <a:pt x="46662" y="471821"/>
                </a:lnTo>
                <a:lnTo>
                  <a:pt x="42629" y="492874"/>
                </a:lnTo>
                <a:lnTo>
                  <a:pt x="45366" y="510212"/>
                </a:lnTo>
                <a:lnTo>
                  <a:pt x="58677" y="521977"/>
                </a:lnTo>
                <a:lnTo>
                  <a:pt x="86367" y="526311"/>
                </a:lnTo>
              </a:path>
              <a:path w="86994" h="5386705">
                <a:moveTo>
                  <a:pt x="0" y="108413"/>
                </a:moveTo>
                <a:lnTo>
                  <a:pt x="38088" y="104695"/>
                </a:lnTo>
                <a:lnTo>
                  <a:pt x="56877" y="94732"/>
                </a:lnTo>
                <a:lnTo>
                  <a:pt x="61586" y="80306"/>
                </a:lnTo>
                <a:lnTo>
                  <a:pt x="57431" y="63204"/>
                </a:lnTo>
                <a:lnTo>
                  <a:pt x="49633" y="45209"/>
                </a:lnTo>
                <a:lnTo>
                  <a:pt x="43409" y="28107"/>
                </a:lnTo>
                <a:lnTo>
                  <a:pt x="43978" y="13681"/>
                </a:lnTo>
                <a:lnTo>
                  <a:pt x="56558" y="3717"/>
                </a:lnTo>
                <a:lnTo>
                  <a:pt x="86367" y="0"/>
                </a:lnTo>
              </a:path>
              <a:path w="86994" h="5386705">
                <a:moveTo>
                  <a:pt x="0" y="108413"/>
                </a:moveTo>
                <a:lnTo>
                  <a:pt x="38088" y="112133"/>
                </a:lnTo>
                <a:lnTo>
                  <a:pt x="56877" y="122103"/>
                </a:lnTo>
                <a:lnTo>
                  <a:pt x="61586" y="136536"/>
                </a:lnTo>
                <a:lnTo>
                  <a:pt x="57431" y="153648"/>
                </a:lnTo>
                <a:lnTo>
                  <a:pt x="49633" y="171653"/>
                </a:lnTo>
                <a:lnTo>
                  <a:pt x="43409" y="188765"/>
                </a:lnTo>
                <a:lnTo>
                  <a:pt x="43978" y="203199"/>
                </a:lnTo>
                <a:lnTo>
                  <a:pt x="56558" y="213168"/>
                </a:lnTo>
                <a:lnTo>
                  <a:pt x="86367" y="216888"/>
                </a:lnTo>
              </a:path>
            </a:pathLst>
          </a:custGeom>
          <a:ln w="168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53930" y="302834"/>
          <a:ext cx="929005" cy="5384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9005"/>
              </a:tblGrid>
              <a:tr h="2165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800" b="1" dirty="0">
                          <a:latin typeface="Times New Roman"/>
                          <a:cs typeface="Times New Roman"/>
                        </a:rPr>
                        <a:t>STP</a:t>
                      </a:r>
                      <a:r>
                        <a:rPr sz="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framing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800" b="1" dirty="0">
                          <a:latin typeface="Times New Roman"/>
                          <a:cs typeface="Times New Roman"/>
                        </a:rPr>
                        <a:t>Sequence</a:t>
                      </a:r>
                      <a:r>
                        <a:rPr sz="8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Header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2475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464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ECRC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464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LCRC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00" b="1" dirty="0">
                          <a:latin typeface="Times New Roman"/>
                          <a:cs typeface="Times New Roman"/>
                        </a:rPr>
                        <a:t>STP</a:t>
                      </a:r>
                      <a:r>
                        <a:rPr sz="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framing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3748196" y="374629"/>
            <a:ext cx="931544" cy="5260340"/>
            <a:chOff x="3748196" y="374629"/>
            <a:chExt cx="931544" cy="5260340"/>
          </a:xfrm>
        </p:grpSpPr>
        <p:sp>
          <p:nvSpPr>
            <p:cNvPr id="16" name="object 16"/>
            <p:cNvSpPr/>
            <p:nvPr/>
          </p:nvSpPr>
          <p:spPr>
            <a:xfrm>
              <a:off x="3756620" y="691971"/>
              <a:ext cx="422909" cy="4575810"/>
            </a:xfrm>
            <a:custGeom>
              <a:avLst/>
              <a:gdLst/>
              <a:ahLst/>
              <a:cxnLst/>
              <a:rect l="l" t="t" r="r" b="b"/>
              <a:pathLst>
                <a:path w="422910" h="4575810">
                  <a:moveTo>
                    <a:pt x="172064" y="2235727"/>
                  </a:moveTo>
                  <a:lnTo>
                    <a:pt x="155676" y="2233439"/>
                  </a:lnTo>
                  <a:lnTo>
                    <a:pt x="140701" y="2226693"/>
                  </a:lnTo>
                  <a:lnTo>
                    <a:pt x="103723" y="2181489"/>
                  </a:lnTo>
                  <a:lnTo>
                    <a:pt x="85150" y="2132332"/>
                  </a:lnTo>
                  <a:lnTo>
                    <a:pt x="70937" y="2069623"/>
                  </a:lnTo>
                  <a:lnTo>
                    <a:pt x="60651" y="1994788"/>
                  </a:lnTo>
                  <a:lnTo>
                    <a:pt x="56845" y="1953269"/>
                  </a:lnTo>
                  <a:lnTo>
                    <a:pt x="53858" y="1909254"/>
                  </a:lnTo>
                  <a:lnTo>
                    <a:pt x="51636" y="1862921"/>
                  </a:lnTo>
                  <a:lnTo>
                    <a:pt x="50126" y="1814448"/>
                  </a:lnTo>
                  <a:lnTo>
                    <a:pt x="49273" y="1764013"/>
                  </a:lnTo>
                  <a:lnTo>
                    <a:pt x="49023" y="1711795"/>
                  </a:lnTo>
                  <a:lnTo>
                    <a:pt x="49322" y="1657972"/>
                  </a:lnTo>
                  <a:lnTo>
                    <a:pt x="50116" y="1602723"/>
                  </a:lnTo>
                  <a:lnTo>
                    <a:pt x="51351" y="1546225"/>
                  </a:lnTo>
                  <a:lnTo>
                    <a:pt x="52973" y="1488658"/>
                  </a:lnTo>
                  <a:lnTo>
                    <a:pt x="54927" y="1430199"/>
                  </a:lnTo>
                  <a:lnTo>
                    <a:pt x="57160" y="1371027"/>
                  </a:lnTo>
                  <a:lnTo>
                    <a:pt x="59617" y="1311319"/>
                  </a:lnTo>
                  <a:lnTo>
                    <a:pt x="62245" y="1251255"/>
                  </a:lnTo>
                  <a:lnTo>
                    <a:pt x="64989" y="1191013"/>
                  </a:lnTo>
                  <a:lnTo>
                    <a:pt x="67795" y="1130771"/>
                  </a:lnTo>
                  <a:lnTo>
                    <a:pt x="70609" y="1070707"/>
                  </a:lnTo>
                  <a:lnTo>
                    <a:pt x="73378" y="1011000"/>
                  </a:lnTo>
                  <a:lnTo>
                    <a:pt x="76046" y="951827"/>
                  </a:lnTo>
                  <a:lnTo>
                    <a:pt x="78561" y="893368"/>
                  </a:lnTo>
                  <a:lnTo>
                    <a:pt x="80867" y="835801"/>
                  </a:lnTo>
                  <a:lnTo>
                    <a:pt x="82912" y="779303"/>
                  </a:lnTo>
                  <a:lnTo>
                    <a:pt x="84639" y="724054"/>
                  </a:lnTo>
                  <a:lnTo>
                    <a:pt x="85997" y="670231"/>
                  </a:lnTo>
                  <a:lnTo>
                    <a:pt x="86930" y="618013"/>
                  </a:lnTo>
                  <a:lnTo>
                    <a:pt x="87384" y="567579"/>
                  </a:lnTo>
                  <a:lnTo>
                    <a:pt x="87306" y="519105"/>
                  </a:lnTo>
                  <a:lnTo>
                    <a:pt x="86641" y="472772"/>
                  </a:lnTo>
                  <a:lnTo>
                    <a:pt x="85335" y="428757"/>
                  </a:lnTo>
                  <a:lnTo>
                    <a:pt x="83335" y="387238"/>
                  </a:lnTo>
                  <a:lnTo>
                    <a:pt x="80585" y="348394"/>
                  </a:lnTo>
                  <a:lnTo>
                    <a:pt x="72623" y="279444"/>
                  </a:lnTo>
                  <a:lnTo>
                    <a:pt x="61016" y="223333"/>
                  </a:lnTo>
                  <a:lnTo>
                    <a:pt x="45331" y="181487"/>
                  </a:lnTo>
                  <a:lnTo>
                    <a:pt x="13213" y="148587"/>
                  </a:lnTo>
                  <a:lnTo>
                    <a:pt x="0" y="146299"/>
                  </a:lnTo>
                </a:path>
                <a:path w="422910" h="4575810">
                  <a:moveTo>
                    <a:pt x="172064" y="2235727"/>
                  </a:moveTo>
                  <a:lnTo>
                    <a:pt x="155676" y="2238016"/>
                  </a:lnTo>
                  <a:lnTo>
                    <a:pt x="140701" y="2244763"/>
                  </a:lnTo>
                  <a:lnTo>
                    <a:pt x="103723" y="2289971"/>
                  </a:lnTo>
                  <a:lnTo>
                    <a:pt x="85150" y="2339132"/>
                  </a:lnTo>
                  <a:lnTo>
                    <a:pt x="70937" y="2401846"/>
                  </a:lnTo>
                  <a:lnTo>
                    <a:pt x="60651" y="2476687"/>
                  </a:lnTo>
                  <a:lnTo>
                    <a:pt x="56845" y="2518210"/>
                  </a:lnTo>
                  <a:lnTo>
                    <a:pt x="53858" y="2562229"/>
                  </a:lnTo>
                  <a:lnTo>
                    <a:pt x="51636" y="2608566"/>
                  </a:lnTo>
                  <a:lnTo>
                    <a:pt x="50126" y="2657043"/>
                  </a:lnTo>
                  <a:lnTo>
                    <a:pt x="49273" y="2707482"/>
                  </a:lnTo>
                  <a:lnTo>
                    <a:pt x="49023" y="2759705"/>
                  </a:lnTo>
                  <a:lnTo>
                    <a:pt x="49322" y="2813532"/>
                  </a:lnTo>
                  <a:lnTo>
                    <a:pt x="50116" y="2868786"/>
                  </a:lnTo>
                  <a:lnTo>
                    <a:pt x="51351" y="2925289"/>
                  </a:lnTo>
                  <a:lnTo>
                    <a:pt x="52973" y="2982861"/>
                  </a:lnTo>
                  <a:lnTo>
                    <a:pt x="54927" y="3041325"/>
                  </a:lnTo>
                  <a:lnTo>
                    <a:pt x="57160" y="3100503"/>
                  </a:lnTo>
                  <a:lnTo>
                    <a:pt x="59617" y="3160215"/>
                  </a:lnTo>
                  <a:lnTo>
                    <a:pt x="62245" y="3220284"/>
                  </a:lnTo>
                  <a:lnTo>
                    <a:pt x="64989" y="3280532"/>
                  </a:lnTo>
                  <a:lnTo>
                    <a:pt x="67795" y="3340779"/>
                  </a:lnTo>
                  <a:lnTo>
                    <a:pt x="70609" y="3400848"/>
                  </a:lnTo>
                  <a:lnTo>
                    <a:pt x="73378" y="3460561"/>
                  </a:lnTo>
                  <a:lnTo>
                    <a:pt x="76046" y="3519738"/>
                  </a:lnTo>
                  <a:lnTo>
                    <a:pt x="78561" y="3578202"/>
                  </a:lnTo>
                  <a:lnTo>
                    <a:pt x="80867" y="3635775"/>
                  </a:lnTo>
                  <a:lnTo>
                    <a:pt x="82912" y="3692277"/>
                  </a:lnTo>
                  <a:lnTo>
                    <a:pt x="84639" y="3747531"/>
                  </a:lnTo>
                  <a:lnTo>
                    <a:pt x="85997" y="3801358"/>
                  </a:lnTo>
                  <a:lnTo>
                    <a:pt x="86930" y="3853581"/>
                  </a:lnTo>
                  <a:lnTo>
                    <a:pt x="87384" y="3904020"/>
                  </a:lnTo>
                  <a:lnTo>
                    <a:pt x="87306" y="3952497"/>
                  </a:lnTo>
                  <a:lnTo>
                    <a:pt x="86641" y="3998834"/>
                  </a:lnTo>
                  <a:lnTo>
                    <a:pt x="85335" y="4042853"/>
                  </a:lnTo>
                  <a:lnTo>
                    <a:pt x="83335" y="4084376"/>
                  </a:lnTo>
                  <a:lnTo>
                    <a:pt x="80585" y="4123223"/>
                  </a:lnTo>
                  <a:lnTo>
                    <a:pt x="72623" y="4192179"/>
                  </a:lnTo>
                  <a:lnTo>
                    <a:pt x="61016" y="4248295"/>
                  </a:lnTo>
                  <a:lnTo>
                    <a:pt x="45331" y="4290144"/>
                  </a:lnTo>
                  <a:lnTo>
                    <a:pt x="13213" y="4323047"/>
                  </a:lnTo>
                  <a:lnTo>
                    <a:pt x="0" y="4325336"/>
                  </a:lnTo>
                </a:path>
                <a:path w="422910" h="4575810">
                  <a:moveTo>
                    <a:pt x="78000" y="0"/>
                  </a:moveTo>
                  <a:lnTo>
                    <a:pt x="422404" y="0"/>
                  </a:lnTo>
                  <a:lnTo>
                    <a:pt x="422404" y="2257032"/>
                  </a:lnTo>
                  <a:lnTo>
                    <a:pt x="422404" y="4575483"/>
                  </a:lnTo>
                  <a:lnTo>
                    <a:pt x="90802" y="4575483"/>
                  </a:lnTo>
                </a:path>
              </a:pathLst>
            </a:custGeom>
            <a:ln w="168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49314" y="642914"/>
              <a:ext cx="120650" cy="98425"/>
            </a:xfrm>
            <a:custGeom>
              <a:avLst/>
              <a:gdLst/>
              <a:ahLst/>
              <a:cxnLst/>
              <a:rect l="l" t="t" r="r" b="b"/>
              <a:pathLst>
                <a:path w="120650" h="98425">
                  <a:moveTo>
                    <a:pt x="120121" y="0"/>
                  </a:moveTo>
                  <a:lnTo>
                    <a:pt x="0" y="49042"/>
                  </a:lnTo>
                  <a:lnTo>
                    <a:pt x="120121" y="98115"/>
                  </a:lnTo>
                  <a:lnTo>
                    <a:pt x="91074" y="49042"/>
                  </a:lnTo>
                  <a:lnTo>
                    <a:pt x="1201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9314" y="5223735"/>
              <a:ext cx="145877" cy="883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842363" y="422993"/>
              <a:ext cx="767080" cy="5166995"/>
            </a:xfrm>
            <a:custGeom>
              <a:avLst/>
              <a:gdLst/>
              <a:ahLst/>
              <a:cxnLst/>
              <a:rect l="l" t="t" r="r" b="b"/>
              <a:pathLst>
                <a:path w="767079" h="5166995">
                  <a:moveTo>
                    <a:pt x="407103" y="2526619"/>
                  </a:moveTo>
                  <a:lnTo>
                    <a:pt x="407103" y="2526619"/>
                  </a:lnTo>
                  <a:lnTo>
                    <a:pt x="337362" y="2526619"/>
                  </a:lnTo>
                </a:path>
                <a:path w="767079" h="5166995">
                  <a:moveTo>
                    <a:pt x="0" y="0"/>
                  </a:moveTo>
                  <a:lnTo>
                    <a:pt x="767082" y="0"/>
                  </a:lnTo>
                  <a:lnTo>
                    <a:pt x="767082" y="2526010"/>
                  </a:lnTo>
                  <a:lnTo>
                    <a:pt x="767082" y="5166859"/>
                  </a:lnTo>
                  <a:lnTo>
                    <a:pt x="20696" y="5166859"/>
                  </a:lnTo>
                </a:path>
              </a:pathLst>
            </a:custGeom>
            <a:ln w="168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57208" y="374629"/>
              <a:ext cx="119380" cy="97790"/>
            </a:xfrm>
            <a:custGeom>
              <a:avLst/>
              <a:gdLst/>
              <a:ahLst/>
              <a:cxnLst/>
              <a:rect l="l" t="t" r="r" b="b"/>
              <a:pathLst>
                <a:path w="119379" h="97790">
                  <a:moveTo>
                    <a:pt x="119237" y="0"/>
                  </a:moveTo>
                  <a:lnTo>
                    <a:pt x="0" y="48371"/>
                  </a:lnTo>
                  <a:lnTo>
                    <a:pt x="119237" y="97261"/>
                  </a:lnTo>
                  <a:lnTo>
                    <a:pt x="90891" y="48371"/>
                  </a:lnTo>
                  <a:lnTo>
                    <a:pt x="1192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4950" y="5546216"/>
              <a:ext cx="145877" cy="882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609446" y="2949613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69740" y="0"/>
                  </a:moveTo>
                  <a:lnTo>
                    <a:pt x="69740" y="0"/>
                  </a:lnTo>
                  <a:lnTo>
                    <a:pt x="0" y="0"/>
                  </a:lnTo>
                </a:path>
              </a:pathLst>
            </a:custGeom>
            <a:ln w="168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101375" y="337411"/>
            <a:ext cx="77470" cy="149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50" dirty="0"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01373" y="822937"/>
            <a:ext cx="77470" cy="3898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50" dirty="0"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800" b="1" spc="-50" dirty="0">
                <a:latin typeface="Times New Roman"/>
                <a:cs typeface="Times New Roman"/>
              </a:rPr>
              <a:t>2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30703" y="528146"/>
            <a:ext cx="172720" cy="774700"/>
          </a:xfrm>
          <a:custGeom>
            <a:avLst/>
            <a:gdLst/>
            <a:ahLst/>
            <a:cxnLst/>
            <a:rect l="l" t="t" r="r" b="b"/>
            <a:pathLst>
              <a:path w="172720" h="774700">
                <a:moveTo>
                  <a:pt x="172339" y="386839"/>
                </a:moveTo>
                <a:lnTo>
                  <a:pt x="134326" y="384291"/>
                </a:lnTo>
                <a:lnTo>
                  <a:pt x="104496" y="376981"/>
                </a:lnTo>
                <a:lnTo>
                  <a:pt x="66096" y="350081"/>
                </a:lnTo>
                <a:lnTo>
                  <a:pt x="50568" y="310148"/>
                </a:lnTo>
                <a:lnTo>
                  <a:pt x="49329" y="286547"/>
                </a:lnTo>
                <a:lnTo>
                  <a:pt x="51344" y="261193"/>
                </a:lnTo>
                <a:lnTo>
                  <a:pt x="55791" y="234585"/>
                </a:lnTo>
                <a:lnTo>
                  <a:pt x="61851" y="207225"/>
                </a:lnTo>
                <a:lnTo>
                  <a:pt x="68701" y="179614"/>
                </a:lnTo>
                <a:lnTo>
                  <a:pt x="75521" y="152254"/>
                </a:lnTo>
                <a:lnTo>
                  <a:pt x="81488" y="125646"/>
                </a:lnTo>
                <a:lnTo>
                  <a:pt x="85782" y="100291"/>
                </a:lnTo>
                <a:lnTo>
                  <a:pt x="87581" y="76691"/>
                </a:lnTo>
                <a:lnTo>
                  <a:pt x="86065" y="55346"/>
                </a:lnTo>
                <a:lnTo>
                  <a:pt x="80411" y="36758"/>
                </a:lnTo>
                <a:lnTo>
                  <a:pt x="69799" y="21428"/>
                </a:lnTo>
                <a:lnTo>
                  <a:pt x="53407" y="9857"/>
                </a:lnTo>
                <a:lnTo>
                  <a:pt x="30415" y="2548"/>
                </a:lnTo>
                <a:lnTo>
                  <a:pt x="0" y="0"/>
                </a:lnTo>
              </a:path>
              <a:path w="172720" h="774700">
                <a:moveTo>
                  <a:pt x="172339" y="386839"/>
                </a:moveTo>
                <a:lnTo>
                  <a:pt x="134326" y="389393"/>
                </a:lnTo>
                <a:lnTo>
                  <a:pt x="104496" y="396719"/>
                </a:lnTo>
                <a:lnTo>
                  <a:pt x="66096" y="423679"/>
                </a:lnTo>
                <a:lnTo>
                  <a:pt x="50568" y="463700"/>
                </a:lnTo>
                <a:lnTo>
                  <a:pt x="49329" y="487352"/>
                </a:lnTo>
                <a:lnTo>
                  <a:pt x="51344" y="512763"/>
                </a:lnTo>
                <a:lnTo>
                  <a:pt x="55791" y="539430"/>
                </a:lnTo>
                <a:lnTo>
                  <a:pt x="61851" y="566850"/>
                </a:lnTo>
                <a:lnTo>
                  <a:pt x="68701" y="594522"/>
                </a:lnTo>
                <a:lnTo>
                  <a:pt x="75521" y="621942"/>
                </a:lnTo>
                <a:lnTo>
                  <a:pt x="81488" y="648609"/>
                </a:lnTo>
                <a:lnTo>
                  <a:pt x="85782" y="674019"/>
                </a:lnTo>
                <a:lnTo>
                  <a:pt x="87581" y="697672"/>
                </a:lnTo>
                <a:lnTo>
                  <a:pt x="86065" y="719064"/>
                </a:lnTo>
                <a:lnTo>
                  <a:pt x="80411" y="737693"/>
                </a:lnTo>
                <a:lnTo>
                  <a:pt x="69799" y="753057"/>
                </a:lnTo>
                <a:lnTo>
                  <a:pt x="53407" y="764653"/>
                </a:lnTo>
                <a:lnTo>
                  <a:pt x="30415" y="771979"/>
                </a:lnTo>
                <a:lnTo>
                  <a:pt x="0" y="774532"/>
                </a:lnTo>
              </a:path>
            </a:pathLst>
          </a:custGeom>
          <a:ln w="168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101375" y="1322213"/>
            <a:ext cx="77470" cy="149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50" dirty="0"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13962" y="521003"/>
            <a:ext cx="103505" cy="1005205"/>
            <a:chOff x="5213962" y="521003"/>
            <a:chExt cx="103505" cy="1005205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3962" y="1292092"/>
              <a:ext cx="103199" cy="23373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3962" y="521003"/>
              <a:ext cx="103199" cy="479793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213963" y="302834"/>
            <a:ext cx="103505" cy="1006475"/>
            <a:chOff x="5213963" y="302834"/>
            <a:chExt cx="103505" cy="1006475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13963" y="982668"/>
              <a:ext cx="103199" cy="32627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13963" y="302834"/>
              <a:ext cx="103199" cy="233735"/>
            </a:xfrm>
            <a:prstGeom prst="rect">
              <a:avLst/>
            </a:prstGeom>
          </p:spPr>
        </p:pic>
      </p:grp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5361125" y="302834"/>
          <a:ext cx="929005" cy="12071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9005"/>
              </a:tblGrid>
              <a:tr h="21653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Start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</a:tr>
              <a:tr h="464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DLLP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CRC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End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</a:tr>
            </a:tbl>
          </a:graphicData>
        </a:graphic>
      </p:graphicFrame>
      <p:grpSp>
        <p:nvGrpSpPr>
          <p:cNvPr id="34" name="object 34"/>
          <p:cNvGrpSpPr/>
          <p:nvPr/>
        </p:nvGrpSpPr>
        <p:grpSpPr>
          <a:xfrm>
            <a:off x="6325575" y="383560"/>
            <a:ext cx="507365" cy="1062990"/>
            <a:chOff x="6325575" y="383560"/>
            <a:chExt cx="507365" cy="1062990"/>
          </a:xfrm>
        </p:grpSpPr>
        <p:sp>
          <p:nvSpPr>
            <p:cNvPr id="35" name="object 35"/>
            <p:cNvSpPr/>
            <p:nvPr/>
          </p:nvSpPr>
          <p:spPr>
            <a:xfrm>
              <a:off x="6410867" y="432625"/>
              <a:ext cx="345440" cy="970280"/>
            </a:xfrm>
            <a:custGeom>
              <a:avLst/>
              <a:gdLst/>
              <a:ahLst/>
              <a:cxnLst/>
              <a:rect l="l" t="t" r="r" b="b"/>
              <a:pathLst>
                <a:path w="345440" h="970280">
                  <a:moveTo>
                    <a:pt x="0" y="0"/>
                  </a:moveTo>
                  <a:lnTo>
                    <a:pt x="345074" y="0"/>
                  </a:lnTo>
                  <a:lnTo>
                    <a:pt x="345074" y="969873"/>
                  </a:lnTo>
                  <a:lnTo>
                    <a:pt x="12801" y="969873"/>
                  </a:lnTo>
                </a:path>
              </a:pathLst>
            </a:custGeom>
            <a:ln w="168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25575" y="383560"/>
              <a:ext cx="120650" cy="98425"/>
            </a:xfrm>
            <a:custGeom>
              <a:avLst/>
              <a:gdLst/>
              <a:ahLst/>
              <a:cxnLst/>
              <a:rect l="l" t="t" r="r" b="b"/>
              <a:pathLst>
                <a:path w="120650" h="98425">
                  <a:moveTo>
                    <a:pt x="120091" y="0"/>
                  </a:moveTo>
                  <a:lnTo>
                    <a:pt x="0" y="49072"/>
                  </a:lnTo>
                  <a:lnTo>
                    <a:pt x="120091" y="98115"/>
                  </a:lnTo>
                  <a:lnTo>
                    <a:pt x="91744" y="49072"/>
                  </a:lnTo>
                  <a:lnTo>
                    <a:pt x="1200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5575" y="1358158"/>
              <a:ext cx="146547" cy="8820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762312" y="925196"/>
              <a:ext cx="70485" cy="0"/>
            </a:xfrm>
            <a:custGeom>
              <a:avLst/>
              <a:gdLst/>
              <a:ahLst/>
              <a:cxnLst/>
              <a:rect l="l" t="t" r="r" b="b"/>
              <a:pathLst>
                <a:path w="70484">
                  <a:moveTo>
                    <a:pt x="70441" y="0"/>
                  </a:moveTo>
                  <a:lnTo>
                    <a:pt x="70441" y="0"/>
                  </a:lnTo>
                  <a:lnTo>
                    <a:pt x="0" y="0"/>
                  </a:lnTo>
                </a:path>
              </a:pathLst>
            </a:custGeom>
            <a:ln w="168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833843" y="527117"/>
            <a:ext cx="140335" cy="770890"/>
          </a:xfrm>
          <a:prstGeom prst="rect">
            <a:avLst/>
          </a:prstGeom>
        </p:spPr>
        <p:txBody>
          <a:bodyPr vert="vert270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b="1" dirty="0">
                <a:latin typeface="Times New Roman"/>
                <a:cs typeface="Times New Roman"/>
              </a:rPr>
              <a:t>Appended by</a:t>
            </a:r>
            <a:r>
              <a:rPr sz="800" b="1" spc="5" dirty="0">
                <a:latin typeface="Times New Roman"/>
                <a:cs typeface="Times New Roman"/>
              </a:rPr>
              <a:t> </a:t>
            </a:r>
            <a:r>
              <a:rPr sz="800" b="1" spc="-25" dirty="0">
                <a:latin typeface="Times New Roman"/>
                <a:cs typeface="Times New Roman"/>
              </a:rPr>
              <a:t>PL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411" y="200603"/>
            <a:ext cx="286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1050" y="241751"/>
            <a:ext cx="2461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Summary</a:t>
            </a:r>
            <a:endParaRPr sz="4400"/>
          </a:p>
        </p:txBody>
      </p:sp>
      <p:sp>
        <p:nvSpPr>
          <p:cNvPr id="8" name="object 8"/>
          <p:cNvSpPr txBox="1"/>
          <p:nvPr/>
        </p:nvSpPr>
        <p:spPr>
          <a:xfrm>
            <a:off x="4343400" y="228591"/>
            <a:ext cx="3657600" cy="1708150"/>
          </a:xfrm>
          <a:prstGeom prst="rect">
            <a:avLst/>
          </a:prstGeom>
          <a:solidFill>
            <a:srgbClr val="A2A2C2"/>
          </a:solidFill>
        </p:spPr>
        <p:txBody>
          <a:bodyPr vert="horz" wrap="square" lIns="0" tIns="202565" rIns="0" bIns="0" rtlCol="0">
            <a:spAutoFit/>
          </a:bodyPr>
          <a:lstStyle/>
          <a:p>
            <a:pPr marL="194945" marR="189230" indent="31750" algn="just">
              <a:lnSpc>
                <a:spcPct val="100000"/>
              </a:lnSpc>
              <a:spcBef>
                <a:spcPts val="1595"/>
              </a:spcBef>
            </a:pPr>
            <a:r>
              <a:rPr sz="2800" dirty="0">
                <a:solidFill>
                  <a:srgbClr val="2B132C"/>
                </a:solidFill>
                <a:latin typeface="Rockwell"/>
                <a:cs typeface="Rockwell"/>
              </a:rPr>
              <a:t>A</a:t>
            </a:r>
            <a:r>
              <a:rPr sz="2800" spc="-175" dirty="0">
                <a:solidFill>
                  <a:srgbClr val="2B132C"/>
                </a:solidFill>
                <a:latin typeface="Times New Roman"/>
                <a:cs typeface="Times New Roman"/>
              </a:rPr>
              <a:t> </a:t>
            </a:r>
            <a:r>
              <a:rPr sz="2800" spc="-55" dirty="0">
                <a:solidFill>
                  <a:srgbClr val="2B132C"/>
                </a:solidFill>
                <a:latin typeface="Rockwell"/>
                <a:cs typeface="Rockwell"/>
              </a:rPr>
              <a:t>Top-</a:t>
            </a:r>
            <a:r>
              <a:rPr sz="2800" spc="-75" dirty="0">
                <a:solidFill>
                  <a:srgbClr val="2B132C"/>
                </a:solidFill>
                <a:latin typeface="Rockwell"/>
                <a:cs typeface="Rockwell"/>
              </a:rPr>
              <a:t>Level</a:t>
            </a:r>
            <a:r>
              <a:rPr sz="2800" spc="-100" dirty="0">
                <a:solidFill>
                  <a:srgbClr val="2B132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B132C"/>
                </a:solidFill>
                <a:latin typeface="Rockwell"/>
                <a:cs typeface="Rockwell"/>
              </a:rPr>
              <a:t>View</a:t>
            </a:r>
            <a:r>
              <a:rPr sz="2800" spc="-15" dirty="0">
                <a:solidFill>
                  <a:srgbClr val="2B132C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B132C"/>
                </a:solidFill>
                <a:latin typeface="Rockwell"/>
                <a:cs typeface="Rockwell"/>
              </a:rPr>
              <a:t>of</a:t>
            </a:r>
            <a:r>
              <a:rPr sz="2800" spc="-25" dirty="0">
                <a:solidFill>
                  <a:srgbClr val="2B132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B132C"/>
                </a:solidFill>
                <a:latin typeface="Rockwell"/>
                <a:cs typeface="Rockwell"/>
              </a:rPr>
              <a:t>Computer</a:t>
            </a:r>
            <a:r>
              <a:rPr sz="2800" spc="-145" dirty="0">
                <a:solidFill>
                  <a:srgbClr val="2B132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B132C"/>
                </a:solidFill>
                <a:latin typeface="Rockwell"/>
                <a:cs typeface="Rockwell"/>
              </a:rPr>
              <a:t>Function</a:t>
            </a:r>
            <a:r>
              <a:rPr sz="2800" spc="-10" dirty="0">
                <a:solidFill>
                  <a:srgbClr val="2B132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B132C"/>
                </a:solidFill>
                <a:latin typeface="Rockwell"/>
                <a:cs typeface="Rockwell"/>
              </a:rPr>
              <a:t>and</a:t>
            </a:r>
            <a:r>
              <a:rPr sz="2800" spc="-15" dirty="0">
                <a:solidFill>
                  <a:srgbClr val="2B132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B132C"/>
                </a:solidFill>
                <a:latin typeface="Rockwell"/>
                <a:cs typeface="Rockwell"/>
              </a:rPr>
              <a:t>Interconnection</a:t>
            </a:r>
            <a:endParaRPr sz="2800">
              <a:latin typeface="Rockwell"/>
              <a:cs typeface="Rockwel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166872" y="282580"/>
            <a:ext cx="685800" cy="1600200"/>
          </a:xfrm>
          <a:custGeom>
            <a:avLst/>
            <a:gdLst/>
            <a:ahLst/>
            <a:cxnLst/>
            <a:rect l="l" t="t" r="r" b="b"/>
            <a:pathLst>
              <a:path w="685800" h="1600200">
                <a:moveTo>
                  <a:pt x="685799" y="0"/>
                </a:moveTo>
                <a:lnTo>
                  <a:pt x="0" y="0"/>
                </a:lnTo>
                <a:lnTo>
                  <a:pt x="0" y="1600199"/>
                </a:lnTo>
                <a:lnTo>
                  <a:pt x="685799" y="1600199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9544" y="1412726"/>
            <a:ext cx="3657600" cy="1098550"/>
          </a:xfrm>
          <a:prstGeom prst="rect">
            <a:avLst/>
          </a:prstGeom>
          <a:solidFill>
            <a:srgbClr val="656598"/>
          </a:solidFill>
        </p:spPr>
        <p:txBody>
          <a:bodyPr vert="horz" wrap="square" lIns="0" tIns="276860" rIns="0" bIns="0" rtlCol="0">
            <a:spAutoFit/>
          </a:bodyPr>
          <a:lstStyle/>
          <a:p>
            <a:pPr marL="897890">
              <a:lnSpc>
                <a:spcPct val="100000"/>
              </a:lnSpc>
              <a:spcBef>
                <a:spcPts val="2180"/>
              </a:spcBef>
            </a:pPr>
            <a:r>
              <a:rPr sz="3200" dirty="0">
                <a:solidFill>
                  <a:srgbClr val="FFFFFF"/>
                </a:solidFill>
                <a:latin typeface="Rockwell"/>
                <a:cs typeface="Rockwell"/>
              </a:rPr>
              <a:t>Chapter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Rockwell"/>
                <a:cs typeface="Rockwell"/>
              </a:rPr>
              <a:t>3</a:t>
            </a:r>
            <a:endParaRPr sz="3200">
              <a:latin typeface="Rockwell"/>
              <a:cs typeface="Rockwel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298" y="2802911"/>
            <a:ext cx="3001010" cy="27539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Computer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components</a:t>
            </a:r>
            <a:endParaRPr sz="18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6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Computer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function</a:t>
            </a:r>
            <a:endParaRPr sz="1800">
              <a:latin typeface="Rockwell"/>
              <a:cs typeface="Rockwell"/>
            </a:endParaRPr>
          </a:p>
          <a:p>
            <a:pPr marL="469900" marR="368935" lvl="1" indent="-22923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Instruction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fetch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execute</a:t>
            </a:r>
            <a:endParaRPr sz="18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Interrupts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function</a:t>
            </a:r>
            <a:endParaRPr sz="18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Interconnection</a:t>
            </a:r>
            <a:r>
              <a:rPr sz="18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structures</a:t>
            </a:r>
            <a:endParaRPr sz="18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Bus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interconnection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5432" y="2312031"/>
            <a:ext cx="3054985" cy="39585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Point-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to-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point</a:t>
            </a:r>
            <a:r>
              <a:rPr sz="18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interconnect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QPI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physical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layer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QPI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link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layer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QPI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routing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layer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QPI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protocol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layer</a:t>
            </a:r>
            <a:endParaRPr sz="18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PCI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express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PCI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physical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logical</a:t>
            </a:r>
            <a:endParaRPr sz="1800">
              <a:latin typeface="Rockwell"/>
              <a:cs typeface="Rockwell"/>
            </a:endParaRPr>
          </a:p>
          <a:p>
            <a:pPr marL="469900">
              <a:lnSpc>
                <a:spcPct val="100000"/>
              </a:lnSpc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architecture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PCIe</a:t>
            </a:r>
            <a:r>
              <a:rPr sz="18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physical</a:t>
            </a:r>
            <a:r>
              <a:rPr sz="18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layer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PCIe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transaction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layer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PCIe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link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layer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2570" y="228600"/>
            <a:ext cx="4236085" cy="4188460"/>
          </a:xfrm>
          <a:custGeom>
            <a:avLst/>
            <a:gdLst/>
            <a:ahLst/>
            <a:cxnLst/>
            <a:rect l="l" t="t" r="r" b="b"/>
            <a:pathLst>
              <a:path w="4236085" h="4188460">
                <a:moveTo>
                  <a:pt x="4235470" y="0"/>
                </a:moveTo>
                <a:lnTo>
                  <a:pt x="0" y="0"/>
                </a:lnTo>
                <a:lnTo>
                  <a:pt x="0" y="4187951"/>
                </a:lnTo>
                <a:lnTo>
                  <a:pt x="4235470" y="4187951"/>
                </a:lnTo>
                <a:lnTo>
                  <a:pt x="4235470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12186" y="139440"/>
            <a:ext cx="41655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5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3691" y="964691"/>
            <a:ext cx="3755390" cy="5398135"/>
            <a:chOff x="583691" y="964691"/>
            <a:chExt cx="3755390" cy="53981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691" y="3590543"/>
              <a:ext cx="3755136" cy="27721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691" y="964691"/>
              <a:ext cx="3755136" cy="27736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075" y="989075"/>
              <a:ext cx="3653028" cy="2670048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4624456" y="22860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1"/>
                </a:lnTo>
                <a:lnTo>
                  <a:pt x="2057399" y="2039111"/>
                </a:lnTo>
                <a:lnTo>
                  <a:pt x="2057399" y="0"/>
                </a:lnTo>
                <a:close/>
              </a:path>
            </a:pathLst>
          </a:custGeom>
          <a:solidFill>
            <a:srgbClr val="A2A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02495" y="22860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1"/>
                </a:lnTo>
                <a:lnTo>
                  <a:pt x="2057399" y="2039111"/>
                </a:lnTo>
                <a:lnTo>
                  <a:pt x="205739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24456" y="237744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1"/>
                </a:lnTo>
                <a:lnTo>
                  <a:pt x="2057399" y="2039111"/>
                </a:lnTo>
                <a:lnTo>
                  <a:pt x="2057399" y="0"/>
                </a:lnTo>
                <a:close/>
              </a:path>
            </a:pathLst>
          </a:custGeom>
          <a:solidFill>
            <a:srgbClr val="9898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02495" y="237744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1"/>
                </a:lnTo>
                <a:lnTo>
                  <a:pt x="2057399" y="2039111"/>
                </a:lnTo>
                <a:lnTo>
                  <a:pt x="2057399" y="0"/>
                </a:lnTo>
                <a:close/>
              </a:path>
            </a:pathLst>
          </a:custGeom>
          <a:solidFill>
            <a:srgbClr val="320E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854832" y="4648020"/>
            <a:ext cx="4020185" cy="2138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53467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653265"/>
                </a:solidFill>
                <a:latin typeface="Rockwell"/>
                <a:cs typeface="Rockwell"/>
              </a:rPr>
              <a:t>William</a:t>
            </a:r>
            <a:r>
              <a:rPr sz="2500" spc="-45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653265"/>
                </a:solidFill>
                <a:latin typeface="Rockwell"/>
                <a:cs typeface="Rockwell"/>
              </a:rPr>
              <a:t>Stallings</a:t>
            </a:r>
            <a:r>
              <a:rPr sz="2500" spc="-1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653265"/>
                </a:solidFill>
                <a:latin typeface="Rockwell"/>
                <a:cs typeface="Rockwell"/>
              </a:rPr>
              <a:t>Computer</a:t>
            </a:r>
            <a:r>
              <a:rPr sz="2500" spc="-10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653265"/>
                </a:solidFill>
                <a:latin typeface="Rockwell"/>
                <a:cs typeface="Rockwell"/>
              </a:rPr>
              <a:t>Organization</a:t>
            </a:r>
            <a:r>
              <a:rPr sz="2500" spc="-1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653265"/>
                </a:solidFill>
                <a:latin typeface="Rockwell"/>
                <a:cs typeface="Rockwell"/>
              </a:rPr>
              <a:t>and</a:t>
            </a:r>
            <a:r>
              <a:rPr sz="2500" spc="-55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653265"/>
                </a:solidFill>
                <a:latin typeface="Rockwell"/>
                <a:cs typeface="Rockwell"/>
              </a:rPr>
              <a:t>Architecture</a:t>
            </a:r>
            <a:endParaRPr sz="2500">
              <a:latin typeface="Rockwell"/>
              <a:cs typeface="Rockwell"/>
            </a:endParaRPr>
          </a:p>
          <a:p>
            <a:pPr marL="38100">
              <a:lnSpc>
                <a:spcPct val="100000"/>
              </a:lnSpc>
            </a:pPr>
            <a:r>
              <a:rPr sz="2500" dirty="0">
                <a:solidFill>
                  <a:srgbClr val="653265"/>
                </a:solidFill>
                <a:latin typeface="Rockwell"/>
                <a:cs typeface="Rockwell"/>
              </a:rPr>
              <a:t>10</a:t>
            </a:r>
            <a:r>
              <a:rPr sz="2475" baseline="25252" dirty="0">
                <a:solidFill>
                  <a:srgbClr val="653265"/>
                </a:solidFill>
                <a:latin typeface="Rockwell"/>
                <a:cs typeface="Rockwell"/>
              </a:rPr>
              <a:t>th</a:t>
            </a:r>
            <a:r>
              <a:rPr sz="2475" spc="277" baseline="25252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653265"/>
                </a:solidFill>
                <a:latin typeface="Rockwell"/>
                <a:cs typeface="Rockwell"/>
              </a:rPr>
              <a:t>Edition</a:t>
            </a:r>
            <a:endParaRPr sz="2500">
              <a:latin typeface="Rockwell"/>
              <a:cs typeface="Rockwell"/>
            </a:endParaRPr>
          </a:p>
          <a:p>
            <a:pPr marR="30480" algn="r">
              <a:lnSpc>
                <a:spcPct val="100000"/>
              </a:lnSpc>
              <a:spcBef>
                <a:spcPts val="1995"/>
              </a:spcBef>
            </a:pP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1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2016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Pearson</a:t>
            </a:r>
            <a:r>
              <a:rPr sz="11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Education,</a:t>
            </a:r>
            <a:r>
              <a:rPr sz="11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Inc.,</a:t>
            </a:r>
            <a:r>
              <a:rPr sz="11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Hoboken,</a:t>
            </a:r>
            <a:endParaRPr sz="110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NJ.</a:t>
            </a:r>
            <a:r>
              <a:rPr sz="11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r>
              <a:rPr sz="11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595959"/>
                </a:solidFill>
                <a:latin typeface="Times New Roman"/>
                <a:cs typeface="Times New Roman"/>
              </a:rPr>
              <a:t>rights</a:t>
            </a:r>
            <a:r>
              <a:rPr sz="11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Times New Roman"/>
                <a:cs typeface="Times New Roman"/>
              </a:rPr>
              <a:t>reserved.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02495" y="228600"/>
            <a:ext cx="2057400" cy="2039620"/>
          </a:xfrm>
          <a:custGeom>
            <a:avLst/>
            <a:gdLst/>
            <a:ahLst/>
            <a:cxnLst/>
            <a:rect l="l" t="t" r="r" b="b"/>
            <a:pathLst>
              <a:path w="2057400" h="2039620">
                <a:moveTo>
                  <a:pt x="2057399" y="0"/>
                </a:moveTo>
                <a:lnTo>
                  <a:pt x="0" y="0"/>
                </a:lnTo>
                <a:lnTo>
                  <a:pt x="0" y="2039111"/>
                </a:lnTo>
                <a:lnTo>
                  <a:pt x="2057399" y="2039111"/>
                </a:lnTo>
                <a:lnTo>
                  <a:pt x="2057399" y="0"/>
                </a:lnTo>
                <a:close/>
              </a:path>
            </a:pathLst>
          </a:custGeom>
          <a:solidFill>
            <a:srgbClr val="98986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486400" y="1371606"/>
            <a:ext cx="3373754" cy="3045460"/>
            <a:chOff x="5486400" y="1371606"/>
            <a:chExt cx="3373754" cy="3045460"/>
          </a:xfrm>
        </p:grpSpPr>
        <p:sp>
          <p:nvSpPr>
            <p:cNvPr id="5" name="object 5"/>
            <p:cNvSpPr/>
            <p:nvPr/>
          </p:nvSpPr>
          <p:spPr>
            <a:xfrm>
              <a:off x="6802495" y="2377440"/>
              <a:ext cx="2057400" cy="2039620"/>
            </a:xfrm>
            <a:custGeom>
              <a:avLst/>
              <a:gdLst/>
              <a:ahLst/>
              <a:cxnLst/>
              <a:rect l="l" t="t" r="r" b="b"/>
              <a:pathLst>
                <a:path w="2057400" h="2039620">
                  <a:moveTo>
                    <a:pt x="2057399" y="0"/>
                  </a:moveTo>
                  <a:lnTo>
                    <a:pt x="0" y="0"/>
                  </a:lnTo>
                  <a:lnTo>
                    <a:pt x="0" y="2039111"/>
                  </a:lnTo>
                  <a:lnTo>
                    <a:pt x="2057399" y="2039111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6400" y="1371606"/>
              <a:ext cx="2286000" cy="1939289"/>
            </a:xfrm>
            <a:custGeom>
              <a:avLst/>
              <a:gdLst/>
              <a:ahLst/>
              <a:cxnLst/>
              <a:rect l="l" t="t" r="r" b="b"/>
              <a:pathLst>
                <a:path w="2286000" h="1939289">
                  <a:moveTo>
                    <a:pt x="2285999" y="0"/>
                  </a:moveTo>
                  <a:lnTo>
                    <a:pt x="0" y="0"/>
                  </a:lnTo>
                  <a:lnTo>
                    <a:pt x="0" y="1939040"/>
                  </a:lnTo>
                  <a:lnTo>
                    <a:pt x="2285999" y="1939040"/>
                  </a:lnTo>
                  <a:lnTo>
                    <a:pt x="2285999" y="0"/>
                  </a:lnTo>
                  <a:close/>
                </a:path>
              </a:pathLst>
            </a:custGeom>
            <a:solidFill>
              <a:srgbClr val="656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263" y="3896867"/>
            <a:ext cx="4026407" cy="15072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89250" y="4014399"/>
            <a:ext cx="4339590" cy="163830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10"/>
              </a:spcBef>
            </a:pPr>
            <a:r>
              <a:rPr sz="3600" b="1" baseline="-27777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3600" b="1" spc="637" baseline="-27777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5400" dirty="0">
                <a:solidFill>
                  <a:srgbClr val="653265"/>
                </a:solidFill>
                <a:latin typeface="Rockwell"/>
                <a:cs typeface="Rockwell"/>
              </a:rPr>
              <a:t>Chapter</a:t>
            </a:r>
            <a:r>
              <a:rPr sz="5400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5400" spc="-50" dirty="0">
                <a:solidFill>
                  <a:srgbClr val="653265"/>
                </a:solidFill>
                <a:latin typeface="Rockwell"/>
                <a:cs typeface="Rockwell"/>
              </a:rPr>
              <a:t>4</a:t>
            </a:r>
            <a:endParaRPr sz="5400">
              <a:latin typeface="Rockwell"/>
              <a:cs typeface="Rockwell"/>
            </a:endParaRPr>
          </a:p>
          <a:p>
            <a:pPr marL="335280">
              <a:lnSpc>
                <a:spcPct val="100000"/>
              </a:lnSpc>
              <a:spcBef>
                <a:spcPts val="425"/>
              </a:spcBef>
            </a:pPr>
            <a:r>
              <a:rPr sz="44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4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44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4400">
              <a:latin typeface="Rockwell"/>
              <a:cs typeface="Rockwel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8552" y="762312"/>
          <a:ext cx="8961120" cy="4171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4370"/>
                <a:gridCol w="4476750"/>
              </a:tblGrid>
              <a:tr h="4171950">
                <a:tc>
                  <a:txBody>
                    <a:bodyPr/>
                    <a:lstStyle/>
                    <a:p>
                      <a:pPr marL="102870">
                        <a:lnSpc>
                          <a:spcPts val="1885"/>
                        </a:lnSpc>
                      </a:pPr>
                      <a:r>
                        <a:rPr sz="1750" b="1" spc="-10" dirty="0">
                          <a:latin typeface="Arial"/>
                          <a:cs typeface="Arial"/>
                        </a:rPr>
                        <a:t>Location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779145" marR="458470" indent="-338455">
                        <a:lnSpc>
                          <a:spcPts val="2080"/>
                        </a:lnSpc>
                        <a:spcBef>
                          <a:spcPts val="6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Internal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(e.g.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processor</a:t>
                      </a:r>
                      <a:r>
                        <a:rPr sz="17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registers,</a:t>
                      </a:r>
                      <a:r>
                        <a:rPr sz="17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cache,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main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memory)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779145" marR="113664" indent="-338455">
                        <a:lnSpc>
                          <a:spcPts val="1920"/>
                        </a:lnSpc>
                        <a:spcBef>
                          <a:spcPts val="12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(e.g.</a:t>
                      </a:r>
                      <a:r>
                        <a:rPr sz="17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optical</a:t>
                      </a:r>
                      <a:r>
                        <a:rPr sz="17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disks,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magnetic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disks, tapes)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ts val="2020"/>
                        </a:lnSpc>
                      </a:pPr>
                      <a:r>
                        <a:rPr sz="1750" b="1" spc="-10" dirty="0">
                          <a:latin typeface="Arial"/>
                          <a:cs typeface="Arial"/>
                        </a:rPr>
                        <a:t>Capacity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440690" marR="2449830">
                        <a:lnSpc>
                          <a:spcPts val="2080"/>
                        </a:lnSpc>
                        <a:spcBef>
                          <a:spcPts val="6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7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7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words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7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7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bytes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ts val="1989"/>
                        </a:lnSpc>
                      </a:pPr>
                      <a:r>
                        <a:rPr sz="1750" b="1" dirty="0">
                          <a:latin typeface="Arial"/>
                          <a:cs typeface="Arial"/>
                        </a:rPr>
                        <a:t>Unit</a:t>
                      </a:r>
                      <a:r>
                        <a:rPr sz="175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11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7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10" dirty="0">
                          <a:latin typeface="Arial"/>
                          <a:cs typeface="Arial"/>
                        </a:rPr>
                        <a:t>Transfer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440690" marR="3496945">
                        <a:lnSpc>
                          <a:spcPts val="2080"/>
                        </a:lnSpc>
                        <a:spcBef>
                          <a:spcPts val="70"/>
                        </a:spcBef>
                      </a:pP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Word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Block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ts val="1839"/>
                        </a:lnSpc>
                      </a:pPr>
                      <a:r>
                        <a:rPr sz="1750" b="1" spc="-15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1750" spc="-2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750" spc="-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20" dirty="0">
                          <a:latin typeface="Arial"/>
                          <a:cs typeface="Arial"/>
                        </a:rPr>
                        <a:t>ethod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440690" marR="2986405">
                        <a:lnSpc>
                          <a:spcPct val="98700"/>
                        </a:lnSpc>
                        <a:spcBef>
                          <a:spcPts val="15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Sequential Direct Random Associative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885"/>
                        </a:lnSpc>
                      </a:pPr>
                      <a:r>
                        <a:rPr sz="1750" b="1" spc="-10" dirty="0">
                          <a:latin typeface="Arial"/>
                          <a:cs typeface="Arial"/>
                        </a:rPr>
                        <a:t>Performance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509905" marR="2802255">
                        <a:lnSpc>
                          <a:spcPts val="2080"/>
                        </a:lnSpc>
                        <a:spcBef>
                          <a:spcPts val="65"/>
                        </a:spcBef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sz="17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Cycle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7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20" dirty="0">
                          <a:latin typeface="Times New Roman"/>
                          <a:cs typeface="Times New Roman"/>
                        </a:rPr>
                        <a:t>rate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ts val="1835"/>
                        </a:lnSpc>
                      </a:pPr>
                      <a:r>
                        <a:rPr sz="1750" b="1" spc="-114" dirty="0">
                          <a:latin typeface="Arial"/>
                          <a:cs typeface="Arial"/>
                        </a:rPr>
                        <a:t>Physical</a:t>
                      </a:r>
                      <a:r>
                        <a:rPr sz="17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20" dirty="0">
                          <a:latin typeface="Arial"/>
                          <a:cs typeface="Arial"/>
                        </a:rPr>
                        <a:t>Type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509905" marR="2469515">
                        <a:lnSpc>
                          <a:spcPct val="98700"/>
                        </a:lnSpc>
                        <a:spcBef>
                          <a:spcPts val="15"/>
                        </a:spcBef>
                      </a:pP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Semiconductor Magnetic Optical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Magneto-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optical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509905" marR="2005964" indent="-405765">
                        <a:lnSpc>
                          <a:spcPct val="95100"/>
                        </a:lnSpc>
                        <a:spcBef>
                          <a:spcPts val="65"/>
                        </a:spcBef>
                      </a:pPr>
                      <a:r>
                        <a:rPr sz="1750" b="1" spc="-114" dirty="0">
                          <a:latin typeface="Arial"/>
                          <a:cs typeface="Arial"/>
                        </a:rPr>
                        <a:t>Physical</a:t>
                      </a:r>
                      <a:r>
                        <a:rPr sz="17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b="1" spc="-60" dirty="0">
                          <a:latin typeface="Arial"/>
                          <a:cs typeface="Arial"/>
                        </a:rPr>
                        <a:t>Characteristics</a:t>
                      </a:r>
                      <a:r>
                        <a:rPr sz="175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Volatile/nonvolatile Erasable/nonerasable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ts val="2065"/>
                        </a:lnSpc>
                      </a:pPr>
                      <a:r>
                        <a:rPr sz="1750" b="1" spc="-10" dirty="0">
                          <a:latin typeface="Arial"/>
                          <a:cs typeface="Arial"/>
                        </a:rPr>
                        <a:t>Organization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509905">
                        <a:lnSpc>
                          <a:spcPts val="2090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7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10" dirty="0">
                          <a:latin typeface="Times New Roman"/>
                          <a:cs typeface="Times New Roman"/>
                        </a:rPr>
                        <a:t>modules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>
            <a:off x="1044347" y="5180836"/>
            <a:ext cx="70535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Rockwell"/>
                <a:cs typeface="Rockwell"/>
              </a:rPr>
              <a:t>Table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Rockwell"/>
                <a:cs typeface="Rockwell"/>
              </a:rPr>
              <a:t>4.1</a:t>
            </a:r>
            <a:endParaRPr sz="2400">
              <a:latin typeface="Rockwell"/>
              <a:cs typeface="Rockwell"/>
            </a:endParaRPr>
          </a:p>
          <a:p>
            <a:pPr algn="ctr">
              <a:lnSpc>
                <a:spcPct val="100000"/>
              </a:lnSpc>
            </a:pPr>
            <a:r>
              <a:rPr sz="2400" spc="-10" dirty="0">
                <a:latin typeface="Rockwell"/>
                <a:cs typeface="Rockwell"/>
              </a:rPr>
              <a:t>Key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Rockwell"/>
                <a:cs typeface="Rockwell"/>
              </a:rPr>
              <a:t>Characteristics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Rockwell"/>
                <a:cs typeface="Rockwell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Rockwell"/>
                <a:cs typeface="Rockwell"/>
              </a:rPr>
              <a:t>Computer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Rockwell"/>
                <a:cs typeface="Rockwell"/>
              </a:rPr>
              <a:t>Memory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Rockwell"/>
                <a:cs typeface="Rockwell"/>
              </a:rPr>
              <a:t>Systems</a:t>
            </a:r>
            <a:endParaRPr sz="2400">
              <a:latin typeface="Rockwell"/>
              <a:cs typeface="Rockwel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411" y="200603"/>
            <a:ext cx="286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05483" y="382524"/>
            <a:ext cx="6286500" cy="1560830"/>
            <a:chOff x="1205483" y="382524"/>
            <a:chExt cx="6286500" cy="15608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5483" y="382524"/>
              <a:ext cx="6286499" cy="10119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4867" y="931164"/>
              <a:ext cx="2314956" cy="1011936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477138" y="502153"/>
            <a:ext cx="55994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2464" marR="5080" indent="-1929764">
              <a:lnSpc>
                <a:spcPct val="100000"/>
              </a:lnSpc>
              <a:spcBef>
                <a:spcPts val="100"/>
              </a:spcBef>
            </a:pPr>
            <a:r>
              <a:rPr dirty="0"/>
              <a:t>Characteristics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0" dirty="0"/>
              <a:t>Memory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7393" y="1921637"/>
            <a:ext cx="7098030" cy="40335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40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Location</a:t>
            </a:r>
            <a:endParaRPr sz="19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40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Refers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whether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internal</a:t>
            </a:r>
            <a:r>
              <a:rPr sz="17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external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computer</a:t>
            </a:r>
            <a:endParaRPr sz="17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39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Internal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often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equated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7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39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requires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its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own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local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30" dirty="0">
                <a:solidFill>
                  <a:srgbClr val="595959"/>
                </a:solidFill>
                <a:latin typeface="Rockwell"/>
                <a:cs typeface="Rockwell"/>
              </a:rPr>
              <a:t>memory,</a:t>
            </a:r>
            <a:r>
              <a:rPr sz="1700" spc="-1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form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registers</a:t>
            </a:r>
            <a:endParaRPr sz="17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400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another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form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internal</a:t>
            </a:r>
            <a:r>
              <a:rPr sz="17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700">
              <a:latin typeface="Rockwell"/>
              <a:cs typeface="Rockwell"/>
            </a:endParaRPr>
          </a:p>
          <a:p>
            <a:pPr marL="469900" marR="280670" lvl="1" indent="-228600">
              <a:lnSpc>
                <a:spcPts val="1839"/>
              </a:lnSpc>
              <a:spcBef>
                <a:spcPts val="62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900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External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consists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peripheral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storage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devices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accessible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processor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via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I/O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controllers</a:t>
            </a: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735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Capacity</a:t>
            </a:r>
            <a:endParaRPr sz="19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40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typically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expressed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terms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755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Unit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transfer</a:t>
            </a:r>
            <a:endParaRPr sz="1900">
              <a:latin typeface="Rockwell"/>
              <a:cs typeface="Rockwell"/>
            </a:endParaRPr>
          </a:p>
          <a:p>
            <a:pPr marL="469900" marR="207645" lvl="1" indent="-228600">
              <a:lnSpc>
                <a:spcPts val="1839"/>
              </a:lnSpc>
              <a:spcBef>
                <a:spcPts val="635"/>
              </a:spcBef>
              <a:buClr>
                <a:srgbClr val="B86FB8"/>
              </a:buClr>
              <a:buSzPct val="73529"/>
              <a:buFont typeface="Wingdings"/>
              <a:buChar char=""/>
              <a:tabLst>
                <a:tab pos="469900" algn="l"/>
              </a:tabLst>
            </a:pP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internal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unit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transfer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equal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electrical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into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out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module</a:t>
            </a:r>
            <a:endParaRPr sz="1700">
              <a:latin typeface="Rockwell"/>
              <a:cs typeface="Rockwel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06324" y="282580"/>
            <a:ext cx="7853680" cy="1600200"/>
            <a:chOff x="306324" y="282580"/>
            <a:chExt cx="7853680" cy="1600200"/>
          </a:xfrm>
        </p:grpSpPr>
        <p:sp>
          <p:nvSpPr>
            <p:cNvPr id="4" name="object 4"/>
            <p:cNvSpPr/>
            <p:nvPr/>
          </p:nvSpPr>
          <p:spPr>
            <a:xfrm>
              <a:off x="8068177" y="282580"/>
              <a:ext cx="91440" cy="1600200"/>
            </a:xfrm>
            <a:custGeom>
              <a:avLst/>
              <a:gdLst/>
              <a:ahLst/>
              <a:cxnLst/>
              <a:rect l="l" t="t" r="r" b="b"/>
              <a:pathLst>
                <a:path w="91440" h="1600200">
                  <a:moveTo>
                    <a:pt x="91439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91439" y="1600199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656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" y="382524"/>
              <a:ext cx="7738872" cy="101193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20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Method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/>
              <a:t>of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/>
              <a:t>Accessing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/>
              <a:t>Units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/>
              <a:t>of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20" dirty="0"/>
              <a:t>Data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4373" y="1720406"/>
            <a:ext cx="7265670" cy="4227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9870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1875"/>
              <a:buFont typeface="Wingdings"/>
              <a:buChar char=""/>
              <a:tabLst>
                <a:tab pos="240665" algn="l"/>
              </a:tabLst>
            </a:pPr>
            <a:r>
              <a:rPr sz="3200" dirty="0">
                <a:solidFill>
                  <a:srgbClr val="595959"/>
                </a:solidFill>
                <a:latin typeface="Rockwell"/>
                <a:cs typeface="Rockwell"/>
              </a:rPr>
              <a:t>Sequential</a:t>
            </a:r>
            <a:r>
              <a:rPr sz="32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595959"/>
                </a:solidFill>
                <a:latin typeface="Rockwell"/>
                <a:cs typeface="Rockwell"/>
              </a:rPr>
              <a:t>Access:</a:t>
            </a:r>
            <a:endParaRPr sz="3200">
              <a:latin typeface="Rockwell"/>
              <a:cs typeface="Rockwell"/>
            </a:endParaRPr>
          </a:p>
          <a:p>
            <a:pPr marL="241300" marR="203835" indent="-228600">
              <a:lnSpc>
                <a:spcPct val="100000"/>
              </a:lnSpc>
              <a:spcBef>
                <a:spcPts val="2039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1300" algn="l"/>
              </a:tabLst>
            </a:pP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Whenever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request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arrives,</a:t>
            </a:r>
            <a:r>
              <a:rPr sz="2000" spc="-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searched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beginning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till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required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found</a:t>
            </a:r>
            <a:endParaRPr sz="2000">
              <a:latin typeface="Rockwell"/>
              <a:cs typeface="Rockwell"/>
            </a:endParaRPr>
          </a:p>
          <a:p>
            <a:pPr marL="241300" marR="5080" indent="-228600">
              <a:lnSpc>
                <a:spcPct val="100000"/>
              </a:lnSpc>
              <a:spcBef>
                <a:spcPts val="1995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Search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begins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at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first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location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proceeds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sequentially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moving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ahead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one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step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at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time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till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desired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location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reached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Time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taken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location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variable.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Simple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but</a:t>
            </a:r>
            <a:r>
              <a:rPr sz="20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slow</a:t>
            </a:r>
            <a:r>
              <a:rPr sz="20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technique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989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Tapes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example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sequential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access.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06324" y="282580"/>
            <a:ext cx="7853680" cy="1600200"/>
            <a:chOff x="306324" y="282580"/>
            <a:chExt cx="7853680" cy="1600200"/>
          </a:xfrm>
        </p:grpSpPr>
        <p:sp>
          <p:nvSpPr>
            <p:cNvPr id="4" name="object 4"/>
            <p:cNvSpPr/>
            <p:nvPr/>
          </p:nvSpPr>
          <p:spPr>
            <a:xfrm>
              <a:off x="8068177" y="282580"/>
              <a:ext cx="91440" cy="1600200"/>
            </a:xfrm>
            <a:custGeom>
              <a:avLst/>
              <a:gdLst/>
              <a:ahLst/>
              <a:cxnLst/>
              <a:rect l="l" t="t" r="r" b="b"/>
              <a:pathLst>
                <a:path w="91440" h="1600200">
                  <a:moveTo>
                    <a:pt x="91439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91439" y="1600199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656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" y="382524"/>
              <a:ext cx="7738872" cy="101193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20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Method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/>
              <a:t>of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/>
              <a:t>Accessing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/>
              <a:t>Units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/>
              <a:t>of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20" dirty="0"/>
              <a:t>Data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7398" y="1297935"/>
            <a:ext cx="7256145" cy="4528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dirty="0">
                <a:solidFill>
                  <a:srgbClr val="595959"/>
                </a:solidFill>
                <a:latin typeface="Rockwell"/>
                <a:cs typeface="Rockwell"/>
              </a:rPr>
              <a:t>Random</a:t>
            </a:r>
            <a:r>
              <a:rPr sz="2200" spc="-1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595959"/>
                </a:solidFill>
                <a:latin typeface="Rockwell"/>
                <a:cs typeface="Rockwell"/>
              </a:rPr>
              <a:t>Access:</a:t>
            </a:r>
            <a:endParaRPr sz="22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614"/>
              </a:spcBef>
              <a:buClr>
                <a:srgbClr val="653265"/>
              </a:buClr>
              <a:buSzPct val="73529"/>
              <a:buFont typeface="Wingdings"/>
              <a:buChar char=""/>
              <a:tabLst>
                <a:tab pos="2406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represent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at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any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location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accessed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directly</a:t>
            </a: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Clr>
                <a:srgbClr val="653265"/>
              </a:buClr>
              <a:buSzPct val="73529"/>
              <a:buFont typeface="Wingdings"/>
              <a:buChar char=""/>
              <a:tabLst>
                <a:tab pos="2406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Time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taken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17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any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location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same.</a:t>
            </a: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600"/>
              </a:spcBef>
              <a:buClr>
                <a:srgbClr val="653265"/>
              </a:buClr>
              <a:buSzPct val="73529"/>
              <a:buFont typeface="Wingdings"/>
              <a:buChar char=""/>
              <a:tabLst>
                <a:tab pos="240665" algn="l"/>
              </a:tabLst>
            </a:pP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Faster</a:t>
            </a:r>
            <a:r>
              <a:rPr sz="17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way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retrieve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data.</a:t>
            </a: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595"/>
              </a:spcBef>
              <a:buClr>
                <a:srgbClr val="653265"/>
              </a:buClr>
              <a:buSzPct val="73529"/>
              <a:buFont typeface="Wingdings"/>
              <a:buChar char=""/>
              <a:tabLst>
                <a:tab pos="2406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RAM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example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kind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access.</a:t>
            </a: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46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spc="-10" dirty="0">
                <a:solidFill>
                  <a:srgbClr val="595959"/>
                </a:solidFill>
                <a:latin typeface="Rockwell"/>
                <a:cs typeface="Rockwell"/>
              </a:rPr>
              <a:t>Direct</a:t>
            </a:r>
            <a:r>
              <a:rPr sz="2200" spc="-1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595959"/>
                </a:solidFill>
                <a:latin typeface="Rockwell"/>
                <a:cs typeface="Rockwell"/>
              </a:rPr>
              <a:t>Access:</a:t>
            </a:r>
            <a:endParaRPr sz="2200">
              <a:latin typeface="Rockwell"/>
              <a:cs typeface="Rockwell"/>
            </a:endParaRPr>
          </a:p>
          <a:p>
            <a:pPr marL="240665" indent="-227965">
              <a:lnSpc>
                <a:spcPts val="1835"/>
              </a:lnSpc>
              <a:spcBef>
                <a:spcPts val="1600"/>
              </a:spcBef>
              <a:buClr>
                <a:srgbClr val="653265"/>
              </a:buClr>
              <a:buSzPct val="73529"/>
              <a:buFont typeface="Wingdings"/>
              <a:buChar char=""/>
              <a:tabLst>
                <a:tab pos="240665" algn="l"/>
              </a:tabLst>
            </a:pPr>
            <a:r>
              <a:rPr sz="1700" spc="-45" dirty="0">
                <a:solidFill>
                  <a:srgbClr val="595959"/>
                </a:solidFill>
                <a:latin typeface="Rockwell"/>
                <a:cs typeface="Rockwell"/>
              </a:rPr>
              <a:t>it’s</a:t>
            </a:r>
            <a:r>
              <a:rPr sz="1700" spc="-4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semi-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random</a:t>
            </a:r>
            <a:r>
              <a:rPr sz="17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mode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operation</a:t>
            </a:r>
            <a:r>
              <a:rPr sz="17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which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stored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7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blocks</a:t>
            </a:r>
            <a:endParaRPr sz="1700">
              <a:latin typeface="Rockwell"/>
              <a:cs typeface="Rockwell"/>
            </a:endParaRPr>
          </a:p>
          <a:p>
            <a:pPr marL="241300">
              <a:lnSpc>
                <a:spcPts val="1835"/>
              </a:lnSpc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/tracks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which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accessed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595959"/>
                </a:solidFill>
                <a:latin typeface="Rockwell"/>
                <a:cs typeface="Rockwell"/>
              </a:rPr>
              <a:t>randomly.</a:t>
            </a: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ts val="1835"/>
              </a:lnSpc>
              <a:spcBef>
                <a:spcPts val="1600"/>
              </a:spcBef>
              <a:buClr>
                <a:srgbClr val="653265"/>
              </a:buClr>
              <a:buSzPct val="73529"/>
              <a:buFont typeface="Wingdings"/>
              <a:buChar char=""/>
              <a:tabLst>
                <a:tab pos="2406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Unlike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random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time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taken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17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any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location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may</a:t>
            </a:r>
            <a:r>
              <a:rPr sz="17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not</a:t>
            </a:r>
            <a:r>
              <a:rPr sz="17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endParaRPr sz="1700">
              <a:latin typeface="Rockwell"/>
              <a:cs typeface="Rockwell"/>
            </a:endParaRPr>
          </a:p>
          <a:p>
            <a:pPr marL="241300">
              <a:lnSpc>
                <a:spcPts val="1835"/>
              </a:lnSpc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same</a:t>
            </a:r>
            <a:endParaRPr sz="17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Clr>
                <a:srgbClr val="653265"/>
              </a:buClr>
              <a:buSzPct val="73529"/>
              <a:buFont typeface="Wingdings"/>
              <a:buChar char=""/>
              <a:tabLst>
                <a:tab pos="2406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7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magnetic</a:t>
            </a:r>
            <a:r>
              <a:rPr sz="17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disk</a:t>
            </a:r>
            <a:endParaRPr sz="1700">
              <a:latin typeface="Rockwell"/>
              <a:cs typeface="Rockwel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06324" y="282580"/>
            <a:ext cx="7853680" cy="1600200"/>
            <a:chOff x="306324" y="282580"/>
            <a:chExt cx="7853680" cy="1600200"/>
          </a:xfrm>
        </p:grpSpPr>
        <p:sp>
          <p:nvSpPr>
            <p:cNvPr id="4" name="object 4"/>
            <p:cNvSpPr/>
            <p:nvPr/>
          </p:nvSpPr>
          <p:spPr>
            <a:xfrm>
              <a:off x="8068177" y="282580"/>
              <a:ext cx="91440" cy="1600200"/>
            </a:xfrm>
            <a:custGeom>
              <a:avLst/>
              <a:gdLst/>
              <a:ahLst/>
              <a:cxnLst/>
              <a:rect l="l" t="t" r="r" b="b"/>
              <a:pathLst>
                <a:path w="91440" h="1600200">
                  <a:moveTo>
                    <a:pt x="91439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91439" y="1600199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656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" y="382524"/>
              <a:ext cx="7738872" cy="101193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20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Method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/>
              <a:t>of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/>
              <a:t>Accessing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/>
              <a:t>Units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/>
              <a:t>of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20" dirty="0"/>
              <a:t>Data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4373" y="1336662"/>
            <a:ext cx="7244080" cy="4744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800" spc="-10" dirty="0">
                <a:solidFill>
                  <a:srgbClr val="595959"/>
                </a:solidFill>
                <a:latin typeface="Rockwell"/>
                <a:cs typeface="Rockwell"/>
              </a:rPr>
              <a:t>Associative:</a:t>
            </a:r>
            <a:endParaRPr sz="2800">
              <a:latin typeface="Rockwell"/>
              <a:cs typeface="Rockwell"/>
            </a:endParaRPr>
          </a:p>
          <a:p>
            <a:pPr marL="241300" marR="567690" indent="-228600">
              <a:lnSpc>
                <a:spcPct val="90000"/>
              </a:lnSpc>
              <a:spcBef>
                <a:spcPts val="2025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accessed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content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rather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than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address,</a:t>
            </a:r>
            <a:r>
              <a:rPr sz="2000" spc="-1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then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referred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associative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content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addressable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(CAM).</a:t>
            </a:r>
            <a:endParaRPr sz="2000">
              <a:latin typeface="Rockwell"/>
              <a:cs typeface="Rockwell"/>
            </a:endParaRPr>
          </a:p>
          <a:p>
            <a:pPr marL="241300" marR="775335" indent="-228600">
              <a:lnSpc>
                <a:spcPts val="2160"/>
              </a:lnSpc>
              <a:spcBef>
                <a:spcPts val="2025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stored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at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very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first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empty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location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found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memory.</a:t>
            </a:r>
            <a:endParaRPr sz="2000">
              <a:latin typeface="Rockwell"/>
              <a:cs typeface="Rockwell"/>
            </a:endParaRPr>
          </a:p>
          <a:p>
            <a:pPr marL="241300" marR="383540" indent="-228600">
              <a:lnSpc>
                <a:spcPts val="216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associative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stored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at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particular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location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then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no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stored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along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it.</a:t>
            </a:r>
            <a:endParaRPr sz="2000">
              <a:latin typeface="Rockwell"/>
              <a:cs typeface="Rockwell"/>
            </a:endParaRPr>
          </a:p>
          <a:p>
            <a:pPr marL="241300" marR="467359" indent="-228600">
              <a:lnSpc>
                <a:spcPts val="216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stored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need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searched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then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only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595959"/>
                </a:solidFill>
                <a:latin typeface="Rockwell"/>
                <a:cs typeface="Rockwell"/>
              </a:rPr>
              <a:t>key(i.e.</a:t>
            </a:r>
            <a:r>
              <a:rPr sz="2000" spc="-1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part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data)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provided.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ts val="2285"/>
              </a:lnSpc>
              <a:spcBef>
                <a:spcPts val="1720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sequential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search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performed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using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endParaRPr sz="2000">
              <a:latin typeface="Rockwell"/>
              <a:cs typeface="Rockwell"/>
            </a:endParaRPr>
          </a:p>
          <a:p>
            <a:pPr marL="241300">
              <a:lnSpc>
                <a:spcPts val="2285"/>
              </a:lnSpc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specified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595959"/>
                </a:solidFill>
                <a:latin typeface="Rockwell"/>
                <a:cs typeface="Rockwell"/>
              </a:rPr>
              <a:t>key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find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out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matching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595959"/>
                </a:solidFill>
                <a:latin typeface="Rockwell"/>
                <a:cs typeface="Rockwell"/>
              </a:rPr>
              <a:t>key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memory.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5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Block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/>
              <a:t>Diagram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/>
              <a:t>of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/>
              <a:t>Associative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98" y="1410965"/>
            <a:ext cx="3462654" cy="426466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591820" indent="-228600">
              <a:lnSpc>
                <a:spcPct val="90100"/>
              </a:lnSpc>
              <a:spcBef>
                <a:spcPts val="31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Argument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Register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(A):</a:t>
            </a:r>
            <a:r>
              <a:rPr sz="1800" spc="-1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contains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searched.</a:t>
            </a:r>
            <a:endParaRPr sz="1800">
              <a:latin typeface="Rockwell"/>
              <a:cs typeface="Rockwell"/>
            </a:endParaRPr>
          </a:p>
          <a:p>
            <a:pPr marL="241300" marR="5080" indent="-228600">
              <a:lnSpc>
                <a:spcPct val="9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Key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register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(K):</a:t>
            </a:r>
            <a:r>
              <a:rPr sz="1800" spc="-2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specifies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which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part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argument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needs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compared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40" dirty="0">
                <a:solidFill>
                  <a:srgbClr val="595959"/>
                </a:solidFill>
                <a:latin typeface="Rockwell"/>
                <a:cs typeface="Rockwell"/>
              </a:rPr>
              <a:t>memory.</a:t>
            </a:r>
            <a:r>
              <a:rPr sz="1800" spc="-1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If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all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register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1,</a:t>
            </a:r>
            <a:r>
              <a:rPr sz="1800" spc="-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entire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should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compared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else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only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having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1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will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compared.</a:t>
            </a:r>
            <a:endParaRPr sz="1800">
              <a:latin typeface="Rockwell"/>
              <a:cs typeface="Rockwell"/>
            </a:endParaRPr>
          </a:p>
          <a:p>
            <a:pPr marL="241300" marR="185420" indent="-228600">
              <a:lnSpc>
                <a:spcPts val="1939"/>
              </a:lnSpc>
              <a:spcBef>
                <a:spcPts val="203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Associative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array:</a:t>
            </a:r>
            <a:r>
              <a:rPr sz="1800" spc="-1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contains</a:t>
            </a:r>
            <a:r>
              <a:rPr sz="18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r>
              <a:rPr sz="18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which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compared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argument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endParaRPr sz="1800">
              <a:latin typeface="Rockwell"/>
              <a:cs typeface="Rockwel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0550" y="2780882"/>
            <a:ext cx="3657600" cy="37444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480055" y="1401821"/>
            <a:ext cx="32766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Match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register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(M):</a:t>
            </a:r>
            <a:r>
              <a:rPr sz="1800" spc="-1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After</a:t>
            </a:r>
            <a:r>
              <a:rPr sz="1800" spc="4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matching</a:t>
            </a:r>
            <a:r>
              <a:rPr sz="18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process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corresponding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matching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match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register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set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Rockwell"/>
                <a:cs typeface="Rockwell"/>
              </a:rPr>
              <a:t>1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79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-10" dirty="0"/>
              <a:t>Associative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0" dirty="0"/>
              <a:t>example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56" y="2204825"/>
            <a:ext cx="7556510" cy="371984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67426" y="3920326"/>
          <a:ext cx="1151890" cy="1870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1890"/>
              </a:tblGrid>
              <a:tr h="503555">
                <a:tc>
                  <a:txBody>
                    <a:bodyPr/>
                    <a:lstStyle/>
                    <a:p>
                      <a:pPr marL="416559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65326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555">
                <a:tc>
                  <a:txBody>
                    <a:bodyPr/>
                    <a:lstStyle/>
                    <a:p>
                      <a:pPr marL="416559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53265"/>
                      </a:solidFill>
                      <a:prstDash val="solid"/>
                    </a:lnT>
                    <a:lnB w="28575">
                      <a:solidFill>
                        <a:srgbClr val="65326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555">
                <a:tc>
                  <a:txBody>
                    <a:bodyPr/>
                    <a:lstStyle/>
                    <a:p>
                      <a:pPr marL="40386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53265"/>
                      </a:solidFill>
                      <a:prstDash val="solid"/>
                    </a:lnT>
                    <a:lnB w="28575">
                      <a:solidFill>
                        <a:srgbClr val="65326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403860">
                        <a:lnSpc>
                          <a:spcPts val="2735"/>
                        </a:lnSpc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53265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77" y="128015"/>
            <a:ext cx="7738872" cy="101193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83540" y="246323"/>
            <a:ext cx="71653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Method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/>
              <a:t>Accessing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Units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20" dirty="0"/>
              <a:t>Data</a:t>
            </a:r>
          </a:p>
        </p:txBody>
      </p:sp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20979" y="1109472"/>
            <a:ext cx="2042160" cy="1085215"/>
            <a:chOff x="220979" y="1109472"/>
            <a:chExt cx="2042160" cy="10852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219" y="1109472"/>
              <a:ext cx="1937003" cy="10378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979" y="1117092"/>
              <a:ext cx="2042159" cy="10774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799" y="1152144"/>
              <a:ext cx="1799844" cy="9006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6360" y="1154033"/>
              <a:ext cx="1796414" cy="898525"/>
            </a:xfrm>
            <a:custGeom>
              <a:avLst/>
              <a:gdLst/>
              <a:ahLst/>
              <a:cxnLst/>
              <a:rect l="l" t="t" r="r" b="b"/>
              <a:pathLst>
                <a:path w="1796414" h="898525">
                  <a:moveTo>
                    <a:pt x="0" y="89794"/>
                  </a:moveTo>
                  <a:lnTo>
                    <a:pt x="7057" y="54816"/>
                  </a:lnTo>
                  <a:lnTo>
                    <a:pt x="26303" y="26277"/>
                  </a:lnTo>
                  <a:lnTo>
                    <a:pt x="54850" y="7048"/>
                  </a:lnTo>
                  <a:lnTo>
                    <a:pt x="89809" y="0"/>
                  </a:lnTo>
                  <a:lnTo>
                    <a:pt x="1706212" y="0"/>
                  </a:lnTo>
                  <a:lnTo>
                    <a:pt x="1741186" y="7048"/>
                  </a:lnTo>
                  <a:lnTo>
                    <a:pt x="1769723" y="26277"/>
                  </a:lnTo>
                  <a:lnTo>
                    <a:pt x="1788950" y="54816"/>
                  </a:lnTo>
                  <a:lnTo>
                    <a:pt x="1795997" y="89794"/>
                  </a:lnTo>
                  <a:lnTo>
                    <a:pt x="1795997" y="808238"/>
                  </a:lnTo>
                  <a:lnTo>
                    <a:pt x="1788950" y="843163"/>
                  </a:lnTo>
                  <a:lnTo>
                    <a:pt x="1769723" y="871708"/>
                  </a:lnTo>
                  <a:lnTo>
                    <a:pt x="1741186" y="890967"/>
                  </a:lnTo>
                  <a:lnTo>
                    <a:pt x="1706212" y="898032"/>
                  </a:lnTo>
                  <a:lnTo>
                    <a:pt x="89809" y="898032"/>
                  </a:lnTo>
                  <a:lnTo>
                    <a:pt x="54850" y="890967"/>
                  </a:lnTo>
                  <a:lnTo>
                    <a:pt x="26303" y="871708"/>
                  </a:lnTo>
                  <a:lnTo>
                    <a:pt x="7057" y="843163"/>
                  </a:lnTo>
                  <a:lnTo>
                    <a:pt x="0" y="808238"/>
                  </a:lnTo>
                  <a:lnTo>
                    <a:pt x="0" y="89794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2430" y="1216604"/>
            <a:ext cx="1503045" cy="71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05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Rockwell"/>
                <a:cs typeface="Rockwell"/>
              </a:rPr>
              <a:t>Sequential</a:t>
            </a:r>
            <a:endParaRPr sz="2400">
              <a:latin typeface="Rockwell"/>
              <a:cs typeface="Rockwell"/>
            </a:endParaRPr>
          </a:p>
          <a:p>
            <a:pPr algn="ctr">
              <a:lnSpc>
                <a:spcPts val="2705"/>
              </a:lnSpc>
            </a:pPr>
            <a:r>
              <a:rPr sz="2400" spc="-10" dirty="0">
                <a:solidFill>
                  <a:srgbClr val="FFFFFF"/>
                </a:solidFill>
                <a:latin typeface="Rockwell"/>
                <a:cs typeface="Rockwell"/>
              </a:rPr>
              <a:t>access</a:t>
            </a:r>
            <a:endParaRPr sz="2400">
              <a:latin typeface="Rockwell"/>
              <a:cs typeface="Rockwel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481072" y="1109472"/>
            <a:ext cx="1937385" cy="1085215"/>
            <a:chOff x="2481072" y="1109472"/>
            <a:chExt cx="1937385" cy="1085215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81072" y="1109472"/>
              <a:ext cx="1937004" cy="103784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37104" y="1117092"/>
              <a:ext cx="1499615" cy="107746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49652" y="1152144"/>
              <a:ext cx="1799844" cy="9006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551425" y="1154033"/>
              <a:ext cx="1796414" cy="898525"/>
            </a:xfrm>
            <a:custGeom>
              <a:avLst/>
              <a:gdLst/>
              <a:ahLst/>
              <a:cxnLst/>
              <a:rect l="l" t="t" r="r" b="b"/>
              <a:pathLst>
                <a:path w="1796414" h="898525">
                  <a:moveTo>
                    <a:pt x="0" y="89794"/>
                  </a:moveTo>
                  <a:lnTo>
                    <a:pt x="7065" y="54816"/>
                  </a:lnTo>
                  <a:lnTo>
                    <a:pt x="26324" y="26277"/>
                  </a:lnTo>
                  <a:lnTo>
                    <a:pt x="54870" y="7048"/>
                  </a:lnTo>
                  <a:lnTo>
                    <a:pt x="89797" y="0"/>
                  </a:lnTo>
                  <a:lnTo>
                    <a:pt x="1706264" y="0"/>
                  </a:lnTo>
                  <a:lnTo>
                    <a:pt x="1741236" y="7048"/>
                  </a:lnTo>
                  <a:lnTo>
                    <a:pt x="1769765" y="26277"/>
                  </a:lnTo>
                  <a:lnTo>
                    <a:pt x="1788984" y="54816"/>
                  </a:lnTo>
                  <a:lnTo>
                    <a:pt x="1796027" y="89794"/>
                  </a:lnTo>
                  <a:lnTo>
                    <a:pt x="1796027" y="808238"/>
                  </a:lnTo>
                  <a:lnTo>
                    <a:pt x="1788984" y="843163"/>
                  </a:lnTo>
                  <a:lnTo>
                    <a:pt x="1769765" y="871708"/>
                  </a:lnTo>
                  <a:lnTo>
                    <a:pt x="1741236" y="890967"/>
                  </a:lnTo>
                  <a:lnTo>
                    <a:pt x="1706264" y="898032"/>
                  </a:lnTo>
                  <a:lnTo>
                    <a:pt x="89797" y="898032"/>
                  </a:lnTo>
                  <a:lnTo>
                    <a:pt x="54870" y="890967"/>
                  </a:lnTo>
                  <a:lnTo>
                    <a:pt x="26324" y="871708"/>
                  </a:lnTo>
                  <a:lnTo>
                    <a:pt x="7065" y="843163"/>
                  </a:lnTo>
                  <a:lnTo>
                    <a:pt x="0" y="808238"/>
                  </a:lnTo>
                  <a:lnTo>
                    <a:pt x="0" y="89794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969135" y="1216604"/>
            <a:ext cx="958850" cy="71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>
              <a:lnSpc>
                <a:spcPts val="2705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Rockwell"/>
                <a:cs typeface="Rockwell"/>
              </a:rPr>
              <a:t>Direct</a:t>
            </a:r>
            <a:endParaRPr sz="2400">
              <a:latin typeface="Rockwell"/>
              <a:cs typeface="Rockwell"/>
            </a:endParaRPr>
          </a:p>
          <a:p>
            <a:pPr marL="12700">
              <a:lnSpc>
                <a:spcPts val="2705"/>
              </a:lnSpc>
            </a:pPr>
            <a:r>
              <a:rPr sz="2400" spc="-10" dirty="0">
                <a:solidFill>
                  <a:srgbClr val="FFFFFF"/>
                </a:solidFill>
                <a:latin typeface="Rockwell"/>
                <a:cs typeface="Rockwell"/>
              </a:rPr>
              <a:t>access</a:t>
            </a:r>
            <a:endParaRPr sz="2400">
              <a:latin typeface="Rockwell"/>
              <a:cs typeface="Rockwel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725923" y="1109472"/>
            <a:ext cx="1937385" cy="1085215"/>
            <a:chOff x="4725923" y="1109472"/>
            <a:chExt cx="1937385" cy="1085215"/>
          </a:xfrm>
        </p:grpSpPr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25923" y="1109472"/>
              <a:ext cx="1937003" cy="103784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3751" y="1117092"/>
              <a:ext cx="1714500" cy="107746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94503" y="1152144"/>
              <a:ext cx="1799844" cy="90068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796545" y="1154033"/>
              <a:ext cx="1796414" cy="898525"/>
            </a:xfrm>
            <a:custGeom>
              <a:avLst/>
              <a:gdLst/>
              <a:ahLst/>
              <a:cxnLst/>
              <a:rect l="l" t="t" r="r" b="b"/>
              <a:pathLst>
                <a:path w="1796415" h="898525">
                  <a:moveTo>
                    <a:pt x="0" y="89794"/>
                  </a:moveTo>
                  <a:lnTo>
                    <a:pt x="7043" y="54816"/>
                  </a:lnTo>
                  <a:lnTo>
                    <a:pt x="26266" y="26277"/>
                  </a:lnTo>
                  <a:lnTo>
                    <a:pt x="54803" y="7048"/>
                  </a:lnTo>
                  <a:lnTo>
                    <a:pt x="89794" y="0"/>
                  </a:lnTo>
                  <a:lnTo>
                    <a:pt x="1706239" y="0"/>
                  </a:lnTo>
                  <a:lnTo>
                    <a:pt x="1741165" y="7048"/>
                  </a:lnTo>
                  <a:lnTo>
                    <a:pt x="1769710" y="26277"/>
                  </a:lnTo>
                  <a:lnTo>
                    <a:pt x="1788968" y="54816"/>
                  </a:lnTo>
                  <a:lnTo>
                    <a:pt x="1796033" y="89794"/>
                  </a:lnTo>
                  <a:lnTo>
                    <a:pt x="1796033" y="808238"/>
                  </a:lnTo>
                  <a:lnTo>
                    <a:pt x="1788968" y="843163"/>
                  </a:lnTo>
                  <a:lnTo>
                    <a:pt x="1769710" y="871708"/>
                  </a:lnTo>
                  <a:lnTo>
                    <a:pt x="1741165" y="890967"/>
                  </a:lnTo>
                  <a:lnTo>
                    <a:pt x="1706239" y="898032"/>
                  </a:lnTo>
                  <a:lnTo>
                    <a:pt x="89794" y="898032"/>
                  </a:lnTo>
                  <a:lnTo>
                    <a:pt x="54803" y="890967"/>
                  </a:lnTo>
                  <a:lnTo>
                    <a:pt x="26266" y="871708"/>
                  </a:lnTo>
                  <a:lnTo>
                    <a:pt x="7043" y="843163"/>
                  </a:lnTo>
                  <a:lnTo>
                    <a:pt x="0" y="808238"/>
                  </a:lnTo>
                  <a:lnTo>
                    <a:pt x="0" y="89794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106420" y="1216604"/>
            <a:ext cx="1176020" cy="71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05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Rockwell"/>
                <a:cs typeface="Rockwell"/>
              </a:rPr>
              <a:t>Random</a:t>
            </a:r>
            <a:endParaRPr sz="2400">
              <a:latin typeface="Rockwell"/>
              <a:cs typeface="Rockwell"/>
            </a:endParaRPr>
          </a:p>
          <a:p>
            <a:pPr marL="120650">
              <a:lnSpc>
                <a:spcPts val="2705"/>
              </a:lnSpc>
            </a:pPr>
            <a:r>
              <a:rPr sz="2400" spc="-10" dirty="0">
                <a:solidFill>
                  <a:srgbClr val="FFFFFF"/>
                </a:solidFill>
                <a:latin typeface="Rockwell"/>
                <a:cs typeface="Rockwell"/>
              </a:rPr>
              <a:t>access</a:t>
            </a:r>
            <a:endParaRPr sz="2400">
              <a:latin typeface="Rockwell"/>
              <a:cs typeface="Rockwel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6903719" y="1109472"/>
            <a:ext cx="2148840" cy="1038225"/>
            <a:chOff x="6903719" y="1109472"/>
            <a:chExt cx="2148840" cy="1038225"/>
          </a:xfrm>
        </p:grpSpPr>
        <p:pic>
          <p:nvPicPr>
            <p:cNvPr id="74" name="object 7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70775" y="1109472"/>
              <a:ext cx="1937003" cy="103784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03719" y="1278636"/>
              <a:ext cx="2148839" cy="755903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39355" y="1152144"/>
              <a:ext cx="1799844" cy="900684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041519" y="1154033"/>
              <a:ext cx="1796414" cy="898525"/>
            </a:xfrm>
            <a:custGeom>
              <a:avLst/>
              <a:gdLst/>
              <a:ahLst/>
              <a:cxnLst/>
              <a:rect l="l" t="t" r="r" b="b"/>
              <a:pathLst>
                <a:path w="1796415" h="898525">
                  <a:moveTo>
                    <a:pt x="0" y="89794"/>
                  </a:moveTo>
                  <a:lnTo>
                    <a:pt x="7067" y="54816"/>
                  </a:lnTo>
                  <a:lnTo>
                    <a:pt x="26338" y="26277"/>
                  </a:lnTo>
                  <a:lnTo>
                    <a:pt x="54919" y="7048"/>
                  </a:lnTo>
                  <a:lnTo>
                    <a:pt x="89915" y="0"/>
                  </a:lnTo>
                  <a:lnTo>
                    <a:pt x="1706361" y="0"/>
                  </a:lnTo>
                  <a:lnTo>
                    <a:pt x="1741287" y="7048"/>
                  </a:lnTo>
                  <a:lnTo>
                    <a:pt x="1769832" y="26277"/>
                  </a:lnTo>
                  <a:lnTo>
                    <a:pt x="1789090" y="54816"/>
                  </a:lnTo>
                  <a:lnTo>
                    <a:pt x="1796155" y="89794"/>
                  </a:lnTo>
                  <a:lnTo>
                    <a:pt x="1796155" y="808238"/>
                  </a:lnTo>
                  <a:lnTo>
                    <a:pt x="1789090" y="843163"/>
                  </a:lnTo>
                  <a:lnTo>
                    <a:pt x="1769832" y="871708"/>
                  </a:lnTo>
                  <a:lnTo>
                    <a:pt x="1741287" y="890967"/>
                  </a:lnTo>
                  <a:lnTo>
                    <a:pt x="1706361" y="898032"/>
                  </a:lnTo>
                  <a:lnTo>
                    <a:pt x="89915" y="898032"/>
                  </a:lnTo>
                  <a:lnTo>
                    <a:pt x="54919" y="890967"/>
                  </a:lnTo>
                  <a:lnTo>
                    <a:pt x="26338" y="871708"/>
                  </a:lnTo>
                  <a:lnTo>
                    <a:pt x="7067" y="843163"/>
                  </a:lnTo>
                  <a:lnTo>
                    <a:pt x="0" y="808238"/>
                  </a:lnTo>
                  <a:lnTo>
                    <a:pt x="0" y="89794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7135500" y="1377818"/>
            <a:ext cx="1608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Rockwell"/>
                <a:cs typeface="Rockwell"/>
              </a:rPr>
              <a:t>Associative</a:t>
            </a:r>
            <a:endParaRPr sz="2400">
              <a:latin typeface="Rockwell"/>
              <a:cs typeface="Rockwel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9616" y="2045716"/>
            <a:ext cx="1629410" cy="1135380"/>
            <a:chOff x="479616" y="2045716"/>
            <a:chExt cx="1629410" cy="1135380"/>
          </a:xfrm>
        </p:grpSpPr>
        <p:sp>
          <p:nvSpPr>
            <p:cNvPr id="12" name="object 12"/>
            <p:cNvSpPr/>
            <p:nvPr/>
          </p:nvSpPr>
          <p:spPr>
            <a:xfrm>
              <a:off x="485966" y="2052066"/>
              <a:ext cx="179705" cy="673735"/>
            </a:xfrm>
            <a:custGeom>
              <a:avLst/>
              <a:gdLst/>
              <a:ahLst/>
              <a:cxnLst/>
              <a:rect l="l" t="t" r="r" b="b"/>
              <a:pathLst>
                <a:path w="179704" h="673735">
                  <a:moveTo>
                    <a:pt x="0" y="0"/>
                  </a:moveTo>
                  <a:lnTo>
                    <a:pt x="0" y="673486"/>
                  </a:lnTo>
                  <a:lnTo>
                    <a:pt x="179603" y="673486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5570" y="2276612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5" h="898525">
                  <a:moveTo>
                    <a:pt x="1347002" y="0"/>
                  </a:moveTo>
                  <a:lnTo>
                    <a:pt x="89809" y="0"/>
                  </a:lnTo>
                  <a:lnTo>
                    <a:pt x="54851" y="7043"/>
                  </a:lnTo>
                  <a:lnTo>
                    <a:pt x="26304" y="26262"/>
                  </a:lnTo>
                  <a:lnTo>
                    <a:pt x="7057" y="54791"/>
                  </a:lnTo>
                  <a:lnTo>
                    <a:pt x="0" y="89763"/>
                  </a:lnTo>
                  <a:lnTo>
                    <a:pt x="0" y="808207"/>
                  </a:lnTo>
                  <a:lnTo>
                    <a:pt x="7057" y="843133"/>
                  </a:lnTo>
                  <a:lnTo>
                    <a:pt x="26304" y="871678"/>
                  </a:lnTo>
                  <a:lnTo>
                    <a:pt x="54851" y="890936"/>
                  </a:lnTo>
                  <a:lnTo>
                    <a:pt x="89809" y="898001"/>
                  </a:lnTo>
                  <a:lnTo>
                    <a:pt x="1347002" y="898001"/>
                  </a:lnTo>
                  <a:lnTo>
                    <a:pt x="1381977" y="890936"/>
                  </a:lnTo>
                  <a:lnTo>
                    <a:pt x="1410513" y="871678"/>
                  </a:lnTo>
                  <a:lnTo>
                    <a:pt x="1429740" y="843133"/>
                  </a:lnTo>
                  <a:lnTo>
                    <a:pt x="1436787" y="808207"/>
                  </a:lnTo>
                  <a:lnTo>
                    <a:pt x="1436787" y="89763"/>
                  </a:lnTo>
                  <a:lnTo>
                    <a:pt x="1429740" y="54791"/>
                  </a:lnTo>
                  <a:lnTo>
                    <a:pt x="1410513" y="26262"/>
                  </a:lnTo>
                  <a:lnTo>
                    <a:pt x="1381977" y="7043"/>
                  </a:lnTo>
                  <a:lnTo>
                    <a:pt x="134700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5570" y="2276612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5" h="898525">
                  <a:moveTo>
                    <a:pt x="0" y="89763"/>
                  </a:moveTo>
                  <a:lnTo>
                    <a:pt x="7057" y="54791"/>
                  </a:lnTo>
                  <a:lnTo>
                    <a:pt x="26304" y="26262"/>
                  </a:lnTo>
                  <a:lnTo>
                    <a:pt x="54851" y="7043"/>
                  </a:lnTo>
                  <a:lnTo>
                    <a:pt x="89809" y="0"/>
                  </a:lnTo>
                  <a:lnTo>
                    <a:pt x="1347002" y="0"/>
                  </a:lnTo>
                  <a:lnTo>
                    <a:pt x="1381977" y="7043"/>
                  </a:lnTo>
                  <a:lnTo>
                    <a:pt x="1410513" y="26262"/>
                  </a:lnTo>
                  <a:lnTo>
                    <a:pt x="1429740" y="54791"/>
                  </a:lnTo>
                  <a:lnTo>
                    <a:pt x="1436787" y="89763"/>
                  </a:lnTo>
                  <a:lnTo>
                    <a:pt x="1436787" y="808207"/>
                  </a:lnTo>
                  <a:lnTo>
                    <a:pt x="1429740" y="843133"/>
                  </a:lnTo>
                  <a:lnTo>
                    <a:pt x="1410513" y="871678"/>
                  </a:lnTo>
                  <a:lnTo>
                    <a:pt x="1381977" y="890936"/>
                  </a:lnTo>
                  <a:lnTo>
                    <a:pt x="1347002" y="898001"/>
                  </a:lnTo>
                  <a:lnTo>
                    <a:pt x="89809" y="898001"/>
                  </a:lnTo>
                  <a:lnTo>
                    <a:pt x="54851" y="890936"/>
                  </a:lnTo>
                  <a:lnTo>
                    <a:pt x="26304" y="871678"/>
                  </a:lnTo>
                  <a:lnTo>
                    <a:pt x="7057" y="843133"/>
                  </a:lnTo>
                  <a:lnTo>
                    <a:pt x="0" y="808207"/>
                  </a:lnTo>
                  <a:lnTo>
                    <a:pt x="0" y="89763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98091" y="2512564"/>
            <a:ext cx="1370965" cy="40513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ctr">
              <a:lnSpc>
                <a:spcPct val="88300"/>
              </a:lnSpc>
              <a:spcBef>
                <a:spcPts val="225"/>
              </a:spcBef>
            </a:pPr>
            <a:r>
              <a:rPr sz="900" dirty="0">
                <a:latin typeface="Rockwell"/>
                <a:cs typeface="Rockwell"/>
              </a:rPr>
              <a:t>Memory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is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organized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Rockwell"/>
                <a:cs typeface="Rockwell"/>
              </a:rPr>
              <a:t>into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units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of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data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called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records</a:t>
            </a:r>
            <a:endParaRPr sz="900">
              <a:latin typeface="Rockwell"/>
              <a:cs typeface="Rockwel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9616" y="2045716"/>
            <a:ext cx="1629410" cy="2258060"/>
            <a:chOff x="479616" y="2045716"/>
            <a:chExt cx="1629410" cy="2258060"/>
          </a:xfrm>
        </p:grpSpPr>
        <p:sp>
          <p:nvSpPr>
            <p:cNvPr id="17" name="object 17"/>
            <p:cNvSpPr/>
            <p:nvPr/>
          </p:nvSpPr>
          <p:spPr>
            <a:xfrm>
              <a:off x="485966" y="2052066"/>
              <a:ext cx="179705" cy="1796414"/>
            </a:xfrm>
            <a:custGeom>
              <a:avLst/>
              <a:gdLst/>
              <a:ahLst/>
              <a:cxnLst/>
              <a:rect l="l" t="t" r="r" b="b"/>
              <a:pathLst>
                <a:path w="179704" h="1796414">
                  <a:moveTo>
                    <a:pt x="0" y="0"/>
                  </a:moveTo>
                  <a:lnTo>
                    <a:pt x="0" y="1796033"/>
                  </a:lnTo>
                  <a:lnTo>
                    <a:pt x="179603" y="1796033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5570" y="3399038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5" h="898525">
                  <a:moveTo>
                    <a:pt x="1347002" y="0"/>
                  </a:moveTo>
                  <a:lnTo>
                    <a:pt x="89809" y="0"/>
                  </a:lnTo>
                  <a:lnTo>
                    <a:pt x="54851" y="7062"/>
                  </a:lnTo>
                  <a:lnTo>
                    <a:pt x="26304" y="26327"/>
                  </a:lnTo>
                  <a:lnTo>
                    <a:pt x="7057" y="54906"/>
                  </a:lnTo>
                  <a:lnTo>
                    <a:pt x="0" y="89915"/>
                  </a:lnTo>
                  <a:lnTo>
                    <a:pt x="0" y="808213"/>
                  </a:lnTo>
                  <a:lnTo>
                    <a:pt x="7057" y="843213"/>
                  </a:lnTo>
                  <a:lnTo>
                    <a:pt x="26304" y="871794"/>
                  </a:lnTo>
                  <a:lnTo>
                    <a:pt x="54851" y="891063"/>
                  </a:lnTo>
                  <a:lnTo>
                    <a:pt x="89809" y="898129"/>
                  </a:lnTo>
                  <a:lnTo>
                    <a:pt x="1347002" y="898129"/>
                  </a:lnTo>
                  <a:lnTo>
                    <a:pt x="1381977" y="891063"/>
                  </a:lnTo>
                  <a:lnTo>
                    <a:pt x="1410513" y="871794"/>
                  </a:lnTo>
                  <a:lnTo>
                    <a:pt x="1429740" y="843213"/>
                  </a:lnTo>
                  <a:lnTo>
                    <a:pt x="1436787" y="808213"/>
                  </a:lnTo>
                  <a:lnTo>
                    <a:pt x="1436787" y="89915"/>
                  </a:lnTo>
                  <a:lnTo>
                    <a:pt x="1429740" y="54906"/>
                  </a:lnTo>
                  <a:lnTo>
                    <a:pt x="1410513" y="26327"/>
                  </a:lnTo>
                  <a:lnTo>
                    <a:pt x="1381977" y="7062"/>
                  </a:lnTo>
                  <a:lnTo>
                    <a:pt x="134700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70" y="3399038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5" h="898525">
                  <a:moveTo>
                    <a:pt x="0" y="89915"/>
                  </a:moveTo>
                  <a:lnTo>
                    <a:pt x="7057" y="54906"/>
                  </a:lnTo>
                  <a:lnTo>
                    <a:pt x="26304" y="26327"/>
                  </a:lnTo>
                  <a:lnTo>
                    <a:pt x="54851" y="7062"/>
                  </a:lnTo>
                  <a:lnTo>
                    <a:pt x="89809" y="0"/>
                  </a:lnTo>
                  <a:lnTo>
                    <a:pt x="1347002" y="0"/>
                  </a:lnTo>
                  <a:lnTo>
                    <a:pt x="1381977" y="7062"/>
                  </a:lnTo>
                  <a:lnTo>
                    <a:pt x="1410513" y="26327"/>
                  </a:lnTo>
                  <a:lnTo>
                    <a:pt x="1429740" y="54906"/>
                  </a:lnTo>
                  <a:lnTo>
                    <a:pt x="1436787" y="89915"/>
                  </a:lnTo>
                  <a:lnTo>
                    <a:pt x="1436787" y="808213"/>
                  </a:lnTo>
                  <a:lnTo>
                    <a:pt x="1429740" y="843213"/>
                  </a:lnTo>
                  <a:lnTo>
                    <a:pt x="1410513" y="871794"/>
                  </a:lnTo>
                  <a:lnTo>
                    <a:pt x="1381977" y="891063"/>
                  </a:lnTo>
                  <a:lnTo>
                    <a:pt x="1347002" y="898129"/>
                  </a:lnTo>
                  <a:lnTo>
                    <a:pt x="89809" y="898129"/>
                  </a:lnTo>
                  <a:lnTo>
                    <a:pt x="54851" y="891063"/>
                  </a:lnTo>
                  <a:lnTo>
                    <a:pt x="26304" y="871794"/>
                  </a:lnTo>
                  <a:lnTo>
                    <a:pt x="7057" y="843213"/>
                  </a:lnTo>
                  <a:lnTo>
                    <a:pt x="0" y="808213"/>
                  </a:lnTo>
                  <a:lnTo>
                    <a:pt x="0" y="89915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7715" y="3635118"/>
            <a:ext cx="1292860" cy="4057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ctr">
              <a:lnSpc>
                <a:spcPct val="88500"/>
              </a:lnSpc>
              <a:spcBef>
                <a:spcPts val="225"/>
              </a:spcBef>
            </a:pPr>
            <a:r>
              <a:rPr sz="900" dirty="0">
                <a:latin typeface="Rockwell"/>
                <a:cs typeface="Rockwell"/>
              </a:rPr>
              <a:t>Access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must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be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made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in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specific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linear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sequence</a:t>
            </a:r>
            <a:endParaRPr sz="900">
              <a:latin typeface="Rockwell"/>
              <a:cs typeface="Rockwel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9616" y="2045716"/>
            <a:ext cx="1629410" cy="3380740"/>
            <a:chOff x="479616" y="2045716"/>
            <a:chExt cx="1629410" cy="3380740"/>
          </a:xfrm>
        </p:grpSpPr>
        <p:sp>
          <p:nvSpPr>
            <p:cNvPr id="22" name="object 22"/>
            <p:cNvSpPr/>
            <p:nvPr/>
          </p:nvSpPr>
          <p:spPr>
            <a:xfrm>
              <a:off x="485966" y="2052066"/>
              <a:ext cx="179705" cy="2919095"/>
            </a:xfrm>
            <a:custGeom>
              <a:avLst/>
              <a:gdLst/>
              <a:ahLst/>
              <a:cxnLst/>
              <a:rect l="l" t="t" r="r" b="b"/>
              <a:pathLst>
                <a:path w="179704" h="2919095">
                  <a:moveTo>
                    <a:pt x="0" y="0"/>
                  </a:moveTo>
                  <a:lnTo>
                    <a:pt x="0" y="2918590"/>
                  </a:lnTo>
                  <a:lnTo>
                    <a:pt x="179603" y="2918590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5570" y="4521576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5" h="898525">
                  <a:moveTo>
                    <a:pt x="1347002" y="0"/>
                  </a:moveTo>
                  <a:lnTo>
                    <a:pt x="89809" y="0"/>
                  </a:lnTo>
                  <a:lnTo>
                    <a:pt x="54851" y="7065"/>
                  </a:lnTo>
                  <a:lnTo>
                    <a:pt x="26304" y="26324"/>
                  </a:lnTo>
                  <a:lnTo>
                    <a:pt x="7057" y="54870"/>
                  </a:lnTo>
                  <a:lnTo>
                    <a:pt x="0" y="89797"/>
                  </a:lnTo>
                  <a:lnTo>
                    <a:pt x="0" y="808232"/>
                  </a:lnTo>
                  <a:lnTo>
                    <a:pt x="7057" y="843211"/>
                  </a:lnTo>
                  <a:lnTo>
                    <a:pt x="26304" y="871747"/>
                  </a:lnTo>
                  <a:lnTo>
                    <a:pt x="54851" y="890971"/>
                  </a:lnTo>
                  <a:lnTo>
                    <a:pt x="89809" y="898016"/>
                  </a:lnTo>
                  <a:lnTo>
                    <a:pt x="1347002" y="898016"/>
                  </a:lnTo>
                  <a:lnTo>
                    <a:pt x="1381977" y="890971"/>
                  </a:lnTo>
                  <a:lnTo>
                    <a:pt x="1410513" y="871747"/>
                  </a:lnTo>
                  <a:lnTo>
                    <a:pt x="1429740" y="843211"/>
                  </a:lnTo>
                  <a:lnTo>
                    <a:pt x="1436787" y="808232"/>
                  </a:lnTo>
                  <a:lnTo>
                    <a:pt x="1436787" y="89797"/>
                  </a:lnTo>
                  <a:lnTo>
                    <a:pt x="1429740" y="54870"/>
                  </a:lnTo>
                  <a:lnTo>
                    <a:pt x="1410513" y="26324"/>
                  </a:lnTo>
                  <a:lnTo>
                    <a:pt x="1381977" y="7065"/>
                  </a:lnTo>
                  <a:lnTo>
                    <a:pt x="134700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5570" y="4521576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5" h="898525">
                  <a:moveTo>
                    <a:pt x="0" y="89797"/>
                  </a:moveTo>
                  <a:lnTo>
                    <a:pt x="7057" y="54870"/>
                  </a:lnTo>
                  <a:lnTo>
                    <a:pt x="26304" y="26324"/>
                  </a:lnTo>
                  <a:lnTo>
                    <a:pt x="54851" y="7065"/>
                  </a:lnTo>
                  <a:lnTo>
                    <a:pt x="89809" y="0"/>
                  </a:lnTo>
                  <a:lnTo>
                    <a:pt x="1347002" y="0"/>
                  </a:lnTo>
                  <a:lnTo>
                    <a:pt x="1381977" y="7065"/>
                  </a:lnTo>
                  <a:lnTo>
                    <a:pt x="1410513" y="26324"/>
                  </a:lnTo>
                  <a:lnTo>
                    <a:pt x="1429740" y="54870"/>
                  </a:lnTo>
                  <a:lnTo>
                    <a:pt x="1436787" y="89797"/>
                  </a:lnTo>
                  <a:lnTo>
                    <a:pt x="1436787" y="808232"/>
                  </a:lnTo>
                  <a:lnTo>
                    <a:pt x="1429740" y="843211"/>
                  </a:lnTo>
                  <a:lnTo>
                    <a:pt x="1410513" y="871747"/>
                  </a:lnTo>
                  <a:lnTo>
                    <a:pt x="1381977" y="890971"/>
                  </a:lnTo>
                  <a:lnTo>
                    <a:pt x="1347002" y="898016"/>
                  </a:lnTo>
                  <a:lnTo>
                    <a:pt x="89809" y="898016"/>
                  </a:lnTo>
                  <a:lnTo>
                    <a:pt x="54851" y="890971"/>
                  </a:lnTo>
                  <a:lnTo>
                    <a:pt x="26304" y="871747"/>
                  </a:lnTo>
                  <a:lnTo>
                    <a:pt x="7057" y="843211"/>
                  </a:lnTo>
                  <a:lnTo>
                    <a:pt x="0" y="808232"/>
                  </a:lnTo>
                  <a:lnTo>
                    <a:pt x="0" y="89797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2724657" y="2045716"/>
            <a:ext cx="1629410" cy="1135380"/>
            <a:chOff x="2724657" y="2045716"/>
            <a:chExt cx="1629410" cy="1135380"/>
          </a:xfrm>
        </p:grpSpPr>
        <p:sp>
          <p:nvSpPr>
            <p:cNvPr id="33" name="object 33"/>
            <p:cNvSpPr/>
            <p:nvPr/>
          </p:nvSpPr>
          <p:spPr>
            <a:xfrm>
              <a:off x="2731007" y="2052066"/>
              <a:ext cx="179705" cy="673735"/>
            </a:xfrm>
            <a:custGeom>
              <a:avLst/>
              <a:gdLst/>
              <a:ahLst/>
              <a:cxnLst/>
              <a:rect l="l" t="t" r="r" b="b"/>
              <a:pathLst>
                <a:path w="179705" h="673735">
                  <a:moveTo>
                    <a:pt x="0" y="0"/>
                  </a:moveTo>
                  <a:lnTo>
                    <a:pt x="0" y="673486"/>
                  </a:lnTo>
                  <a:lnTo>
                    <a:pt x="179582" y="673486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10589" y="2276612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1347100" y="0"/>
                  </a:moveTo>
                  <a:lnTo>
                    <a:pt x="89915" y="0"/>
                  </a:lnTo>
                  <a:lnTo>
                    <a:pt x="54915" y="7043"/>
                  </a:lnTo>
                  <a:lnTo>
                    <a:pt x="26335" y="26262"/>
                  </a:lnTo>
                  <a:lnTo>
                    <a:pt x="7065" y="54791"/>
                  </a:lnTo>
                  <a:lnTo>
                    <a:pt x="0" y="89763"/>
                  </a:lnTo>
                  <a:lnTo>
                    <a:pt x="0" y="808207"/>
                  </a:lnTo>
                  <a:lnTo>
                    <a:pt x="7065" y="843133"/>
                  </a:lnTo>
                  <a:lnTo>
                    <a:pt x="26335" y="871678"/>
                  </a:lnTo>
                  <a:lnTo>
                    <a:pt x="54915" y="890936"/>
                  </a:lnTo>
                  <a:lnTo>
                    <a:pt x="89915" y="898001"/>
                  </a:lnTo>
                  <a:lnTo>
                    <a:pt x="1347100" y="898001"/>
                  </a:lnTo>
                  <a:lnTo>
                    <a:pt x="1382072" y="890936"/>
                  </a:lnTo>
                  <a:lnTo>
                    <a:pt x="1410601" y="871678"/>
                  </a:lnTo>
                  <a:lnTo>
                    <a:pt x="1429820" y="843133"/>
                  </a:lnTo>
                  <a:lnTo>
                    <a:pt x="1436863" y="808207"/>
                  </a:lnTo>
                  <a:lnTo>
                    <a:pt x="1436863" y="89763"/>
                  </a:lnTo>
                  <a:lnTo>
                    <a:pt x="1429820" y="54791"/>
                  </a:lnTo>
                  <a:lnTo>
                    <a:pt x="1410601" y="26262"/>
                  </a:lnTo>
                  <a:lnTo>
                    <a:pt x="1382072" y="7043"/>
                  </a:lnTo>
                  <a:lnTo>
                    <a:pt x="13471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10589" y="2276612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0" y="89763"/>
                  </a:moveTo>
                  <a:lnTo>
                    <a:pt x="7065" y="54791"/>
                  </a:lnTo>
                  <a:lnTo>
                    <a:pt x="26335" y="26262"/>
                  </a:lnTo>
                  <a:lnTo>
                    <a:pt x="54915" y="7043"/>
                  </a:lnTo>
                  <a:lnTo>
                    <a:pt x="89915" y="0"/>
                  </a:lnTo>
                  <a:lnTo>
                    <a:pt x="1347100" y="0"/>
                  </a:lnTo>
                  <a:lnTo>
                    <a:pt x="1382072" y="7043"/>
                  </a:lnTo>
                  <a:lnTo>
                    <a:pt x="1410601" y="26262"/>
                  </a:lnTo>
                  <a:lnTo>
                    <a:pt x="1429820" y="54791"/>
                  </a:lnTo>
                  <a:lnTo>
                    <a:pt x="1436863" y="89763"/>
                  </a:lnTo>
                  <a:lnTo>
                    <a:pt x="1436863" y="808207"/>
                  </a:lnTo>
                  <a:lnTo>
                    <a:pt x="1429820" y="843133"/>
                  </a:lnTo>
                  <a:lnTo>
                    <a:pt x="1410601" y="871678"/>
                  </a:lnTo>
                  <a:lnTo>
                    <a:pt x="1382072" y="890936"/>
                  </a:lnTo>
                  <a:lnTo>
                    <a:pt x="1347100" y="898001"/>
                  </a:lnTo>
                  <a:lnTo>
                    <a:pt x="89915" y="898001"/>
                  </a:lnTo>
                  <a:lnTo>
                    <a:pt x="54915" y="890936"/>
                  </a:lnTo>
                  <a:lnTo>
                    <a:pt x="26335" y="871678"/>
                  </a:lnTo>
                  <a:lnTo>
                    <a:pt x="7065" y="843133"/>
                  </a:lnTo>
                  <a:lnTo>
                    <a:pt x="0" y="808207"/>
                  </a:lnTo>
                  <a:lnTo>
                    <a:pt x="0" y="89763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998472" y="2572889"/>
            <a:ext cx="1262380" cy="2832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81610" marR="5080" indent="-169545">
              <a:lnSpc>
                <a:spcPts val="950"/>
              </a:lnSpc>
              <a:spcBef>
                <a:spcPts val="240"/>
              </a:spcBef>
            </a:pPr>
            <a:r>
              <a:rPr sz="900" dirty="0">
                <a:latin typeface="Rockwell"/>
                <a:cs typeface="Rockwell"/>
              </a:rPr>
              <a:t>Involves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shared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Rockwell"/>
                <a:cs typeface="Rockwell"/>
              </a:rPr>
              <a:t>read-</a:t>
            </a:r>
            <a:r>
              <a:rPr sz="900" dirty="0">
                <a:latin typeface="Rockwell"/>
                <a:cs typeface="Rockwell"/>
              </a:rPr>
              <a:t>write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mechanism</a:t>
            </a:r>
            <a:endParaRPr sz="900">
              <a:latin typeface="Rockwell"/>
              <a:cs typeface="Rockwel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724657" y="2045716"/>
            <a:ext cx="1629410" cy="2258060"/>
            <a:chOff x="2724657" y="2045716"/>
            <a:chExt cx="1629410" cy="2258060"/>
          </a:xfrm>
        </p:grpSpPr>
        <p:sp>
          <p:nvSpPr>
            <p:cNvPr id="38" name="object 38"/>
            <p:cNvSpPr/>
            <p:nvPr/>
          </p:nvSpPr>
          <p:spPr>
            <a:xfrm>
              <a:off x="2731007" y="2052066"/>
              <a:ext cx="179705" cy="1796414"/>
            </a:xfrm>
            <a:custGeom>
              <a:avLst/>
              <a:gdLst/>
              <a:ahLst/>
              <a:cxnLst/>
              <a:rect l="l" t="t" r="r" b="b"/>
              <a:pathLst>
                <a:path w="179705" h="1796414">
                  <a:moveTo>
                    <a:pt x="0" y="0"/>
                  </a:moveTo>
                  <a:lnTo>
                    <a:pt x="0" y="1796033"/>
                  </a:lnTo>
                  <a:lnTo>
                    <a:pt x="179582" y="1796033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10589" y="3399038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1347100" y="0"/>
                  </a:moveTo>
                  <a:lnTo>
                    <a:pt x="89915" y="0"/>
                  </a:lnTo>
                  <a:lnTo>
                    <a:pt x="54915" y="7062"/>
                  </a:lnTo>
                  <a:lnTo>
                    <a:pt x="26335" y="26327"/>
                  </a:lnTo>
                  <a:lnTo>
                    <a:pt x="7065" y="54906"/>
                  </a:lnTo>
                  <a:lnTo>
                    <a:pt x="0" y="89915"/>
                  </a:lnTo>
                  <a:lnTo>
                    <a:pt x="0" y="808213"/>
                  </a:lnTo>
                  <a:lnTo>
                    <a:pt x="7065" y="843213"/>
                  </a:lnTo>
                  <a:lnTo>
                    <a:pt x="26335" y="871794"/>
                  </a:lnTo>
                  <a:lnTo>
                    <a:pt x="54915" y="891063"/>
                  </a:lnTo>
                  <a:lnTo>
                    <a:pt x="89915" y="898129"/>
                  </a:lnTo>
                  <a:lnTo>
                    <a:pt x="1347100" y="898129"/>
                  </a:lnTo>
                  <a:lnTo>
                    <a:pt x="1382072" y="891063"/>
                  </a:lnTo>
                  <a:lnTo>
                    <a:pt x="1410601" y="871794"/>
                  </a:lnTo>
                  <a:lnTo>
                    <a:pt x="1429820" y="843213"/>
                  </a:lnTo>
                  <a:lnTo>
                    <a:pt x="1436863" y="808213"/>
                  </a:lnTo>
                  <a:lnTo>
                    <a:pt x="1436863" y="89915"/>
                  </a:lnTo>
                  <a:lnTo>
                    <a:pt x="1429820" y="54906"/>
                  </a:lnTo>
                  <a:lnTo>
                    <a:pt x="1410601" y="26327"/>
                  </a:lnTo>
                  <a:lnTo>
                    <a:pt x="1382072" y="7062"/>
                  </a:lnTo>
                  <a:lnTo>
                    <a:pt x="13471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10589" y="3399038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0" y="89915"/>
                  </a:moveTo>
                  <a:lnTo>
                    <a:pt x="7065" y="54906"/>
                  </a:lnTo>
                  <a:lnTo>
                    <a:pt x="26335" y="26327"/>
                  </a:lnTo>
                  <a:lnTo>
                    <a:pt x="54915" y="7062"/>
                  </a:lnTo>
                  <a:lnTo>
                    <a:pt x="89915" y="0"/>
                  </a:lnTo>
                  <a:lnTo>
                    <a:pt x="1347100" y="0"/>
                  </a:lnTo>
                  <a:lnTo>
                    <a:pt x="1382072" y="7062"/>
                  </a:lnTo>
                  <a:lnTo>
                    <a:pt x="1410601" y="26327"/>
                  </a:lnTo>
                  <a:lnTo>
                    <a:pt x="1429820" y="54906"/>
                  </a:lnTo>
                  <a:lnTo>
                    <a:pt x="1436863" y="89915"/>
                  </a:lnTo>
                  <a:lnTo>
                    <a:pt x="1436863" y="808213"/>
                  </a:lnTo>
                  <a:lnTo>
                    <a:pt x="1429820" y="843213"/>
                  </a:lnTo>
                  <a:lnTo>
                    <a:pt x="1410601" y="871794"/>
                  </a:lnTo>
                  <a:lnTo>
                    <a:pt x="1382072" y="891063"/>
                  </a:lnTo>
                  <a:lnTo>
                    <a:pt x="1347100" y="898129"/>
                  </a:lnTo>
                  <a:lnTo>
                    <a:pt x="89915" y="898129"/>
                  </a:lnTo>
                  <a:lnTo>
                    <a:pt x="54915" y="891063"/>
                  </a:lnTo>
                  <a:lnTo>
                    <a:pt x="26335" y="871794"/>
                  </a:lnTo>
                  <a:lnTo>
                    <a:pt x="7065" y="843213"/>
                  </a:lnTo>
                  <a:lnTo>
                    <a:pt x="0" y="808213"/>
                  </a:lnTo>
                  <a:lnTo>
                    <a:pt x="0" y="89915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030476" y="3574793"/>
            <a:ext cx="1197610" cy="52578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1270" algn="ctr">
              <a:lnSpc>
                <a:spcPct val="88200"/>
              </a:lnSpc>
              <a:spcBef>
                <a:spcPts val="225"/>
              </a:spcBef>
            </a:pPr>
            <a:r>
              <a:rPr sz="900" dirty="0">
                <a:latin typeface="Rockwell"/>
                <a:cs typeface="Rockwell"/>
              </a:rPr>
              <a:t>Individual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blocks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or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records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have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unique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address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based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on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physical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location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6671" y="4878703"/>
            <a:ext cx="1235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Rockwell"/>
                <a:cs typeface="Rockwell"/>
              </a:rPr>
              <a:t>Access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time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is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variable</a:t>
            </a:r>
            <a:endParaRPr sz="900">
              <a:latin typeface="Rockwell"/>
              <a:cs typeface="Rockwel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724657" y="2045716"/>
            <a:ext cx="1629410" cy="3380740"/>
            <a:chOff x="2724657" y="2045716"/>
            <a:chExt cx="1629410" cy="3380740"/>
          </a:xfrm>
        </p:grpSpPr>
        <p:sp>
          <p:nvSpPr>
            <p:cNvPr id="43" name="object 43"/>
            <p:cNvSpPr/>
            <p:nvPr/>
          </p:nvSpPr>
          <p:spPr>
            <a:xfrm>
              <a:off x="2731007" y="2052066"/>
              <a:ext cx="179705" cy="2919095"/>
            </a:xfrm>
            <a:custGeom>
              <a:avLst/>
              <a:gdLst/>
              <a:ahLst/>
              <a:cxnLst/>
              <a:rect l="l" t="t" r="r" b="b"/>
              <a:pathLst>
                <a:path w="179705" h="2919095">
                  <a:moveTo>
                    <a:pt x="0" y="0"/>
                  </a:moveTo>
                  <a:lnTo>
                    <a:pt x="0" y="2918590"/>
                  </a:lnTo>
                  <a:lnTo>
                    <a:pt x="179582" y="2918590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10589" y="4521576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1347100" y="0"/>
                  </a:moveTo>
                  <a:lnTo>
                    <a:pt x="89915" y="0"/>
                  </a:lnTo>
                  <a:lnTo>
                    <a:pt x="54915" y="7065"/>
                  </a:lnTo>
                  <a:lnTo>
                    <a:pt x="26335" y="26324"/>
                  </a:lnTo>
                  <a:lnTo>
                    <a:pt x="7065" y="54870"/>
                  </a:lnTo>
                  <a:lnTo>
                    <a:pt x="0" y="89797"/>
                  </a:lnTo>
                  <a:lnTo>
                    <a:pt x="0" y="808232"/>
                  </a:lnTo>
                  <a:lnTo>
                    <a:pt x="7065" y="843211"/>
                  </a:lnTo>
                  <a:lnTo>
                    <a:pt x="26335" y="871747"/>
                  </a:lnTo>
                  <a:lnTo>
                    <a:pt x="54915" y="890971"/>
                  </a:lnTo>
                  <a:lnTo>
                    <a:pt x="89915" y="898016"/>
                  </a:lnTo>
                  <a:lnTo>
                    <a:pt x="1347100" y="898016"/>
                  </a:lnTo>
                  <a:lnTo>
                    <a:pt x="1382072" y="890971"/>
                  </a:lnTo>
                  <a:lnTo>
                    <a:pt x="1410601" y="871747"/>
                  </a:lnTo>
                  <a:lnTo>
                    <a:pt x="1429820" y="843211"/>
                  </a:lnTo>
                  <a:lnTo>
                    <a:pt x="1436863" y="808232"/>
                  </a:lnTo>
                  <a:lnTo>
                    <a:pt x="1436863" y="89797"/>
                  </a:lnTo>
                  <a:lnTo>
                    <a:pt x="1429820" y="54870"/>
                  </a:lnTo>
                  <a:lnTo>
                    <a:pt x="1410601" y="26324"/>
                  </a:lnTo>
                  <a:lnTo>
                    <a:pt x="1382072" y="7065"/>
                  </a:lnTo>
                  <a:lnTo>
                    <a:pt x="13471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10589" y="4521576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0" y="89797"/>
                  </a:moveTo>
                  <a:lnTo>
                    <a:pt x="7065" y="54870"/>
                  </a:lnTo>
                  <a:lnTo>
                    <a:pt x="26335" y="26324"/>
                  </a:lnTo>
                  <a:lnTo>
                    <a:pt x="54915" y="7065"/>
                  </a:lnTo>
                  <a:lnTo>
                    <a:pt x="89915" y="0"/>
                  </a:lnTo>
                  <a:lnTo>
                    <a:pt x="1347100" y="0"/>
                  </a:lnTo>
                  <a:lnTo>
                    <a:pt x="1382072" y="7065"/>
                  </a:lnTo>
                  <a:lnTo>
                    <a:pt x="1410601" y="26324"/>
                  </a:lnTo>
                  <a:lnTo>
                    <a:pt x="1429820" y="54870"/>
                  </a:lnTo>
                  <a:lnTo>
                    <a:pt x="1436863" y="89797"/>
                  </a:lnTo>
                  <a:lnTo>
                    <a:pt x="1436863" y="808232"/>
                  </a:lnTo>
                  <a:lnTo>
                    <a:pt x="1429820" y="843211"/>
                  </a:lnTo>
                  <a:lnTo>
                    <a:pt x="1410601" y="871747"/>
                  </a:lnTo>
                  <a:lnTo>
                    <a:pt x="1382072" y="890971"/>
                  </a:lnTo>
                  <a:lnTo>
                    <a:pt x="1347100" y="898016"/>
                  </a:lnTo>
                  <a:lnTo>
                    <a:pt x="89915" y="898016"/>
                  </a:lnTo>
                  <a:lnTo>
                    <a:pt x="54915" y="890971"/>
                  </a:lnTo>
                  <a:lnTo>
                    <a:pt x="26335" y="871747"/>
                  </a:lnTo>
                  <a:lnTo>
                    <a:pt x="7065" y="843211"/>
                  </a:lnTo>
                  <a:lnTo>
                    <a:pt x="0" y="808232"/>
                  </a:lnTo>
                  <a:lnTo>
                    <a:pt x="0" y="89797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4969753" y="2045716"/>
            <a:ext cx="1629410" cy="1135380"/>
            <a:chOff x="4969753" y="2045716"/>
            <a:chExt cx="1629410" cy="1135380"/>
          </a:xfrm>
        </p:grpSpPr>
        <p:sp>
          <p:nvSpPr>
            <p:cNvPr id="54" name="object 54"/>
            <p:cNvSpPr/>
            <p:nvPr/>
          </p:nvSpPr>
          <p:spPr>
            <a:xfrm>
              <a:off x="4976103" y="2052066"/>
              <a:ext cx="179705" cy="673735"/>
            </a:xfrm>
            <a:custGeom>
              <a:avLst/>
              <a:gdLst/>
              <a:ahLst/>
              <a:cxnLst/>
              <a:rect l="l" t="t" r="r" b="b"/>
              <a:pathLst>
                <a:path w="179704" h="673735">
                  <a:moveTo>
                    <a:pt x="0" y="0"/>
                  </a:moveTo>
                  <a:lnTo>
                    <a:pt x="0" y="673486"/>
                  </a:lnTo>
                  <a:lnTo>
                    <a:pt x="179588" y="673486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155691" y="2276612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1347094" y="0"/>
                  </a:moveTo>
                  <a:lnTo>
                    <a:pt x="89794" y="0"/>
                  </a:lnTo>
                  <a:lnTo>
                    <a:pt x="54868" y="7043"/>
                  </a:lnTo>
                  <a:lnTo>
                    <a:pt x="26323" y="26262"/>
                  </a:lnTo>
                  <a:lnTo>
                    <a:pt x="7065" y="54791"/>
                  </a:lnTo>
                  <a:lnTo>
                    <a:pt x="0" y="89763"/>
                  </a:lnTo>
                  <a:lnTo>
                    <a:pt x="0" y="808207"/>
                  </a:lnTo>
                  <a:lnTo>
                    <a:pt x="7065" y="843133"/>
                  </a:lnTo>
                  <a:lnTo>
                    <a:pt x="26323" y="871678"/>
                  </a:lnTo>
                  <a:lnTo>
                    <a:pt x="54868" y="890936"/>
                  </a:lnTo>
                  <a:lnTo>
                    <a:pt x="89794" y="898001"/>
                  </a:lnTo>
                  <a:lnTo>
                    <a:pt x="1347094" y="898001"/>
                  </a:lnTo>
                  <a:lnTo>
                    <a:pt x="1382019" y="890936"/>
                  </a:lnTo>
                  <a:lnTo>
                    <a:pt x="1410564" y="871678"/>
                  </a:lnTo>
                  <a:lnTo>
                    <a:pt x="1429822" y="843133"/>
                  </a:lnTo>
                  <a:lnTo>
                    <a:pt x="1436888" y="808207"/>
                  </a:lnTo>
                  <a:lnTo>
                    <a:pt x="1436888" y="89763"/>
                  </a:lnTo>
                  <a:lnTo>
                    <a:pt x="1429822" y="54791"/>
                  </a:lnTo>
                  <a:lnTo>
                    <a:pt x="1410564" y="26262"/>
                  </a:lnTo>
                  <a:lnTo>
                    <a:pt x="1382019" y="7043"/>
                  </a:lnTo>
                  <a:lnTo>
                    <a:pt x="134709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155691" y="2276612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0" y="89763"/>
                  </a:moveTo>
                  <a:lnTo>
                    <a:pt x="7065" y="54791"/>
                  </a:lnTo>
                  <a:lnTo>
                    <a:pt x="26323" y="26262"/>
                  </a:lnTo>
                  <a:lnTo>
                    <a:pt x="54868" y="7043"/>
                  </a:lnTo>
                  <a:lnTo>
                    <a:pt x="89794" y="0"/>
                  </a:lnTo>
                  <a:lnTo>
                    <a:pt x="1347094" y="0"/>
                  </a:lnTo>
                  <a:lnTo>
                    <a:pt x="1382019" y="7043"/>
                  </a:lnTo>
                  <a:lnTo>
                    <a:pt x="1410564" y="26262"/>
                  </a:lnTo>
                  <a:lnTo>
                    <a:pt x="1429822" y="54791"/>
                  </a:lnTo>
                  <a:lnTo>
                    <a:pt x="1436888" y="89763"/>
                  </a:lnTo>
                  <a:lnTo>
                    <a:pt x="1436888" y="808207"/>
                  </a:lnTo>
                  <a:lnTo>
                    <a:pt x="1429822" y="843133"/>
                  </a:lnTo>
                  <a:lnTo>
                    <a:pt x="1410564" y="871678"/>
                  </a:lnTo>
                  <a:lnTo>
                    <a:pt x="1382019" y="890936"/>
                  </a:lnTo>
                  <a:lnTo>
                    <a:pt x="1347094" y="898001"/>
                  </a:lnTo>
                  <a:lnTo>
                    <a:pt x="89794" y="898001"/>
                  </a:lnTo>
                  <a:lnTo>
                    <a:pt x="54868" y="890936"/>
                  </a:lnTo>
                  <a:lnTo>
                    <a:pt x="26323" y="871678"/>
                  </a:lnTo>
                  <a:lnTo>
                    <a:pt x="7065" y="843133"/>
                  </a:lnTo>
                  <a:lnTo>
                    <a:pt x="0" y="808207"/>
                  </a:lnTo>
                  <a:lnTo>
                    <a:pt x="0" y="89763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187446" y="2452239"/>
            <a:ext cx="1374140" cy="52578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1270" algn="ctr">
              <a:lnSpc>
                <a:spcPct val="88100"/>
              </a:lnSpc>
              <a:spcBef>
                <a:spcPts val="225"/>
              </a:spcBef>
            </a:pPr>
            <a:r>
              <a:rPr sz="900" dirty="0">
                <a:latin typeface="Rockwell"/>
                <a:cs typeface="Rockwell"/>
              </a:rPr>
              <a:t>Each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addressable</a:t>
            </a:r>
            <a:r>
              <a:rPr sz="900" spc="5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location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in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memory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has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Rockwell"/>
                <a:cs typeface="Rockwell"/>
              </a:rPr>
              <a:t>a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unique,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physically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wired-</a:t>
            </a:r>
            <a:r>
              <a:rPr sz="900" dirty="0">
                <a:latin typeface="Rockwell"/>
                <a:cs typeface="Rockwell"/>
              </a:rPr>
              <a:t>in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addressing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mechanism</a:t>
            </a:r>
            <a:endParaRPr sz="900">
              <a:latin typeface="Rockwell"/>
              <a:cs typeface="Rockwel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969753" y="2045716"/>
            <a:ext cx="1629410" cy="2258060"/>
            <a:chOff x="4969753" y="2045716"/>
            <a:chExt cx="1629410" cy="2258060"/>
          </a:xfrm>
        </p:grpSpPr>
        <p:sp>
          <p:nvSpPr>
            <p:cNvPr id="59" name="object 59"/>
            <p:cNvSpPr/>
            <p:nvPr/>
          </p:nvSpPr>
          <p:spPr>
            <a:xfrm>
              <a:off x="4976103" y="2052066"/>
              <a:ext cx="179705" cy="1796414"/>
            </a:xfrm>
            <a:custGeom>
              <a:avLst/>
              <a:gdLst/>
              <a:ahLst/>
              <a:cxnLst/>
              <a:rect l="l" t="t" r="r" b="b"/>
              <a:pathLst>
                <a:path w="179704" h="1796414">
                  <a:moveTo>
                    <a:pt x="0" y="0"/>
                  </a:moveTo>
                  <a:lnTo>
                    <a:pt x="0" y="1796033"/>
                  </a:lnTo>
                  <a:lnTo>
                    <a:pt x="179588" y="1796033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55691" y="3399038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1347094" y="0"/>
                  </a:moveTo>
                  <a:lnTo>
                    <a:pt x="89794" y="0"/>
                  </a:lnTo>
                  <a:lnTo>
                    <a:pt x="54868" y="7062"/>
                  </a:lnTo>
                  <a:lnTo>
                    <a:pt x="26323" y="26327"/>
                  </a:lnTo>
                  <a:lnTo>
                    <a:pt x="7065" y="54906"/>
                  </a:lnTo>
                  <a:lnTo>
                    <a:pt x="0" y="89915"/>
                  </a:lnTo>
                  <a:lnTo>
                    <a:pt x="0" y="808213"/>
                  </a:lnTo>
                  <a:lnTo>
                    <a:pt x="7065" y="843213"/>
                  </a:lnTo>
                  <a:lnTo>
                    <a:pt x="26323" y="871794"/>
                  </a:lnTo>
                  <a:lnTo>
                    <a:pt x="54868" y="891063"/>
                  </a:lnTo>
                  <a:lnTo>
                    <a:pt x="89794" y="898129"/>
                  </a:lnTo>
                  <a:lnTo>
                    <a:pt x="1347094" y="898129"/>
                  </a:lnTo>
                  <a:lnTo>
                    <a:pt x="1382019" y="891063"/>
                  </a:lnTo>
                  <a:lnTo>
                    <a:pt x="1410564" y="871794"/>
                  </a:lnTo>
                  <a:lnTo>
                    <a:pt x="1429822" y="843213"/>
                  </a:lnTo>
                  <a:lnTo>
                    <a:pt x="1436888" y="808213"/>
                  </a:lnTo>
                  <a:lnTo>
                    <a:pt x="1436888" y="89915"/>
                  </a:lnTo>
                  <a:lnTo>
                    <a:pt x="1429822" y="54906"/>
                  </a:lnTo>
                  <a:lnTo>
                    <a:pt x="1410564" y="26327"/>
                  </a:lnTo>
                  <a:lnTo>
                    <a:pt x="1382019" y="7062"/>
                  </a:lnTo>
                  <a:lnTo>
                    <a:pt x="134709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155691" y="3399038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0" y="89915"/>
                  </a:moveTo>
                  <a:lnTo>
                    <a:pt x="7065" y="54906"/>
                  </a:lnTo>
                  <a:lnTo>
                    <a:pt x="26323" y="26327"/>
                  </a:lnTo>
                  <a:lnTo>
                    <a:pt x="54868" y="7062"/>
                  </a:lnTo>
                  <a:lnTo>
                    <a:pt x="89794" y="0"/>
                  </a:lnTo>
                  <a:lnTo>
                    <a:pt x="1347094" y="0"/>
                  </a:lnTo>
                  <a:lnTo>
                    <a:pt x="1382019" y="7062"/>
                  </a:lnTo>
                  <a:lnTo>
                    <a:pt x="1410564" y="26327"/>
                  </a:lnTo>
                  <a:lnTo>
                    <a:pt x="1429822" y="54906"/>
                  </a:lnTo>
                  <a:lnTo>
                    <a:pt x="1436888" y="89915"/>
                  </a:lnTo>
                  <a:lnTo>
                    <a:pt x="1436888" y="808213"/>
                  </a:lnTo>
                  <a:lnTo>
                    <a:pt x="1429822" y="843213"/>
                  </a:lnTo>
                  <a:lnTo>
                    <a:pt x="1410564" y="871794"/>
                  </a:lnTo>
                  <a:lnTo>
                    <a:pt x="1382019" y="891063"/>
                  </a:lnTo>
                  <a:lnTo>
                    <a:pt x="1347094" y="898129"/>
                  </a:lnTo>
                  <a:lnTo>
                    <a:pt x="89794" y="898129"/>
                  </a:lnTo>
                  <a:lnTo>
                    <a:pt x="54868" y="891063"/>
                  </a:lnTo>
                  <a:lnTo>
                    <a:pt x="26323" y="871794"/>
                  </a:lnTo>
                  <a:lnTo>
                    <a:pt x="7065" y="843213"/>
                  </a:lnTo>
                  <a:lnTo>
                    <a:pt x="0" y="808213"/>
                  </a:lnTo>
                  <a:lnTo>
                    <a:pt x="0" y="89915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224022" y="3514468"/>
            <a:ext cx="1300480" cy="64579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1270" algn="ctr">
              <a:lnSpc>
                <a:spcPct val="88100"/>
              </a:lnSpc>
              <a:spcBef>
                <a:spcPts val="225"/>
              </a:spcBef>
            </a:pPr>
            <a:r>
              <a:rPr sz="900" dirty="0">
                <a:latin typeface="Rockwell"/>
                <a:cs typeface="Rockwell"/>
              </a:rPr>
              <a:t>The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time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to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access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Rockwell"/>
                <a:cs typeface="Rockwell"/>
              </a:rPr>
              <a:t>a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given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location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35" dirty="0">
                <a:latin typeface="Rockwell"/>
                <a:cs typeface="Rockwell"/>
              </a:rPr>
              <a:t>is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independent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of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the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sequence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of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prior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accesses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and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is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constant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12188" y="4878703"/>
            <a:ext cx="1235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Rockwell"/>
                <a:cs typeface="Rockwell"/>
              </a:rPr>
              <a:t>Access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time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is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variable</a:t>
            </a:r>
            <a:endParaRPr sz="900">
              <a:latin typeface="Rockwell"/>
              <a:cs typeface="Rockwel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969753" y="2045716"/>
            <a:ext cx="1629410" cy="3380740"/>
            <a:chOff x="4969753" y="2045716"/>
            <a:chExt cx="1629410" cy="3380740"/>
          </a:xfrm>
        </p:grpSpPr>
        <p:sp>
          <p:nvSpPr>
            <p:cNvPr id="64" name="object 64"/>
            <p:cNvSpPr/>
            <p:nvPr/>
          </p:nvSpPr>
          <p:spPr>
            <a:xfrm>
              <a:off x="4976103" y="2052066"/>
              <a:ext cx="179705" cy="2919095"/>
            </a:xfrm>
            <a:custGeom>
              <a:avLst/>
              <a:gdLst/>
              <a:ahLst/>
              <a:cxnLst/>
              <a:rect l="l" t="t" r="r" b="b"/>
              <a:pathLst>
                <a:path w="179704" h="2919095">
                  <a:moveTo>
                    <a:pt x="0" y="0"/>
                  </a:moveTo>
                  <a:lnTo>
                    <a:pt x="0" y="2918590"/>
                  </a:lnTo>
                  <a:lnTo>
                    <a:pt x="179588" y="2918590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55691" y="4521576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1347094" y="0"/>
                  </a:moveTo>
                  <a:lnTo>
                    <a:pt x="89794" y="0"/>
                  </a:lnTo>
                  <a:lnTo>
                    <a:pt x="54868" y="7065"/>
                  </a:lnTo>
                  <a:lnTo>
                    <a:pt x="26323" y="26324"/>
                  </a:lnTo>
                  <a:lnTo>
                    <a:pt x="7065" y="54870"/>
                  </a:lnTo>
                  <a:lnTo>
                    <a:pt x="0" y="89797"/>
                  </a:lnTo>
                  <a:lnTo>
                    <a:pt x="0" y="808232"/>
                  </a:lnTo>
                  <a:lnTo>
                    <a:pt x="7065" y="843211"/>
                  </a:lnTo>
                  <a:lnTo>
                    <a:pt x="26323" y="871747"/>
                  </a:lnTo>
                  <a:lnTo>
                    <a:pt x="54868" y="890971"/>
                  </a:lnTo>
                  <a:lnTo>
                    <a:pt x="89794" y="898016"/>
                  </a:lnTo>
                  <a:lnTo>
                    <a:pt x="1347094" y="898016"/>
                  </a:lnTo>
                  <a:lnTo>
                    <a:pt x="1382019" y="890971"/>
                  </a:lnTo>
                  <a:lnTo>
                    <a:pt x="1410564" y="871747"/>
                  </a:lnTo>
                  <a:lnTo>
                    <a:pt x="1429822" y="843211"/>
                  </a:lnTo>
                  <a:lnTo>
                    <a:pt x="1436888" y="808232"/>
                  </a:lnTo>
                  <a:lnTo>
                    <a:pt x="1436888" y="89797"/>
                  </a:lnTo>
                  <a:lnTo>
                    <a:pt x="1429822" y="54870"/>
                  </a:lnTo>
                  <a:lnTo>
                    <a:pt x="1410564" y="26324"/>
                  </a:lnTo>
                  <a:lnTo>
                    <a:pt x="1382019" y="7065"/>
                  </a:lnTo>
                  <a:lnTo>
                    <a:pt x="134709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155691" y="4521576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0" y="89797"/>
                  </a:moveTo>
                  <a:lnTo>
                    <a:pt x="7065" y="54870"/>
                  </a:lnTo>
                  <a:lnTo>
                    <a:pt x="26323" y="26324"/>
                  </a:lnTo>
                  <a:lnTo>
                    <a:pt x="54868" y="7065"/>
                  </a:lnTo>
                  <a:lnTo>
                    <a:pt x="89794" y="0"/>
                  </a:lnTo>
                  <a:lnTo>
                    <a:pt x="1347094" y="0"/>
                  </a:lnTo>
                  <a:lnTo>
                    <a:pt x="1382019" y="7065"/>
                  </a:lnTo>
                  <a:lnTo>
                    <a:pt x="1410564" y="26324"/>
                  </a:lnTo>
                  <a:lnTo>
                    <a:pt x="1429822" y="54870"/>
                  </a:lnTo>
                  <a:lnTo>
                    <a:pt x="1436888" y="89797"/>
                  </a:lnTo>
                  <a:lnTo>
                    <a:pt x="1436888" y="808232"/>
                  </a:lnTo>
                  <a:lnTo>
                    <a:pt x="1429822" y="843211"/>
                  </a:lnTo>
                  <a:lnTo>
                    <a:pt x="1410564" y="871747"/>
                  </a:lnTo>
                  <a:lnTo>
                    <a:pt x="1382019" y="890971"/>
                  </a:lnTo>
                  <a:lnTo>
                    <a:pt x="1347094" y="898016"/>
                  </a:lnTo>
                  <a:lnTo>
                    <a:pt x="89794" y="898016"/>
                  </a:lnTo>
                  <a:lnTo>
                    <a:pt x="54868" y="890971"/>
                  </a:lnTo>
                  <a:lnTo>
                    <a:pt x="26323" y="871747"/>
                  </a:lnTo>
                  <a:lnTo>
                    <a:pt x="7065" y="843211"/>
                  </a:lnTo>
                  <a:lnTo>
                    <a:pt x="0" y="808232"/>
                  </a:lnTo>
                  <a:lnTo>
                    <a:pt x="0" y="89797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5243834" y="4697728"/>
            <a:ext cx="1261110" cy="52578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ctr">
              <a:lnSpc>
                <a:spcPct val="88100"/>
              </a:lnSpc>
              <a:spcBef>
                <a:spcPts val="225"/>
              </a:spcBef>
            </a:pPr>
            <a:r>
              <a:rPr sz="900" dirty="0">
                <a:latin typeface="Rockwell"/>
                <a:cs typeface="Rockwell"/>
              </a:rPr>
              <a:t>Any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location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can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be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selected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at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random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directly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addressed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and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accessed</a:t>
            </a:r>
            <a:endParaRPr sz="900">
              <a:latin typeface="Rockwell"/>
              <a:cs typeface="Rockwel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969753" y="2045716"/>
            <a:ext cx="1629410" cy="4503420"/>
            <a:chOff x="4969753" y="2045716"/>
            <a:chExt cx="1629410" cy="4503420"/>
          </a:xfrm>
        </p:grpSpPr>
        <p:sp>
          <p:nvSpPr>
            <p:cNvPr id="69" name="object 69"/>
            <p:cNvSpPr/>
            <p:nvPr/>
          </p:nvSpPr>
          <p:spPr>
            <a:xfrm>
              <a:off x="4976103" y="2052066"/>
              <a:ext cx="179705" cy="4041140"/>
            </a:xfrm>
            <a:custGeom>
              <a:avLst/>
              <a:gdLst/>
              <a:ahLst/>
              <a:cxnLst/>
              <a:rect l="l" t="t" r="r" b="b"/>
              <a:pathLst>
                <a:path w="179704" h="4041140">
                  <a:moveTo>
                    <a:pt x="0" y="0"/>
                  </a:moveTo>
                  <a:lnTo>
                    <a:pt x="0" y="4041099"/>
                  </a:lnTo>
                  <a:lnTo>
                    <a:pt x="179588" y="4041099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155691" y="5644158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1347094" y="0"/>
                  </a:moveTo>
                  <a:lnTo>
                    <a:pt x="89794" y="0"/>
                  </a:lnTo>
                  <a:lnTo>
                    <a:pt x="54868" y="7057"/>
                  </a:lnTo>
                  <a:lnTo>
                    <a:pt x="26323" y="26303"/>
                  </a:lnTo>
                  <a:lnTo>
                    <a:pt x="7065" y="54850"/>
                  </a:lnTo>
                  <a:lnTo>
                    <a:pt x="0" y="89809"/>
                  </a:lnTo>
                  <a:lnTo>
                    <a:pt x="0" y="808232"/>
                  </a:lnTo>
                  <a:lnTo>
                    <a:pt x="7065" y="843182"/>
                  </a:lnTo>
                  <a:lnTo>
                    <a:pt x="26323" y="871726"/>
                  </a:lnTo>
                  <a:lnTo>
                    <a:pt x="54868" y="890971"/>
                  </a:lnTo>
                  <a:lnTo>
                    <a:pt x="89794" y="898029"/>
                  </a:lnTo>
                  <a:lnTo>
                    <a:pt x="1347094" y="898029"/>
                  </a:lnTo>
                  <a:lnTo>
                    <a:pt x="1382019" y="890971"/>
                  </a:lnTo>
                  <a:lnTo>
                    <a:pt x="1410564" y="871726"/>
                  </a:lnTo>
                  <a:lnTo>
                    <a:pt x="1429822" y="843182"/>
                  </a:lnTo>
                  <a:lnTo>
                    <a:pt x="1436888" y="808232"/>
                  </a:lnTo>
                  <a:lnTo>
                    <a:pt x="1436888" y="89809"/>
                  </a:lnTo>
                  <a:lnTo>
                    <a:pt x="1429822" y="54850"/>
                  </a:lnTo>
                  <a:lnTo>
                    <a:pt x="1410564" y="26303"/>
                  </a:lnTo>
                  <a:lnTo>
                    <a:pt x="1382019" y="7057"/>
                  </a:lnTo>
                  <a:lnTo>
                    <a:pt x="134709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155691" y="5644158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0" y="89809"/>
                  </a:moveTo>
                  <a:lnTo>
                    <a:pt x="7065" y="54850"/>
                  </a:lnTo>
                  <a:lnTo>
                    <a:pt x="26323" y="26303"/>
                  </a:lnTo>
                  <a:lnTo>
                    <a:pt x="54868" y="7057"/>
                  </a:lnTo>
                  <a:lnTo>
                    <a:pt x="89794" y="0"/>
                  </a:lnTo>
                  <a:lnTo>
                    <a:pt x="1347094" y="0"/>
                  </a:lnTo>
                  <a:lnTo>
                    <a:pt x="1382019" y="7057"/>
                  </a:lnTo>
                  <a:lnTo>
                    <a:pt x="1410564" y="26303"/>
                  </a:lnTo>
                  <a:lnTo>
                    <a:pt x="1429822" y="54850"/>
                  </a:lnTo>
                  <a:lnTo>
                    <a:pt x="1436888" y="89809"/>
                  </a:lnTo>
                  <a:lnTo>
                    <a:pt x="1436888" y="808232"/>
                  </a:lnTo>
                  <a:lnTo>
                    <a:pt x="1429822" y="843182"/>
                  </a:lnTo>
                  <a:lnTo>
                    <a:pt x="1410564" y="871726"/>
                  </a:lnTo>
                  <a:lnTo>
                    <a:pt x="1382019" y="890971"/>
                  </a:lnTo>
                  <a:lnTo>
                    <a:pt x="1347094" y="898029"/>
                  </a:lnTo>
                  <a:lnTo>
                    <a:pt x="89794" y="898029"/>
                  </a:lnTo>
                  <a:lnTo>
                    <a:pt x="54868" y="890971"/>
                  </a:lnTo>
                  <a:lnTo>
                    <a:pt x="26323" y="871726"/>
                  </a:lnTo>
                  <a:lnTo>
                    <a:pt x="7065" y="843182"/>
                  </a:lnTo>
                  <a:lnTo>
                    <a:pt x="0" y="808232"/>
                  </a:lnTo>
                  <a:lnTo>
                    <a:pt x="0" y="89809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7214879" y="2045716"/>
            <a:ext cx="1629410" cy="1135380"/>
            <a:chOff x="7214879" y="2045716"/>
            <a:chExt cx="1629410" cy="1135380"/>
          </a:xfrm>
        </p:grpSpPr>
        <p:sp>
          <p:nvSpPr>
            <p:cNvPr id="80" name="object 80"/>
            <p:cNvSpPr/>
            <p:nvPr/>
          </p:nvSpPr>
          <p:spPr>
            <a:xfrm>
              <a:off x="7221229" y="2052066"/>
              <a:ext cx="179705" cy="673735"/>
            </a:xfrm>
            <a:custGeom>
              <a:avLst/>
              <a:gdLst/>
              <a:ahLst/>
              <a:cxnLst/>
              <a:rect l="l" t="t" r="r" b="b"/>
              <a:pathLst>
                <a:path w="179704" h="673735">
                  <a:moveTo>
                    <a:pt x="0" y="0"/>
                  </a:moveTo>
                  <a:lnTo>
                    <a:pt x="0" y="673486"/>
                  </a:lnTo>
                  <a:lnTo>
                    <a:pt x="179557" y="673486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400787" y="2276612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1347094" y="0"/>
                  </a:moveTo>
                  <a:lnTo>
                    <a:pt x="89794" y="0"/>
                  </a:lnTo>
                  <a:lnTo>
                    <a:pt x="54868" y="7043"/>
                  </a:lnTo>
                  <a:lnTo>
                    <a:pt x="26323" y="26262"/>
                  </a:lnTo>
                  <a:lnTo>
                    <a:pt x="7065" y="54791"/>
                  </a:lnTo>
                  <a:lnTo>
                    <a:pt x="0" y="89763"/>
                  </a:lnTo>
                  <a:lnTo>
                    <a:pt x="0" y="808207"/>
                  </a:lnTo>
                  <a:lnTo>
                    <a:pt x="7065" y="843133"/>
                  </a:lnTo>
                  <a:lnTo>
                    <a:pt x="26323" y="871678"/>
                  </a:lnTo>
                  <a:lnTo>
                    <a:pt x="54868" y="890936"/>
                  </a:lnTo>
                  <a:lnTo>
                    <a:pt x="89794" y="898001"/>
                  </a:lnTo>
                  <a:lnTo>
                    <a:pt x="1347094" y="898001"/>
                  </a:lnTo>
                  <a:lnTo>
                    <a:pt x="1382019" y="890936"/>
                  </a:lnTo>
                  <a:lnTo>
                    <a:pt x="1410564" y="871678"/>
                  </a:lnTo>
                  <a:lnTo>
                    <a:pt x="1429822" y="843133"/>
                  </a:lnTo>
                  <a:lnTo>
                    <a:pt x="1436888" y="808207"/>
                  </a:lnTo>
                  <a:lnTo>
                    <a:pt x="1436888" y="89763"/>
                  </a:lnTo>
                  <a:lnTo>
                    <a:pt x="1429822" y="54791"/>
                  </a:lnTo>
                  <a:lnTo>
                    <a:pt x="1410564" y="26262"/>
                  </a:lnTo>
                  <a:lnTo>
                    <a:pt x="1382019" y="7043"/>
                  </a:lnTo>
                  <a:lnTo>
                    <a:pt x="134709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400787" y="2276612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0" y="89763"/>
                  </a:moveTo>
                  <a:lnTo>
                    <a:pt x="7065" y="54791"/>
                  </a:lnTo>
                  <a:lnTo>
                    <a:pt x="26323" y="26262"/>
                  </a:lnTo>
                  <a:lnTo>
                    <a:pt x="54868" y="7043"/>
                  </a:lnTo>
                  <a:lnTo>
                    <a:pt x="89794" y="0"/>
                  </a:lnTo>
                  <a:lnTo>
                    <a:pt x="1347094" y="0"/>
                  </a:lnTo>
                  <a:lnTo>
                    <a:pt x="1382019" y="7043"/>
                  </a:lnTo>
                  <a:lnTo>
                    <a:pt x="1410564" y="26262"/>
                  </a:lnTo>
                  <a:lnTo>
                    <a:pt x="1429822" y="54791"/>
                  </a:lnTo>
                  <a:lnTo>
                    <a:pt x="1436888" y="89763"/>
                  </a:lnTo>
                  <a:lnTo>
                    <a:pt x="1436888" y="808207"/>
                  </a:lnTo>
                  <a:lnTo>
                    <a:pt x="1429822" y="843133"/>
                  </a:lnTo>
                  <a:lnTo>
                    <a:pt x="1410564" y="871678"/>
                  </a:lnTo>
                  <a:lnTo>
                    <a:pt x="1382019" y="890936"/>
                  </a:lnTo>
                  <a:lnTo>
                    <a:pt x="1347094" y="898001"/>
                  </a:lnTo>
                  <a:lnTo>
                    <a:pt x="89794" y="898001"/>
                  </a:lnTo>
                  <a:lnTo>
                    <a:pt x="54868" y="890936"/>
                  </a:lnTo>
                  <a:lnTo>
                    <a:pt x="26323" y="871678"/>
                  </a:lnTo>
                  <a:lnTo>
                    <a:pt x="7065" y="843133"/>
                  </a:lnTo>
                  <a:lnTo>
                    <a:pt x="0" y="808207"/>
                  </a:lnTo>
                  <a:lnTo>
                    <a:pt x="0" y="89763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7477131" y="2452239"/>
            <a:ext cx="1287780" cy="52578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065" marR="5080" indent="-1270" algn="ctr">
              <a:lnSpc>
                <a:spcPct val="88100"/>
              </a:lnSpc>
              <a:spcBef>
                <a:spcPts val="225"/>
              </a:spcBef>
            </a:pPr>
            <a:r>
              <a:rPr sz="900" dirty="0">
                <a:latin typeface="Rockwell"/>
                <a:cs typeface="Rockwell"/>
              </a:rPr>
              <a:t>A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word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is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retrieved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based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on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portion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of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its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contents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rather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than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its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address</a:t>
            </a:r>
            <a:endParaRPr sz="900">
              <a:latin typeface="Rockwell"/>
              <a:cs typeface="Rockwel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7214879" y="2045716"/>
            <a:ext cx="1629410" cy="2258060"/>
            <a:chOff x="7214879" y="2045716"/>
            <a:chExt cx="1629410" cy="2258060"/>
          </a:xfrm>
        </p:grpSpPr>
        <p:sp>
          <p:nvSpPr>
            <p:cNvPr id="85" name="object 85"/>
            <p:cNvSpPr/>
            <p:nvPr/>
          </p:nvSpPr>
          <p:spPr>
            <a:xfrm>
              <a:off x="7221229" y="2052066"/>
              <a:ext cx="179705" cy="1796414"/>
            </a:xfrm>
            <a:custGeom>
              <a:avLst/>
              <a:gdLst/>
              <a:ahLst/>
              <a:cxnLst/>
              <a:rect l="l" t="t" r="r" b="b"/>
              <a:pathLst>
                <a:path w="179704" h="1796414">
                  <a:moveTo>
                    <a:pt x="0" y="0"/>
                  </a:moveTo>
                  <a:lnTo>
                    <a:pt x="0" y="1796033"/>
                  </a:lnTo>
                  <a:lnTo>
                    <a:pt x="179557" y="1796033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400787" y="3399038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1347094" y="0"/>
                  </a:moveTo>
                  <a:lnTo>
                    <a:pt x="89794" y="0"/>
                  </a:lnTo>
                  <a:lnTo>
                    <a:pt x="54868" y="7062"/>
                  </a:lnTo>
                  <a:lnTo>
                    <a:pt x="26323" y="26327"/>
                  </a:lnTo>
                  <a:lnTo>
                    <a:pt x="7065" y="54906"/>
                  </a:lnTo>
                  <a:lnTo>
                    <a:pt x="0" y="89915"/>
                  </a:lnTo>
                  <a:lnTo>
                    <a:pt x="0" y="808213"/>
                  </a:lnTo>
                  <a:lnTo>
                    <a:pt x="7065" y="843213"/>
                  </a:lnTo>
                  <a:lnTo>
                    <a:pt x="26323" y="871794"/>
                  </a:lnTo>
                  <a:lnTo>
                    <a:pt x="54868" y="891063"/>
                  </a:lnTo>
                  <a:lnTo>
                    <a:pt x="89794" y="898129"/>
                  </a:lnTo>
                  <a:lnTo>
                    <a:pt x="1347094" y="898129"/>
                  </a:lnTo>
                  <a:lnTo>
                    <a:pt x="1382019" y="891063"/>
                  </a:lnTo>
                  <a:lnTo>
                    <a:pt x="1410564" y="871794"/>
                  </a:lnTo>
                  <a:lnTo>
                    <a:pt x="1429822" y="843213"/>
                  </a:lnTo>
                  <a:lnTo>
                    <a:pt x="1436888" y="808213"/>
                  </a:lnTo>
                  <a:lnTo>
                    <a:pt x="1436888" y="89915"/>
                  </a:lnTo>
                  <a:lnTo>
                    <a:pt x="1429822" y="54906"/>
                  </a:lnTo>
                  <a:lnTo>
                    <a:pt x="1410564" y="26327"/>
                  </a:lnTo>
                  <a:lnTo>
                    <a:pt x="1382019" y="7062"/>
                  </a:lnTo>
                  <a:lnTo>
                    <a:pt x="134709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400787" y="3399038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0" y="89915"/>
                  </a:moveTo>
                  <a:lnTo>
                    <a:pt x="7065" y="54906"/>
                  </a:lnTo>
                  <a:lnTo>
                    <a:pt x="26323" y="26327"/>
                  </a:lnTo>
                  <a:lnTo>
                    <a:pt x="54868" y="7062"/>
                  </a:lnTo>
                  <a:lnTo>
                    <a:pt x="89794" y="0"/>
                  </a:lnTo>
                  <a:lnTo>
                    <a:pt x="1347094" y="0"/>
                  </a:lnTo>
                  <a:lnTo>
                    <a:pt x="1382019" y="7062"/>
                  </a:lnTo>
                  <a:lnTo>
                    <a:pt x="1410564" y="26327"/>
                  </a:lnTo>
                  <a:lnTo>
                    <a:pt x="1429822" y="54906"/>
                  </a:lnTo>
                  <a:lnTo>
                    <a:pt x="1436888" y="89915"/>
                  </a:lnTo>
                  <a:lnTo>
                    <a:pt x="1436888" y="808213"/>
                  </a:lnTo>
                  <a:lnTo>
                    <a:pt x="1429822" y="843213"/>
                  </a:lnTo>
                  <a:lnTo>
                    <a:pt x="1410564" y="871794"/>
                  </a:lnTo>
                  <a:lnTo>
                    <a:pt x="1382019" y="891063"/>
                  </a:lnTo>
                  <a:lnTo>
                    <a:pt x="1347094" y="898129"/>
                  </a:lnTo>
                  <a:lnTo>
                    <a:pt x="89794" y="898129"/>
                  </a:lnTo>
                  <a:lnTo>
                    <a:pt x="54868" y="891063"/>
                  </a:lnTo>
                  <a:lnTo>
                    <a:pt x="26323" y="871794"/>
                  </a:lnTo>
                  <a:lnTo>
                    <a:pt x="7065" y="843213"/>
                  </a:lnTo>
                  <a:lnTo>
                    <a:pt x="0" y="808213"/>
                  </a:lnTo>
                  <a:lnTo>
                    <a:pt x="0" y="89915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7454271" y="3454143"/>
            <a:ext cx="1332230" cy="76644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ctr">
              <a:lnSpc>
                <a:spcPct val="88000"/>
              </a:lnSpc>
              <a:spcBef>
                <a:spcPts val="229"/>
              </a:spcBef>
            </a:pPr>
            <a:r>
              <a:rPr sz="900" dirty="0">
                <a:latin typeface="Rockwell"/>
                <a:cs typeface="Rockwell"/>
              </a:rPr>
              <a:t>Each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location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has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its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own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addressing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mechanism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and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retrieval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time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is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constant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independent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of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location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or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prior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access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patterns</a:t>
            </a:r>
            <a:endParaRPr sz="900">
              <a:latin typeface="Rockwell"/>
              <a:cs typeface="Rockwel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7214879" y="2045716"/>
            <a:ext cx="1629410" cy="3380740"/>
            <a:chOff x="7214879" y="2045716"/>
            <a:chExt cx="1629410" cy="3380740"/>
          </a:xfrm>
        </p:grpSpPr>
        <p:sp>
          <p:nvSpPr>
            <p:cNvPr id="90" name="object 90"/>
            <p:cNvSpPr/>
            <p:nvPr/>
          </p:nvSpPr>
          <p:spPr>
            <a:xfrm>
              <a:off x="7221229" y="2052066"/>
              <a:ext cx="179705" cy="2919095"/>
            </a:xfrm>
            <a:custGeom>
              <a:avLst/>
              <a:gdLst/>
              <a:ahLst/>
              <a:cxnLst/>
              <a:rect l="l" t="t" r="r" b="b"/>
              <a:pathLst>
                <a:path w="179704" h="2919095">
                  <a:moveTo>
                    <a:pt x="0" y="0"/>
                  </a:moveTo>
                  <a:lnTo>
                    <a:pt x="0" y="2918590"/>
                  </a:lnTo>
                  <a:lnTo>
                    <a:pt x="179557" y="2918590"/>
                  </a:lnTo>
                </a:path>
              </a:pathLst>
            </a:custGeom>
            <a:ln w="12700">
              <a:solidFill>
                <a:srgbClr val="5027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400787" y="4521576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1347094" y="0"/>
                  </a:moveTo>
                  <a:lnTo>
                    <a:pt x="89794" y="0"/>
                  </a:lnTo>
                  <a:lnTo>
                    <a:pt x="54868" y="7065"/>
                  </a:lnTo>
                  <a:lnTo>
                    <a:pt x="26323" y="26324"/>
                  </a:lnTo>
                  <a:lnTo>
                    <a:pt x="7065" y="54870"/>
                  </a:lnTo>
                  <a:lnTo>
                    <a:pt x="0" y="89797"/>
                  </a:lnTo>
                  <a:lnTo>
                    <a:pt x="0" y="808232"/>
                  </a:lnTo>
                  <a:lnTo>
                    <a:pt x="7065" y="843211"/>
                  </a:lnTo>
                  <a:lnTo>
                    <a:pt x="26323" y="871747"/>
                  </a:lnTo>
                  <a:lnTo>
                    <a:pt x="54868" y="890971"/>
                  </a:lnTo>
                  <a:lnTo>
                    <a:pt x="89794" y="898016"/>
                  </a:lnTo>
                  <a:lnTo>
                    <a:pt x="1347094" y="898016"/>
                  </a:lnTo>
                  <a:lnTo>
                    <a:pt x="1382019" y="890971"/>
                  </a:lnTo>
                  <a:lnTo>
                    <a:pt x="1410564" y="871747"/>
                  </a:lnTo>
                  <a:lnTo>
                    <a:pt x="1429822" y="843211"/>
                  </a:lnTo>
                  <a:lnTo>
                    <a:pt x="1436888" y="808232"/>
                  </a:lnTo>
                  <a:lnTo>
                    <a:pt x="1436888" y="89797"/>
                  </a:lnTo>
                  <a:lnTo>
                    <a:pt x="1429822" y="54870"/>
                  </a:lnTo>
                  <a:lnTo>
                    <a:pt x="1410564" y="26324"/>
                  </a:lnTo>
                  <a:lnTo>
                    <a:pt x="1382019" y="7065"/>
                  </a:lnTo>
                  <a:lnTo>
                    <a:pt x="134709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400787" y="4521576"/>
              <a:ext cx="1437005" cy="898525"/>
            </a:xfrm>
            <a:custGeom>
              <a:avLst/>
              <a:gdLst/>
              <a:ahLst/>
              <a:cxnLst/>
              <a:rect l="l" t="t" r="r" b="b"/>
              <a:pathLst>
                <a:path w="1437004" h="898525">
                  <a:moveTo>
                    <a:pt x="0" y="89797"/>
                  </a:moveTo>
                  <a:lnTo>
                    <a:pt x="7065" y="54870"/>
                  </a:lnTo>
                  <a:lnTo>
                    <a:pt x="26323" y="26324"/>
                  </a:lnTo>
                  <a:lnTo>
                    <a:pt x="54868" y="7065"/>
                  </a:lnTo>
                  <a:lnTo>
                    <a:pt x="89794" y="0"/>
                  </a:lnTo>
                  <a:lnTo>
                    <a:pt x="1347094" y="0"/>
                  </a:lnTo>
                  <a:lnTo>
                    <a:pt x="1382019" y="7065"/>
                  </a:lnTo>
                  <a:lnTo>
                    <a:pt x="1410564" y="26324"/>
                  </a:lnTo>
                  <a:lnTo>
                    <a:pt x="1429822" y="54870"/>
                  </a:lnTo>
                  <a:lnTo>
                    <a:pt x="1436888" y="89797"/>
                  </a:lnTo>
                  <a:lnTo>
                    <a:pt x="1436888" y="808232"/>
                  </a:lnTo>
                  <a:lnTo>
                    <a:pt x="1429822" y="843211"/>
                  </a:lnTo>
                  <a:lnTo>
                    <a:pt x="1410564" y="871747"/>
                  </a:lnTo>
                  <a:lnTo>
                    <a:pt x="1382019" y="890971"/>
                  </a:lnTo>
                  <a:lnTo>
                    <a:pt x="1347094" y="898016"/>
                  </a:lnTo>
                  <a:lnTo>
                    <a:pt x="89794" y="898016"/>
                  </a:lnTo>
                  <a:lnTo>
                    <a:pt x="54868" y="890971"/>
                  </a:lnTo>
                  <a:lnTo>
                    <a:pt x="26323" y="871747"/>
                  </a:lnTo>
                  <a:lnTo>
                    <a:pt x="7065" y="843211"/>
                  </a:lnTo>
                  <a:lnTo>
                    <a:pt x="0" y="808232"/>
                  </a:lnTo>
                  <a:lnTo>
                    <a:pt x="0" y="89797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7533519" y="4758053"/>
            <a:ext cx="1172845" cy="40513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ctr">
              <a:lnSpc>
                <a:spcPct val="88300"/>
              </a:lnSpc>
              <a:spcBef>
                <a:spcPts val="225"/>
              </a:spcBef>
            </a:pPr>
            <a:r>
              <a:rPr sz="900" dirty="0">
                <a:latin typeface="Rockwell"/>
                <a:cs typeface="Rockwell"/>
              </a:rPr>
              <a:t>Cache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memories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may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employ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associative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access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230118" y="5880917"/>
            <a:ext cx="1289685" cy="40513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065" marR="5080" algn="ctr">
              <a:lnSpc>
                <a:spcPct val="88300"/>
              </a:lnSpc>
              <a:spcBef>
                <a:spcPts val="225"/>
              </a:spcBef>
            </a:pPr>
            <a:r>
              <a:rPr sz="900" dirty="0">
                <a:latin typeface="Rockwell"/>
                <a:cs typeface="Rockwell"/>
              </a:rPr>
              <a:t>Main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memory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and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Rockwell"/>
                <a:cs typeface="Rockwell"/>
              </a:rPr>
              <a:t>some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cache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systems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Rockwell"/>
                <a:cs typeface="Rockwell"/>
              </a:rPr>
              <a:t>are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Rockwell"/>
                <a:cs typeface="Rockwell"/>
              </a:rPr>
              <a:t>random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Rockwell"/>
                <a:cs typeface="Rockwell"/>
              </a:rPr>
              <a:t>access</a:t>
            </a:r>
            <a:endParaRPr sz="900">
              <a:latin typeface="Rockwell"/>
              <a:cs typeface="Rockwell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5" y="15240"/>
            <a:ext cx="6336792" cy="101193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30200" y="134487"/>
            <a:ext cx="5764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Capacity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10" dirty="0"/>
              <a:t>Performance:</a:t>
            </a:r>
          </a:p>
        </p:txBody>
      </p:sp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14301" y="909827"/>
            <a:ext cx="8827135" cy="5628640"/>
            <a:chOff x="114301" y="909827"/>
            <a:chExt cx="8827135" cy="56286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1" y="909827"/>
              <a:ext cx="8827008" cy="56281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256" y="1010411"/>
              <a:ext cx="8115300" cy="13533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880" y="954023"/>
              <a:ext cx="8689848" cy="54894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4427" y="955304"/>
              <a:ext cx="8686800" cy="5486400"/>
            </a:xfrm>
            <a:custGeom>
              <a:avLst/>
              <a:gdLst/>
              <a:ahLst/>
              <a:cxnLst/>
              <a:rect l="l" t="t" r="r" b="b"/>
              <a:pathLst>
                <a:path w="8686800" h="5486400">
                  <a:moveTo>
                    <a:pt x="0" y="466343"/>
                  </a:moveTo>
                  <a:lnTo>
                    <a:pt x="2407" y="418662"/>
                  </a:lnTo>
                  <a:lnTo>
                    <a:pt x="9474" y="372359"/>
                  </a:lnTo>
                  <a:lnTo>
                    <a:pt x="20965" y="327667"/>
                  </a:lnTo>
                  <a:lnTo>
                    <a:pt x="36647" y="284821"/>
                  </a:lnTo>
                  <a:lnTo>
                    <a:pt x="56285" y="244056"/>
                  </a:lnTo>
                  <a:lnTo>
                    <a:pt x="79644" y="205606"/>
                  </a:lnTo>
                  <a:lnTo>
                    <a:pt x="106490" y="169705"/>
                  </a:lnTo>
                  <a:lnTo>
                    <a:pt x="136588" y="136588"/>
                  </a:lnTo>
                  <a:lnTo>
                    <a:pt x="169705" y="106489"/>
                  </a:lnTo>
                  <a:lnTo>
                    <a:pt x="205606" y="79643"/>
                  </a:lnTo>
                  <a:lnTo>
                    <a:pt x="244056" y="56284"/>
                  </a:lnTo>
                  <a:lnTo>
                    <a:pt x="284821" y="36647"/>
                  </a:lnTo>
                  <a:lnTo>
                    <a:pt x="327667" y="20965"/>
                  </a:lnTo>
                  <a:lnTo>
                    <a:pt x="372359" y="9474"/>
                  </a:lnTo>
                  <a:lnTo>
                    <a:pt x="418663" y="2407"/>
                  </a:lnTo>
                  <a:lnTo>
                    <a:pt x="466344" y="0"/>
                  </a:lnTo>
                  <a:lnTo>
                    <a:pt x="8220432" y="0"/>
                  </a:lnTo>
                  <a:lnTo>
                    <a:pt x="8268113" y="2407"/>
                  </a:lnTo>
                  <a:lnTo>
                    <a:pt x="8314417" y="9474"/>
                  </a:lnTo>
                  <a:lnTo>
                    <a:pt x="8359108" y="20965"/>
                  </a:lnTo>
                  <a:lnTo>
                    <a:pt x="8401954" y="36647"/>
                  </a:lnTo>
                  <a:lnTo>
                    <a:pt x="8442719" y="56284"/>
                  </a:lnTo>
                  <a:lnTo>
                    <a:pt x="8481169" y="79643"/>
                  </a:lnTo>
                  <a:lnTo>
                    <a:pt x="8517070" y="106489"/>
                  </a:lnTo>
                  <a:lnTo>
                    <a:pt x="8550187" y="136588"/>
                  </a:lnTo>
                  <a:lnTo>
                    <a:pt x="8580286" y="169705"/>
                  </a:lnTo>
                  <a:lnTo>
                    <a:pt x="8607132" y="205606"/>
                  </a:lnTo>
                  <a:lnTo>
                    <a:pt x="8630491" y="244056"/>
                  </a:lnTo>
                  <a:lnTo>
                    <a:pt x="8650128" y="284821"/>
                  </a:lnTo>
                  <a:lnTo>
                    <a:pt x="8665810" y="327667"/>
                  </a:lnTo>
                  <a:lnTo>
                    <a:pt x="8677301" y="372359"/>
                  </a:lnTo>
                  <a:lnTo>
                    <a:pt x="8684368" y="418662"/>
                  </a:lnTo>
                  <a:lnTo>
                    <a:pt x="8686776" y="466343"/>
                  </a:lnTo>
                  <a:lnTo>
                    <a:pt x="8686776" y="5020001"/>
                  </a:lnTo>
                  <a:lnTo>
                    <a:pt x="8684368" y="5067682"/>
                  </a:lnTo>
                  <a:lnTo>
                    <a:pt x="8677301" y="5113985"/>
                  </a:lnTo>
                  <a:lnTo>
                    <a:pt x="8665810" y="5158677"/>
                  </a:lnTo>
                  <a:lnTo>
                    <a:pt x="8650128" y="5201523"/>
                  </a:lnTo>
                  <a:lnTo>
                    <a:pt x="8630491" y="5242288"/>
                  </a:lnTo>
                  <a:lnTo>
                    <a:pt x="8607132" y="5280738"/>
                  </a:lnTo>
                  <a:lnTo>
                    <a:pt x="8580286" y="5316639"/>
                  </a:lnTo>
                  <a:lnTo>
                    <a:pt x="8550187" y="5349756"/>
                  </a:lnTo>
                  <a:lnTo>
                    <a:pt x="8517070" y="5379855"/>
                  </a:lnTo>
                  <a:lnTo>
                    <a:pt x="8481169" y="5406701"/>
                  </a:lnTo>
                  <a:lnTo>
                    <a:pt x="8442719" y="5430060"/>
                  </a:lnTo>
                  <a:lnTo>
                    <a:pt x="8401954" y="5449697"/>
                  </a:lnTo>
                  <a:lnTo>
                    <a:pt x="8359108" y="5465379"/>
                  </a:lnTo>
                  <a:lnTo>
                    <a:pt x="8314417" y="5476870"/>
                  </a:lnTo>
                  <a:lnTo>
                    <a:pt x="8268113" y="5483937"/>
                  </a:lnTo>
                  <a:lnTo>
                    <a:pt x="8220432" y="5486345"/>
                  </a:lnTo>
                  <a:lnTo>
                    <a:pt x="466344" y="5486345"/>
                  </a:lnTo>
                  <a:lnTo>
                    <a:pt x="418663" y="5483937"/>
                  </a:lnTo>
                  <a:lnTo>
                    <a:pt x="372359" y="5476870"/>
                  </a:lnTo>
                  <a:lnTo>
                    <a:pt x="327667" y="5465379"/>
                  </a:lnTo>
                  <a:lnTo>
                    <a:pt x="284821" y="5449697"/>
                  </a:lnTo>
                  <a:lnTo>
                    <a:pt x="244056" y="5430060"/>
                  </a:lnTo>
                  <a:lnTo>
                    <a:pt x="205606" y="5406701"/>
                  </a:lnTo>
                  <a:lnTo>
                    <a:pt x="169705" y="5379855"/>
                  </a:lnTo>
                  <a:lnTo>
                    <a:pt x="136588" y="5349756"/>
                  </a:lnTo>
                  <a:lnTo>
                    <a:pt x="106490" y="5316639"/>
                  </a:lnTo>
                  <a:lnTo>
                    <a:pt x="79644" y="5280738"/>
                  </a:lnTo>
                  <a:lnTo>
                    <a:pt x="56285" y="5242288"/>
                  </a:lnTo>
                  <a:lnTo>
                    <a:pt x="36647" y="5201523"/>
                  </a:lnTo>
                  <a:lnTo>
                    <a:pt x="20965" y="5158677"/>
                  </a:lnTo>
                  <a:lnTo>
                    <a:pt x="9474" y="5113985"/>
                  </a:lnTo>
                  <a:lnTo>
                    <a:pt x="2407" y="5067682"/>
                  </a:lnTo>
                  <a:lnTo>
                    <a:pt x="0" y="5020001"/>
                  </a:lnTo>
                  <a:lnTo>
                    <a:pt x="0" y="466343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6803" y="2286000"/>
              <a:ext cx="8383524" cy="397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7848" y="2375916"/>
              <a:ext cx="7877556" cy="123444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0812" y="2325624"/>
              <a:ext cx="8255508" cy="384352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26522" y="1130549"/>
            <a:ext cx="7446645" cy="216916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3279"/>
              </a:lnSpc>
              <a:spcBef>
                <a:spcPts val="570"/>
              </a:spcBef>
            </a:pPr>
            <a:r>
              <a:rPr sz="3100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31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FFFFFF"/>
                </a:solidFill>
                <a:latin typeface="Rockwell"/>
                <a:cs typeface="Rockwell"/>
              </a:rPr>
              <a:t>two</a:t>
            </a:r>
            <a:r>
              <a:rPr sz="31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FFFFFF"/>
                </a:solidFill>
                <a:latin typeface="Rockwell"/>
                <a:cs typeface="Rockwell"/>
              </a:rPr>
              <a:t>most</a:t>
            </a:r>
            <a:r>
              <a:rPr sz="31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FFFFFF"/>
                </a:solidFill>
                <a:latin typeface="Rockwell"/>
                <a:cs typeface="Rockwell"/>
              </a:rPr>
              <a:t>important</a:t>
            </a:r>
            <a:r>
              <a:rPr sz="31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Rockwell"/>
                <a:cs typeface="Rockwell"/>
              </a:rPr>
              <a:t>characteristics</a:t>
            </a:r>
            <a:r>
              <a:rPr sz="31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Rockwell"/>
                <a:cs typeface="Rockwell"/>
              </a:rPr>
              <a:t>of</a:t>
            </a:r>
            <a:r>
              <a:rPr sz="31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Rockwell"/>
                <a:cs typeface="Rockwell"/>
              </a:rPr>
              <a:t>memory</a:t>
            </a:r>
            <a:endParaRPr sz="3100">
              <a:latin typeface="Rockwell"/>
              <a:cs typeface="Rockwell"/>
            </a:endParaRPr>
          </a:p>
          <a:p>
            <a:pPr>
              <a:lnSpc>
                <a:spcPct val="100000"/>
              </a:lnSpc>
              <a:spcBef>
                <a:spcPts val="2605"/>
              </a:spcBef>
            </a:pPr>
            <a:endParaRPr sz="3100">
              <a:latin typeface="Rockwell"/>
              <a:cs typeface="Rockwell"/>
            </a:endParaRPr>
          </a:p>
          <a:p>
            <a:pPr marL="168910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solidFill>
                  <a:srgbClr val="FFFFFF"/>
                </a:solidFill>
                <a:latin typeface="Rockwell"/>
                <a:cs typeface="Rockwell"/>
              </a:rPr>
              <a:t>Three</a:t>
            </a:r>
            <a:r>
              <a:rPr sz="3000" spc="-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Rockwell"/>
                <a:cs typeface="Rockwell"/>
              </a:rPr>
              <a:t>performance</a:t>
            </a:r>
            <a:r>
              <a:rPr sz="30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Rockwell"/>
                <a:cs typeface="Rockwell"/>
              </a:rPr>
              <a:t>parameters</a:t>
            </a:r>
            <a:r>
              <a:rPr sz="30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Rockwell"/>
                <a:cs typeface="Rockwell"/>
              </a:rPr>
              <a:t>are</a:t>
            </a:r>
            <a:r>
              <a:rPr sz="3000" spc="-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Rockwell"/>
                <a:cs typeface="Rockwell"/>
              </a:rPr>
              <a:t>used:</a:t>
            </a:r>
            <a:endParaRPr sz="3000">
              <a:latin typeface="Rockwell"/>
              <a:cs typeface="Rockwel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1558" y="4048764"/>
            <a:ext cx="2597150" cy="1741170"/>
            <a:chOff x="601558" y="4048764"/>
            <a:chExt cx="2597150" cy="1741170"/>
          </a:xfrm>
        </p:grpSpPr>
        <p:sp>
          <p:nvSpPr>
            <p:cNvPr id="15" name="object 15"/>
            <p:cNvSpPr/>
            <p:nvPr/>
          </p:nvSpPr>
          <p:spPr>
            <a:xfrm>
              <a:off x="607908" y="4055114"/>
              <a:ext cx="2584450" cy="1728470"/>
            </a:xfrm>
            <a:custGeom>
              <a:avLst/>
              <a:gdLst/>
              <a:ahLst/>
              <a:cxnLst/>
              <a:rect l="l" t="t" r="r" b="b"/>
              <a:pathLst>
                <a:path w="2584450" h="1728470">
                  <a:moveTo>
                    <a:pt x="2402503" y="0"/>
                  </a:moveTo>
                  <a:lnTo>
                    <a:pt x="181462" y="0"/>
                  </a:lnTo>
                  <a:lnTo>
                    <a:pt x="133225" y="6475"/>
                  </a:lnTo>
                  <a:lnTo>
                    <a:pt x="89878" y="24755"/>
                  </a:lnTo>
                  <a:lnTo>
                    <a:pt x="53151" y="53116"/>
                  </a:lnTo>
                  <a:lnTo>
                    <a:pt x="24776" y="89838"/>
                  </a:lnTo>
                  <a:lnTo>
                    <a:pt x="6482" y="133198"/>
                  </a:lnTo>
                  <a:lnTo>
                    <a:pt x="0" y="181474"/>
                  </a:lnTo>
                  <a:lnTo>
                    <a:pt x="0" y="1546716"/>
                  </a:lnTo>
                  <a:lnTo>
                    <a:pt x="6482" y="1594954"/>
                  </a:lnTo>
                  <a:lnTo>
                    <a:pt x="24776" y="1638299"/>
                  </a:lnTo>
                  <a:lnTo>
                    <a:pt x="53151" y="1675022"/>
                  </a:lnTo>
                  <a:lnTo>
                    <a:pt x="89878" y="1703394"/>
                  </a:lnTo>
                  <a:lnTo>
                    <a:pt x="133225" y="1721685"/>
                  </a:lnTo>
                  <a:lnTo>
                    <a:pt x="181462" y="1728167"/>
                  </a:lnTo>
                  <a:lnTo>
                    <a:pt x="2402503" y="1728167"/>
                  </a:lnTo>
                  <a:lnTo>
                    <a:pt x="2450736" y="1721685"/>
                  </a:lnTo>
                  <a:lnTo>
                    <a:pt x="2494085" y="1703394"/>
                  </a:lnTo>
                  <a:lnTo>
                    <a:pt x="2530818" y="1675022"/>
                  </a:lnTo>
                  <a:lnTo>
                    <a:pt x="2559201" y="1638299"/>
                  </a:lnTo>
                  <a:lnTo>
                    <a:pt x="2577502" y="1594954"/>
                  </a:lnTo>
                  <a:lnTo>
                    <a:pt x="2583987" y="1546716"/>
                  </a:lnTo>
                  <a:lnTo>
                    <a:pt x="2583987" y="181474"/>
                  </a:lnTo>
                  <a:lnTo>
                    <a:pt x="2577502" y="133198"/>
                  </a:lnTo>
                  <a:lnTo>
                    <a:pt x="2559201" y="89838"/>
                  </a:lnTo>
                  <a:lnTo>
                    <a:pt x="2530818" y="53116"/>
                  </a:lnTo>
                  <a:lnTo>
                    <a:pt x="2494085" y="24755"/>
                  </a:lnTo>
                  <a:lnTo>
                    <a:pt x="2450736" y="6475"/>
                  </a:lnTo>
                  <a:lnTo>
                    <a:pt x="240250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7908" y="4055114"/>
              <a:ext cx="2584450" cy="1728470"/>
            </a:xfrm>
            <a:custGeom>
              <a:avLst/>
              <a:gdLst/>
              <a:ahLst/>
              <a:cxnLst/>
              <a:rect l="l" t="t" r="r" b="b"/>
              <a:pathLst>
                <a:path w="2584450" h="1728470">
                  <a:moveTo>
                    <a:pt x="0" y="181474"/>
                  </a:moveTo>
                  <a:lnTo>
                    <a:pt x="6482" y="133198"/>
                  </a:lnTo>
                  <a:lnTo>
                    <a:pt x="24776" y="89838"/>
                  </a:lnTo>
                  <a:lnTo>
                    <a:pt x="53151" y="53116"/>
                  </a:lnTo>
                  <a:lnTo>
                    <a:pt x="89878" y="24755"/>
                  </a:lnTo>
                  <a:lnTo>
                    <a:pt x="133225" y="6475"/>
                  </a:lnTo>
                  <a:lnTo>
                    <a:pt x="181462" y="0"/>
                  </a:lnTo>
                  <a:lnTo>
                    <a:pt x="2402503" y="0"/>
                  </a:lnTo>
                  <a:lnTo>
                    <a:pt x="2450736" y="6475"/>
                  </a:lnTo>
                  <a:lnTo>
                    <a:pt x="2494085" y="24755"/>
                  </a:lnTo>
                  <a:lnTo>
                    <a:pt x="2530818" y="53116"/>
                  </a:lnTo>
                  <a:lnTo>
                    <a:pt x="2559201" y="89838"/>
                  </a:lnTo>
                  <a:lnTo>
                    <a:pt x="2577502" y="133198"/>
                  </a:lnTo>
                  <a:lnTo>
                    <a:pt x="2583987" y="181474"/>
                  </a:lnTo>
                  <a:lnTo>
                    <a:pt x="2583987" y="1546716"/>
                  </a:lnTo>
                  <a:lnTo>
                    <a:pt x="2577502" y="1594954"/>
                  </a:lnTo>
                  <a:lnTo>
                    <a:pt x="2559201" y="1638299"/>
                  </a:lnTo>
                  <a:lnTo>
                    <a:pt x="2530818" y="1675022"/>
                  </a:lnTo>
                  <a:lnTo>
                    <a:pt x="2494085" y="1703394"/>
                  </a:lnTo>
                  <a:lnTo>
                    <a:pt x="2450736" y="1721685"/>
                  </a:lnTo>
                  <a:lnTo>
                    <a:pt x="2402503" y="1728167"/>
                  </a:lnTo>
                  <a:lnTo>
                    <a:pt x="181462" y="1728167"/>
                  </a:lnTo>
                  <a:lnTo>
                    <a:pt x="133225" y="1721685"/>
                  </a:lnTo>
                  <a:lnTo>
                    <a:pt x="89878" y="1703394"/>
                  </a:lnTo>
                  <a:lnTo>
                    <a:pt x="53151" y="1675022"/>
                  </a:lnTo>
                  <a:lnTo>
                    <a:pt x="24776" y="1638299"/>
                  </a:lnTo>
                  <a:lnTo>
                    <a:pt x="6482" y="1594954"/>
                  </a:lnTo>
                  <a:lnTo>
                    <a:pt x="0" y="1546716"/>
                  </a:lnTo>
                  <a:lnTo>
                    <a:pt x="0" y="181474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1746" y="4052437"/>
            <a:ext cx="2380615" cy="143891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400" dirty="0">
                <a:latin typeface="Rockwell"/>
                <a:cs typeface="Rockwell"/>
              </a:rPr>
              <a:t>Access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Rockwell"/>
                <a:cs typeface="Rockwell"/>
              </a:rPr>
              <a:t>time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Rockwell"/>
                <a:cs typeface="Rockwell"/>
              </a:rPr>
              <a:t>(latency)</a:t>
            </a:r>
            <a:endParaRPr sz="1400">
              <a:latin typeface="Rockwell"/>
              <a:cs typeface="Rockwell"/>
            </a:endParaRPr>
          </a:p>
          <a:p>
            <a:pPr marL="70485" marR="5080" indent="-58419">
              <a:lnSpc>
                <a:spcPts val="1160"/>
              </a:lnSpc>
              <a:spcBef>
                <a:spcPts val="595"/>
              </a:spcBef>
              <a:buSzPct val="90909"/>
              <a:buChar char="•"/>
              <a:tabLst>
                <a:tab pos="70485" algn="l"/>
              </a:tabLst>
            </a:pPr>
            <a:r>
              <a:rPr sz="1100" dirty="0">
                <a:latin typeface="Rockwell"/>
                <a:cs typeface="Rockwell"/>
              </a:rPr>
              <a:t>For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random-access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memory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is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Rockwell"/>
                <a:cs typeface="Rockwell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time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takes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perform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read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Rockwell"/>
                <a:cs typeface="Rockwell"/>
              </a:rPr>
              <a:t>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write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Rockwell"/>
                <a:cs typeface="Rockwell"/>
              </a:rPr>
              <a:t>operation</a:t>
            </a:r>
            <a:endParaRPr sz="1100">
              <a:latin typeface="Rockwell"/>
              <a:cs typeface="Rockwell"/>
            </a:endParaRPr>
          </a:p>
          <a:p>
            <a:pPr marL="70485" marR="91440" indent="-58419">
              <a:lnSpc>
                <a:spcPts val="1160"/>
              </a:lnSpc>
              <a:spcBef>
                <a:spcPts val="200"/>
              </a:spcBef>
              <a:buSzPct val="90909"/>
              <a:buChar char="•"/>
              <a:tabLst>
                <a:tab pos="70485" algn="l"/>
              </a:tabLst>
            </a:pPr>
            <a:r>
              <a:rPr sz="1100" dirty="0">
                <a:latin typeface="Rockwell"/>
                <a:cs typeface="Rockwell"/>
              </a:rPr>
              <a:t>For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non-</a:t>
            </a:r>
            <a:r>
              <a:rPr sz="1100" spc="-10" dirty="0">
                <a:latin typeface="Rockwell"/>
                <a:cs typeface="Rockwell"/>
              </a:rPr>
              <a:t>random-</a:t>
            </a:r>
            <a:r>
              <a:rPr sz="1100" dirty="0">
                <a:latin typeface="Rockwell"/>
                <a:cs typeface="Rockwell"/>
              </a:rPr>
              <a:t>access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memory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Rockwell"/>
                <a:cs typeface="Rockwell"/>
              </a:rPr>
              <a:t>it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time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it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takes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position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Rockwell"/>
                <a:cs typeface="Rockwell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read-write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mechanism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Rockwell"/>
                <a:cs typeface="Rockwell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desired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Rockwell"/>
                <a:cs typeface="Rockwell"/>
              </a:rPr>
              <a:t>location</a:t>
            </a:r>
            <a:endParaRPr sz="1100">
              <a:latin typeface="Rockwell"/>
              <a:cs typeface="Rockwel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28461" y="3920748"/>
            <a:ext cx="2597150" cy="1997075"/>
            <a:chOff x="3228461" y="3920748"/>
            <a:chExt cx="2597150" cy="1997075"/>
          </a:xfrm>
        </p:grpSpPr>
        <p:sp>
          <p:nvSpPr>
            <p:cNvPr id="19" name="object 19"/>
            <p:cNvSpPr/>
            <p:nvPr/>
          </p:nvSpPr>
          <p:spPr>
            <a:xfrm>
              <a:off x="3234811" y="3927098"/>
              <a:ext cx="2584450" cy="1984375"/>
            </a:xfrm>
            <a:custGeom>
              <a:avLst/>
              <a:gdLst/>
              <a:ahLst/>
              <a:cxnLst/>
              <a:rect l="l" t="t" r="r" b="b"/>
              <a:pathLst>
                <a:path w="2584450" h="1984375">
                  <a:moveTo>
                    <a:pt x="2375550" y="0"/>
                  </a:moveTo>
                  <a:lnTo>
                    <a:pt x="208300" y="0"/>
                  </a:lnTo>
                  <a:lnTo>
                    <a:pt x="160532" y="5498"/>
                  </a:lnTo>
                  <a:lnTo>
                    <a:pt x="116685" y="21163"/>
                  </a:lnTo>
                  <a:lnTo>
                    <a:pt x="78010" y="45745"/>
                  </a:lnTo>
                  <a:lnTo>
                    <a:pt x="45754" y="77995"/>
                  </a:lnTo>
                  <a:lnTo>
                    <a:pt x="21168" y="116666"/>
                  </a:lnTo>
                  <a:lnTo>
                    <a:pt x="5500" y="160509"/>
                  </a:lnTo>
                  <a:lnTo>
                    <a:pt x="0" y="208275"/>
                  </a:lnTo>
                  <a:lnTo>
                    <a:pt x="0" y="1775865"/>
                  </a:lnTo>
                  <a:lnTo>
                    <a:pt x="5500" y="1823638"/>
                  </a:lnTo>
                  <a:lnTo>
                    <a:pt x="21168" y="1867491"/>
                  </a:lnTo>
                  <a:lnTo>
                    <a:pt x="45754" y="1906173"/>
                  </a:lnTo>
                  <a:lnTo>
                    <a:pt x="78010" y="1938435"/>
                  </a:lnTo>
                  <a:lnTo>
                    <a:pt x="116685" y="1963026"/>
                  </a:lnTo>
                  <a:lnTo>
                    <a:pt x="160532" y="1978697"/>
                  </a:lnTo>
                  <a:lnTo>
                    <a:pt x="208300" y="1984199"/>
                  </a:lnTo>
                  <a:lnTo>
                    <a:pt x="2375550" y="1984199"/>
                  </a:lnTo>
                  <a:lnTo>
                    <a:pt x="2423323" y="1978697"/>
                  </a:lnTo>
                  <a:lnTo>
                    <a:pt x="2467182" y="1963026"/>
                  </a:lnTo>
                  <a:lnTo>
                    <a:pt x="2505876" y="1938435"/>
                  </a:lnTo>
                  <a:lnTo>
                    <a:pt x="2538151" y="1906173"/>
                  </a:lnTo>
                  <a:lnTo>
                    <a:pt x="2562755" y="1867491"/>
                  </a:lnTo>
                  <a:lnTo>
                    <a:pt x="2578436" y="1823638"/>
                  </a:lnTo>
                  <a:lnTo>
                    <a:pt x="2583941" y="1775865"/>
                  </a:lnTo>
                  <a:lnTo>
                    <a:pt x="2583941" y="208275"/>
                  </a:lnTo>
                  <a:lnTo>
                    <a:pt x="2578436" y="160509"/>
                  </a:lnTo>
                  <a:lnTo>
                    <a:pt x="2562755" y="116666"/>
                  </a:lnTo>
                  <a:lnTo>
                    <a:pt x="2538151" y="77995"/>
                  </a:lnTo>
                  <a:lnTo>
                    <a:pt x="2505876" y="45745"/>
                  </a:lnTo>
                  <a:lnTo>
                    <a:pt x="2467182" y="21163"/>
                  </a:lnTo>
                  <a:lnTo>
                    <a:pt x="2423323" y="5498"/>
                  </a:lnTo>
                  <a:lnTo>
                    <a:pt x="23755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34811" y="3927098"/>
              <a:ext cx="2584450" cy="1984375"/>
            </a:xfrm>
            <a:custGeom>
              <a:avLst/>
              <a:gdLst/>
              <a:ahLst/>
              <a:cxnLst/>
              <a:rect l="l" t="t" r="r" b="b"/>
              <a:pathLst>
                <a:path w="2584450" h="1984375">
                  <a:moveTo>
                    <a:pt x="0" y="208275"/>
                  </a:moveTo>
                  <a:lnTo>
                    <a:pt x="5500" y="160509"/>
                  </a:lnTo>
                  <a:lnTo>
                    <a:pt x="21168" y="116666"/>
                  </a:lnTo>
                  <a:lnTo>
                    <a:pt x="45754" y="77995"/>
                  </a:lnTo>
                  <a:lnTo>
                    <a:pt x="78010" y="45745"/>
                  </a:lnTo>
                  <a:lnTo>
                    <a:pt x="116685" y="21163"/>
                  </a:lnTo>
                  <a:lnTo>
                    <a:pt x="160532" y="5498"/>
                  </a:lnTo>
                  <a:lnTo>
                    <a:pt x="208300" y="0"/>
                  </a:lnTo>
                  <a:lnTo>
                    <a:pt x="2375550" y="0"/>
                  </a:lnTo>
                  <a:lnTo>
                    <a:pt x="2423323" y="5498"/>
                  </a:lnTo>
                  <a:lnTo>
                    <a:pt x="2467182" y="21163"/>
                  </a:lnTo>
                  <a:lnTo>
                    <a:pt x="2505876" y="45745"/>
                  </a:lnTo>
                  <a:lnTo>
                    <a:pt x="2538151" y="77995"/>
                  </a:lnTo>
                  <a:lnTo>
                    <a:pt x="2562755" y="116666"/>
                  </a:lnTo>
                  <a:lnTo>
                    <a:pt x="2578436" y="160509"/>
                  </a:lnTo>
                  <a:lnTo>
                    <a:pt x="2583941" y="208275"/>
                  </a:lnTo>
                  <a:lnTo>
                    <a:pt x="2583941" y="1775865"/>
                  </a:lnTo>
                  <a:lnTo>
                    <a:pt x="2578436" y="1823638"/>
                  </a:lnTo>
                  <a:lnTo>
                    <a:pt x="2562755" y="1867491"/>
                  </a:lnTo>
                  <a:lnTo>
                    <a:pt x="2538151" y="1906173"/>
                  </a:lnTo>
                  <a:lnTo>
                    <a:pt x="2505876" y="1938435"/>
                  </a:lnTo>
                  <a:lnTo>
                    <a:pt x="2467182" y="1963026"/>
                  </a:lnTo>
                  <a:lnTo>
                    <a:pt x="2423323" y="1978697"/>
                  </a:lnTo>
                  <a:lnTo>
                    <a:pt x="2375550" y="1984199"/>
                  </a:lnTo>
                  <a:lnTo>
                    <a:pt x="208300" y="1984199"/>
                  </a:lnTo>
                  <a:lnTo>
                    <a:pt x="160532" y="1978697"/>
                  </a:lnTo>
                  <a:lnTo>
                    <a:pt x="116685" y="1963026"/>
                  </a:lnTo>
                  <a:lnTo>
                    <a:pt x="78010" y="1938435"/>
                  </a:lnTo>
                  <a:lnTo>
                    <a:pt x="45754" y="1906173"/>
                  </a:lnTo>
                  <a:lnTo>
                    <a:pt x="21168" y="1867491"/>
                  </a:lnTo>
                  <a:lnTo>
                    <a:pt x="5500" y="1823638"/>
                  </a:lnTo>
                  <a:lnTo>
                    <a:pt x="0" y="1775865"/>
                  </a:lnTo>
                  <a:lnTo>
                    <a:pt x="0" y="208275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37054" y="3932251"/>
            <a:ext cx="2219960" cy="175895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30"/>
              </a:spcBef>
            </a:pPr>
            <a:r>
              <a:rPr sz="1400" dirty="0">
                <a:latin typeface="Rockwell"/>
                <a:cs typeface="Rockwell"/>
              </a:rPr>
              <a:t>Memory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Rockwell"/>
                <a:cs typeface="Rockwell"/>
              </a:rPr>
              <a:t>cycle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Rockwell"/>
                <a:cs typeface="Rockwell"/>
              </a:rPr>
              <a:t>time</a:t>
            </a:r>
            <a:endParaRPr sz="1400">
              <a:latin typeface="Rockwell"/>
              <a:cs typeface="Rockwell"/>
            </a:endParaRPr>
          </a:p>
          <a:p>
            <a:pPr marL="69215" marR="111125" indent="-57150">
              <a:lnSpc>
                <a:spcPts val="1160"/>
              </a:lnSpc>
              <a:spcBef>
                <a:spcPts val="595"/>
              </a:spcBef>
              <a:buSzPct val="90909"/>
              <a:buChar char="•"/>
              <a:tabLst>
                <a:tab pos="70485" algn="l"/>
              </a:tabLst>
            </a:pPr>
            <a:r>
              <a:rPr sz="1100" dirty="0">
                <a:latin typeface="Rockwell"/>
                <a:cs typeface="Rockwell"/>
              </a:rPr>
              <a:t>Access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time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plus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any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Rockwell"/>
                <a:cs typeface="Rockwell"/>
              </a:rPr>
              <a:t>additional</a:t>
            </a:r>
            <a:r>
              <a:rPr sz="1100" spc="-10" dirty="0">
                <a:latin typeface="Times New Roman"/>
                <a:cs typeface="Times New Roman"/>
              </a:rPr>
              <a:t> 	</a:t>
            </a:r>
            <a:r>
              <a:rPr sz="1100" dirty="0">
                <a:latin typeface="Rockwell"/>
                <a:cs typeface="Rockwell"/>
              </a:rPr>
              <a:t>time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required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before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Rockwell"/>
                <a:cs typeface="Rockwell"/>
              </a:rPr>
              <a:t>second</a:t>
            </a:r>
            <a:r>
              <a:rPr sz="1100" spc="-10" dirty="0">
                <a:latin typeface="Times New Roman"/>
                <a:cs typeface="Times New Roman"/>
              </a:rPr>
              <a:t> 	</a:t>
            </a:r>
            <a:r>
              <a:rPr sz="1100" dirty="0">
                <a:latin typeface="Rockwell"/>
                <a:cs typeface="Rockwell"/>
              </a:rPr>
              <a:t>access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can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Rockwell"/>
                <a:cs typeface="Rockwell"/>
              </a:rPr>
              <a:t>commence</a:t>
            </a:r>
            <a:endParaRPr sz="1100">
              <a:latin typeface="Rockwell"/>
              <a:cs typeface="Rockwell"/>
            </a:endParaRPr>
          </a:p>
          <a:p>
            <a:pPr marL="70485" marR="5080" indent="-58419" algn="just">
              <a:lnSpc>
                <a:spcPts val="1160"/>
              </a:lnSpc>
              <a:spcBef>
                <a:spcPts val="200"/>
              </a:spcBef>
              <a:buSzPct val="90909"/>
              <a:buChar char="•"/>
              <a:tabLst>
                <a:tab pos="70485" algn="l"/>
              </a:tabLst>
            </a:pPr>
            <a:r>
              <a:rPr sz="1100" dirty="0">
                <a:latin typeface="Rockwell"/>
                <a:cs typeface="Rockwell"/>
              </a:rPr>
              <a:t>Additional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time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may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be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Rockwell"/>
                <a:cs typeface="Rockwell"/>
              </a:rPr>
              <a:t>required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for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transients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die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out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Rockwell"/>
                <a:cs typeface="Rockwell"/>
              </a:rPr>
              <a:t>signal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lines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regenerate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data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if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Rockwell"/>
                <a:cs typeface="Rockwell"/>
              </a:rPr>
              <a:t>they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are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read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Rockwell"/>
                <a:cs typeface="Rockwell"/>
              </a:rPr>
              <a:t>destructively</a:t>
            </a:r>
            <a:endParaRPr sz="1100">
              <a:latin typeface="Rockwell"/>
              <a:cs typeface="Rockwell"/>
            </a:endParaRPr>
          </a:p>
          <a:p>
            <a:pPr marL="70485" indent="-57785" algn="just">
              <a:lnSpc>
                <a:spcPts val="1240"/>
              </a:lnSpc>
              <a:spcBef>
                <a:spcPts val="40"/>
              </a:spcBef>
              <a:buSzPct val="90909"/>
              <a:buChar char="•"/>
              <a:tabLst>
                <a:tab pos="70485" algn="l"/>
              </a:tabLst>
            </a:pPr>
            <a:r>
              <a:rPr sz="1100" dirty="0">
                <a:latin typeface="Rockwell"/>
                <a:cs typeface="Rockwell"/>
              </a:rPr>
              <a:t>Concerned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with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system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Rockwell"/>
                <a:cs typeface="Rockwell"/>
              </a:rPr>
              <a:t>bus,</a:t>
            </a:r>
            <a:endParaRPr sz="1100">
              <a:latin typeface="Rockwell"/>
              <a:cs typeface="Rockwell"/>
            </a:endParaRPr>
          </a:p>
          <a:p>
            <a:pPr marL="70485" algn="just">
              <a:lnSpc>
                <a:spcPts val="1240"/>
              </a:lnSpc>
            </a:pPr>
            <a:r>
              <a:rPr sz="1100" dirty="0">
                <a:latin typeface="Rockwell"/>
                <a:cs typeface="Rockwell"/>
              </a:rPr>
              <a:t>not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Rockwell"/>
                <a:cs typeface="Rockwell"/>
              </a:rPr>
              <a:t>processor</a:t>
            </a:r>
            <a:endParaRPr sz="1100">
              <a:latin typeface="Rockwell"/>
              <a:cs typeface="Rockwel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855349" y="4048764"/>
            <a:ext cx="2597150" cy="1741170"/>
            <a:chOff x="5855349" y="4048764"/>
            <a:chExt cx="2597150" cy="1741170"/>
          </a:xfrm>
        </p:grpSpPr>
        <p:sp>
          <p:nvSpPr>
            <p:cNvPr id="23" name="object 23"/>
            <p:cNvSpPr/>
            <p:nvPr/>
          </p:nvSpPr>
          <p:spPr>
            <a:xfrm>
              <a:off x="5861699" y="4055114"/>
              <a:ext cx="2584450" cy="1728470"/>
            </a:xfrm>
            <a:custGeom>
              <a:avLst/>
              <a:gdLst/>
              <a:ahLst/>
              <a:cxnLst/>
              <a:rect l="l" t="t" r="r" b="b"/>
              <a:pathLst>
                <a:path w="2584450" h="1728470">
                  <a:moveTo>
                    <a:pt x="2402433" y="0"/>
                  </a:moveTo>
                  <a:lnTo>
                    <a:pt x="181477" y="0"/>
                  </a:lnTo>
                  <a:lnTo>
                    <a:pt x="133237" y="6475"/>
                  </a:lnTo>
                  <a:lnTo>
                    <a:pt x="89886" y="24755"/>
                  </a:lnTo>
                  <a:lnTo>
                    <a:pt x="53157" y="53116"/>
                  </a:lnTo>
                  <a:lnTo>
                    <a:pt x="24779" y="89838"/>
                  </a:lnTo>
                  <a:lnTo>
                    <a:pt x="6483" y="133198"/>
                  </a:lnTo>
                  <a:lnTo>
                    <a:pt x="0" y="181474"/>
                  </a:lnTo>
                  <a:lnTo>
                    <a:pt x="0" y="1546716"/>
                  </a:lnTo>
                  <a:lnTo>
                    <a:pt x="6483" y="1594954"/>
                  </a:lnTo>
                  <a:lnTo>
                    <a:pt x="24779" y="1638299"/>
                  </a:lnTo>
                  <a:lnTo>
                    <a:pt x="53157" y="1675022"/>
                  </a:lnTo>
                  <a:lnTo>
                    <a:pt x="89886" y="1703394"/>
                  </a:lnTo>
                  <a:lnTo>
                    <a:pt x="133237" y="1721685"/>
                  </a:lnTo>
                  <a:lnTo>
                    <a:pt x="181477" y="1728167"/>
                  </a:lnTo>
                  <a:lnTo>
                    <a:pt x="2402433" y="1728167"/>
                  </a:lnTo>
                  <a:lnTo>
                    <a:pt x="2450676" y="1721685"/>
                  </a:lnTo>
                  <a:lnTo>
                    <a:pt x="2494032" y="1703394"/>
                  </a:lnTo>
                  <a:lnTo>
                    <a:pt x="2530769" y="1675022"/>
                  </a:lnTo>
                  <a:lnTo>
                    <a:pt x="2559154" y="1638299"/>
                  </a:lnTo>
                  <a:lnTo>
                    <a:pt x="2577456" y="1594954"/>
                  </a:lnTo>
                  <a:lnTo>
                    <a:pt x="2583941" y="1546716"/>
                  </a:lnTo>
                  <a:lnTo>
                    <a:pt x="2583941" y="181474"/>
                  </a:lnTo>
                  <a:lnTo>
                    <a:pt x="2577456" y="133198"/>
                  </a:lnTo>
                  <a:lnTo>
                    <a:pt x="2559154" y="89838"/>
                  </a:lnTo>
                  <a:lnTo>
                    <a:pt x="2530769" y="53116"/>
                  </a:lnTo>
                  <a:lnTo>
                    <a:pt x="2494032" y="24755"/>
                  </a:lnTo>
                  <a:lnTo>
                    <a:pt x="2450676" y="6475"/>
                  </a:lnTo>
                  <a:lnTo>
                    <a:pt x="240243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61699" y="4055114"/>
              <a:ext cx="2584450" cy="1728470"/>
            </a:xfrm>
            <a:custGeom>
              <a:avLst/>
              <a:gdLst/>
              <a:ahLst/>
              <a:cxnLst/>
              <a:rect l="l" t="t" r="r" b="b"/>
              <a:pathLst>
                <a:path w="2584450" h="1728470">
                  <a:moveTo>
                    <a:pt x="0" y="181474"/>
                  </a:moveTo>
                  <a:lnTo>
                    <a:pt x="6483" y="133198"/>
                  </a:lnTo>
                  <a:lnTo>
                    <a:pt x="24779" y="89838"/>
                  </a:lnTo>
                  <a:lnTo>
                    <a:pt x="53157" y="53116"/>
                  </a:lnTo>
                  <a:lnTo>
                    <a:pt x="89886" y="24755"/>
                  </a:lnTo>
                  <a:lnTo>
                    <a:pt x="133237" y="6475"/>
                  </a:lnTo>
                  <a:lnTo>
                    <a:pt x="181477" y="0"/>
                  </a:lnTo>
                  <a:lnTo>
                    <a:pt x="2402433" y="0"/>
                  </a:lnTo>
                  <a:lnTo>
                    <a:pt x="2450676" y="6475"/>
                  </a:lnTo>
                  <a:lnTo>
                    <a:pt x="2494032" y="24755"/>
                  </a:lnTo>
                  <a:lnTo>
                    <a:pt x="2530769" y="53116"/>
                  </a:lnTo>
                  <a:lnTo>
                    <a:pt x="2559154" y="89838"/>
                  </a:lnTo>
                  <a:lnTo>
                    <a:pt x="2577456" y="133198"/>
                  </a:lnTo>
                  <a:lnTo>
                    <a:pt x="2583941" y="181474"/>
                  </a:lnTo>
                  <a:lnTo>
                    <a:pt x="2583941" y="1546716"/>
                  </a:lnTo>
                  <a:lnTo>
                    <a:pt x="2577456" y="1594954"/>
                  </a:lnTo>
                  <a:lnTo>
                    <a:pt x="2559154" y="1638299"/>
                  </a:lnTo>
                  <a:lnTo>
                    <a:pt x="2530769" y="1675022"/>
                  </a:lnTo>
                  <a:lnTo>
                    <a:pt x="2494032" y="1703394"/>
                  </a:lnTo>
                  <a:lnTo>
                    <a:pt x="2450676" y="1721685"/>
                  </a:lnTo>
                  <a:lnTo>
                    <a:pt x="2402433" y="1728167"/>
                  </a:lnTo>
                  <a:lnTo>
                    <a:pt x="181477" y="1728167"/>
                  </a:lnTo>
                  <a:lnTo>
                    <a:pt x="133237" y="1721685"/>
                  </a:lnTo>
                  <a:lnTo>
                    <a:pt x="89886" y="1703394"/>
                  </a:lnTo>
                  <a:lnTo>
                    <a:pt x="53157" y="1675022"/>
                  </a:lnTo>
                  <a:lnTo>
                    <a:pt x="24779" y="1638299"/>
                  </a:lnTo>
                  <a:lnTo>
                    <a:pt x="6483" y="1594954"/>
                  </a:lnTo>
                  <a:lnTo>
                    <a:pt x="0" y="1546716"/>
                  </a:lnTo>
                  <a:lnTo>
                    <a:pt x="0" y="181474"/>
                  </a:lnTo>
                  <a:close/>
                </a:path>
              </a:pathLst>
            </a:custGeom>
            <a:ln w="12700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56558" y="4052437"/>
            <a:ext cx="2332990" cy="114363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400" dirty="0">
                <a:latin typeface="Rockwell"/>
                <a:cs typeface="Rockwell"/>
              </a:rPr>
              <a:t>Transfer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Rockwell"/>
                <a:cs typeface="Rockwell"/>
              </a:rPr>
              <a:t>rate</a:t>
            </a:r>
            <a:endParaRPr sz="1400">
              <a:latin typeface="Rockwell"/>
              <a:cs typeface="Rockwell"/>
            </a:endParaRPr>
          </a:p>
          <a:p>
            <a:pPr marL="70485" marR="5080" indent="-58419">
              <a:lnSpc>
                <a:spcPts val="1160"/>
              </a:lnSpc>
              <a:spcBef>
                <a:spcPts val="595"/>
              </a:spcBef>
              <a:buSzPct val="90909"/>
              <a:buChar char="•"/>
              <a:tabLst>
                <a:tab pos="70485" algn="l"/>
              </a:tabLst>
            </a:pPr>
            <a:r>
              <a:rPr sz="1100" dirty="0">
                <a:latin typeface="Rockwell"/>
                <a:cs typeface="Rockwell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rate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at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which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data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can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Rockwell"/>
                <a:cs typeface="Rockwell"/>
              </a:rPr>
              <a:t>be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Rockwell"/>
                <a:cs typeface="Rockwell"/>
              </a:rPr>
              <a:t>transferred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into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or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out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of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Rockwell"/>
                <a:cs typeface="Rockwell"/>
              </a:rPr>
              <a:t>memory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Rockwell"/>
                <a:cs typeface="Rockwell"/>
              </a:rPr>
              <a:t>unit</a:t>
            </a:r>
            <a:endParaRPr sz="1100">
              <a:latin typeface="Rockwell"/>
              <a:cs typeface="Rockwell"/>
            </a:endParaRPr>
          </a:p>
          <a:p>
            <a:pPr marL="70485" marR="194310" indent="-58419">
              <a:lnSpc>
                <a:spcPts val="1160"/>
              </a:lnSpc>
              <a:spcBef>
                <a:spcPts val="200"/>
              </a:spcBef>
              <a:buSzPct val="90909"/>
              <a:buChar char="•"/>
              <a:tabLst>
                <a:tab pos="70485" algn="l"/>
              </a:tabLst>
            </a:pPr>
            <a:r>
              <a:rPr sz="1100" dirty="0">
                <a:latin typeface="Rockwell"/>
                <a:cs typeface="Rockwell"/>
              </a:rPr>
              <a:t>For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random-access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memory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it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Rockwell"/>
                <a:cs typeface="Rockwell"/>
              </a:rPr>
              <a:t>is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equal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Rockwell"/>
                <a:cs typeface="Rockwell"/>
              </a:rPr>
              <a:t>1/(cycle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Rockwell"/>
                <a:cs typeface="Rockwell"/>
              </a:rPr>
              <a:t>time)</a:t>
            </a:r>
            <a:endParaRPr sz="1100">
              <a:latin typeface="Rockwell"/>
              <a:cs typeface="Rockwel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411" y="200603"/>
            <a:ext cx="286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508" y="160020"/>
            <a:ext cx="2377440" cy="101193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06582" y="278327"/>
            <a:ext cx="180276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Memory</a:t>
            </a:r>
          </a:p>
        </p:txBody>
      </p:sp>
      <p:sp>
        <p:nvSpPr>
          <p:cNvPr id="4" name="object 4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6298" y="984869"/>
            <a:ext cx="7639050" cy="54248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0"/>
              </a:spcBef>
              <a:buClr>
                <a:srgbClr val="653265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most</a:t>
            </a:r>
            <a:r>
              <a:rPr sz="17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common</a:t>
            </a:r>
            <a:r>
              <a:rPr sz="17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595959"/>
                </a:solidFill>
                <a:latin typeface="Rockwell"/>
                <a:cs typeface="Rockwell"/>
              </a:rPr>
              <a:t>forms</a:t>
            </a:r>
            <a:r>
              <a:rPr sz="17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595959"/>
                </a:solidFill>
                <a:latin typeface="Rockwell"/>
                <a:cs typeface="Rockwell"/>
              </a:rPr>
              <a:t>are:</a:t>
            </a:r>
            <a:endParaRPr sz="17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28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Semiconductor</a:t>
            </a:r>
            <a:r>
              <a:rPr sz="14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4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26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Magnetic</a:t>
            </a:r>
            <a:r>
              <a:rPr sz="1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surface</a:t>
            </a:r>
            <a:r>
              <a:rPr sz="1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4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26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Optical</a:t>
            </a:r>
            <a:endParaRPr sz="14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26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Magneto-optical</a:t>
            </a:r>
            <a:endParaRPr sz="14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614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Several</a:t>
            </a:r>
            <a:r>
              <a:rPr sz="16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physical</a:t>
            </a:r>
            <a:r>
              <a:rPr sz="16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characteristics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6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6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storage</a:t>
            </a:r>
            <a:r>
              <a:rPr sz="16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6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important:</a:t>
            </a:r>
            <a:endParaRPr sz="16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26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400" spc="-20" dirty="0">
                <a:solidFill>
                  <a:srgbClr val="595959"/>
                </a:solidFill>
                <a:latin typeface="Rockwell"/>
                <a:cs typeface="Rockwell"/>
              </a:rPr>
              <a:t>Volatile</a:t>
            </a:r>
            <a:r>
              <a:rPr sz="14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400">
              <a:latin typeface="Rockwell"/>
              <a:cs typeface="Rockwell"/>
            </a:endParaRPr>
          </a:p>
          <a:p>
            <a:pPr marL="698500" lvl="2" indent="-228600">
              <a:lnSpc>
                <a:spcPct val="100000"/>
              </a:lnSpc>
              <a:spcBef>
                <a:spcPts val="26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Information</a:t>
            </a:r>
            <a:r>
              <a:rPr sz="1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decays</a:t>
            </a:r>
            <a:r>
              <a:rPr sz="14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naturally</a:t>
            </a:r>
            <a:r>
              <a:rPr sz="1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4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4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lost</a:t>
            </a:r>
            <a:r>
              <a:rPr sz="1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1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electrical</a:t>
            </a:r>
            <a:r>
              <a:rPr sz="1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power</a:t>
            </a:r>
            <a:r>
              <a:rPr sz="1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4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switched</a:t>
            </a:r>
            <a:r>
              <a:rPr sz="14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ckwell"/>
                <a:cs typeface="Rockwell"/>
              </a:rPr>
              <a:t>off</a:t>
            </a:r>
            <a:endParaRPr sz="14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26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Nonvolatile</a:t>
            </a:r>
            <a:r>
              <a:rPr sz="14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400">
              <a:latin typeface="Rockwell"/>
              <a:cs typeface="Rockwell"/>
            </a:endParaRPr>
          </a:p>
          <a:p>
            <a:pPr marL="698500" lvl="2" indent="-228600">
              <a:lnSpc>
                <a:spcPct val="100000"/>
              </a:lnSpc>
              <a:spcBef>
                <a:spcPts val="27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Once</a:t>
            </a:r>
            <a:r>
              <a:rPr sz="14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ckwell"/>
                <a:cs typeface="Rockwell"/>
              </a:rPr>
              <a:t>recorded,</a:t>
            </a:r>
            <a:r>
              <a:rPr sz="1400" spc="-1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information</a:t>
            </a:r>
            <a:r>
              <a:rPr sz="1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remains</a:t>
            </a:r>
            <a:r>
              <a:rPr sz="14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without</a:t>
            </a:r>
            <a:r>
              <a:rPr sz="1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deterioration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until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deliberately</a:t>
            </a:r>
            <a:r>
              <a:rPr sz="14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changed</a:t>
            </a:r>
            <a:endParaRPr sz="1400">
              <a:latin typeface="Rockwell"/>
              <a:cs typeface="Rockwell"/>
            </a:endParaRPr>
          </a:p>
          <a:p>
            <a:pPr marL="698500" lvl="2" indent="-228600">
              <a:lnSpc>
                <a:spcPct val="100000"/>
              </a:lnSpc>
              <a:spcBef>
                <a:spcPts val="26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No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electrical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power</a:t>
            </a:r>
            <a:r>
              <a:rPr sz="1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needed</a:t>
            </a:r>
            <a:r>
              <a:rPr sz="1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retain</a:t>
            </a:r>
            <a:r>
              <a:rPr sz="1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information</a:t>
            </a:r>
            <a:endParaRPr sz="14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26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Magnetic-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surface</a:t>
            </a:r>
            <a:r>
              <a:rPr sz="14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memories</a:t>
            </a:r>
            <a:endParaRPr sz="1400">
              <a:latin typeface="Rockwell"/>
              <a:cs typeface="Rockwell"/>
            </a:endParaRPr>
          </a:p>
          <a:p>
            <a:pPr marL="698500" lvl="2" indent="-228600">
              <a:lnSpc>
                <a:spcPct val="100000"/>
              </a:lnSpc>
              <a:spcBef>
                <a:spcPts val="26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4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nonvolatile</a:t>
            </a:r>
            <a:endParaRPr sz="14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26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Semiconductor</a:t>
            </a:r>
            <a:r>
              <a:rPr sz="14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400">
              <a:latin typeface="Rockwell"/>
              <a:cs typeface="Rockwell"/>
            </a:endParaRPr>
          </a:p>
          <a:p>
            <a:pPr marL="698500" lvl="2" indent="-228600">
              <a:lnSpc>
                <a:spcPct val="100000"/>
              </a:lnSpc>
              <a:spcBef>
                <a:spcPts val="26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May</a:t>
            </a:r>
            <a:r>
              <a:rPr sz="1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either</a:t>
            </a:r>
            <a:r>
              <a:rPr sz="14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volatile</a:t>
            </a:r>
            <a:r>
              <a:rPr sz="14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4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nonvolatile</a:t>
            </a:r>
            <a:endParaRPr sz="14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26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Nonerasable</a:t>
            </a:r>
            <a:r>
              <a:rPr sz="14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400">
              <a:latin typeface="Rockwell"/>
              <a:cs typeface="Rockwell"/>
            </a:endParaRPr>
          </a:p>
          <a:p>
            <a:pPr marL="698500" lvl="2" indent="-228600">
              <a:lnSpc>
                <a:spcPct val="100000"/>
              </a:lnSpc>
              <a:spcBef>
                <a:spcPts val="26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Cannot</a:t>
            </a:r>
            <a:r>
              <a:rPr sz="1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ckwell"/>
                <a:cs typeface="Rockwell"/>
              </a:rPr>
              <a:t>altered,</a:t>
            </a:r>
            <a:r>
              <a:rPr sz="1400" spc="-1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except</a:t>
            </a:r>
            <a:r>
              <a:rPr sz="1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destroying</a:t>
            </a:r>
            <a:r>
              <a:rPr sz="1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4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storage</a:t>
            </a:r>
            <a:r>
              <a:rPr sz="1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ckwell"/>
                <a:cs typeface="Rockwell"/>
              </a:rPr>
              <a:t>unit</a:t>
            </a:r>
            <a:endParaRPr sz="1400">
              <a:latin typeface="Rockwell"/>
              <a:cs typeface="Rockwell"/>
            </a:endParaRPr>
          </a:p>
          <a:p>
            <a:pPr marL="698500" lvl="2" indent="-228600">
              <a:lnSpc>
                <a:spcPct val="100000"/>
              </a:lnSpc>
              <a:spcBef>
                <a:spcPts val="26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Semiconductor</a:t>
            </a:r>
            <a:r>
              <a:rPr sz="14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type</a:t>
            </a:r>
            <a:r>
              <a:rPr sz="14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known</a:t>
            </a:r>
            <a:r>
              <a:rPr sz="1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Rockwell"/>
                <a:cs typeface="Rockwell"/>
              </a:rPr>
              <a:t>read-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only</a:t>
            </a:r>
            <a:r>
              <a:rPr sz="1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(ROM)</a:t>
            </a:r>
            <a:endParaRPr sz="14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595959"/>
                </a:solidFill>
                <a:latin typeface="Rockwell"/>
                <a:cs typeface="Rockwell"/>
              </a:rPr>
              <a:t>random-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6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organization</a:t>
            </a:r>
            <a:r>
              <a:rPr sz="16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6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6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Rockwell"/>
                <a:cs typeface="Rockwell"/>
              </a:rPr>
              <a:t>key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design</a:t>
            </a:r>
            <a:r>
              <a:rPr sz="16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issue</a:t>
            </a:r>
            <a:endParaRPr sz="16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27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Organization</a:t>
            </a:r>
            <a:r>
              <a:rPr sz="1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refers</a:t>
            </a:r>
            <a:r>
              <a:rPr sz="1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4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physical</a:t>
            </a:r>
            <a:r>
              <a:rPr sz="14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arrangement</a:t>
            </a:r>
            <a:r>
              <a:rPr sz="14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1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595959"/>
                </a:solidFill>
                <a:latin typeface="Rockwell"/>
                <a:cs typeface="Rockwell"/>
              </a:rPr>
              <a:t>form</a:t>
            </a:r>
            <a:r>
              <a:rPr sz="14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endParaRPr sz="1400">
              <a:latin typeface="Rockwell"/>
              <a:cs typeface="Rockwel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0921" y="388498"/>
            <a:ext cx="2156094" cy="190070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203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12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Semiconductor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10" dirty="0"/>
              <a:t>memory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476" y="1700732"/>
            <a:ext cx="7272771" cy="410452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324" y="382524"/>
            <a:ext cx="4546092" cy="101193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85011" y="501848"/>
            <a:ext cx="43884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82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Memory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10" dirty="0"/>
              <a:t>Hierarchy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853002"/>
            <a:ext cx="7325995" cy="3765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Design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constraints</a:t>
            </a:r>
            <a:r>
              <a:rPr sz="2000" spc="-4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on</a:t>
            </a:r>
            <a:r>
              <a:rPr sz="2000" spc="-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1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computer’s</a:t>
            </a:r>
            <a:r>
              <a:rPr sz="2000" spc="-4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3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2000" spc="-3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summed</a:t>
            </a:r>
            <a:endParaRPr sz="2000">
              <a:latin typeface="Rockwell"/>
              <a:cs typeface="Rockwell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up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three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questions:</a:t>
            </a:r>
            <a:endParaRPr sz="20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61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How</a:t>
            </a:r>
            <a:r>
              <a:rPr sz="1800" spc="-1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much,</a:t>
            </a:r>
            <a:r>
              <a:rPr sz="1800" spc="-1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how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fast,</a:t>
            </a:r>
            <a:r>
              <a:rPr sz="1800" spc="-1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how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expensive</a:t>
            </a:r>
            <a:endParaRPr sz="18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9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There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trade-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off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among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30" dirty="0">
                <a:solidFill>
                  <a:srgbClr val="595959"/>
                </a:solidFill>
                <a:latin typeface="Rockwell"/>
                <a:cs typeface="Rockwell"/>
              </a:rPr>
              <a:t>capacity,</a:t>
            </a:r>
            <a:r>
              <a:rPr sz="2000" spc="-1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time,</a:t>
            </a:r>
            <a:r>
              <a:rPr sz="2000" spc="-1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cost</a:t>
            </a:r>
            <a:endParaRPr sz="20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61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Faster</a:t>
            </a:r>
            <a:r>
              <a:rPr sz="18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time,</a:t>
            </a:r>
            <a:r>
              <a:rPr sz="1800" spc="-1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greater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cost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per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endParaRPr sz="18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Greater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595959"/>
                </a:solidFill>
                <a:latin typeface="Rockwell"/>
                <a:cs typeface="Rockwell"/>
              </a:rPr>
              <a:t>capacity,</a:t>
            </a:r>
            <a:r>
              <a:rPr sz="1800" spc="-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smaller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cost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per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endParaRPr sz="1800">
              <a:latin typeface="Rockwell"/>
              <a:cs typeface="Rockwell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Greater</a:t>
            </a:r>
            <a:r>
              <a:rPr sz="18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595959"/>
                </a:solidFill>
                <a:latin typeface="Rockwell"/>
                <a:cs typeface="Rockwell"/>
              </a:rPr>
              <a:t>capacity,</a:t>
            </a:r>
            <a:r>
              <a:rPr sz="1800" spc="-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slower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time</a:t>
            </a:r>
            <a:endParaRPr sz="1800">
              <a:latin typeface="Rockwell"/>
              <a:cs typeface="Rockwell"/>
            </a:endParaRPr>
          </a:p>
          <a:p>
            <a:pPr marL="241300" marR="5080" indent="-228600">
              <a:lnSpc>
                <a:spcPct val="100000"/>
              </a:lnSpc>
              <a:spcBef>
                <a:spcPts val="198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way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out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dilemma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not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rely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on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single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component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595959"/>
                </a:solidFill>
                <a:latin typeface="Rockwell"/>
                <a:cs typeface="Rockwell"/>
              </a:rPr>
              <a:t>technology,</a:t>
            </a:r>
            <a:r>
              <a:rPr sz="2000" spc="-1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but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employ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hierarchy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739658" y="118062"/>
            <a:ext cx="5635625" cy="5383530"/>
            <a:chOff x="1739658" y="118062"/>
            <a:chExt cx="5635625" cy="5383530"/>
          </a:xfrm>
        </p:grpSpPr>
        <p:sp>
          <p:nvSpPr>
            <p:cNvPr id="4" name="object 4"/>
            <p:cNvSpPr/>
            <p:nvPr/>
          </p:nvSpPr>
          <p:spPr>
            <a:xfrm>
              <a:off x="1756504" y="134904"/>
              <a:ext cx="2800985" cy="5349875"/>
            </a:xfrm>
            <a:custGeom>
              <a:avLst/>
              <a:gdLst/>
              <a:ahLst/>
              <a:cxnLst/>
              <a:rect l="l" t="t" r="r" b="b"/>
              <a:pathLst>
                <a:path w="2800985" h="5349875">
                  <a:moveTo>
                    <a:pt x="2800529" y="0"/>
                  </a:moveTo>
                  <a:lnTo>
                    <a:pt x="0" y="3732888"/>
                  </a:lnTo>
                  <a:lnTo>
                    <a:pt x="2800529" y="5349495"/>
                  </a:lnTo>
                  <a:lnTo>
                    <a:pt x="2800529" y="0"/>
                  </a:lnTo>
                  <a:close/>
                </a:path>
              </a:pathLst>
            </a:custGeom>
            <a:solidFill>
              <a:srgbClr val="97D9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6502" y="134906"/>
              <a:ext cx="2800985" cy="5349875"/>
            </a:xfrm>
            <a:custGeom>
              <a:avLst/>
              <a:gdLst/>
              <a:ahLst/>
              <a:cxnLst/>
              <a:rect l="l" t="t" r="r" b="b"/>
              <a:pathLst>
                <a:path w="2800985" h="5349875">
                  <a:moveTo>
                    <a:pt x="0" y="3732888"/>
                  </a:moveTo>
                  <a:lnTo>
                    <a:pt x="2800516" y="0"/>
                  </a:lnTo>
                  <a:lnTo>
                    <a:pt x="2800516" y="5349492"/>
                  </a:lnTo>
                  <a:lnTo>
                    <a:pt x="0" y="3732888"/>
                  </a:lnTo>
                  <a:close/>
                </a:path>
              </a:pathLst>
            </a:custGeom>
            <a:ln w="33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56504" y="3867793"/>
              <a:ext cx="2800985" cy="1616710"/>
            </a:xfrm>
            <a:custGeom>
              <a:avLst/>
              <a:gdLst/>
              <a:ahLst/>
              <a:cxnLst/>
              <a:rect l="l" t="t" r="r" b="b"/>
              <a:pathLst>
                <a:path w="2800985" h="1616710">
                  <a:moveTo>
                    <a:pt x="0" y="0"/>
                  </a:moveTo>
                  <a:lnTo>
                    <a:pt x="2800529" y="16166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56502" y="3867794"/>
              <a:ext cx="2800985" cy="1616710"/>
            </a:xfrm>
            <a:custGeom>
              <a:avLst/>
              <a:gdLst/>
              <a:ahLst/>
              <a:cxnLst/>
              <a:rect l="l" t="t" r="r" b="b"/>
              <a:pathLst>
                <a:path w="2800985" h="1616710">
                  <a:moveTo>
                    <a:pt x="2800516" y="1616604"/>
                  </a:moveTo>
                  <a:lnTo>
                    <a:pt x="2800516" y="1616604"/>
                  </a:lnTo>
                  <a:lnTo>
                    <a:pt x="0" y="0"/>
                  </a:lnTo>
                </a:path>
              </a:pathLst>
            </a:custGeom>
            <a:ln w="336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88848" y="2628747"/>
              <a:ext cx="1868805" cy="1077595"/>
            </a:xfrm>
            <a:custGeom>
              <a:avLst/>
              <a:gdLst/>
              <a:ahLst/>
              <a:cxnLst/>
              <a:rect l="l" t="t" r="r" b="b"/>
              <a:pathLst>
                <a:path w="1868804" h="1077595">
                  <a:moveTo>
                    <a:pt x="0" y="0"/>
                  </a:moveTo>
                  <a:lnTo>
                    <a:pt x="1868186" y="1077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88843" y="2628730"/>
              <a:ext cx="1868170" cy="1077595"/>
            </a:xfrm>
            <a:custGeom>
              <a:avLst/>
              <a:gdLst/>
              <a:ahLst/>
              <a:cxnLst/>
              <a:rect l="l" t="t" r="r" b="b"/>
              <a:pathLst>
                <a:path w="1868170" h="1077595">
                  <a:moveTo>
                    <a:pt x="1868175" y="1077342"/>
                  </a:moveTo>
                  <a:lnTo>
                    <a:pt x="1868175" y="1077342"/>
                  </a:lnTo>
                  <a:lnTo>
                    <a:pt x="0" y="0"/>
                  </a:lnTo>
                </a:path>
              </a:pathLst>
            </a:custGeom>
            <a:ln w="336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4620" y="1386748"/>
              <a:ext cx="932815" cy="541655"/>
            </a:xfrm>
            <a:custGeom>
              <a:avLst/>
              <a:gdLst/>
              <a:ahLst/>
              <a:cxnLst/>
              <a:rect l="l" t="t" r="r" b="b"/>
              <a:pathLst>
                <a:path w="932814" h="541655">
                  <a:moveTo>
                    <a:pt x="0" y="0"/>
                  </a:moveTo>
                  <a:lnTo>
                    <a:pt x="932413" y="541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4607" y="1386771"/>
              <a:ext cx="932815" cy="541655"/>
            </a:xfrm>
            <a:custGeom>
              <a:avLst/>
              <a:gdLst/>
              <a:ahLst/>
              <a:cxnLst/>
              <a:rect l="l" t="t" r="r" b="b"/>
              <a:pathLst>
                <a:path w="932814" h="541655">
                  <a:moveTo>
                    <a:pt x="932411" y="541185"/>
                  </a:moveTo>
                  <a:lnTo>
                    <a:pt x="932411" y="541185"/>
                  </a:lnTo>
                  <a:lnTo>
                    <a:pt x="0" y="0"/>
                  </a:lnTo>
                </a:path>
              </a:pathLst>
            </a:custGeom>
            <a:ln w="336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57034" y="134904"/>
              <a:ext cx="2801620" cy="5349875"/>
            </a:xfrm>
            <a:custGeom>
              <a:avLst/>
              <a:gdLst/>
              <a:ahLst/>
              <a:cxnLst/>
              <a:rect l="l" t="t" r="r" b="b"/>
              <a:pathLst>
                <a:path w="2801620" h="5349875">
                  <a:moveTo>
                    <a:pt x="0" y="0"/>
                  </a:moveTo>
                  <a:lnTo>
                    <a:pt x="0" y="5349495"/>
                  </a:lnTo>
                  <a:lnTo>
                    <a:pt x="2801264" y="3732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F0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57018" y="134906"/>
              <a:ext cx="2801620" cy="5349875"/>
            </a:xfrm>
            <a:custGeom>
              <a:avLst/>
              <a:gdLst/>
              <a:ahLst/>
              <a:cxnLst/>
              <a:rect l="l" t="t" r="r" b="b"/>
              <a:pathLst>
                <a:path w="2801620" h="5349875">
                  <a:moveTo>
                    <a:pt x="2801257" y="3732888"/>
                  </a:moveTo>
                  <a:lnTo>
                    <a:pt x="0" y="0"/>
                  </a:lnTo>
                  <a:lnTo>
                    <a:pt x="0" y="5349492"/>
                  </a:lnTo>
                  <a:lnTo>
                    <a:pt x="2801257" y="3732888"/>
                  </a:lnTo>
                  <a:close/>
                </a:path>
              </a:pathLst>
            </a:custGeom>
            <a:ln w="33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57034" y="2627040"/>
              <a:ext cx="1867535" cy="1079500"/>
            </a:xfrm>
            <a:custGeom>
              <a:avLst/>
              <a:gdLst/>
              <a:ahLst/>
              <a:cxnLst/>
              <a:rect l="l" t="t" r="r" b="b"/>
              <a:pathLst>
                <a:path w="1867535" h="1079500">
                  <a:moveTo>
                    <a:pt x="1867174" y="0"/>
                  </a:moveTo>
                  <a:lnTo>
                    <a:pt x="0" y="1079052"/>
                  </a:lnTo>
                  <a:lnTo>
                    <a:pt x="1867174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57018" y="2627054"/>
              <a:ext cx="1867535" cy="1079500"/>
            </a:xfrm>
            <a:custGeom>
              <a:avLst/>
              <a:gdLst/>
              <a:ahLst/>
              <a:cxnLst/>
              <a:rect l="l" t="t" r="r" b="b"/>
              <a:pathLst>
                <a:path w="1867535" h="1079500">
                  <a:moveTo>
                    <a:pt x="0" y="1079018"/>
                  </a:moveTo>
                  <a:lnTo>
                    <a:pt x="0" y="1079018"/>
                  </a:lnTo>
                  <a:lnTo>
                    <a:pt x="1867169" y="0"/>
                  </a:lnTo>
                </a:path>
              </a:pathLst>
            </a:custGeom>
            <a:ln w="336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57034" y="1386748"/>
              <a:ext cx="932815" cy="541655"/>
            </a:xfrm>
            <a:custGeom>
              <a:avLst/>
              <a:gdLst/>
              <a:ahLst/>
              <a:cxnLst/>
              <a:rect l="l" t="t" r="r" b="b"/>
              <a:pathLst>
                <a:path w="932814" h="541655">
                  <a:moveTo>
                    <a:pt x="932291" y="0"/>
                  </a:moveTo>
                  <a:lnTo>
                    <a:pt x="0" y="541202"/>
                  </a:lnTo>
                  <a:lnTo>
                    <a:pt x="93229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57018" y="1386771"/>
              <a:ext cx="932815" cy="541655"/>
            </a:xfrm>
            <a:custGeom>
              <a:avLst/>
              <a:gdLst/>
              <a:ahLst/>
              <a:cxnLst/>
              <a:rect l="l" t="t" r="r" b="b"/>
              <a:pathLst>
                <a:path w="932814" h="541655">
                  <a:moveTo>
                    <a:pt x="0" y="541185"/>
                  </a:moveTo>
                  <a:lnTo>
                    <a:pt x="0" y="541185"/>
                  </a:lnTo>
                  <a:lnTo>
                    <a:pt x="932289" y="0"/>
                  </a:lnTo>
                </a:path>
              </a:pathLst>
            </a:custGeom>
            <a:ln w="336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57034" y="1054943"/>
              <a:ext cx="690880" cy="401955"/>
            </a:xfrm>
            <a:custGeom>
              <a:avLst/>
              <a:gdLst/>
              <a:ahLst/>
              <a:cxnLst/>
              <a:rect l="l" t="t" r="r" b="b"/>
              <a:pathLst>
                <a:path w="690879" h="401955">
                  <a:moveTo>
                    <a:pt x="690737" y="0"/>
                  </a:moveTo>
                  <a:lnTo>
                    <a:pt x="0" y="401787"/>
                  </a:lnTo>
                  <a:lnTo>
                    <a:pt x="690737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57018" y="1054915"/>
              <a:ext cx="690880" cy="401955"/>
            </a:xfrm>
            <a:custGeom>
              <a:avLst/>
              <a:gdLst/>
              <a:ahLst/>
              <a:cxnLst/>
              <a:rect l="l" t="t" r="r" b="b"/>
              <a:pathLst>
                <a:path w="690879" h="401955">
                  <a:moveTo>
                    <a:pt x="0" y="401804"/>
                  </a:moveTo>
                  <a:lnTo>
                    <a:pt x="0" y="401804"/>
                  </a:lnTo>
                  <a:lnTo>
                    <a:pt x="690728" y="0"/>
                  </a:lnTo>
                </a:path>
              </a:pathLst>
            </a:custGeom>
            <a:ln w="336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57034" y="765474"/>
              <a:ext cx="473709" cy="274955"/>
            </a:xfrm>
            <a:custGeom>
              <a:avLst/>
              <a:gdLst/>
              <a:ahLst/>
              <a:cxnLst/>
              <a:rect l="l" t="t" r="r" b="b"/>
              <a:pathLst>
                <a:path w="473710" h="274955">
                  <a:moveTo>
                    <a:pt x="473262" y="0"/>
                  </a:moveTo>
                  <a:lnTo>
                    <a:pt x="0" y="274441"/>
                  </a:lnTo>
                  <a:lnTo>
                    <a:pt x="473262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57018" y="765486"/>
              <a:ext cx="473709" cy="274955"/>
            </a:xfrm>
            <a:custGeom>
              <a:avLst/>
              <a:gdLst/>
              <a:ahLst/>
              <a:cxnLst/>
              <a:rect l="l" t="t" r="r" b="b"/>
              <a:pathLst>
                <a:path w="473710" h="274955">
                  <a:moveTo>
                    <a:pt x="0" y="274402"/>
                  </a:moveTo>
                  <a:lnTo>
                    <a:pt x="0" y="274402"/>
                  </a:lnTo>
                  <a:lnTo>
                    <a:pt x="473277" y="0"/>
                  </a:lnTo>
                </a:path>
              </a:pathLst>
            </a:custGeom>
            <a:ln w="336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 rot="19860000">
            <a:off x="4557507" y="562623"/>
            <a:ext cx="303012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dirty="0">
                <a:latin typeface="Times New Roman"/>
                <a:cs typeface="Times New Roman"/>
              </a:rPr>
              <a:t>Reg</a:t>
            </a:r>
            <a:r>
              <a:rPr sz="1575" b="1" baseline="2645" dirty="0">
                <a:latin typeface="Times New Roman"/>
                <a:cs typeface="Times New Roman"/>
              </a:rPr>
              <a:t>-</a:t>
            </a:r>
            <a:endParaRPr sz="1575" baseline="2645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 rot="19860000">
            <a:off x="4621629" y="702300"/>
            <a:ext cx="337022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spc="-10" dirty="0">
                <a:latin typeface="Times New Roman"/>
                <a:cs typeface="Times New Roman"/>
              </a:rPr>
              <a:t>ister</a:t>
            </a:r>
            <a:r>
              <a:rPr sz="1575" b="1" spc="-15" baseline="2645" dirty="0">
                <a:latin typeface="Times New Roman"/>
                <a:cs typeface="Times New Roman"/>
              </a:rPr>
              <a:t>s</a:t>
            </a:r>
            <a:endParaRPr sz="1575" baseline="264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 rot="1740000">
            <a:off x="3956597" y="1060007"/>
            <a:ext cx="57550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5"/>
              </a:lnSpc>
            </a:pPr>
            <a:r>
              <a:rPr sz="1800" b="1" spc="-15" baseline="2314" dirty="0">
                <a:latin typeface="Times New Roman"/>
                <a:cs typeface="Times New Roman"/>
              </a:rPr>
              <a:t>Inbo</a:t>
            </a:r>
            <a:r>
              <a:rPr sz="1200" b="1" spc="-10" dirty="0">
                <a:latin typeface="Times New Roman"/>
                <a:cs typeface="Times New Roman"/>
              </a:rPr>
              <a:t>ard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 rot="19860000">
            <a:off x="4640165" y="1018705"/>
            <a:ext cx="385953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spc="-10" dirty="0">
                <a:latin typeface="Times New Roman"/>
                <a:cs typeface="Times New Roman"/>
              </a:rPr>
              <a:t>Cac</a:t>
            </a:r>
            <a:r>
              <a:rPr sz="1575" b="1" spc="-15" baseline="2645" dirty="0">
                <a:latin typeface="Times New Roman"/>
                <a:cs typeface="Times New Roman"/>
              </a:rPr>
              <a:t>he</a:t>
            </a:r>
            <a:endParaRPr sz="1575" baseline="2645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 rot="1740000">
            <a:off x="3858496" y="1223762"/>
            <a:ext cx="58284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5"/>
              </a:lnSpc>
            </a:pPr>
            <a:r>
              <a:rPr sz="1800" b="1" spc="-15" baseline="2314" dirty="0">
                <a:latin typeface="Times New Roman"/>
                <a:cs typeface="Times New Roman"/>
              </a:rPr>
              <a:t>mem</a:t>
            </a:r>
            <a:r>
              <a:rPr sz="1200" b="1" spc="-10" dirty="0">
                <a:latin typeface="Times New Roman"/>
                <a:cs typeface="Times New Roman"/>
              </a:rPr>
              <a:t>ory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 rot="19860000">
            <a:off x="4801838" y="1256193"/>
            <a:ext cx="337605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spc="-20" dirty="0">
                <a:latin typeface="Times New Roman"/>
                <a:cs typeface="Times New Roman"/>
              </a:rPr>
              <a:t>Ma</a:t>
            </a:r>
            <a:r>
              <a:rPr sz="1575" b="1" spc="-30" baseline="2645" dirty="0">
                <a:latin typeface="Times New Roman"/>
                <a:cs typeface="Times New Roman"/>
              </a:rPr>
              <a:t>in</a:t>
            </a:r>
            <a:endParaRPr sz="1575" baseline="2645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 rot="19860000">
            <a:off x="4802066" y="1396901"/>
            <a:ext cx="49963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spc="-10" dirty="0">
                <a:latin typeface="Times New Roman"/>
                <a:cs typeface="Times New Roman"/>
              </a:rPr>
              <a:t>mem</a:t>
            </a:r>
            <a:r>
              <a:rPr sz="1575" b="1" spc="-15" baseline="2645" dirty="0">
                <a:latin typeface="Times New Roman"/>
                <a:cs typeface="Times New Roman"/>
              </a:rPr>
              <a:t>ory</a:t>
            </a:r>
            <a:endParaRPr sz="1575" baseline="2645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 rot="19860000">
            <a:off x="4697540" y="2175024"/>
            <a:ext cx="825648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spc="-20" dirty="0">
                <a:latin typeface="Times New Roman"/>
                <a:cs typeface="Times New Roman"/>
              </a:rPr>
              <a:t>Mag</a:t>
            </a:r>
            <a:r>
              <a:rPr sz="1575" b="1" spc="-30" baseline="2645" dirty="0">
                <a:latin typeface="Times New Roman"/>
                <a:cs typeface="Times New Roman"/>
              </a:rPr>
              <a:t>netic</a:t>
            </a:r>
            <a:r>
              <a:rPr sz="1575" b="1" spc="22" baseline="2645" dirty="0">
                <a:latin typeface="Times New Roman"/>
                <a:cs typeface="Times New Roman"/>
              </a:rPr>
              <a:t> </a:t>
            </a:r>
            <a:r>
              <a:rPr sz="1575" b="1" spc="-30" baseline="5291" dirty="0">
                <a:latin typeface="Times New Roman"/>
                <a:cs typeface="Times New Roman"/>
              </a:rPr>
              <a:t>disk</a:t>
            </a:r>
            <a:endParaRPr sz="1575" baseline="529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 rot="1740000">
            <a:off x="3547353" y="2240174"/>
            <a:ext cx="684949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5"/>
              </a:lnSpc>
            </a:pPr>
            <a:r>
              <a:rPr sz="1800" b="1" spc="-15" baseline="4629" dirty="0">
                <a:latin typeface="Times New Roman"/>
                <a:cs typeface="Times New Roman"/>
              </a:rPr>
              <a:t>O</a:t>
            </a:r>
            <a:r>
              <a:rPr sz="1800" b="1" spc="-15" baseline="2314" dirty="0">
                <a:latin typeface="Times New Roman"/>
                <a:cs typeface="Times New Roman"/>
              </a:rPr>
              <a:t>utbo</a:t>
            </a:r>
            <a:r>
              <a:rPr sz="1200" b="1" spc="-10" dirty="0">
                <a:latin typeface="Times New Roman"/>
                <a:cs typeface="Times New Roman"/>
              </a:rPr>
              <a:t>ard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 rot="19860000">
            <a:off x="4896986" y="2314396"/>
            <a:ext cx="586377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spc="-30" dirty="0">
                <a:latin typeface="Times New Roman"/>
                <a:cs typeface="Times New Roman"/>
              </a:rPr>
              <a:t>CD-</a:t>
            </a:r>
            <a:r>
              <a:rPr sz="1575" b="1" spc="-37" baseline="2645" dirty="0">
                <a:latin typeface="Times New Roman"/>
                <a:cs typeface="Times New Roman"/>
              </a:rPr>
              <a:t>ROM</a:t>
            </a:r>
            <a:endParaRPr sz="1575" baseline="264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 rot="1740000">
            <a:off x="3537843" y="2402573"/>
            <a:ext cx="515909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5"/>
              </a:lnSpc>
            </a:pPr>
            <a:r>
              <a:rPr sz="1800" b="1" spc="-15" baseline="2314" dirty="0">
                <a:latin typeface="Times New Roman"/>
                <a:cs typeface="Times New Roman"/>
              </a:rPr>
              <a:t>stor</a:t>
            </a:r>
            <a:r>
              <a:rPr sz="1200" b="1" spc="-10" dirty="0">
                <a:latin typeface="Times New Roman"/>
                <a:cs typeface="Times New Roman"/>
              </a:rPr>
              <a:t>age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 rot="19860000">
            <a:off x="5028372" y="2453072"/>
            <a:ext cx="488018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spc="-35" dirty="0">
                <a:latin typeface="Times New Roman"/>
                <a:cs typeface="Times New Roman"/>
              </a:rPr>
              <a:t>CD-</a:t>
            </a:r>
            <a:r>
              <a:rPr sz="1575" b="1" spc="-37" baseline="2645" dirty="0">
                <a:latin typeface="Times New Roman"/>
                <a:cs typeface="Times New Roman"/>
              </a:rPr>
              <a:t>RW</a:t>
            </a:r>
            <a:endParaRPr sz="1575" baseline="2645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 rot="19860000">
            <a:off x="5062286" y="2594074"/>
            <a:ext cx="582669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spc="-30" dirty="0">
                <a:latin typeface="Times New Roman"/>
                <a:cs typeface="Times New Roman"/>
              </a:rPr>
              <a:t>DV</a:t>
            </a:r>
            <a:r>
              <a:rPr sz="1575" b="1" spc="-44" baseline="2645" dirty="0">
                <a:latin typeface="Times New Roman"/>
                <a:cs typeface="Times New Roman"/>
              </a:rPr>
              <a:t>D-</a:t>
            </a:r>
            <a:r>
              <a:rPr sz="1575" b="1" spc="-37" baseline="2645" dirty="0">
                <a:latin typeface="Times New Roman"/>
                <a:cs typeface="Times New Roman"/>
              </a:rPr>
              <a:t>RW</a:t>
            </a:r>
            <a:endParaRPr sz="1575" baseline="2645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 rot="19860000">
            <a:off x="5096287" y="2734842"/>
            <a:ext cx="674477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spc="-30" dirty="0">
                <a:latin typeface="Times New Roman"/>
                <a:cs typeface="Times New Roman"/>
              </a:rPr>
              <a:t>DV</a:t>
            </a:r>
            <a:r>
              <a:rPr sz="1575" b="1" spc="-44" baseline="2645" dirty="0">
                <a:latin typeface="Times New Roman"/>
                <a:cs typeface="Times New Roman"/>
              </a:rPr>
              <a:t>D-</a:t>
            </a:r>
            <a:r>
              <a:rPr sz="1575" b="1" spc="-37" baseline="2645" dirty="0">
                <a:latin typeface="Times New Roman"/>
                <a:cs typeface="Times New Roman"/>
              </a:rPr>
              <a:t>RAM</a:t>
            </a:r>
            <a:endParaRPr sz="1575" baseline="2645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 rot="19860000">
            <a:off x="5264455" y="2874110"/>
            <a:ext cx="49963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spc="-30" dirty="0">
                <a:latin typeface="Times New Roman"/>
                <a:cs typeface="Times New Roman"/>
              </a:rPr>
              <a:t>Blu</a:t>
            </a:r>
            <a:r>
              <a:rPr sz="1575" b="1" spc="-44" baseline="2645" dirty="0">
                <a:latin typeface="Times New Roman"/>
                <a:cs typeface="Times New Roman"/>
              </a:rPr>
              <a:t>-</a:t>
            </a:r>
            <a:r>
              <a:rPr sz="1575" b="1" spc="-37" baseline="2645" dirty="0">
                <a:latin typeface="Times New Roman"/>
                <a:cs typeface="Times New Roman"/>
              </a:rPr>
              <a:t>Ray</a:t>
            </a:r>
            <a:endParaRPr sz="1575" baseline="264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 rot="1740000">
            <a:off x="3114008" y="3706193"/>
            <a:ext cx="549892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5"/>
              </a:lnSpc>
            </a:pPr>
            <a:r>
              <a:rPr sz="1800" b="1" spc="-30" baseline="2314" dirty="0">
                <a:latin typeface="Times New Roman"/>
                <a:cs typeface="Times New Roman"/>
              </a:rPr>
              <a:t>Off-</a:t>
            </a:r>
            <a:r>
              <a:rPr sz="1200" b="1" spc="-20" dirty="0">
                <a:latin typeface="Times New Roman"/>
                <a:cs typeface="Times New Roman"/>
              </a:rPr>
              <a:t>line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 rot="19860000">
            <a:off x="5233642" y="3757021"/>
            <a:ext cx="832542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5"/>
              </a:lnSpc>
            </a:pPr>
            <a:r>
              <a:rPr sz="1050" b="1" spc="-20" dirty="0">
                <a:latin typeface="Times New Roman"/>
                <a:cs typeface="Times New Roman"/>
              </a:rPr>
              <a:t>Ma</a:t>
            </a:r>
            <a:r>
              <a:rPr sz="1575" b="1" spc="-30" baseline="2645" dirty="0">
                <a:latin typeface="Times New Roman"/>
                <a:cs typeface="Times New Roman"/>
              </a:rPr>
              <a:t>gnetic</a:t>
            </a:r>
            <a:r>
              <a:rPr sz="1575" b="1" spc="22" baseline="2645" dirty="0">
                <a:latin typeface="Times New Roman"/>
                <a:cs typeface="Times New Roman"/>
              </a:rPr>
              <a:t> </a:t>
            </a:r>
            <a:r>
              <a:rPr sz="1575" b="1" spc="-30" baseline="5291" dirty="0">
                <a:latin typeface="Times New Roman"/>
                <a:cs typeface="Times New Roman"/>
              </a:rPr>
              <a:t>tape</a:t>
            </a:r>
            <a:endParaRPr sz="1575" baseline="5291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 rot="1740000">
            <a:off x="3036627" y="3869125"/>
            <a:ext cx="515909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35"/>
              </a:lnSpc>
            </a:pPr>
            <a:r>
              <a:rPr sz="1800" b="1" spc="-15" baseline="2314" dirty="0">
                <a:latin typeface="Times New Roman"/>
                <a:cs typeface="Times New Roman"/>
              </a:rPr>
              <a:t>sto</a:t>
            </a:r>
            <a:r>
              <a:rPr sz="1200" b="1" spc="-10" dirty="0">
                <a:latin typeface="Times New Roman"/>
                <a:cs typeface="Times New Roman"/>
              </a:rPr>
              <a:t>rage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987144" y="6038205"/>
            <a:ext cx="3101340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31875" algn="l"/>
              </a:tabLst>
            </a:pPr>
            <a:r>
              <a:rPr sz="1600" b="1" dirty="0">
                <a:latin typeface="Times New Roman"/>
                <a:cs typeface="Times New Roman"/>
              </a:rPr>
              <a:t>Figure</a:t>
            </a:r>
            <a:r>
              <a:rPr sz="1600" b="1" spc="-9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4.1</a:t>
            </a:r>
            <a:r>
              <a:rPr sz="1600" b="1" dirty="0">
                <a:latin typeface="Times New Roman"/>
                <a:cs typeface="Times New Roman"/>
              </a:rPr>
              <a:t>	The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Memory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Hierarchy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203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9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-10" dirty="0"/>
              <a:t>Memory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98" y="1550665"/>
            <a:ext cx="7306309" cy="472503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231140" indent="-228600">
              <a:lnSpc>
                <a:spcPts val="2160"/>
              </a:lnSpc>
              <a:spcBef>
                <a:spcPts val="37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use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three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levels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exploits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fact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semiconductor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comes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variety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types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which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differ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speed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cost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ts val="2280"/>
              </a:lnSpc>
              <a:spcBef>
                <a:spcPts val="173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stored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more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permanently</a:t>
            </a:r>
            <a:r>
              <a:rPr sz="20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on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external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mass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storage</a:t>
            </a:r>
            <a:endParaRPr sz="2000">
              <a:latin typeface="Rockwell"/>
              <a:cs typeface="Rockwell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devices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ts val="2280"/>
              </a:lnSpc>
              <a:spcBef>
                <a:spcPts val="175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External,</a:t>
            </a:r>
            <a:r>
              <a:rPr sz="2000" spc="-1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nonvolatile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also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referred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endParaRPr sz="2000">
              <a:latin typeface="Rockwell"/>
              <a:cs typeface="Rockwell"/>
            </a:endParaRPr>
          </a:p>
          <a:p>
            <a:pPr marL="241300">
              <a:lnSpc>
                <a:spcPts val="2280"/>
              </a:lnSpc>
            </a:pP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secondary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auxiliary</a:t>
            </a:r>
            <a:r>
              <a:rPr sz="20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764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Disk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endParaRPr sz="2000">
              <a:latin typeface="Rockwell"/>
              <a:cs typeface="Rockwell"/>
            </a:endParaRPr>
          </a:p>
          <a:p>
            <a:pPr marL="469900" marR="277495" lvl="1" indent="-228600">
              <a:lnSpc>
                <a:spcPts val="1939"/>
              </a:lnSpc>
              <a:spcBef>
                <a:spcPts val="64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portion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buffer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hold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temporarily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read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out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disk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ts val="2050"/>
              </a:lnSpc>
              <a:spcBef>
                <a:spcPts val="36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few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large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transfers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instead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many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small</a:t>
            </a:r>
            <a:endParaRPr sz="1800">
              <a:latin typeface="Rockwell"/>
              <a:cs typeface="Rockwell"/>
            </a:endParaRPr>
          </a:p>
          <a:p>
            <a:pPr marL="469900">
              <a:lnSpc>
                <a:spcPts val="2050"/>
              </a:lnSpc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transfers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endParaRPr sz="1800">
              <a:latin typeface="Rockwell"/>
              <a:cs typeface="Rockwell"/>
            </a:endParaRPr>
          </a:p>
          <a:p>
            <a:pPr marL="469900" marR="5080" lvl="1" indent="-228600">
              <a:lnSpc>
                <a:spcPts val="1939"/>
              </a:lnSpc>
              <a:spcBef>
                <a:spcPts val="63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Data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retrieved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rapidly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software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rather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than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slowly</a:t>
            </a:r>
            <a:r>
              <a:rPr sz="18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8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disk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203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/>
          <p:nvPr/>
        </p:nvSpPr>
        <p:spPr>
          <a:xfrm>
            <a:off x="2369192" y="193798"/>
            <a:ext cx="3399154" cy="4826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42490">
              <a:lnSpc>
                <a:spcPts val="1789"/>
              </a:lnSpc>
              <a:spcBef>
                <a:spcPts val="120"/>
              </a:spcBef>
            </a:pPr>
            <a:r>
              <a:rPr sz="1500" b="1" dirty="0">
                <a:latin typeface="Times New Roman"/>
                <a:cs typeface="Times New Roman"/>
              </a:rPr>
              <a:t>Block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Transfer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89"/>
              </a:lnSpc>
            </a:pPr>
            <a:r>
              <a:rPr sz="1500" b="1" dirty="0">
                <a:latin typeface="Times New Roman"/>
                <a:cs typeface="Times New Roman"/>
              </a:rPr>
              <a:t>Word</a:t>
            </a:r>
            <a:r>
              <a:rPr sz="1500" b="1" spc="-10" dirty="0">
                <a:latin typeface="Times New Roman"/>
                <a:cs typeface="Times New Roman"/>
              </a:rPr>
              <a:t> Transfer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720226" y="523115"/>
            <a:ext cx="775970" cy="229235"/>
          </a:xfrm>
          <a:custGeom>
            <a:avLst/>
            <a:gdLst/>
            <a:ahLst/>
            <a:cxnLst/>
            <a:rect l="l" t="t" r="r" b="b"/>
            <a:pathLst>
              <a:path w="775970" h="229234">
                <a:moveTo>
                  <a:pt x="775396" y="228716"/>
                </a:moveTo>
                <a:lnTo>
                  <a:pt x="773590" y="196210"/>
                </a:lnTo>
                <a:lnTo>
                  <a:pt x="768372" y="170355"/>
                </a:lnTo>
                <a:lnTo>
                  <a:pt x="748885" y="136168"/>
                </a:lnTo>
                <a:lnTo>
                  <a:pt x="701478" y="119581"/>
                </a:lnTo>
                <a:lnTo>
                  <a:pt x="682016" y="120874"/>
                </a:lnTo>
                <a:lnTo>
                  <a:pt x="661218" y="124566"/>
                </a:lnTo>
                <a:lnTo>
                  <a:pt x="639382" y="130049"/>
                </a:lnTo>
                <a:lnTo>
                  <a:pt x="616804" y="136716"/>
                </a:lnTo>
                <a:lnTo>
                  <a:pt x="593780" y="143959"/>
                </a:lnTo>
                <a:lnTo>
                  <a:pt x="570608" y="151171"/>
                </a:lnTo>
                <a:lnTo>
                  <a:pt x="547585" y="157745"/>
                </a:lnTo>
                <a:lnTo>
                  <a:pt x="525007" y="163072"/>
                </a:lnTo>
                <a:lnTo>
                  <a:pt x="503170" y="166546"/>
                </a:lnTo>
                <a:lnTo>
                  <a:pt x="482373" y="167559"/>
                </a:lnTo>
                <a:lnTo>
                  <a:pt x="462910" y="165503"/>
                </a:lnTo>
                <a:lnTo>
                  <a:pt x="415503" y="134851"/>
                </a:lnTo>
                <a:lnTo>
                  <a:pt x="396016" y="87938"/>
                </a:lnTo>
                <a:lnTo>
                  <a:pt x="388993" y="14172"/>
                </a:lnTo>
                <a:lnTo>
                  <a:pt x="386402" y="0"/>
                </a:lnTo>
                <a:lnTo>
                  <a:pt x="384597" y="40541"/>
                </a:lnTo>
                <a:lnTo>
                  <a:pt x="371045" y="100261"/>
                </a:lnTo>
                <a:lnTo>
                  <a:pt x="346216" y="135549"/>
                </a:lnTo>
                <a:lnTo>
                  <a:pt x="293023" y="153309"/>
                </a:lnTo>
                <a:lnTo>
                  <a:pt x="272225" y="152282"/>
                </a:lnTo>
                <a:lnTo>
                  <a:pt x="227810" y="143453"/>
                </a:lnTo>
                <a:lnTo>
                  <a:pt x="181615" y="129644"/>
                </a:lnTo>
                <a:lnTo>
                  <a:pt x="158592" y="122392"/>
                </a:lnTo>
                <a:lnTo>
                  <a:pt x="136013" y="115718"/>
                </a:lnTo>
                <a:lnTo>
                  <a:pt x="114177" y="110231"/>
                </a:lnTo>
                <a:lnTo>
                  <a:pt x="93379" y="106539"/>
                </a:lnTo>
                <a:lnTo>
                  <a:pt x="73917" y="105249"/>
                </a:lnTo>
                <a:lnTo>
                  <a:pt x="56087" y="106969"/>
                </a:lnTo>
                <a:lnTo>
                  <a:pt x="15357" y="136269"/>
                </a:lnTo>
                <a:lnTo>
                  <a:pt x="1805" y="181997"/>
                </a:lnTo>
                <a:lnTo>
                  <a:pt x="0" y="214543"/>
                </a:lnTo>
              </a:path>
            </a:pathLst>
          </a:custGeom>
          <a:ln w="215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654684" y="748266"/>
            <a:ext cx="775335" cy="229235"/>
          </a:xfrm>
          <a:custGeom>
            <a:avLst/>
            <a:gdLst/>
            <a:ahLst/>
            <a:cxnLst/>
            <a:rect l="l" t="t" r="r" b="b"/>
            <a:pathLst>
              <a:path w="775335" h="229234">
                <a:moveTo>
                  <a:pt x="775054" y="228838"/>
                </a:moveTo>
                <a:lnTo>
                  <a:pt x="773251" y="196332"/>
                </a:lnTo>
                <a:lnTo>
                  <a:pt x="768038" y="170477"/>
                </a:lnTo>
                <a:lnTo>
                  <a:pt x="748569" y="136289"/>
                </a:lnTo>
                <a:lnTo>
                  <a:pt x="701206" y="119703"/>
                </a:lnTo>
                <a:lnTo>
                  <a:pt x="681762" y="120996"/>
                </a:lnTo>
                <a:lnTo>
                  <a:pt x="660983" y="124688"/>
                </a:lnTo>
                <a:lnTo>
                  <a:pt x="639167" y="130171"/>
                </a:lnTo>
                <a:lnTo>
                  <a:pt x="616610" y="136838"/>
                </a:lnTo>
                <a:lnTo>
                  <a:pt x="593608" y="144081"/>
                </a:lnTo>
                <a:lnTo>
                  <a:pt x="570458" y="151293"/>
                </a:lnTo>
                <a:lnTo>
                  <a:pt x="547456" y="157867"/>
                </a:lnTo>
                <a:lnTo>
                  <a:pt x="524898" y="163194"/>
                </a:lnTo>
                <a:lnTo>
                  <a:pt x="503082" y="166668"/>
                </a:lnTo>
                <a:lnTo>
                  <a:pt x="482304" y="167681"/>
                </a:lnTo>
                <a:lnTo>
                  <a:pt x="462860" y="165625"/>
                </a:lnTo>
                <a:lnTo>
                  <a:pt x="415497" y="134973"/>
                </a:lnTo>
                <a:lnTo>
                  <a:pt x="396028" y="88060"/>
                </a:lnTo>
                <a:lnTo>
                  <a:pt x="389011" y="14294"/>
                </a:lnTo>
                <a:lnTo>
                  <a:pt x="386393" y="0"/>
                </a:lnTo>
                <a:lnTo>
                  <a:pt x="384588" y="40543"/>
                </a:lnTo>
                <a:lnTo>
                  <a:pt x="371036" y="100280"/>
                </a:lnTo>
                <a:lnTo>
                  <a:pt x="346208" y="135597"/>
                </a:lnTo>
                <a:lnTo>
                  <a:pt x="293016" y="153415"/>
                </a:lnTo>
                <a:lnTo>
                  <a:pt x="272218" y="152409"/>
                </a:lnTo>
                <a:lnTo>
                  <a:pt x="227805" y="143622"/>
                </a:lnTo>
                <a:lnTo>
                  <a:pt x="181611" y="129851"/>
                </a:lnTo>
                <a:lnTo>
                  <a:pt x="158588" y="122615"/>
                </a:lnTo>
                <a:lnTo>
                  <a:pt x="136010" y="115955"/>
                </a:lnTo>
                <a:lnTo>
                  <a:pt x="114174" y="110479"/>
                </a:lnTo>
                <a:lnTo>
                  <a:pt x="93377" y="106794"/>
                </a:lnTo>
                <a:lnTo>
                  <a:pt x="73915" y="105507"/>
                </a:lnTo>
                <a:lnTo>
                  <a:pt x="56085" y="107225"/>
                </a:lnTo>
                <a:lnTo>
                  <a:pt x="15356" y="136488"/>
                </a:lnTo>
                <a:lnTo>
                  <a:pt x="1805" y="182159"/>
                </a:lnTo>
                <a:lnTo>
                  <a:pt x="0" y="214665"/>
                </a:lnTo>
              </a:path>
            </a:pathLst>
          </a:custGeom>
          <a:ln w="215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353349" y="1083350"/>
            <a:ext cx="1257935" cy="678815"/>
            <a:chOff x="1353349" y="1083350"/>
            <a:chExt cx="1257935" cy="678815"/>
          </a:xfrm>
        </p:grpSpPr>
        <p:sp>
          <p:nvSpPr>
            <p:cNvPr id="9" name="object 9"/>
            <p:cNvSpPr/>
            <p:nvPr/>
          </p:nvSpPr>
          <p:spPr>
            <a:xfrm>
              <a:off x="1364147" y="1094140"/>
              <a:ext cx="1236345" cy="657225"/>
            </a:xfrm>
            <a:custGeom>
              <a:avLst/>
              <a:gdLst/>
              <a:ahLst/>
              <a:cxnLst/>
              <a:rect l="l" t="t" r="r" b="b"/>
              <a:pathLst>
                <a:path w="1236345" h="657225">
                  <a:moveTo>
                    <a:pt x="1235890" y="0"/>
                  </a:moveTo>
                  <a:lnTo>
                    <a:pt x="76855" y="0"/>
                  </a:lnTo>
                  <a:lnTo>
                    <a:pt x="0" y="77754"/>
                  </a:lnTo>
                  <a:lnTo>
                    <a:pt x="1158965" y="77754"/>
                  </a:lnTo>
                  <a:lnTo>
                    <a:pt x="1158965" y="657026"/>
                  </a:lnTo>
                  <a:lnTo>
                    <a:pt x="1235890" y="579394"/>
                  </a:lnTo>
                  <a:lnTo>
                    <a:pt x="1235890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64144" y="1094145"/>
              <a:ext cx="1236345" cy="657225"/>
            </a:xfrm>
            <a:custGeom>
              <a:avLst/>
              <a:gdLst/>
              <a:ahLst/>
              <a:cxnLst/>
              <a:rect l="l" t="t" r="r" b="b"/>
              <a:pathLst>
                <a:path w="1236345" h="657225">
                  <a:moveTo>
                    <a:pt x="1158964" y="657012"/>
                  </a:moveTo>
                  <a:lnTo>
                    <a:pt x="1158964" y="77752"/>
                  </a:lnTo>
                  <a:lnTo>
                    <a:pt x="0" y="77752"/>
                  </a:lnTo>
                  <a:lnTo>
                    <a:pt x="76853" y="0"/>
                  </a:lnTo>
                  <a:lnTo>
                    <a:pt x="1235891" y="0"/>
                  </a:lnTo>
                  <a:lnTo>
                    <a:pt x="1235891" y="579381"/>
                  </a:lnTo>
                  <a:lnTo>
                    <a:pt x="1158964" y="657012"/>
                  </a:lnTo>
                  <a:close/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23112" y="1094140"/>
              <a:ext cx="77470" cy="78105"/>
            </a:xfrm>
            <a:custGeom>
              <a:avLst/>
              <a:gdLst/>
              <a:ahLst/>
              <a:cxnLst/>
              <a:rect l="l" t="t" r="r" b="b"/>
              <a:pathLst>
                <a:path w="77469" h="78105">
                  <a:moveTo>
                    <a:pt x="76925" y="0"/>
                  </a:moveTo>
                  <a:lnTo>
                    <a:pt x="0" y="77754"/>
                  </a:lnTo>
                  <a:lnTo>
                    <a:pt x="76925" y="0"/>
                  </a:lnTo>
                  <a:close/>
                </a:path>
              </a:pathLst>
            </a:custGeom>
            <a:solidFill>
              <a:srgbClr val="71C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23108" y="1094145"/>
              <a:ext cx="77470" cy="78105"/>
            </a:xfrm>
            <a:custGeom>
              <a:avLst/>
              <a:gdLst/>
              <a:ahLst/>
              <a:cxnLst/>
              <a:rect l="l" t="t" r="r" b="b"/>
              <a:pathLst>
                <a:path w="77469" h="78105">
                  <a:moveTo>
                    <a:pt x="0" y="77752"/>
                  </a:moveTo>
                  <a:lnTo>
                    <a:pt x="0" y="77752"/>
                  </a:lnTo>
                  <a:lnTo>
                    <a:pt x="76926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64144" y="1171898"/>
            <a:ext cx="1159510" cy="579755"/>
          </a:xfrm>
          <a:prstGeom prst="rect">
            <a:avLst/>
          </a:prstGeom>
          <a:solidFill>
            <a:srgbClr val="DCDCDC"/>
          </a:solidFill>
          <a:ln w="21577">
            <a:solidFill>
              <a:srgbClr val="000000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L="386080">
              <a:lnSpc>
                <a:spcPct val="100000"/>
              </a:lnSpc>
              <a:spcBef>
                <a:spcPts val="1285"/>
              </a:spcBef>
            </a:pPr>
            <a:r>
              <a:rPr sz="1500" b="1" spc="-25" dirty="0">
                <a:latin typeface="Times New Roman"/>
                <a:cs typeface="Times New Roman"/>
              </a:rPr>
              <a:t>CPU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18950" y="1077992"/>
            <a:ext cx="1257935" cy="678180"/>
            <a:chOff x="3418950" y="1077992"/>
            <a:chExt cx="1257935" cy="678180"/>
          </a:xfrm>
        </p:grpSpPr>
        <p:sp>
          <p:nvSpPr>
            <p:cNvPr id="6" name="object 6"/>
            <p:cNvSpPr/>
            <p:nvPr/>
          </p:nvSpPr>
          <p:spPr>
            <a:xfrm>
              <a:off x="3429731" y="1088776"/>
              <a:ext cx="1236345" cy="656590"/>
            </a:xfrm>
            <a:custGeom>
              <a:avLst/>
              <a:gdLst/>
              <a:ahLst/>
              <a:cxnLst/>
              <a:rect l="l" t="t" r="r" b="b"/>
              <a:pathLst>
                <a:path w="1236345" h="656589">
                  <a:moveTo>
                    <a:pt x="1235842" y="0"/>
                  </a:moveTo>
                  <a:lnTo>
                    <a:pt x="77144" y="0"/>
                  </a:lnTo>
                  <a:lnTo>
                    <a:pt x="0" y="76931"/>
                  </a:lnTo>
                  <a:lnTo>
                    <a:pt x="1159062" y="76931"/>
                  </a:lnTo>
                  <a:lnTo>
                    <a:pt x="1159062" y="656203"/>
                  </a:lnTo>
                  <a:lnTo>
                    <a:pt x="1235842" y="579394"/>
                  </a:lnTo>
                  <a:lnTo>
                    <a:pt x="1235842" y="0"/>
                  </a:lnTo>
                  <a:close/>
                </a:path>
              </a:pathLst>
            </a:custGeom>
            <a:solidFill>
              <a:srgbClr val="71C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29739" y="1088781"/>
              <a:ext cx="1236345" cy="656590"/>
            </a:xfrm>
            <a:custGeom>
              <a:avLst/>
              <a:gdLst/>
              <a:ahLst/>
              <a:cxnLst/>
              <a:rect l="l" t="t" r="r" b="b"/>
              <a:pathLst>
                <a:path w="1236345" h="656589">
                  <a:moveTo>
                    <a:pt x="1159025" y="656189"/>
                  </a:moveTo>
                  <a:lnTo>
                    <a:pt x="1159025" y="76929"/>
                  </a:lnTo>
                  <a:lnTo>
                    <a:pt x="0" y="76929"/>
                  </a:lnTo>
                  <a:lnTo>
                    <a:pt x="77146" y="0"/>
                  </a:lnTo>
                  <a:lnTo>
                    <a:pt x="1235836" y="0"/>
                  </a:lnTo>
                  <a:lnTo>
                    <a:pt x="1235836" y="579381"/>
                  </a:lnTo>
                  <a:lnTo>
                    <a:pt x="1159025" y="656189"/>
                  </a:lnTo>
                  <a:close/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29739" y="1165710"/>
            <a:ext cx="1159510" cy="579755"/>
          </a:xfrm>
          <a:prstGeom prst="rect">
            <a:avLst/>
          </a:prstGeom>
          <a:solidFill>
            <a:srgbClr val="CBEBCC"/>
          </a:solidFill>
          <a:ln w="21577">
            <a:solidFill>
              <a:srgbClr val="000000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330"/>
              </a:spcBef>
            </a:pPr>
            <a:r>
              <a:rPr sz="1500" b="1" spc="-10" dirty="0">
                <a:latin typeface="Times New Roman"/>
                <a:cs typeface="Times New Roman"/>
              </a:rPr>
              <a:t>Cache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22615" y="1672255"/>
            <a:ext cx="37782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20" dirty="0">
                <a:latin typeface="Times New Roman"/>
                <a:cs typeface="Times New Roman"/>
              </a:rPr>
              <a:t>Fast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64832" y="1672257"/>
            <a:ext cx="42227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20" dirty="0">
                <a:latin typeface="Times New Roman"/>
                <a:cs typeface="Times New Roman"/>
              </a:rPr>
              <a:t>Slow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5500806" y="809987"/>
            <a:ext cx="2030095" cy="1257300"/>
            <a:chOff x="5500806" y="809987"/>
            <a:chExt cx="2030095" cy="1257300"/>
          </a:xfrm>
        </p:grpSpPr>
        <p:sp>
          <p:nvSpPr>
            <p:cNvPr id="3" name="object 3"/>
            <p:cNvSpPr/>
            <p:nvPr/>
          </p:nvSpPr>
          <p:spPr>
            <a:xfrm>
              <a:off x="5511606" y="820796"/>
              <a:ext cx="2008505" cy="1235710"/>
            </a:xfrm>
            <a:custGeom>
              <a:avLst/>
              <a:gdLst/>
              <a:ahLst/>
              <a:cxnLst/>
              <a:rect l="l" t="t" r="r" b="b"/>
              <a:pathLst>
                <a:path w="2008504" h="1235710">
                  <a:moveTo>
                    <a:pt x="2008510" y="0"/>
                  </a:moveTo>
                  <a:lnTo>
                    <a:pt x="76779" y="0"/>
                  </a:lnTo>
                  <a:lnTo>
                    <a:pt x="0" y="76779"/>
                  </a:lnTo>
                  <a:lnTo>
                    <a:pt x="1931700" y="76779"/>
                  </a:lnTo>
                  <a:lnTo>
                    <a:pt x="1931700" y="1235201"/>
                  </a:lnTo>
                  <a:lnTo>
                    <a:pt x="2008510" y="1158270"/>
                  </a:lnTo>
                  <a:lnTo>
                    <a:pt x="2008510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11594" y="820776"/>
              <a:ext cx="2008505" cy="1235710"/>
            </a:xfrm>
            <a:custGeom>
              <a:avLst/>
              <a:gdLst/>
              <a:ahLst/>
              <a:cxnLst/>
              <a:rect l="l" t="t" r="r" b="b"/>
              <a:pathLst>
                <a:path w="2008504" h="1235710">
                  <a:moveTo>
                    <a:pt x="1931708" y="1235205"/>
                  </a:moveTo>
                  <a:lnTo>
                    <a:pt x="1931708" y="76807"/>
                  </a:lnTo>
                  <a:lnTo>
                    <a:pt x="0" y="76807"/>
                  </a:lnTo>
                  <a:lnTo>
                    <a:pt x="76780" y="0"/>
                  </a:lnTo>
                  <a:lnTo>
                    <a:pt x="2008489" y="0"/>
                  </a:lnTo>
                  <a:lnTo>
                    <a:pt x="2008489" y="1158275"/>
                  </a:lnTo>
                  <a:lnTo>
                    <a:pt x="1931708" y="1235205"/>
                  </a:lnTo>
                  <a:close/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511594" y="897584"/>
            <a:ext cx="1932305" cy="1158875"/>
          </a:xfrm>
          <a:prstGeom prst="rect">
            <a:avLst/>
          </a:prstGeom>
          <a:solidFill>
            <a:srgbClr val="DCDCDC"/>
          </a:solidFill>
          <a:ln w="21577">
            <a:solidFill>
              <a:srgbClr val="000000"/>
            </a:solidFill>
          </a:ln>
        </p:spPr>
        <p:txBody>
          <a:bodyPr vert="horz" wrap="square" lIns="0" tIns="2019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90"/>
              </a:spcBef>
            </a:pPr>
            <a:endParaRPr sz="1500">
              <a:latin typeface="Times New Roman"/>
              <a:cs typeface="Times New Roman"/>
            </a:endParaRPr>
          </a:p>
          <a:p>
            <a:pPr marL="55499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latin typeface="Times New Roman"/>
                <a:cs typeface="Times New Roman"/>
              </a:rPr>
              <a:t>Main</a:t>
            </a:r>
            <a:r>
              <a:rPr sz="1500" b="1" spc="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Memory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432514" y="809987"/>
            <a:ext cx="98425" cy="98425"/>
            <a:chOff x="7432514" y="809987"/>
            <a:chExt cx="98425" cy="98425"/>
          </a:xfrm>
        </p:grpSpPr>
        <p:sp>
          <p:nvSpPr>
            <p:cNvPr id="44" name="object 44"/>
            <p:cNvSpPr/>
            <p:nvPr/>
          </p:nvSpPr>
          <p:spPr>
            <a:xfrm>
              <a:off x="7443307" y="82079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4">
                  <a:moveTo>
                    <a:pt x="76809" y="0"/>
                  </a:moveTo>
                  <a:lnTo>
                    <a:pt x="0" y="76779"/>
                  </a:lnTo>
                  <a:lnTo>
                    <a:pt x="76809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43303" y="82077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4">
                  <a:moveTo>
                    <a:pt x="0" y="76807"/>
                  </a:moveTo>
                  <a:lnTo>
                    <a:pt x="0" y="76807"/>
                  </a:lnTo>
                  <a:lnTo>
                    <a:pt x="76780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4577975" y="1077992"/>
            <a:ext cx="98425" cy="99060"/>
            <a:chOff x="4577975" y="1077992"/>
            <a:chExt cx="98425" cy="99060"/>
          </a:xfrm>
        </p:grpSpPr>
        <p:sp>
          <p:nvSpPr>
            <p:cNvPr id="41" name="object 41"/>
            <p:cNvSpPr/>
            <p:nvPr/>
          </p:nvSpPr>
          <p:spPr>
            <a:xfrm>
              <a:off x="4588794" y="1088776"/>
              <a:ext cx="76835" cy="77470"/>
            </a:xfrm>
            <a:custGeom>
              <a:avLst/>
              <a:gdLst/>
              <a:ahLst/>
              <a:cxnLst/>
              <a:rect l="l" t="t" r="r" b="b"/>
              <a:pathLst>
                <a:path w="76835" h="77469">
                  <a:moveTo>
                    <a:pt x="76779" y="0"/>
                  </a:moveTo>
                  <a:lnTo>
                    <a:pt x="0" y="76931"/>
                  </a:lnTo>
                  <a:lnTo>
                    <a:pt x="76779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88764" y="1088781"/>
              <a:ext cx="76835" cy="77470"/>
            </a:xfrm>
            <a:custGeom>
              <a:avLst/>
              <a:gdLst/>
              <a:ahLst/>
              <a:cxnLst/>
              <a:rect l="l" t="t" r="r" b="b"/>
              <a:pathLst>
                <a:path w="76835" h="77469">
                  <a:moveTo>
                    <a:pt x="0" y="76929"/>
                  </a:moveTo>
                  <a:lnTo>
                    <a:pt x="0" y="76929"/>
                  </a:lnTo>
                  <a:lnTo>
                    <a:pt x="76811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563355" y="1274765"/>
            <a:ext cx="864235" cy="353695"/>
            <a:chOff x="2563355" y="1274765"/>
            <a:chExt cx="864235" cy="353695"/>
          </a:xfrm>
        </p:grpSpPr>
        <p:sp>
          <p:nvSpPr>
            <p:cNvPr id="25" name="object 25"/>
            <p:cNvSpPr/>
            <p:nvPr/>
          </p:nvSpPr>
          <p:spPr>
            <a:xfrm>
              <a:off x="2573127" y="1332036"/>
              <a:ext cx="754380" cy="0"/>
            </a:xfrm>
            <a:custGeom>
              <a:avLst/>
              <a:gdLst/>
              <a:ahLst/>
              <a:cxnLst/>
              <a:rect l="l" t="t" r="r" b="b"/>
              <a:pathLst>
                <a:path w="754379">
                  <a:moveTo>
                    <a:pt x="0" y="0"/>
                  </a:moveTo>
                  <a:lnTo>
                    <a:pt x="0" y="0"/>
                  </a:lnTo>
                  <a:lnTo>
                    <a:pt x="754075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85774" y="1274765"/>
              <a:ext cx="141605" cy="115570"/>
            </a:xfrm>
            <a:custGeom>
              <a:avLst/>
              <a:gdLst/>
              <a:ahLst/>
              <a:cxnLst/>
              <a:rect l="l" t="t" r="r" b="b"/>
              <a:pathLst>
                <a:path w="141604" h="115569">
                  <a:moveTo>
                    <a:pt x="0" y="0"/>
                  </a:moveTo>
                  <a:lnTo>
                    <a:pt x="33101" y="57271"/>
                  </a:lnTo>
                  <a:lnTo>
                    <a:pt x="0" y="115275"/>
                  </a:lnTo>
                  <a:lnTo>
                    <a:pt x="141335" y="572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62660" y="1569714"/>
              <a:ext cx="753745" cy="0"/>
            </a:xfrm>
            <a:custGeom>
              <a:avLst/>
              <a:gdLst/>
              <a:ahLst/>
              <a:cxnLst/>
              <a:rect l="l" t="t" r="r" b="b"/>
              <a:pathLst>
                <a:path w="753745">
                  <a:moveTo>
                    <a:pt x="753727" y="0"/>
                  </a:moveTo>
                  <a:lnTo>
                    <a:pt x="753727" y="0"/>
                  </a:lnTo>
                  <a:lnTo>
                    <a:pt x="0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63355" y="1512692"/>
              <a:ext cx="140970" cy="115570"/>
            </a:xfrm>
            <a:custGeom>
              <a:avLst/>
              <a:gdLst/>
              <a:ahLst/>
              <a:cxnLst/>
              <a:rect l="l" t="t" r="r" b="b"/>
              <a:pathLst>
                <a:path w="140969" h="115569">
                  <a:moveTo>
                    <a:pt x="140387" y="0"/>
                  </a:moveTo>
                  <a:lnTo>
                    <a:pt x="0" y="57028"/>
                  </a:lnTo>
                  <a:lnTo>
                    <a:pt x="140387" y="115244"/>
                  </a:lnTo>
                  <a:lnTo>
                    <a:pt x="107286" y="57028"/>
                  </a:lnTo>
                  <a:lnTo>
                    <a:pt x="1403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659387" y="1274765"/>
            <a:ext cx="853440" cy="115570"/>
            <a:chOff x="4659387" y="1274765"/>
            <a:chExt cx="853440" cy="115570"/>
          </a:xfrm>
        </p:grpSpPr>
        <p:sp>
          <p:nvSpPr>
            <p:cNvPr id="30" name="object 30"/>
            <p:cNvSpPr/>
            <p:nvPr/>
          </p:nvSpPr>
          <p:spPr>
            <a:xfrm>
              <a:off x="4659387" y="1332036"/>
              <a:ext cx="754380" cy="0"/>
            </a:xfrm>
            <a:custGeom>
              <a:avLst/>
              <a:gdLst/>
              <a:ahLst/>
              <a:cxnLst/>
              <a:rect l="l" t="t" r="r" b="b"/>
              <a:pathLst>
                <a:path w="754379">
                  <a:moveTo>
                    <a:pt x="0" y="0"/>
                  </a:moveTo>
                  <a:lnTo>
                    <a:pt x="0" y="0"/>
                  </a:lnTo>
                  <a:lnTo>
                    <a:pt x="754090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72038" y="1274765"/>
              <a:ext cx="140970" cy="115570"/>
            </a:xfrm>
            <a:custGeom>
              <a:avLst/>
              <a:gdLst/>
              <a:ahLst/>
              <a:cxnLst/>
              <a:rect l="l" t="t" r="r" b="b"/>
              <a:pathLst>
                <a:path w="140970" h="115569">
                  <a:moveTo>
                    <a:pt x="0" y="0"/>
                  </a:moveTo>
                  <a:lnTo>
                    <a:pt x="33101" y="57271"/>
                  </a:lnTo>
                  <a:lnTo>
                    <a:pt x="0" y="115275"/>
                  </a:lnTo>
                  <a:lnTo>
                    <a:pt x="140390" y="572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648809" y="1512692"/>
            <a:ext cx="854075" cy="115570"/>
            <a:chOff x="4648809" y="1512692"/>
            <a:chExt cx="854075" cy="115570"/>
          </a:xfrm>
        </p:grpSpPr>
        <p:sp>
          <p:nvSpPr>
            <p:cNvPr id="33" name="object 33"/>
            <p:cNvSpPr/>
            <p:nvPr/>
          </p:nvSpPr>
          <p:spPr>
            <a:xfrm>
              <a:off x="4748939" y="1569714"/>
              <a:ext cx="753745" cy="0"/>
            </a:xfrm>
            <a:custGeom>
              <a:avLst/>
              <a:gdLst/>
              <a:ahLst/>
              <a:cxnLst/>
              <a:rect l="l" t="t" r="r" b="b"/>
              <a:pathLst>
                <a:path w="753745">
                  <a:moveTo>
                    <a:pt x="753724" y="0"/>
                  </a:moveTo>
                  <a:lnTo>
                    <a:pt x="753724" y="0"/>
                  </a:lnTo>
                  <a:lnTo>
                    <a:pt x="0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48809" y="1512692"/>
              <a:ext cx="141605" cy="115570"/>
            </a:xfrm>
            <a:custGeom>
              <a:avLst/>
              <a:gdLst/>
              <a:ahLst/>
              <a:cxnLst/>
              <a:rect l="l" t="t" r="r" b="b"/>
              <a:pathLst>
                <a:path w="141604" h="115569">
                  <a:moveTo>
                    <a:pt x="141213" y="0"/>
                  </a:moveTo>
                  <a:lnTo>
                    <a:pt x="0" y="57028"/>
                  </a:lnTo>
                  <a:lnTo>
                    <a:pt x="141213" y="115244"/>
                  </a:lnTo>
                  <a:lnTo>
                    <a:pt x="108112" y="57028"/>
                  </a:lnTo>
                  <a:lnTo>
                    <a:pt x="1412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939398" y="2374929"/>
            <a:ext cx="9709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latin typeface="Times New Roman"/>
                <a:cs typeface="Times New Roman"/>
              </a:rPr>
              <a:t>(a)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Single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cache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388385" y="3907119"/>
            <a:ext cx="935355" cy="656590"/>
          </a:xfrm>
          <a:custGeom>
            <a:avLst/>
            <a:gdLst/>
            <a:ahLst/>
            <a:cxnLst/>
            <a:rect l="l" t="t" r="r" b="b"/>
            <a:pathLst>
              <a:path w="935355" h="656589">
                <a:moveTo>
                  <a:pt x="858355" y="656177"/>
                </a:moveTo>
                <a:lnTo>
                  <a:pt x="858355" y="76914"/>
                </a:lnTo>
                <a:lnTo>
                  <a:pt x="0" y="76914"/>
                </a:lnTo>
                <a:lnTo>
                  <a:pt x="76853" y="0"/>
                </a:lnTo>
                <a:lnTo>
                  <a:pt x="935282" y="0"/>
                </a:lnTo>
                <a:lnTo>
                  <a:pt x="935282" y="579381"/>
                </a:lnTo>
                <a:lnTo>
                  <a:pt x="858355" y="656177"/>
                </a:lnTo>
                <a:close/>
              </a:path>
            </a:pathLst>
          </a:custGeom>
          <a:ln w="215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388385" y="3984033"/>
            <a:ext cx="858519" cy="579755"/>
          </a:xfrm>
          <a:prstGeom prst="rect">
            <a:avLst/>
          </a:prstGeom>
          <a:solidFill>
            <a:srgbClr val="DCDCDC"/>
          </a:solidFill>
          <a:ln w="21577">
            <a:solidFill>
              <a:srgbClr val="000000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210"/>
              </a:spcBef>
            </a:pPr>
            <a:r>
              <a:rPr sz="1300" b="1" spc="-25" dirty="0">
                <a:latin typeface="Times New Roman"/>
                <a:cs typeface="Times New Roman"/>
              </a:rPr>
              <a:t>CPU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04517" y="4638165"/>
            <a:ext cx="45275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10" dirty="0">
                <a:latin typeface="Times New Roman"/>
                <a:cs typeface="Times New Roman"/>
              </a:rPr>
              <a:t>Fastest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91418" y="4638165"/>
            <a:ext cx="28638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20" dirty="0">
                <a:latin typeface="Times New Roman"/>
                <a:cs typeface="Times New Roman"/>
              </a:rPr>
              <a:t>Fast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235945" y="3810598"/>
            <a:ext cx="1386840" cy="849630"/>
            <a:chOff x="2235945" y="3810598"/>
            <a:chExt cx="1386840" cy="849630"/>
          </a:xfrm>
        </p:grpSpPr>
        <p:sp>
          <p:nvSpPr>
            <p:cNvPr id="49" name="object 49"/>
            <p:cNvSpPr/>
            <p:nvPr/>
          </p:nvSpPr>
          <p:spPr>
            <a:xfrm>
              <a:off x="2246744" y="3907118"/>
              <a:ext cx="77470" cy="77470"/>
            </a:xfrm>
            <a:custGeom>
              <a:avLst/>
              <a:gdLst/>
              <a:ahLst/>
              <a:cxnLst/>
              <a:rect l="l" t="t" r="r" b="b"/>
              <a:pathLst>
                <a:path w="77469" h="77470">
                  <a:moveTo>
                    <a:pt x="76925" y="0"/>
                  </a:moveTo>
                  <a:lnTo>
                    <a:pt x="0" y="76916"/>
                  </a:lnTo>
                  <a:lnTo>
                    <a:pt x="76925" y="0"/>
                  </a:lnTo>
                  <a:close/>
                </a:path>
              </a:pathLst>
            </a:custGeom>
            <a:solidFill>
              <a:srgbClr val="71C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246740" y="3907119"/>
              <a:ext cx="77470" cy="77470"/>
            </a:xfrm>
            <a:custGeom>
              <a:avLst/>
              <a:gdLst/>
              <a:ahLst/>
              <a:cxnLst/>
              <a:rect l="l" t="t" r="r" b="b"/>
              <a:pathLst>
                <a:path w="77469" h="77470">
                  <a:moveTo>
                    <a:pt x="0" y="76914"/>
                  </a:moveTo>
                  <a:lnTo>
                    <a:pt x="0" y="76914"/>
                  </a:lnTo>
                  <a:lnTo>
                    <a:pt x="76926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76000" y="3821393"/>
              <a:ext cx="935990" cy="828040"/>
            </a:xfrm>
            <a:custGeom>
              <a:avLst/>
              <a:gdLst/>
              <a:ahLst/>
              <a:cxnLst/>
              <a:rect l="l" t="t" r="r" b="b"/>
              <a:pathLst>
                <a:path w="935989" h="828039">
                  <a:moveTo>
                    <a:pt x="935543" y="0"/>
                  </a:moveTo>
                  <a:lnTo>
                    <a:pt x="76806" y="0"/>
                  </a:lnTo>
                  <a:lnTo>
                    <a:pt x="0" y="76916"/>
                  </a:lnTo>
                  <a:lnTo>
                    <a:pt x="858399" y="76916"/>
                  </a:lnTo>
                  <a:lnTo>
                    <a:pt x="858399" y="827629"/>
                  </a:lnTo>
                  <a:lnTo>
                    <a:pt x="935543" y="750832"/>
                  </a:lnTo>
                  <a:lnTo>
                    <a:pt x="935543" y="0"/>
                  </a:lnTo>
                  <a:close/>
                </a:path>
              </a:pathLst>
            </a:custGeom>
            <a:solidFill>
              <a:srgbClr val="71C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675996" y="3821393"/>
              <a:ext cx="935990" cy="828040"/>
            </a:xfrm>
            <a:custGeom>
              <a:avLst/>
              <a:gdLst/>
              <a:ahLst/>
              <a:cxnLst/>
              <a:rect l="l" t="t" r="r" b="b"/>
              <a:pathLst>
                <a:path w="935989" h="828039">
                  <a:moveTo>
                    <a:pt x="858382" y="827629"/>
                  </a:moveTo>
                  <a:lnTo>
                    <a:pt x="858382" y="76914"/>
                  </a:lnTo>
                  <a:lnTo>
                    <a:pt x="0" y="76914"/>
                  </a:lnTo>
                  <a:lnTo>
                    <a:pt x="76808" y="0"/>
                  </a:lnTo>
                  <a:lnTo>
                    <a:pt x="935559" y="0"/>
                  </a:lnTo>
                  <a:lnTo>
                    <a:pt x="935559" y="750833"/>
                  </a:lnTo>
                  <a:lnTo>
                    <a:pt x="858382" y="827629"/>
                  </a:lnTo>
                  <a:close/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675996" y="3898307"/>
            <a:ext cx="858519" cy="751205"/>
          </a:xfrm>
          <a:prstGeom prst="rect">
            <a:avLst/>
          </a:prstGeom>
          <a:solidFill>
            <a:srgbClr val="CBEBCC"/>
          </a:solidFill>
          <a:ln w="21577">
            <a:solidFill>
              <a:srgbClr val="000000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57150" marR="50800" indent="114935">
              <a:lnSpc>
                <a:spcPts val="1500"/>
              </a:lnSpc>
              <a:spcBef>
                <a:spcPts val="1235"/>
              </a:spcBef>
            </a:pPr>
            <a:r>
              <a:rPr sz="1300" b="1" dirty="0">
                <a:latin typeface="Times New Roman"/>
                <a:cs typeface="Times New Roman"/>
              </a:rPr>
              <a:t>Level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1 </a:t>
            </a:r>
            <a:r>
              <a:rPr sz="1300" b="1" dirty="0">
                <a:latin typeface="Times New Roman"/>
                <a:cs typeface="Times New Roman"/>
              </a:rPr>
              <a:t>(L1)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cache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91737" y="4749012"/>
            <a:ext cx="29527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20" dirty="0">
                <a:latin typeface="Times New Roman"/>
                <a:cs typeface="Times New Roman"/>
              </a:rPr>
              <a:t>Less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15339" y="4749012"/>
            <a:ext cx="3175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20" dirty="0">
                <a:latin typeface="Times New Roman"/>
                <a:cs typeface="Times New Roman"/>
              </a:rPr>
              <a:t>Slow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15074" y="4866896"/>
            <a:ext cx="24701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20" dirty="0">
                <a:latin typeface="Times New Roman"/>
                <a:cs typeface="Times New Roman"/>
              </a:rPr>
              <a:t>fast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523584" y="3123088"/>
            <a:ext cx="3997960" cy="2223770"/>
            <a:chOff x="3523584" y="3123088"/>
            <a:chExt cx="3997960" cy="2223770"/>
          </a:xfrm>
        </p:grpSpPr>
        <p:sp>
          <p:nvSpPr>
            <p:cNvPr id="55" name="object 55"/>
            <p:cNvSpPr/>
            <p:nvPr/>
          </p:nvSpPr>
          <p:spPr>
            <a:xfrm>
              <a:off x="3534399" y="3821393"/>
              <a:ext cx="77470" cy="77470"/>
            </a:xfrm>
            <a:custGeom>
              <a:avLst/>
              <a:gdLst/>
              <a:ahLst/>
              <a:cxnLst/>
              <a:rect l="l" t="t" r="r" b="b"/>
              <a:pathLst>
                <a:path w="77470" h="77470">
                  <a:moveTo>
                    <a:pt x="77144" y="0"/>
                  </a:moveTo>
                  <a:lnTo>
                    <a:pt x="0" y="76916"/>
                  </a:lnTo>
                  <a:lnTo>
                    <a:pt x="77144" y="0"/>
                  </a:lnTo>
                  <a:close/>
                </a:path>
              </a:pathLst>
            </a:custGeom>
            <a:solidFill>
              <a:srgbClr val="71C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534379" y="3821393"/>
              <a:ext cx="77470" cy="77470"/>
            </a:xfrm>
            <a:custGeom>
              <a:avLst/>
              <a:gdLst/>
              <a:ahLst/>
              <a:cxnLst/>
              <a:rect l="l" t="t" r="r" b="b"/>
              <a:pathLst>
                <a:path w="77470" h="77470">
                  <a:moveTo>
                    <a:pt x="0" y="76914"/>
                  </a:moveTo>
                  <a:lnTo>
                    <a:pt x="0" y="76914"/>
                  </a:lnTo>
                  <a:lnTo>
                    <a:pt x="77176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63893" y="3735781"/>
              <a:ext cx="935355" cy="999490"/>
            </a:xfrm>
            <a:custGeom>
              <a:avLst/>
              <a:gdLst/>
              <a:ahLst/>
              <a:cxnLst/>
              <a:rect l="l" t="t" r="r" b="b"/>
              <a:pathLst>
                <a:path w="935354" h="999489">
                  <a:moveTo>
                    <a:pt x="935187" y="0"/>
                  </a:moveTo>
                  <a:lnTo>
                    <a:pt x="76809" y="0"/>
                  </a:lnTo>
                  <a:lnTo>
                    <a:pt x="0" y="76803"/>
                  </a:lnTo>
                  <a:lnTo>
                    <a:pt x="858377" y="76803"/>
                  </a:lnTo>
                  <a:lnTo>
                    <a:pt x="858377" y="999335"/>
                  </a:lnTo>
                  <a:lnTo>
                    <a:pt x="935187" y="922407"/>
                  </a:lnTo>
                  <a:lnTo>
                    <a:pt x="935187" y="0"/>
                  </a:lnTo>
                  <a:close/>
                </a:path>
              </a:pathLst>
            </a:custGeom>
            <a:solidFill>
              <a:srgbClr val="71C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963881" y="3735788"/>
              <a:ext cx="935355" cy="999490"/>
            </a:xfrm>
            <a:custGeom>
              <a:avLst/>
              <a:gdLst/>
              <a:ahLst/>
              <a:cxnLst/>
              <a:rect l="l" t="t" r="r" b="b"/>
              <a:pathLst>
                <a:path w="935354" h="999489">
                  <a:moveTo>
                    <a:pt x="858394" y="999325"/>
                  </a:moveTo>
                  <a:lnTo>
                    <a:pt x="858394" y="76795"/>
                  </a:lnTo>
                  <a:lnTo>
                    <a:pt x="0" y="76795"/>
                  </a:lnTo>
                  <a:lnTo>
                    <a:pt x="76811" y="0"/>
                  </a:lnTo>
                  <a:lnTo>
                    <a:pt x="935206" y="0"/>
                  </a:lnTo>
                  <a:lnTo>
                    <a:pt x="935206" y="922398"/>
                  </a:lnTo>
                  <a:lnTo>
                    <a:pt x="858394" y="999325"/>
                  </a:lnTo>
                  <a:close/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822271" y="3735781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76809" y="0"/>
                  </a:moveTo>
                  <a:lnTo>
                    <a:pt x="0" y="76803"/>
                  </a:lnTo>
                  <a:lnTo>
                    <a:pt x="76809" y="0"/>
                  </a:lnTo>
                  <a:close/>
                </a:path>
              </a:pathLst>
            </a:custGeom>
            <a:solidFill>
              <a:srgbClr val="71C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22276" y="3735788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76795"/>
                  </a:moveTo>
                  <a:lnTo>
                    <a:pt x="0" y="76795"/>
                  </a:lnTo>
                  <a:lnTo>
                    <a:pt x="76811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62981" y="3649705"/>
              <a:ext cx="936625" cy="1171575"/>
            </a:xfrm>
            <a:custGeom>
              <a:avLst/>
              <a:gdLst/>
              <a:ahLst/>
              <a:cxnLst/>
              <a:rect l="l" t="t" r="r" b="b"/>
              <a:pathLst>
                <a:path w="936625" h="1171575">
                  <a:moveTo>
                    <a:pt x="936497" y="0"/>
                  </a:moveTo>
                  <a:lnTo>
                    <a:pt x="77754" y="0"/>
                  </a:lnTo>
                  <a:lnTo>
                    <a:pt x="0" y="76901"/>
                  </a:lnTo>
                  <a:lnTo>
                    <a:pt x="858743" y="76901"/>
                  </a:lnTo>
                  <a:lnTo>
                    <a:pt x="858743" y="1171136"/>
                  </a:lnTo>
                  <a:lnTo>
                    <a:pt x="936497" y="1094219"/>
                  </a:lnTo>
                  <a:lnTo>
                    <a:pt x="936497" y="0"/>
                  </a:lnTo>
                  <a:close/>
                </a:path>
              </a:pathLst>
            </a:custGeom>
            <a:solidFill>
              <a:srgbClr val="71C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262964" y="3649684"/>
              <a:ext cx="936625" cy="1171575"/>
            </a:xfrm>
            <a:custGeom>
              <a:avLst/>
              <a:gdLst/>
              <a:ahLst/>
              <a:cxnLst/>
              <a:rect l="l" t="t" r="r" b="b"/>
              <a:pathLst>
                <a:path w="936625" h="1171575">
                  <a:moveTo>
                    <a:pt x="858760" y="1171156"/>
                  </a:moveTo>
                  <a:lnTo>
                    <a:pt x="858760" y="76929"/>
                  </a:lnTo>
                  <a:lnTo>
                    <a:pt x="0" y="76929"/>
                  </a:lnTo>
                  <a:lnTo>
                    <a:pt x="77756" y="0"/>
                  </a:lnTo>
                  <a:lnTo>
                    <a:pt x="936486" y="0"/>
                  </a:lnTo>
                  <a:lnTo>
                    <a:pt x="936486" y="1094241"/>
                  </a:lnTo>
                  <a:lnTo>
                    <a:pt x="858760" y="1171156"/>
                  </a:lnTo>
                  <a:close/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121725" y="3649705"/>
              <a:ext cx="78105" cy="77470"/>
            </a:xfrm>
            <a:custGeom>
              <a:avLst/>
              <a:gdLst/>
              <a:ahLst/>
              <a:cxnLst/>
              <a:rect l="l" t="t" r="r" b="b"/>
              <a:pathLst>
                <a:path w="78104" h="77470">
                  <a:moveTo>
                    <a:pt x="77754" y="0"/>
                  </a:moveTo>
                  <a:lnTo>
                    <a:pt x="0" y="76901"/>
                  </a:lnTo>
                  <a:lnTo>
                    <a:pt x="77754" y="0"/>
                  </a:lnTo>
                  <a:close/>
                </a:path>
              </a:pathLst>
            </a:custGeom>
            <a:solidFill>
              <a:srgbClr val="71C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121725" y="3649684"/>
              <a:ext cx="78105" cy="77470"/>
            </a:xfrm>
            <a:custGeom>
              <a:avLst/>
              <a:gdLst/>
              <a:ahLst/>
              <a:cxnLst/>
              <a:rect l="l" t="t" r="r" b="b"/>
              <a:pathLst>
                <a:path w="78104" h="77470">
                  <a:moveTo>
                    <a:pt x="0" y="76929"/>
                  </a:moveTo>
                  <a:lnTo>
                    <a:pt x="0" y="76929"/>
                  </a:lnTo>
                  <a:lnTo>
                    <a:pt x="77725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574810" y="3133892"/>
              <a:ext cx="935990" cy="2202180"/>
            </a:xfrm>
            <a:custGeom>
              <a:avLst/>
              <a:gdLst/>
              <a:ahLst/>
              <a:cxnLst/>
              <a:rect l="l" t="t" r="r" b="b"/>
              <a:pathLst>
                <a:path w="935990" h="2202179">
                  <a:moveTo>
                    <a:pt x="935522" y="0"/>
                  </a:moveTo>
                  <a:lnTo>
                    <a:pt x="77144" y="0"/>
                  </a:lnTo>
                  <a:lnTo>
                    <a:pt x="0" y="78120"/>
                  </a:lnTo>
                  <a:lnTo>
                    <a:pt x="858743" y="78120"/>
                  </a:lnTo>
                  <a:lnTo>
                    <a:pt x="858743" y="2201798"/>
                  </a:lnTo>
                  <a:lnTo>
                    <a:pt x="935522" y="2124989"/>
                  </a:lnTo>
                  <a:lnTo>
                    <a:pt x="935522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574789" y="3133883"/>
              <a:ext cx="935990" cy="2202180"/>
            </a:xfrm>
            <a:custGeom>
              <a:avLst/>
              <a:gdLst/>
              <a:ahLst/>
              <a:cxnLst/>
              <a:rect l="l" t="t" r="r" b="b"/>
              <a:pathLst>
                <a:path w="935990" h="2202179">
                  <a:moveTo>
                    <a:pt x="858730" y="2201808"/>
                  </a:moveTo>
                  <a:lnTo>
                    <a:pt x="858730" y="78118"/>
                  </a:lnTo>
                  <a:lnTo>
                    <a:pt x="0" y="78118"/>
                  </a:lnTo>
                  <a:lnTo>
                    <a:pt x="77146" y="0"/>
                  </a:lnTo>
                  <a:lnTo>
                    <a:pt x="935541" y="0"/>
                  </a:lnTo>
                  <a:lnTo>
                    <a:pt x="935541" y="2125000"/>
                  </a:lnTo>
                  <a:lnTo>
                    <a:pt x="858730" y="2201808"/>
                  </a:lnTo>
                  <a:close/>
                </a:path>
              </a:pathLst>
            </a:custGeom>
            <a:ln w="215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33554" y="3134837"/>
              <a:ext cx="76835" cy="77470"/>
            </a:xfrm>
            <a:custGeom>
              <a:avLst/>
              <a:gdLst/>
              <a:ahLst/>
              <a:cxnLst/>
              <a:rect l="l" t="t" r="r" b="b"/>
              <a:pathLst>
                <a:path w="76834" h="77469">
                  <a:moveTo>
                    <a:pt x="76779" y="0"/>
                  </a:moveTo>
                  <a:lnTo>
                    <a:pt x="0" y="77175"/>
                  </a:lnTo>
                  <a:lnTo>
                    <a:pt x="76779" y="0"/>
                  </a:lnTo>
                  <a:close/>
                </a:path>
              </a:pathLst>
            </a:custGeom>
            <a:solidFill>
              <a:srgbClr val="71CC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433519" y="3134858"/>
              <a:ext cx="76835" cy="77470"/>
            </a:xfrm>
            <a:custGeom>
              <a:avLst/>
              <a:gdLst/>
              <a:ahLst/>
              <a:cxnLst/>
              <a:rect l="l" t="t" r="r" b="b"/>
              <a:pathLst>
                <a:path w="76834" h="77469">
                  <a:moveTo>
                    <a:pt x="0" y="77143"/>
                  </a:moveTo>
                  <a:lnTo>
                    <a:pt x="0" y="77143"/>
                  </a:lnTo>
                  <a:lnTo>
                    <a:pt x="76811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963881" y="3812584"/>
            <a:ext cx="858519" cy="922655"/>
          </a:xfrm>
          <a:prstGeom prst="rect">
            <a:avLst/>
          </a:prstGeom>
          <a:solidFill>
            <a:srgbClr val="CBEBCC"/>
          </a:solidFill>
          <a:ln w="21577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endParaRPr sz="1300">
              <a:latin typeface="Times New Roman"/>
              <a:cs typeface="Times New Roman"/>
            </a:endParaRPr>
          </a:p>
          <a:p>
            <a:pPr marL="60325" marR="47625" indent="114935">
              <a:lnSpc>
                <a:spcPts val="1500"/>
              </a:lnSpc>
            </a:pPr>
            <a:r>
              <a:rPr sz="1300" b="1" dirty="0">
                <a:latin typeface="Times New Roman"/>
                <a:cs typeface="Times New Roman"/>
              </a:rPr>
              <a:t>Level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2 </a:t>
            </a:r>
            <a:r>
              <a:rPr sz="1300" b="1" dirty="0">
                <a:latin typeface="Times New Roman"/>
                <a:cs typeface="Times New Roman"/>
              </a:rPr>
              <a:t>(L2)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cache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262964" y="3726614"/>
            <a:ext cx="859155" cy="1094740"/>
          </a:xfrm>
          <a:prstGeom prst="rect">
            <a:avLst/>
          </a:prstGeom>
          <a:solidFill>
            <a:srgbClr val="CBEBCC"/>
          </a:solidFill>
          <a:ln w="21577">
            <a:solidFill>
              <a:srgbClr val="00000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</a:pPr>
            <a:endParaRPr sz="1300">
              <a:latin typeface="Times New Roman"/>
              <a:cs typeface="Times New Roman"/>
            </a:endParaRPr>
          </a:p>
          <a:p>
            <a:pPr marL="55244" marR="53340" indent="115570">
              <a:lnSpc>
                <a:spcPts val="1500"/>
              </a:lnSpc>
            </a:pPr>
            <a:r>
              <a:rPr sz="1300" b="1" dirty="0">
                <a:latin typeface="Times New Roman"/>
                <a:cs typeface="Times New Roman"/>
              </a:rPr>
              <a:t>Level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3 </a:t>
            </a:r>
            <a:r>
              <a:rPr sz="1300" b="1" dirty="0">
                <a:latin typeface="Times New Roman"/>
                <a:cs typeface="Times New Roman"/>
              </a:rPr>
              <a:t>(L3)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cache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574789" y="3212001"/>
            <a:ext cx="859155" cy="2124075"/>
          </a:xfrm>
          <a:prstGeom prst="rect">
            <a:avLst/>
          </a:prstGeom>
          <a:solidFill>
            <a:srgbClr val="DCDCDC"/>
          </a:solidFill>
          <a:ln w="2157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300">
              <a:latin typeface="Times New Roman"/>
              <a:cs typeface="Times New Roman"/>
            </a:endParaRPr>
          </a:p>
          <a:p>
            <a:pPr marL="103505" marR="138430" indent="114935">
              <a:lnSpc>
                <a:spcPts val="1500"/>
              </a:lnSpc>
            </a:pPr>
            <a:r>
              <a:rPr sz="1300" b="1" spc="-20" dirty="0">
                <a:latin typeface="Times New Roman"/>
                <a:cs typeface="Times New Roman"/>
              </a:rPr>
              <a:t>Main </a:t>
            </a:r>
            <a:r>
              <a:rPr sz="1300" b="1" spc="-10" dirty="0">
                <a:latin typeface="Times New Roman"/>
                <a:cs typeface="Times New Roman"/>
              </a:rPr>
              <a:t>Memory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2264843" y="4094893"/>
            <a:ext cx="4321175" cy="353695"/>
            <a:chOff x="2264843" y="4094893"/>
            <a:chExt cx="4321175" cy="353695"/>
          </a:xfrm>
        </p:grpSpPr>
        <p:sp>
          <p:nvSpPr>
            <p:cNvPr id="73" name="object 73"/>
            <p:cNvSpPr/>
            <p:nvPr/>
          </p:nvSpPr>
          <p:spPr>
            <a:xfrm>
              <a:off x="2275435" y="4152160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5">
                  <a:moveTo>
                    <a:pt x="0" y="0"/>
                  </a:moveTo>
                  <a:lnTo>
                    <a:pt x="0" y="0"/>
                  </a:lnTo>
                  <a:lnTo>
                    <a:pt x="298524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532875" y="4094893"/>
              <a:ext cx="141605" cy="114300"/>
            </a:xfrm>
            <a:custGeom>
              <a:avLst/>
              <a:gdLst/>
              <a:ahLst/>
              <a:cxnLst/>
              <a:rect l="l" t="t" r="r" b="b"/>
              <a:pathLst>
                <a:path w="141605" h="114300">
                  <a:moveTo>
                    <a:pt x="0" y="0"/>
                  </a:moveTo>
                  <a:lnTo>
                    <a:pt x="34052" y="57268"/>
                  </a:lnTo>
                  <a:lnTo>
                    <a:pt x="0" y="114299"/>
                  </a:lnTo>
                  <a:lnTo>
                    <a:pt x="141338" y="5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364743" y="4389811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5">
                  <a:moveTo>
                    <a:pt x="298868" y="0"/>
                  </a:moveTo>
                  <a:lnTo>
                    <a:pt x="298868" y="0"/>
                  </a:lnTo>
                  <a:lnTo>
                    <a:pt x="0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264843" y="4332780"/>
              <a:ext cx="141605" cy="115570"/>
            </a:xfrm>
            <a:custGeom>
              <a:avLst/>
              <a:gdLst/>
              <a:ahLst/>
              <a:cxnLst/>
              <a:rect l="l" t="t" r="r" b="b"/>
              <a:pathLst>
                <a:path w="141605" h="115570">
                  <a:moveTo>
                    <a:pt x="141219" y="0"/>
                  </a:moveTo>
                  <a:lnTo>
                    <a:pt x="0" y="57031"/>
                  </a:lnTo>
                  <a:lnTo>
                    <a:pt x="141219" y="115263"/>
                  </a:lnTo>
                  <a:lnTo>
                    <a:pt x="108118" y="57031"/>
                  </a:lnTo>
                  <a:lnTo>
                    <a:pt x="1412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575710" y="4152160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5">
                  <a:moveTo>
                    <a:pt x="0" y="0"/>
                  </a:moveTo>
                  <a:lnTo>
                    <a:pt x="0" y="0"/>
                  </a:lnTo>
                  <a:lnTo>
                    <a:pt x="298649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833256" y="4094893"/>
              <a:ext cx="140970" cy="114300"/>
            </a:xfrm>
            <a:custGeom>
              <a:avLst/>
              <a:gdLst/>
              <a:ahLst/>
              <a:cxnLst/>
              <a:rect l="l" t="t" r="r" b="b"/>
              <a:pathLst>
                <a:path w="140970" h="114300">
                  <a:moveTo>
                    <a:pt x="0" y="0"/>
                  </a:moveTo>
                  <a:lnTo>
                    <a:pt x="33131" y="57268"/>
                  </a:lnTo>
                  <a:lnTo>
                    <a:pt x="0" y="114299"/>
                  </a:lnTo>
                  <a:lnTo>
                    <a:pt x="140390" y="5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665018" y="4389811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5">
                  <a:moveTo>
                    <a:pt x="298862" y="0"/>
                  </a:moveTo>
                  <a:lnTo>
                    <a:pt x="298862" y="0"/>
                  </a:lnTo>
                  <a:lnTo>
                    <a:pt x="0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564879" y="4332780"/>
              <a:ext cx="141605" cy="115570"/>
            </a:xfrm>
            <a:custGeom>
              <a:avLst/>
              <a:gdLst/>
              <a:ahLst/>
              <a:cxnLst/>
              <a:rect l="l" t="t" r="r" b="b"/>
              <a:pathLst>
                <a:path w="141604" h="115570">
                  <a:moveTo>
                    <a:pt x="141213" y="0"/>
                  </a:moveTo>
                  <a:lnTo>
                    <a:pt x="0" y="57031"/>
                  </a:lnTo>
                  <a:lnTo>
                    <a:pt x="141213" y="115263"/>
                  </a:lnTo>
                  <a:lnTo>
                    <a:pt x="107289" y="57031"/>
                  </a:lnTo>
                  <a:lnTo>
                    <a:pt x="1412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874916" y="4152160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5">
                  <a:moveTo>
                    <a:pt x="0" y="0"/>
                  </a:moveTo>
                  <a:lnTo>
                    <a:pt x="0" y="0"/>
                  </a:lnTo>
                  <a:lnTo>
                    <a:pt x="298740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133532" y="4094893"/>
              <a:ext cx="140970" cy="114300"/>
            </a:xfrm>
            <a:custGeom>
              <a:avLst/>
              <a:gdLst/>
              <a:ahLst/>
              <a:cxnLst/>
              <a:rect l="l" t="t" r="r" b="b"/>
              <a:pathLst>
                <a:path w="140970" h="114300">
                  <a:moveTo>
                    <a:pt x="0" y="0"/>
                  </a:moveTo>
                  <a:lnTo>
                    <a:pt x="33101" y="57268"/>
                  </a:lnTo>
                  <a:lnTo>
                    <a:pt x="0" y="114299"/>
                  </a:lnTo>
                  <a:lnTo>
                    <a:pt x="140390" y="5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965291" y="4389811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5">
                  <a:moveTo>
                    <a:pt x="298618" y="0"/>
                  </a:moveTo>
                  <a:lnTo>
                    <a:pt x="298618" y="0"/>
                  </a:lnTo>
                  <a:lnTo>
                    <a:pt x="0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65156" y="4332780"/>
              <a:ext cx="140970" cy="115570"/>
            </a:xfrm>
            <a:custGeom>
              <a:avLst/>
              <a:gdLst/>
              <a:ahLst/>
              <a:cxnLst/>
              <a:rect l="l" t="t" r="r" b="b"/>
              <a:pathLst>
                <a:path w="140970" h="115570">
                  <a:moveTo>
                    <a:pt x="140390" y="0"/>
                  </a:moveTo>
                  <a:lnTo>
                    <a:pt x="0" y="57031"/>
                  </a:lnTo>
                  <a:lnTo>
                    <a:pt x="140390" y="115263"/>
                  </a:lnTo>
                  <a:lnTo>
                    <a:pt x="107289" y="57031"/>
                  </a:lnTo>
                  <a:lnTo>
                    <a:pt x="1403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186710" y="4152160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5">
                  <a:moveTo>
                    <a:pt x="0" y="0"/>
                  </a:moveTo>
                  <a:lnTo>
                    <a:pt x="0" y="0"/>
                  </a:lnTo>
                  <a:lnTo>
                    <a:pt x="298892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445361" y="4094893"/>
              <a:ext cx="140970" cy="114300"/>
            </a:xfrm>
            <a:custGeom>
              <a:avLst/>
              <a:gdLst/>
              <a:ahLst/>
              <a:cxnLst/>
              <a:rect l="l" t="t" r="r" b="b"/>
              <a:pathLst>
                <a:path w="140970" h="114300">
                  <a:moveTo>
                    <a:pt x="0" y="0"/>
                  </a:moveTo>
                  <a:lnTo>
                    <a:pt x="33101" y="57268"/>
                  </a:lnTo>
                  <a:lnTo>
                    <a:pt x="0" y="114299"/>
                  </a:lnTo>
                  <a:lnTo>
                    <a:pt x="140390" y="5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277115" y="4389811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4">
                  <a:moveTo>
                    <a:pt x="298618" y="0"/>
                  </a:moveTo>
                  <a:lnTo>
                    <a:pt x="298618" y="0"/>
                  </a:lnTo>
                  <a:lnTo>
                    <a:pt x="0" y="0"/>
                  </a:lnTo>
                </a:path>
              </a:pathLst>
            </a:custGeom>
            <a:ln w="21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176985" y="4332780"/>
              <a:ext cx="140970" cy="115570"/>
            </a:xfrm>
            <a:custGeom>
              <a:avLst/>
              <a:gdLst/>
              <a:ahLst/>
              <a:cxnLst/>
              <a:rect l="l" t="t" r="r" b="b"/>
              <a:pathLst>
                <a:path w="140970" h="115570">
                  <a:moveTo>
                    <a:pt x="140390" y="0"/>
                  </a:moveTo>
                  <a:lnTo>
                    <a:pt x="0" y="57031"/>
                  </a:lnTo>
                  <a:lnTo>
                    <a:pt x="140390" y="115263"/>
                  </a:lnTo>
                  <a:lnTo>
                    <a:pt x="107289" y="57031"/>
                  </a:lnTo>
                  <a:lnTo>
                    <a:pt x="1403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373329" y="5459546"/>
            <a:ext cx="20955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latin typeface="Times New Roman"/>
                <a:cs typeface="Times New Roman"/>
              </a:rPr>
              <a:t>(b)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Three-level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cache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organization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20583" y="6059574"/>
            <a:ext cx="3397885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b="1" dirty="0">
                <a:latin typeface="Times New Roman"/>
                <a:cs typeface="Times New Roman"/>
              </a:rPr>
              <a:t>Figure</a:t>
            </a:r>
            <a:r>
              <a:rPr sz="1650" b="1" spc="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4.3</a:t>
            </a:r>
            <a:r>
              <a:rPr sz="1650" b="1" spc="484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Cache</a:t>
            </a:r>
            <a:r>
              <a:rPr sz="1650" b="1" spc="4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and</a:t>
            </a:r>
            <a:r>
              <a:rPr sz="1650" b="1" spc="3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Main</a:t>
            </a:r>
            <a:r>
              <a:rPr sz="1650" b="1" spc="30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Memory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203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0411" y="200603"/>
            <a:ext cx="3870325" cy="570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  <a:p>
            <a:pPr marL="433070" marR="5080" indent="-228600" algn="just">
              <a:lnSpc>
                <a:spcPct val="100000"/>
              </a:lnSpc>
              <a:spcBef>
                <a:spcPts val="153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433070" algn="l"/>
              </a:tabLst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Figure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4.3a.The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cache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contains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a </a:t>
            </a:r>
            <a:r>
              <a:rPr sz="1800" dirty="0">
                <a:latin typeface="Times New Roman"/>
                <a:cs typeface="Times New Roman"/>
              </a:rPr>
              <a:t>copy</a:t>
            </a:r>
            <a:r>
              <a:rPr sz="1800" spc="4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portions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memory. 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processor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attempts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read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memory,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check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made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4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determine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4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cache.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so,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delivered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processor.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main </a:t>
            </a:r>
            <a:r>
              <a:rPr sz="1800" dirty="0">
                <a:latin typeface="Times New Roman"/>
                <a:cs typeface="Times New Roman"/>
              </a:rPr>
              <a:t>memory,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consisting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some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fixed </a:t>
            </a:r>
            <a:r>
              <a:rPr sz="1800" dirty="0">
                <a:latin typeface="Times New Roman"/>
                <a:cs typeface="Times New Roman"/>
              </a:rPr>
              <a:t>number</a:t>
            </a:r>
            <a:r>
              <a:rPr sz="1800" spc="2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words,</a:t>
            </a:r>
            <a:r>
              <a:rPr sz="1800" spc="2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read</a:t>
            </a:r>
            <a:r>
              <a:rPr sz="1800" spc="4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49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cache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delivered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processor.</a:t>
            </a:r>
            <a:r>
              <a:rPr sz="1800" spc="1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Because</a:t>
            </a:r>
            <a:r>
              <a:rPr sz="1800" spc="1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60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phenomenon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locality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reference, 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fetched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cache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satisfy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single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memory </a:t>
            </a:r>
            <a:r>
              <a:rPr sz="1800" dirty="0">
                <a:latin typeface="Times New Roman"/>
                <a:cs typeface="Times New Roman"/>
              </a:rPr>
              <a:t>reference,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likely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will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future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references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spc="-20" dirty="0">
                <a:latin typeface="Times New Roman"/>
                <a:cs typeface="Times New Roman"/>
              </a:rPr>
              <a:t>same </a:t>
            </a:r>
            <a:r>
              <a:rPr sz="1800" dirty="0">
                <a:latin typeface="Times New Roman"/>
                <a:cs typeface="Times New Roman"/>
              </a:rPr>
              <a:t>memory location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block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79420" y="1438397"/>
            <a:ext cx="350012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Figure</a:t>
            </a:r>
            <a:r>
              <a:rPr sz="1800" spc="19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4.3b</a:t>
            </a:r>
            <a:r>
              <a:rPr sz="1800" spc="18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depicts</a:t>
            </a:r>
            <a:r>
              <a:rPr sz="1800" spc="18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8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185" dirty="0">
                <a:latin typeface="Times New Roman"/>
                <a:cs typeface="Times New Roman"/>
              </a:rPr>
              <a:t>  </a:t>
            </a:r>
            <a:r>
              <a:rPr sz="1800" spc="-3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multiple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levels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cache.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L2 </a:t>
            </a:r>
            <a:r>
              <a:rPr sz="1800" dirty="0">
                <a:latin typeface="Times New Roman"/>
                <a:cs typeface="Times New Roman"/>
              </a:rPr>
              <a:t>cache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slower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typically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larger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L1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cache,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spc="-35" dirty="0">
                <a:latin typeface="Times New Roman"/>
                <a:cs typeface="Times New Roman"/>
              </a:rPr>
              <a:t>L3 </a:t>
            </a:r>
            <a:r>
              <a:rPr sz="1800" dirty="0">
                <a:latin typeface="Times New Roman"/>
                <a:cs typeface="Times New Roman"/>
              </a:rPr>
              <a:t>cache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slower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typically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larger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L2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cache.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 txBox="1"/>
          <p:nvPr/>
        </p:nvSpPr>
        <p:spPr>
          <a:xfrm>
            <a:off x="741248" y="167751"/>
            <a:ext cx="578485" cy="10871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0"/>
              </a:spcBef>
            </a:pPr>
            <a:r>
              <a:rPr sz="1300" spc="-20" dirty="0">
                <a:latin typeface="Times New Roman"/>
                <a:cs typeface="Times New Roman"/>
              </a:rPr>
              <a:t>Line </a:t>
            </a:r>
            <a:r>
              <a:rPr sz="1300" spc="-10" dirty="0">
                <a:latin typeface="Times New Roman"/>
                <a:cs typeface="Times New Roman"/>
              </a:rPr>
              <a:t>Number</a:t>
            </a:r>
            <a:endParaRPr sz="1300">
              <a:latin typeface="Times New Roman"/>
              <a:cs typeface="Times New Roman"/>
            </a:endParaRPr>
          </a:p>
          <a:p>
            <a:pPr marR="65405" algn="r">
              <a:lnSpc>
                <a:spcPct val="100000"/>
              </a:lnSpc>
              <a:spcBef>
                <a:spcPts val="175"/>
              </a:spcBef>
            </a:pPr>
            <a:r>
              <a:rPr sz="1300" spc="-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  <a:p>
            <a:pPr marR="65405" algn="r">
              <a:lnSpc>
                <a:spcPct val="100000"/>
              </a:lnSpc>
              <a:spcBef>
                <a:spcPts val="155"/>
              </a:spcBef>
            </a:pPr>
            <a:r>
              <a:rPr sz="1300" spc="-50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R="65405" algn="r">
              <a:lnSpc>
                <a:spcPct val="100000"/>
              </a:lnSpc>
              <a:spcBef>
                <a:spcPts val="155"/>
              </a:spcBef>
            </a:pPr>
            <a:r>
              <a:rPr sz="1300" spc="-50" dirty="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34359" y="352738"/>
            <a:ext cx="28829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25" dirty="0">
                <a:latin typeface="Times New Roman"/>
                <a:cs typeface="Times New Roman"/>
              </a:rPr>
              <a:t>Tag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97359" y="352738"/>
            <a:ext cx="42735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10" dirty="0">
                <a:latin typeface="Times New Roman"/>
                <a:cs typeface="Times New Roman"/>
              </a:rPr>
              <a:t>Block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17963" y="143100"/>
            <a:ext cx="606425" cy="431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 marR="5080" indent="-38735">
              <a:lnSpc>
                <a:spcPct val="102600"/>
              </a:lnSpc>
              <a:spcBef>
                <a:spcPts val="90"/>
              </a:spcBef>
            </a:pPr>
            <a:r>
              <a:rPr sz="1300" spc="-10" dirty="0">
                <a:latin typeface="Times New Roman"/>
                <a:cs typeface="Times New Roman"/>
              </a:rPr>
              <a:t>Memory address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363227" y="602888"/>
          <a:ext cx="2829560" cy="1771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975"/>
                <a:gridCol w="2394585"/>
              </a:tblGrid>
              <a:tr h="21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2178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9004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3462" y="1407170"/>
            <a:ext cx="68019" cy="6815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130669" y="576165"/>
            <a:ext cx="109855" cy="89725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300" spc="-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300" spc="-50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300" spc="-50" dirty="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300" spc="-50" dirty="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07140" y="2577876"/>
            <a:ext cx="890905" cy="90805"/>
            <a:chOff x="3307140" y="2577876"/>
            <a:chExt cx="890905" cy="90805"/>
          </a:xfrm>
        </p:grpSpPr>
        <p:sp>
          <p:nvSpPr>
            <p:cNvPr id="21" name="object 21"/>
            <p:cNvSpPr/>
            <p:nvPr/>
          </p:nvSpPr>
          <p:spPr>
            <a:xfrm>
              <a:off x="3307140" y="2623159"/>
              <a:ext cx="825500" cy="0"/>
            </a:xfrm>
            <a:custGeom>
              <a:avLst/>
              <a:gdLst/>
              <a:ahLst/>
              <a:cxnLst/>
              <a:rect l="l" t="t" r="r" b="b"/>
              <a:pathLst>
                <a:path w="825500">
                  <a:moveTo>
                    <a:pt x="0" y="0"/>
                  </a:moveTo>
                  <a:lnTo>
                    <a:pt x="825394" y="0"/>
                  </a:lnTo>
                </a:path>
              </a:pathLst>
            </a:custGeom>
            <a:ln w="11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19006" y="2577876"/>
              <a:ext cx="79375" cy="90805"/>
            </a:xfrm>
            <a:custGeom>
              <a:avLst/>
              <a:gdLst/>
              <a:ahLst/>
              <a:cxnLst/>
              <a:rect l="l" t="t" r="r" b="b"/>
              <a:pathLst>
                <a:path w="79375" h="90805">
                  <a:moveTo>
                    <a:pt x="0" y="0"/>
                  </a:moveTo>
                  <a:lnTo>
                    <a:pt x="0" y="90617"/>
                  </a:lnTo>
                  <a:lnTo>
                    <a:pt x="78882" y="45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" name="object 2"/>
          <p:cNvGrpSpPr/>
          <p:nvPr/>
        </p:nvGrpSpPr>
        <p:grpSpPr>
          <a:xfrm>
            <a:off x="6297097" y="602888"/>
            <a:ext cx="1100455" cy="4585335"/>
            <a:chOff x="6297097" y="602888"/>
            <a:chExt cx="1100455" cy="4585335"/>
          </a:xfrm>
        </p:grpSpPr>
        <p:sp>
          <p:nvSpPr>
            <p:cNvPr id="3" name="object 3"/>
            <p:cNvSpPr/>
            <p:nvPr/>
          </p:nvSpPr>
          <p:spPr>
            <a:xfrm>
              <a:off x="6302959" y="608716"/>
              <a:ext cx="1089025" cy="217804"/>
            </a:xfrm>
            <a:custGeom>
              <a:avLst/>
              <a:gdLst/>
              <a:ahLst/>
              <a:cxnLst/>
              <a:rect l="l" t="t" r="r" b="b"/>
              <a:pathLst>
                <a:path w="1089025" h="217805">
                  <a:moveTo>
                    <a:pt x="1088410" y="0"/>
                  </a:moveTo>
                  <a:lnTo>
                    <a:pt x="0" y="0"/>
                  </a:lnTo>
                  <a:lnTo>
                    <a:pt x="0" y="217749"/>
                  </a:lnTo>
                  <a:lnTo>
                    <a:pt x="1088410" y="217749"/>
                  </a:lnTo>
                  <a:lnTo>
                    <a:pt x="108841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02946" y="608737"/>
              <a:ext cx="1089025" cy="217804"/>
            </a:xfrm>
            <a:custGeom>
              <a:avLst/>
              <a:gdLst/>
              <a:ahLst/>
              <a:cxnLst/>
              <a:rect l="l" t="t" r="r" b="b"/>
              <a:pathLst>
                <a:path w="1089025" h="217805">
                  <a:moveTo>
                    <a:pt x="1088405" y="0"/>
                  </a:moveTo>
                  <a:lnTo>
                    <a:pt x="0" y="0"/>
                  </a:lnTo>
                  <a:lnTo>
                    <a:pt x="0" y="217731"/>
                  </a:lnTo>
                  <a:lnTo>
                    <a:pt x="1088405" y="217731"/>
                  </a:lnTo>
                  <a:lnTo>
                    <a:pt x="1088405" y="0"/>
                  </a:lnTo>
                  <a:close/>
                </a:path>
              </a:pathLst>
            </a:custGeom>
            <a:ln w="11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02959" y="826465"/>
              <a:ext cx="1089025" cy="217804"/>
            </a:xfrm>
            <a:custGeom>
              <a:avLst/>
              <a:gdLst/>
              <a:ahLst/>
              <a:cxnLst/>
              <a:rect l="l" t="t" r="r" b="b"/>
              <a:pathLst>
                <a:path w="1089025" h="217805">
                  <a:moveTo>
                    <a:pt x="1088410" y="0"/>
                  </a:moveTo>
                  <a:lnTo>
                    <a:pt x="0" y="0"/>
                  </a:lnTo>
                  <a:lnTo>
                    <a:pt x="0" y="217749"/>
                  </a:lnTo>
                  <a:lnTo>
                    <a:pt x="1088410" y="217749"/>
                  </a:lnTo>
                  <a:lnTo>
                    <a:pt x="108841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02946" y="826468"/>
              <a:ext cx="1089025" cy="217804"/>
            </a:xfrm>
            <a:custGeom>
              <a:avLst/>
              <a:gdLst/>
              <a:ahLst/>
              <a:cxnLst/>
              <a:rect l="l" t="t" r="r" b="b"/>
              <a:pathLst>
                <a:path w="1089025" h="217805">
                  <a:moveTo>
                    <a:pt x="1088405" y="0"/>
                  </a:moveTo>
                  <a:lnTo>
                    <a:pt x="0" y="0"/>
                  </a:lnTo>
                  <a:lnTo>
                    <a:pt x="0" y="217731"/>
                  </a:lnTo>
                  <a:lnTo>
                    <a:pt x="1088405" y="217731"/>
                  </a:lnTo>
                  <a:lnTo>
                    <a:pt x="1088405" y="0"/>
                  </a:lnTo>
                  <a:close/>
                </a:path>
              </a:pathLst>
            </a:custGeom>
            <a:ln w="11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02959" y="1044214"/>
              <a:ext cx="1089025" cy="218440"/>
            </a:xfrm>
            <a:custGeom>
              <a:avLst/>
              <a:gdLst/>
              <a:ahLst/>
              <a:cxnLst/>
              <a:rect l="l" t="t" r="r" b="b"/>
              <a:pathLst>
                <a:path w="1089025" h="218440">
                  <a:moveTo>
                    <a:pt x="1088410" y="0"/>
                  </a:moveTo>
                  <a:lnTo>
                    <a:pt x="0" y="0"/>
                  </a:lnTo>
                  <a:lnTo>
                    <a:pt x="0" y="217840"/>
                  </a:lnTo>
                  <a:lnTo>
                    <a:pt x="1088410" y="217840"/>
                  </a:lnTo>
                  <a:lnTo>
                    <a:pt x="108841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02946" y="1044200"/>
              <a:ext cx="1089025" cy="218440"/>
            </a:xfrm>
            <a:custGeom>
              <a:avLst/>
              <a:gdLst/>
              <a:ahLst/>
              <a:cxnLst/>
              <a:rect l="l" t="t" r="r" b="b"/>
              <a:pathLst>
                <a:path w="1089025" h="218440">
                  <a:moveTo>
                    <a:pt x="1088405" y="0"/>
                  </a:moveTo>
                  <a:lnTo>
                    <a:pt x="0" y="0"/>
                  </a:lnTo>
                  <a:lnTo>
                    <a:pt x="0" y="217853"/>
                  </a:lnTo>
                  <a:lnTo>
                    <a:pt x="1088405" y="217853"/>
                  </a:lnTo>
                  <a:lnTo>
                    <a:pt x="1088405" y="0"/>
                  </a:lnTo>
                  <a:close/>
                </a:path>
              </a:pathLst>
            </a:custGeom>
            <a:ln w="11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02959" y="1262054"/>
              <a:ext cx="1089025" cy="217804"/>
            </a:xfrm>
            <a:custGeom>
              <a:avLst/>
              <a:gdLst/>
              <a:ahLst/>
              <a:cxnLst/>
              <a:rect l="l" t="t" r="r" b="b"/>
              <a:pathLst>
                <a:path w="1089025" h="217805">
                  <a:moveTo>
                    <a:pt x="1088410" y="0"/>
                  </a:moveTo>
                  <a:lnTo>
                    <a:pt x="0" y="0"/>
                  </a:lnTo>
                  <a:lnTo>
                    <a:pt x="0" y="217718"/>
                  </a:lnTo>
                  <a:lnTo>
                    <a:pt x="1088410" y="217718"/>
                  </a:lnTo>
                  <a:lnTo>
                    <a:pt x="108841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02946" y="1262054"/>
              <a:ext cx="1089025" cy="217804"/>
            </a:xfrm>
            <a:custGeom>
              <a:avLst/>
              <a:gdLst/>
              <a:ahLst/>
              <a:cxnLst/>
              <a:rect l="l" t="t" r="r" b="b"/>
              <a:pathLst>
                <a:path w="1089025" h="217805">
                  <a:moveTo>
                    <a:pt x="1088405" y="0"/>
                  </a:moveTo>
                  <a:lnTo>
                    <a:pt x="0" y="0"/>
                  </a:lnTo>
                  <a:lnTo>
                    <a:pt x="0" y="217731"/>
                  </a:lnTo>
                  <a:lnTo>
                    <a:pt x="1088405" y="217731"/>
                  </a:lnTo>
                  <a:lnTo>
                    <a:pt x="1088405" y="0"/>
                  </a:lnTo>
                  <a:close/>
                </a:path>
              </a:pathLst>
            </a:custGeom>
            <a:ln w="11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02959" y="1479773"/>
              <a:ext cx="1089025" cy="3702685"/>
            </a:xfrm>
            <a:custGeom>
              <a:avLst/>
              <a:gdLst/>
              <a:ahLst/>
              <a:cxnLst/>
              <a:rect l="l" t="t" r="r" b="b"/>
              <a:pathLst>
                <a:path w="1089025" h="3702685">
                  <a:moveTo>
                    <a:pt x="1088410" y="0"/>
                  </a:moveTo>
                  <a:lnTo>
                    <a:pt x="0" y="0"/>
                  </a:lnTo>
                  <a:lnTo>
                    <a:pt x="0" y="3702301"/>
                  </a:lnTo>
                  <a:lnTo>
                    <a:pt x="1088410" y="3702301"/>
                  </a:lnTo>
                  <a:lnTo>
                    <a:pt x="108841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02946" y="1479786"/>
              <a:ext cx="1089025" cy="3702685"/>
            </a:xfrm>
            <a:custGeom>
              <a:avLst/>
              <a:gdLst/>
              <a:ahLst/>
              <a:cxnLst/>
              <a:rect l="l" t="t" r="r" b="b"/>
              <a:pathLst>
                <a:path w="1089025" h="3702685">
                  <a:moveTo>
                    <a:pt x="1088405" y="0"/>
                  </a:moveTo>
                  <a:lnTo>
                    <a:pt x="0" y="0"/>
                  </a:lnTo>
                  <a:lnTo>
                    <a:pt x="0" y="3702289"/>
                  </a:lnTo>
                  <a:lnTo>
                    <a:pt x="1088405" y="3702289"/>
                  </a:lnTo>
                  <a:lnTo>
                    <a:pt x="1088405" y="0"/>
                  </a:lnTo>
                  <a:close/>
                </a:path>
              </a:pathLst>
            </a:custGeom>
            <a:ln w="116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7469285" y="606908"/>
            <a:ext cx="257810" cy="1311275"/>
          </a:xfrm>
          <a:custGeom>
            <a:avLst/>
            <a:gdLst/>
            <a:ahLst/>
            <a:cxnLst/>
            <a:rect l="l" t="t" r="r" b="b"/>
            <a:pathLst>
              <a:path w="257809" h="1311275">
                <a:moveTo>
                  <a:pt x="0" y="1311114"/>
                </a:moveTo>
                <a:lnTo>
                  <a:pt x="30134" y="1309119"/>
                </a:lnTo>
                <a:lnTo>
                  <a:pt x="55306" y="1303307"/>
                </a:lnTo>
                <a:lnTo>
                  <a:pt x="92195" y="1281290"/>
                </a:lnTo>
                <a:lnTo>
                  <a:pt x="113542" y="1247167"/>
                </a:lnTo>
                <a:lnTo>
                  <a:pt x="122223" y="1203043"/>
                </a:lnTo>
                <a:lnTo>
                  <a:pt x="122711" y="1177890"/>
                </a:lnTo>
                <a:lnTo>
                  <a:pt x="121111" y="1151025"/>
                </a:lnTo>
                <a:lnTo>
                  <a:pt x="113083" y="1093218"/>
                </a:lnTo>
                <a:lnTo>
                  <a:pt x="101013" y="1031726"/>
                </a:lnTo>
                <a:lnTo>
                  <a:pt x="94361" y="1000256"/>
                </a:lnTo>
                <a:lnTo>
                  <a:pt x="87776" y="968655"/>
                </a:lnTo>
                <a:lnTo>
                  <a:pt x="76248" y="906111"/>
                </a:lnTo>
                <a:lnTo>
                  <a:pt x="69303" y="846198"/>
                </a:lnTo>
                <a:lnTo>
                  <a:pt x="68447" y="817886"/>
                </a:lnTo>
                <a:lnTo>
                  <a:pt x="69816" y="791022"/>
                </a:lnTo>
                <a:lnTo>
                  <a:pt x="80662" y="742688"/>
                </a:lnTo>
                <a:lnTo>
                  <a:pt x="104717" y="703302"/>
                </a:lnTo>
                <a:lnTo>
                  <a:pt x="144856" y="674969"/>
                </a:lnTo>
                <a:lnTo>
                  <a:pt x="203952" y="659793"/>
                </a:lnTo>
                <a:lnTo>
                  <a:pt x="241509" y="657797"/>
                </a:lnTo>
                <a:lnTo>
                  <a:pt x="257692" y="653317"/>
                </a:lnTo>
                <a:lnTo>
                  <a:pt x="188095" y="645509"/>
                </a:lnTo>
                <a:lnTo>
                  <a:pt x="138866" y="623492"/>
                </a:lnTo>
                <a:lnTo>
                  <a:pt x="107135" y="589369"/>
                </a:lnTo>
                <a:lnTo>
                  <a:pt x="90029" y="545245"/>
                </a:lnTo>
                <a:lnTo>
                  <a:pt x="84677" y="493227"/>
                </a:lnTo>
                <a:lnTo>
                  <a:pt x="85510" y="464916"/>
                </a:lnTo>
                <a:lnTo>
                  <a:pt x="92402" y="405003"/>
                </a:lnTo>
                <a:lnTo>
                  <a:pt x="103867" y="342459"/>
                </a:lnTo>
                <a:lnTo>
                  <a:pt x="117033" y="279388"/>
                </a:lnTo>
                <a:lnTo>
                  <a:pt x="123356" y="248313"/>
                </a:lnTo>
                <a:lnTo>
                  <a:pt x="129028" y="217896"/>
                </a:lnTo>
                <a:lnTo>
                  <a:pt x="133689" y="188400"/>
                </a:lnTo>
                <a:lnTo>
                  <a:pt x="136980" y="160089"/>
                </a:lnTo>
                <a:lnTo>
                  <a:pt x="138543" y="133224"/>
                </a:lnTo>
                <a:lnTo>
                  <a:pt x="138017" y="108071"/>
                </a:lnTo>
                <a:lnTo>
                  <a:pt x="129267" y="63947"/>
                </a:lnTo>
                <a:lnTo>
                  <a:pt x="107858" y="29824"/>
                </a:lnTo>
                <a:lnTo>
                  <a:pt x="70917" y="7807"/>
                </a:lnTo>
                <a:lnTo>
                  <a:pt x="45726" y="1995"/>
                </a:lnTo>
                <a:lnTo>
                  <a:pt x="15574" y="0"/>
                </a:lnTo>
              </a:path>
            </a:pathLst>
          </a:custGeom>
          <a:ln w="236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763097" y="1022246"/>
            <a:ext cx="705485" cy="431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90"/>
              </a:spcBef>
            </a:pPr>
            <a:r>
              <a:rPr sz="1300" dirty="0">
                <a:latin typeface="Times New Roman"/>
                <a:cs typeface="Times New Roman"/>
              </a:rPr>
              <a:t>Block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0 </a:t>
            </a:r>
            <a:r>
              <a:rPr sz="1300" dirty="0">
                <a:latin typeface="Times New Roman"/>
                <a:cs typeface="Times New Roman"/>
              </a:rPr>
              <a:t>(</a:t>
            </a:r>
            <a:r>
              <a:rPr sz="1300" i="1" dirty="0">
                <a:latin typeface="Times New Roman"/>
                <a:cs typeface="Times New Roman"/>
              </a:rPr>
              <a:t>K</a:t>
            </a:r>
            <a:r>
              <a:rPr sz="1300" i="1" spc="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words)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3462" y="1661282"/>
            <a:ext cx="68019" cy="68000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6351894" y="1915249"/>
            <a:ext cx="1039494" cy="0"/>
          </a:xfrm>
          <a:custGeom>
            <a:avLst/>
            <a:gdLst/>
            <a:ahLst/>
            <a:cxnLst/>
            <a:rect l="l" t="t" r="r" b="b"/>
            <a:pathLst>
              <a:path w="1039495">
                <a:moveTo>
                  <a:pt x="0" y="0"/>
                </a:moveTo>
                <a:lnTo>
                  <a:pt x="1039458" y="0"/>
                </a:lnTo>
              </a:path>
            </a:pathLst>
          </a:custGeom>
          <a:ln w="11697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33462" y="1916216"/>
            <a:ext cx="68019" cy="6803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865426" y="2176513"/>
            <a:ext cx="39116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i="1" dirty="0">
                <a:latin typeface="Times New Roman"/>
                <a:cs typeface="Times New Roman"/>
              </a:rPr>
              <a:t>C</a:t>
            </a:r>
            <a:r>
              <a:rPr sz="1300" i="1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–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66922" y="2623159"/>
            <a:ext cx="617855" cy="0"/>
          </a:xfrm>
          <a:custGeom>
            <a:avLst/>
            <a:gdLst/>
            <a:ahLst/>
            <a:cxnLst/>
            <a:rect l="l" t="t" r="r" b="b"/>
            <a:pathLst>
              <a:path w="617855">
                <a:moveTo>
                  <a:pt x="0" y="0"/>
                </a:moveTo>
                <a:lnTo>
                  <a:pt x="617472" y="0"/>
                </a:lnTo>
              </a:path>
            </a:pathLst>
          </a:custGeom>
          <a:ln w="116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02404" y="2577876"/>
            <a:ext cx="78105" cy="90805"/>
          </a:xfrm>
          <a:custGeom>
            <a:avLst/>
            <a:gdLst/>
            <a:ahLst/>
            <a:cxnLst/>
            <a:rect l="l" t="t" r="r" b="b"/>
            <a:pathLst>
              <a:path w="78105" h="90805">
                <a:moveTo>
                  <a:pt x="78044" y="0"/>
                </a:moveTo>
                <a:lnTo>
                  <a:pt x="0" y="45293"/>
                </a:lnTo>
                <a:lnTo>
                  <a:pt x="78044" y="90617"/>
                </a:lnTo>
                <a:lnTo>
                  <a:pt x="78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484394" y="2472629"/>
            <a:ext cx="822960" cy="338455"/>
          </a:xfrm>
          <a:prstGeom prst="rect">
            <a:avLst/>
          </a:prstGeom>
          <a:solidFill>
            <a:srgbClr val="FEFEFE"/>
          </a:solidFill>
        </p:spPr>
        <p:txBody>
          <a:bodyPr vert="horz" wrap="square" lIns="0" tIns="0" rIns="0" bIns="0" rtlCol="0">
            <a:spAutoFit/>
          </a:bodyPr>
          <a:lstStyle/>
          <a:p>
            <a:pPr marR="21590" algn="ctr">
              <a:lnSpc>
                <a:spcPts val="1135"/>
              </a:lnSpc>
            </a:pPr>
            <a:r>
              <a:rPr sz="1150" spc="-10" dirty="0">
                <a:latin typeface="Times New Roman"/>
                <a:cs typeface="Times New Roman"/>
              </a:rPr>
              <a:t>Block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Length</a:t>
            </a:r>
            <a:endParaRPr sz="1150">
              <a:latin typeface="Times New Roman"/>
              <a:cs typeface="Times New Roman"/>
            </a:endParaRPr>
          </a:p>
          <a:p>
            <a:pPr marR="17145" algn="ctr">
              <a:lnSpc>
                <a:spcPts val="1375"/>
              </a:lnSpc>
            </a:pPr>
            <a:r>
              <a:rPr sz="1150" dirty="0">
                <a:latin typeface="Times New Roman"/>
                <a:cs typeface="Times New Roman"/>
              </a:rPr>
              <a:t>(</a:t>
            </a:r>
            <a:r>
              <a:rPr sz="1150" i="1" dirty="0">
                <a:latin typeface="Times New Roman"/>
                <a:cs typeface="Times New Roman"/>
              </a:rPr>
              <a:t>K</a:t>
            </a:r>
            <a:r>
              <a:rPr sz="1150" i="1" spc="-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Words)</a:t>
            </a:r>
            <a:endParaRPr sz="1150">
              <a:latin typeface="Times New Roman"/>
              <a:cs typeface="Times New Roman"/>
            </a:endParaRPr>
          </a:p>
        </p:txBody>
      </p:sp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1812" y="2750058"/>
            <a:ext cx="67787" cy="68153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2526302" y="2957790"/>
            <a:ext cx="67500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latin typeface="Times New Roman"/>
                <a:cs typeface="Times New Roman"/>
              </a:rPr>
              <a:t>(a)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Cache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5" name="object 4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1812" y="3004139"/>
            <a:ext cx="67787" cy="68031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1812" y="3259348"/>
            <a:ext cx="67787" cy="67757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6351894" y="3875435"/>
            <a:ext cx="1039494" cy="0"/>
          </a:xfrm>
          <a:custGeom>
            <a:avLst/>
            <a:gdLst/>
            <a:ahLst/>
            <a:cxnLst/>
            <a:rect l="l" t="t" r="r" b="b"/>
            <a:pathLst>
              <a:path w="1039495">
                <a:moveTo>
                  <a:pt x="0" y="0"/>
                </a:moveTo>
                <a:lnTo>
                  <a:pt x="1039458" y="0"/>
                </a:lnTo>
              </a:path>
            </a:pathLst>
          </a:custGeom>
          <a:ln w="11697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778712" y="4935143"/>
            <a:ext cx="48514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latin typeface="Times New Roman"/>
                <a:cs typeface="Times New Roman"/>
              </a:rPr>
              <a:t>2</a:t>
            </a:r>
            <a:r>
              <a:rPr sz="1725" i="1" baseline="28985" dirty="0">
                <a:latin typeface="Times New Roman"/>
                <a:cs typeface="Times New Roman"/>
              </a:rPr>
              <a:t>n</a:t>
            </a:r>
            <a:r>
              <a:rPr sz="1725" i="1" spc="67" baseline="289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–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69285" y="3856231"/>
            <a:ext cx="257810" cy="1311910"/>
          </a:xfrm>
          <a:custGeom>
            <a:avLst/>
            <a:gdLst/>
            <a:ahLst/>
            <a:cxnLst/>
            <a:rect l="l" t="t" r="r" b="b"/>
            <a:pathLst>
              <a:path w="257809" h="1311910">
                <a:moveTo>
                  <a:pt x="0" y="1311462"/>
                </a:moveTo>
                <a:lnTo>
                  <a:pt x="30134" y="1309465"/>
                </a:lnTo>
                <a:lnTo>
                  <a:pt x="55306" y="1303651"/>
                </a:lnTo>
                <a:lnTo>
                  <a:pt x="92195" y="1281621"/>
                </a:lnTo>
                <a:lnTo>
                  <a:pt x="113542" y="1247479"/>
                </a:lnTo>
                <a:lnTo>
                  <a:pt x="122223" y="1203331"/>
                </a:lnTo>
                <a:lnTo>
                  <a:pt x="122711" y="1178164"/>
                </a:lnTo>
                <a:lnTo>
                  <a:pt x="121111" y="1151285"/>
                </a:lnTo>
                <a:lnTo>
                  <a:pt x="113083" y="1093445"/>
                </a:lnTo>
                <a:lnTo>
                  <a:pt x="101013" y="1031920"/>
                </a:lnTo>
                <a:lnTo>
                  <a:pt x="94361" y="1000433"/>
                </a:lnTo>
                <a:lnTo>
                  <a:pt x="87776" y="968814"/>
                </a:lnTo>
                <a:lnTo>
                  <a:pt x="76248" y="906235"/>
                </a:lnTo>
                <a:lnTo>
                  <a:pt x="69303" y="846290"/>
                </a:lnTo>
                <a:lnTo>
                  <a:pt x="68447" y="817962"/>
                </a:lnTo>
                <a:lnTo>
                  <a:pt x="69816" y="791083"/>
                </a:lnTo>
                <a:lnTo>
                  <a:pt x="80662" y="742723"/>
                </a:lnTo>
                <a:lnTo>
                  <a:pt x="104717" y="703315"/>
                </a:lnTo>
                <a:lnTo>
                  <a:pt x="144856" y="674966"/>
                </a:lnTo>
                <a:lnTo>
                  <a:pt x="203952" y="659782"/>
                </a:lnTo>
                <a:lnTo>
                  <a:pt x="241509" y="657785"/>
                </a:lnTo>
                <a:lnTo>
                  <a:pt x="257692" y="653307"/>
                </a:lnTo>
                <a:lnTo>
                  <a:pt x="188095" y="645500"/>
                </a:lnTo>
                <a:lnTo>
                  <a:pt x="138866" y="623483"/>
                </a:lnTo>
                <a:lnTo>
                  <a:pt x="107135" y="589360"/>
                </a:lnTo>
                <a:lnTo>
                  <a:pt x="90029" y="545238"/>
                </a:lnTo>
                <a:lnTo>
                  <a:pt x="84677" y="493221"/>
                </a:lnTo>
                <a:lnTo>
                  <a:pt x="85510" y="464909"/>
                </a:lnTo>
                <a:lnTo>
                  <a:pt x="92402" y="404997"/>
                </a:lnTo>
                <a:lnTo>
                  <a:pt x="103867" y="342454"/>
                </a:lnTo>
                <a:lnTo>
                  <a:pt x="117033" y="279384"/>
                </a:lnTo>
                <a:lnTo>
                  <a:pt x="123356" y="248310"/>
                </a:lnTo>
                <a:lnTo>
                  <a:pt x="129028" y="217893"/>
                </a:lnTo>
                <a:lnTo>
                  <a:pt x="133689" y="188398"/>
                </a:lnTo>
                <a:lnTo>
                  <a:pt x="136980" y="160086"/>
                </a:lnTo>
                <a:lnTo>
                  <a:pt x="138543" y="133222"/>
                </a:lnTo>
                <a:lnTo>
                  <a:pt x="138017" y="108069"/>
                </a:lnTo>
                <a:lnTo>
                  <a:pt x="129267" y="63947"/>
                </a:lnTo>
                <a:lnTo>
                  <a:pt x="107858" y="29824"/>
                </a:lnTo>
                <a:lnTo>
                  <a:pt x="70917" y="7806"/>
                </a:lnTo>
                <a:lnTo>
                  <a:pt x="45726" y="1995"/>
                </a:lnTo>
                <a:lnTo>
                  <a:pt x="15574" y="0"/>
                </a:lnTo>
              </a:path>
            </a:pathLst>
          </a:custGeom>
          <a:ln w="236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763097" y="4374502"/>
            <a:ext cx="86550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dirty="0">
                <a:latin typeface="Times New Roman"/>
                <a:cs typeface="Times New Roman"/>
              </a:rPr>
              <a:t>Block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M</a:t>
            </a:r>
            <a:r>
              <a:rPr sz="1300" i="1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–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49475" y="5349121"/>
            <a:ext cx="340995" cy="90805"/>
            <a:chOff x="7049475" y="5349121"/>
            <a:chExt cx="340995" cy="90805"/>
          </a:xfrm>
        </p:grpSpPr>
        <p:sp>
          <p:nvSpPr>
            <p:cNvPr id="16" name="object 16"/>
            <p:cNvSpPr/>
            <p:nvPr/>
          </p:nvSpPr>
          <p:spPr>
            <a:xfrm>
              <a:off x="7049475" y="5394411"/>
              <a:ext cx="276860" cy="0"/>
            </a:xfrm>
            <a:custGeom>
              <a:avLst/>
              <a:gdLst/>
              <a:ahLst/>
              <a:cxnLst/>
              <a:rect l="l" t="t" r="r" b="b"/>
              <a:pathLst>
                <a:path w="276859">
                  <a:moveTo>
                    <a:pt x="0" y="0"/>
                  </a:moveTo>
                  <a:lnTo>
                    <a:pt x="276532" y="0"/>
                  </a:lnTo>
                </a:path>
              </a:pathLst>
            </a:custGeom>
            <a:ln w="11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12487" y="5349121"/>
              <a:ext cx="78105" cy="90805"/>
            </a:xfrm>
            <a:custGeom>
              <a:avLst/>
              <a:gdLst/>
              <a:ahLst/>
              <a:cxnLst/>
              <a:rect l="l" t="t" r="r" b="b"/>
              <a:pathLst>
                <a:path w="78104" h="90804">
                  <a:moveTo>
                    <a:pt x="0" y="0"/>
                  </a:moveTo>
                  <a:lnTo>
                    <a:pt x="0" y="90583"/>
                  </a:lnTo>
                  <a:lnTo>
                    <a:pt x="77906" y="45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6362866" y="5394411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0" y="0"/>
                </a:moveTo>
                <a:lnTo>
                  <a:pt x="233065" y="0"/>
                </a:lnTo>
              </a:path>
            </a:pathLst>
          </a:custGeom>
          <a:ln w="116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97503" y="5348228"/>
            <a:ext cx="79375" cy="90805"/>
          </a:xfrm>
          <a:custGeom>
            <a:avLst/>
            <a:gdLst/>
            <a:ahLst/>
            <a:cxnLst/>
            <a:rect l="l" t="t" r="r" b="b"/>
            <a:pathLst>
              <a:path w="79375" h="90804">
                <a:moveTo>
                  <a:pt x="78912" y="0"/>
                </a:moveTo>
                <a:lnTo>
                  <a:pt x="0" y="45278"/>
                </a:lnTo>
                <a:lnTo>
                  <a:pt x="78912" y="90583"/>
                </a:lnTo>
                <a:lnTo>
                  <a:pt x="78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595933" y="5242953"/>
            <a:ext cx="454025" cy="308610"/>
          </a:xfrm>
          <a:prstGeom prst="rect">
            <a:avLst/>
          </a:prstGeom>
          <a:solidFill>
            <a:srgbClr val="FEFEFE"/>
          </a:solidFill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ts val="1155"/>
              </a:lnSpc>
            </a:pPr>
            <a:r>
              <a:rPr sz="1150" spc="-20" dirty="0">
                <a:latin typeface="Times New Roman"/>
                <a:cs typeface="Times New Roman"/>
              </a:rPr>
              <a:t>Word</a:t>
            </a:r>
            <a:endParaRPr sz="1150">
              <a:latin typeface="Times New Roman"/>
              <a:cs typeface="Times New Roman"/>
            </a:endParaRPr>
          </a:p>
          <a:p>
            <a:pPr marL="9525">
              <a:lnSpc>
                <a:spcPts val="1275"/>
              </a:lnSpc>
            </a:pPr>
            <a:r>
              <a:rPr sz="1150" spc="-10" dirty="0">
                <a:latin typeface="Times New Roman"/>
                <a:cs typeface="Times New Roman"/>
              </a:rPr>
              <a:t>Length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51482" y="5541965"/>
            <a:ext cx="4381500" cy="66675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35"/>
              </a:spcBef>
            </a:pPr>
            <a:r>
              <a:rPr sz="1300" dirty="0">
                <a:latin typeface="Times New Roman"/>
                <a:cs typeface="Times New Roman"/>
              </a:rPr>
              <a:t>(b)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Main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memory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700" b="1" dirty="0">
                <a:latin typeface="Times New Roman"/>
                <a:cs typeface="Times New Roman"/>
              </a:rPr>
              <a:t>Figure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4.4</a:t>
            </a:r>
            <a:r>
              <a:rPr sz="1700" b="1" spc="42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Cache/Main-</a:t>
            </a:r>
            <a:r>
              <a:rPr sz="1700" b="1" dirty="0">
                <a:latin typeface="Times New Roman"/>
                <a:cs typeface="Times New Roman"/>
              </a:rPr>
              <a:t>Memory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Structure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4072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16"/>
          <p:cNvGrpSpPr/>
          <p:nvPr/>
        </p:nvGrpSpPr>
        <p:grpSpPr>
          <a:xfrm>
            <a:off x="2235690" y="121252"/>
            <a:ext cx="838835" cy="368300"/>
            <a:chOff x="2235690" y="121252"/>
            <a:chExt cx="838835" cy="368300"/>
          </a:xfrm>
        </p:grpSpPr>
        <p:sp>
          <p:nvSpPr>
            <p:cNvPr id="17" name="object 17"/>
            <p:cNvSpPr/>
            <p:nvPr/>
          </p:nvSpPr>
          <p:spPr>
            <a:xfrm>
              <a:off x="2322063" y="206867"/>
              <a:ext cx="752475" cy="282575"/>
            </a:xfrm>
            <a:custGeom>
              <a:avLst/>
              <a:gdLst/>
              <a:ahLst/>
              <a:cxnLst/>
              <a:rect l="l" t="t" r="r" b="b"/>
              <a:pathLst>
                <a:path w="752475" h="282575">
                  <a:moveTo>
                    <a:pt x="611291" y="0"/>
                  </a:moveTo>
                  <a:lnTo>
                    <a:pt x="141162" y="0"/>
                  </a:lnTo>
                  <a:lnTo>
                    <a:pt x="96355" y="7218"/>
                  </a:lnTo>
                  <a:lnTo>
                    <a:pt x="57581" y="27301"/>
                  </a:lnTo>
                  <a:lnTo>
                    <a:pt x="27094" y="57890"/>
                  </a:lnTo>
                  <a:lnTo>
                    <a:pt x="7149" y="96626"/>
                  </a:lnTo>
                  <a:lnTo>
                    <a:pt x="0" y="141152"/>
                  </a:lnTo>
                  <a:lnTo>
                    <a:pt x="7149" y="185855"/>
                  </a:lnTo>
                  <a:lnTo>
                    <a:pt x="27094" y="224564"/>
                  </a:lnTo>
                  <a:lnTo>
                    <a:pt x="57581" y="255015"/>
                  </a:lnTo>
                  <a:lnTo>
                    <a:pt x="96355" y="274945"/>
                  </a:lnTo>
                  <a:lnTo>
                    <a:pt x="141162" y="282092"/>
                  </a:lnTo>
                  <a:lnTo>
                    <a:pt x="611291" y="282092"/>
                  </a:lnTo>
                  <a:lnTo>
                    <a:pt x="655699" y="274945"/>
                  </a:lnTo>
                  <a:lnTo>
                    <a:pt x="694423" y="255015"/>
                  </a:lnTo>
                  <a:lnTo>
                    <a:pt x="725059" y="224564"/>
                  </a:lnTo>
                  <a:lnTo>
                    <a:pt x="745204" y="185855"/>
                  </a:lnTo>
                  <a:lnTo>
                    <a:pt x="752453" y="141152"/>
                  </a:lnTo>
                  <a:lnTo>
                    <a:pt x="745204" y="96626"/>
                  </a:lnTo>
                  <a:lnTo>
                    <a:pt x="725059" y="57890"/>
                  </a:lnTo>
                  <a:lnTo>
                    <a:pt x="694423" y="27301"/>
                  </a:lnTo>
                  <a:lnTo>
                    <a:pt x="655699" y="7218"/>
                  </a:lnTo>
                  <a:lnTo>
                    <a:pt x="611291" y="0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46174" y="131734"/>
              <a:ext cx="752475" cy="282575"/>
            </a:xfrm>
            <a:custGeom>
              <a:avLst/>
              <a:gdLst/>
              <a:ahLst/>
              <a:cxnLst/>
              <a:rect l="l" t="t" r="r" b="b"/>
              <a:pathLst>
                <a:path w="752475" h="282575">
                  <a:moveTo>
                    <a:pt x="611230" y="0"/>
                  </a:moveTo>
                  <a:lnTo>
                    <a:pt x="140884" y="0"/>
                  </a:lnTo>
                  <a:lnTo>
                    <a:pt x="96506" y="7219"/>
                  </a:lnTo>
                  <a:lnTo>
                    <a:pt x="57850" y="27296"/>
                  </a:lnTo>
                  <a:lnTo>
                    <a:pt x="27296" y="57857"/>
                  </a:lnTo>
                  <a:lnTo>
                    <a:pt x="7220" y="96529"/>
                  </a:lnTo>
                  <a:lnTo>
                    <a:pt x="0" y="140939"/>
                  </a:lnTo>
                  <a:lnTo>
                    <a:pt x="7220" y="185761"/>
                  </a:lnTo>
                  <a:lnTo>
                    <a:pt x="27296" y="224542"/>
                  </a:lnTo>
                  <a:lnTo>
                    <a:pt x="57850" y="255030"/>
                  </a:lnTo>
                  <a:lnTo>
                    <a:pt x="96506" y="274974"/>
                  </a:lnTo>
                  <a:lnTo>
                    <a:pt x="140884" y="282122"/>
                  </a:lnTo>
                  <a:lnTo>
                    <a:pt x="611230" y="282122"/>
                  </a:lnTo>
                  <a:lnTo>
                    <a:pt x="655936" y="274974"/>
                  </a:lnTo>
                  <a:lnTo>
                    <a:pt x="694646" y="255030"/>
                  </a:lnTo>
                  <a:lnTo>
                    <a:pt x="725098" y="224542"/>
                  </a:lnTo>
                  <a:lnTo>
                    <a:pt x="745029" y="185761"/>
                  </a:lnTo>
                  <a:lnTo>
                    <a:pt x="752176" y="140939"/>
                  </a:lnTo>
                  <a:lnTo>
                    <a:pt x="745029" y="96529"/>
                  </a:lnTo>
                  <a:lnTo>
                    <a:pt x="725098" y="57857"/>
                  </a:lnTo>
                  <a:lnTo>
                    <a:pt x="694646" y="27296"/>
                  </a:lnTo>
                  <a:lnTo>
                    <a:pt x="655936" y="7219"/>
                  </a:lnTo>
                  <a:lnTo>
                    <a:pt x="611230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46167" y="131730"/>
              <a:ext cx="752475" cy="282575"/>
            </a:xfrm>
            <a:custGeom>
              <a:avLst/>
              <a:gdLst/>
              <a:ahLst/>
              <a:cxnLst/>
              <a:rect l="l" t="t" r="r" b="b"/>
              <a:pathLst>
                <a:path w="752475" h="282575">
                  <a:moveTo>
                    <a:pt x="611230" y="282116"/>
                  </a:moveTo>
                  <a:lnTo>
                    <a:pt x="655935" y="274968"/>
                  </a:lnTo>
                  <a:lnTo>
                    <a:pt x="694646" y="255026"/>
                  </a:lnTo>
                  <a:lnTo>
                    <a:pt x="725098" y="224543"/>
                  </a:lnTo>
                  <a:lnTo>
                    <a:pt x="745029" y="185772"/>
                  </a:lnTo>
                  <a:lnTo>
                    <a:pt x="752176" y="140966"/>
                  </a:lnTo>
                  <a:lnTo>
                    <a:pt x="745029" y="96542"/>
                  </a:lnTo>
                  <a:lnTo>
                    <a:pt x="725098" y="57862"/>
                  </a:lnTo>
                  <a:lnTo>
                    <a:pt x="694646" y="27297"/>
                  </a:lnTo>
                  <a:lnTo>
                    <a:pt x="655935" y="7219"/>
                  </a:lnTo>
                  <a:lnTo>
                    <a:pt x="611230" y="0"/>
                  </a:lnTo>
                  <a:lnTo>
                    <a:pt x="140887" y="0"/>
                  </a:lnTo>
                  <a:lnTo>
                    <a:pt x="96507" y="7219"/>
                  </a:lnTo>
                  <a:lnTo>
                    <a:pt x="57851" y="27297"/>
                  </a:lnTo>
                  <a:lnTo>
                    <a:pt x="27296" y="57862"/>
                  </a:lnTo>
                  <a:lnTo>
                    <a:pt x="7220" y="96542"/>
                  </a:lnTo>
                  <a:lnTo>
                    <a:pt x="0" y="140966"/>
                  </a:lnTo>
                  <a:lnTo>
                    <a:pt x="7220" y="185772"/>
                  </a:lnTo>
                  <a:lnTo>
                    <a:pt x="27296" y="224543"/>
                  </a:lnTo>
                  <a:lnTo>
                    <a:pt x="57851" y="255026"/>
                  </a:lnTo>
                  <a:lnTo>
                    <a:pt x="96507" y="274968"/>
                  </a:lnTo>
                  <a:lnTo>
                    <a:pt x="140887" y="282116"/>
                  </a:lnTo>
                  <a:lnTo>
                    <a:pt x="611230" y="282116"/>
                  </a:lnTo>
                  <a:close/>
                </a:path>
              </a:pathLst>
            </a:custGeom>
            <a:ln w="204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2413700" y="162053"/>
            <a:ext cx="48704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latin typeface="Times New Roman"/>
                <a:cs typeface="Times New Roman"/>
              </a:rPr>
              <a:t>START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583109" y="413846"/>
            <a:ext cx="78740" cy="365760"/>
            <a:chOff x="2583109" y="413846"/>
            <a:chExt cx="78740" cy="365760"/>
          </a:xfrm>
        </p:grpSpPr>
        <p:sp>
          <p:nvSpPr>
            <p:cNvPr id="28" name="object 28"/>
            <p:cNvSpPr/>
            <p:nvPr/>
          </p:nvSpPr>
          <p:spPr>
            <a:xfrm>
              <a:off x="2622225" y="413846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h="309245">
                  <a:moveTo>
                    <a:pt x="0" y="0"/>
                  </a:moveTo>
                  <a:lnTo>
                    <a:pt x="0" y="0"/>
                  </a:lnTo>
                  <a:lnTo>
                    <a:pt x="0" y="309243"/>
                  </a:lnTo>
                </a:path>
              </a:pathLst>
            </a:custGeom>
            <a:ln w="10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83109" y="712134"/>
              <a:ext cx="78740" cy="67945"/>
            </a:xfrm>
            <a:custGeom>
              <a:avLst/>
              <a:gdLst/>
              <a:ahLst/>
              <a:cxnLst/>
              <a:rect l="l" t="t" r="r" b="b"/>
              <a:pathLst>
                <a:path w="78739" h="67945">
                  <a:moveTo>
                    <a:pt x="78245" y="0"/>
                  </a:moveTo>
                  <a:lnTo>
                    <a:pt x="0" y="0"/>
                  </a:lnTo>
                  <a:lnTo>
                    <a:pt x="39124" y="67391"/>
                  </a:lnTo>
                  <a:lnTo>
                    <a:pt x="782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/>
          <p:nvPr/>
        </p:nvSpPr>
        <p:spPr>
          <a:xfrm>
            <a:off x="1945206" y="864961"/>
            <a:ext cx="1504950" cy="563880"/>
          </a:xfrm>
          <a:custGeom>
            <a:avLst/>
            <a:gdLst/>
            <a:ahLst/>
            <a:cxnLst/>
            <a:rect l="l" t="t" r="r" b="b"/>
            <a:pathLst>
              <a:path w="1504950" h="563880">
                <a:moveTo>
                  <a:pt x="1504611" y="0"/>
                </a:moveTo>
                <a:lnTo>
                  <a:pt x="0" y="0"/>
                </a:lnTo>
                <a:lnTo>
                  <a:pt x="0" y="563788"/>
                </a:lnTo>
                <a:lnTo>
                  <a:pt x="1504611" y="563788"/>
                </a:lnTo>
                <a:lnTo>
                  <a:pt x="15046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70098" y="789656"/>
            <a:ext cx="1504315" cy="564515"/>
          </a:xfrm>
          <a:prstGeom prst="rect">
            <a:avLst/>
          </a:prstGeom>
          <a:solidFill>
            <a:srgbClr val="D0D0D0"/>
          </a:solidFill>
          <a:ln w="2046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254000" marR="302895">
              <a:lnSpc>
                <a:spcPct val="100000"/>
              </a:lnSpc>
              <a:spcBef>
                <a:spcPts val="745"/>
              </a:spcBef>
            </a:pPr>
            <a:r>
              <a:rPr sz="1150" dirty="0">
                <a:latin typeface="Times New Roman"/>
                <a:cs typeface="Times New Roman"/>
              </a:rPr>
              <a:t>Receive</a:t>
            </a:r>
            <a:r>
              <a:rPr sz="1150" spc="-6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address </a:t>
            </a:r>
            <a:r>
              <a:rPr sz="1150" dirty="0">
                <a:latin typeface="Times New Roman"/>
                <a:cs typeface="Times New Roman"/>
              </a:rPr>
              <a:t>RA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from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CPU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59868" y="1719317"/>
            <a:ext cx="1590040" cy="649605"/>
            <a:chOff x="1859868" y="1719317"/>
            <a:chExt cx="1590040" cy="649605"/>
          </a:xfrm>
        </p:grpSpPr>
        <p:sp>
          <p:nvSpPr>
            <p:cNvPr id="9" name="object 9"/>
            <p:cNvSpPr/>
            <p:nvPr/>
          </p:nvSpPr>
          <p:spPr>
            <a:xfrm>
              <a:off x="1945206" y="1804873"/>
              <a:ext cx="1504950" cy="563880"/>
            </a:xfrm>
            <a:custGeom>
              <a:avLst/>
              <a:gdLst/>
              <a:ahLst/>
              <a:cxnLst/>
              <a:rect l="l" t="t" r="r" b="b"/>
              <a:pathLst>
                <a:path w="1504950" h="563880">
                  <a:moveTo>
                    <a:pt x="1317312" y="0"/>
                  </a:moveTo>
                  <a:lnTo>
                    <a:pt x="188823" y="0"/>
                  </a:lnTo>
                  <a:lnTo>
                    <a:pt x="0" y="281787"/>
                  </a:lnTo>
                  <a:lnTo>
                    <a:pt x="188823" y="563788"/>
                  </a:lnTo>
                  <a:lnTo>
                    <a:pt x="1317312" y="563788"/>
                  </a:lnTo>
                  <a:lnTo>
                    <a:pt x="1504611" y="281787"/>
                  </a:lnTo>
                  <a:lnTo>
                    <a:pt x="1317312" y="0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70103" y="1729526"/>
              <a:ext cx="1504315" cy="564515"/>
            </a:xfrm>
            <a:custGeom>
              <a:avLst/>
              <a:gdLst/>
              <a:ahLst/>
              <a:cxnLst/>
              <a:rect l="l" t="t" r="r" b="b"/>
              <a:pathLst>
                <a:path w="1504314" h="564514">
                  <a:moveTo>
                    <a:pt x="1316245" y="0"/>
                  </a:moveTo>
                  <a:lnTo>
                    <a:pt x="188034" y="0"/>
                  </a:lnTo>
                  <a:lnTo>
                    <a:pt x="0" y="282000"/>
                  </a:lnTo>
                  <a:lnTo>
                    <a:pt x="188034" y="564032"/>
                  </a:lnTo>
                  <a:lnTo>
                    <a:pt x="1316245" y="564032"/>
                  </a:lnTo>
                  <a:lnTo>
                    <a:pt x="1504276" y="282000"/>
                  </a:lnTo>
                  <a:lnTo>
                    <a:pt x="1316245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70098" y="1729547"/>
              <a:ext cx="1504315" cy="564515"/>
            </a:xfrm>
            <a:custGeom>
              <a:avLst/>
              <a:gdLst/>
              <a:ahLst/>
              <a:cxnLst/>
              <a:rect l="l" t="t" r="r" b="b"/>
              <a:pathLst>
                <a:path w="1504314" h="564514">
                  <a:moveTo>
                    <a:pt x="0" y="281994"/>
                  </a:moveTo>
                  <a:lnTo>
                    <a:pt x="188034" y="0"/>
                  </a:lnTo>
                  <a:lnTo>
                    <a:pt x="1316253" y="0"/>
                  </a:lnTo>
                  <a:lnTo>
                    <a:pt x="1504257" y="281994"/>
                  </a:lnTo>
                  <a:lnTo>
                    <a:pt x="1316253" y="563989"/>
                  </a:lnTo>
                  <a:lnTo>
                    <a:pt x="188034" y="563989"/>
                  </a:lnTo>
                  <a:lnTo>
                    <a:pt x="0" y="281994"/>
                  </a:lnTo>
                  <a:close/>
                </a:path>
              </a:pathLst>
            </a:custGeom>
            <a:ln w="204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282698" y="1717613"/>
            <a:ext cx="876300" cy="551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block containing</a:t>
            </a:r>
            <a:r>
              <a:rPr sz="115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RA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cache?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583109" y="1353646"/>
            <a:ext cx="78740" cy="365760"/>
            <a:chOff x="2583109" y="1353646"/>
            <a:chExt cx="78740" cy="365760"/>
          </a:xfrm>
        </p:grpSpPr>
        <p:sp>
          <p:nvSpPr>
            <p:cNvPr id="25" name="object 25"/>
            <p:cNvSpPr/>
            <p:nvPr/>
          </p:nvSpPr>
          <p:spPr>
            <a:xfrm>
              <a:off x="2622225" y="1353646"/>
              <a:ext cx="0" cy="309880"/>
            </a:xfrm>
            <a:custGeom>
              <a:avLst/>
              <a:gdLst/>
              <a:ahLst/>
              <a:cxnLst/>
              <a:rect l="l" t="t" r="r" b="b"/>
              <a:pathLst>
                <a:path h="309880">
                  <a:moveTo>
                    <a:pt x="0" y="0"/>
                  </a:moveTo>
                  <a:lnTo>
                    <a:pt x="0" y="0"/>
                  </a:lnTo>
                  <a:lnTo>
                    <a:pt x="0" y="309334"/>
                  </a:lnTo>
                </a:path>
              </a:pathLst>
            </a:custGeom>
            <a:ln w="10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83109" y="1652016"/>
              <a:ext cx="78740" cy="67945"/>
            </a:xfrm>
            <a:custGeom>
              <a:avLst/>
              <a:gdLst/>
              <a:ahLst/>
              <a:cxnLst/>
              <a:rect l="l" t="t" r="r" b="b"/>
              <a:pathLst>
                <a:path w="78739" h="67944">
                  <a:moveTo>
                    <a:pt x="78245" y="0"/>
                  </a:moveTo>
                  <a:lnTo>
                    <a:pt x="0" y="0"/>
                  </a:lnTo>
                  <a:lnTo>
                    <a:pt x="39124" y="67391"/>
                  </a:lnTo>
                  <a:lnTo>
                    <a:pt x="782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446397" y="1759752"/>
            <a:ext cx="20320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25" dirty="0">
                <a:latin typeface="Times New Roman"/>
                <a:cs typeface="Times New Roman"/>
              </a:rPr>
              <a:t>No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374355" y="1975530"/>
            <a:ext cx="1123950" cy="78740"/>
            <a:chOff x="3374355" y="1975530"/>
            <a:chExt cx="1123950" cy="78740"/>
          </a:xfrm>
        </p:grpSpPr>
        <p:sp>
          <p:nvSpPr>
            <p:cNvPr id="34" name="object 34"/>
            <p:cNvSpPr/>
            <p:nvPr/>
          </p:nvSpPr>
          <p:spPr>
            <a:xfrm>
              <a:off x="3374355" y="2013828"/>
              <a:ext cx="1067435" cy="0"/>
            </a:xfrm>
            <a:custGeom>
              <a:avLst/>
              <a:gdLst/>
              <a:ahLst/>
              <a:cxnLst/>
              <a:rect l="l" t="t" r="r" b="b"/>
              <a:pathLst>
                <a:path w="1067435">
                  <a:moveTo>
                    <a:pt x="0" y="0"/>
                  </a:moveTo>
                  <a:lnTo>
                    <a:pt x="0" y="0"/>
                  </a:lnTo>
                  <a:lnTo>
                    <a:pt x="1067339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29810" y="1975530"/>
              <a:ext cx="68580" cy="78740"/>
            </a:xfrm>
            <a:custGeom>
              <a:avLst/>
              <a:gdLst/>
              <a:ahLst/>
              <a:cxnLst/>
              <a:rect l="l" t="t" r="r" b="b"/>
              <a:pathLst>
                <a:path w="68579" h="78739">
                  <a:moveTo>
                    <a:pt x="0" y="0"/>
                  </a:moveTo>
                  <a:lnTo>
                    <a:pt x="0" y="78272"/>
                  </a:lnTo>
                  <a:lnTo>
                    <a:pt x="68122" y="391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4"/>
          <p:cNvSpPr/>
          <p:nvPr/>
        </p:nvSpPr>
        <p:spPr>
          <a:xfrm>
            <a:off x="4577974" y="1804873"/>
            <a:ext cx="1504950" cy="563880"/>
          </a:xfrm>
          <a:custGeom>
            <a:avLst/>
            <a:gdLst/>
            <a:ahLst/>
            <a:cxnLst/>
            <a:rect l="l" t="t" r="r" b="b"/>
            <a:pathLst>
              <a:path w="1504950" h="563880">
                <a:moveTo>
                  <a:pt x="1504584" y="0"/>
                </a:moveTo>
                <a:lnTo>
                  <a:pt x="0" y="0"/>
                </a:lnTo>
                <a:lnTo>
                  <a:pt x="0" y="563788"/>
                </a:lnTo>
                <a:lnTo>
                  <a:pt x="1504584" y="563788"/>
                </a:lnTo>
                <a:lnTo>
                  <a:pt x="1504584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502839" y="1729548"/>
            <a:ext cx="1504315" cy="564515"/>
          </a:xfrm>
          <a:prstGeom prst="rect">
            <a:avLst/>
          </a:prstGeom>
          <a:solidFill>
            <a:srgbClr val="D0D0D0"/>
          </a:solidFill>
          <a:ln w="2046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216535" marR="228600">
              <a:lnSpc>
                <a:spcPct val="100000"/>
              </a:lnSpc>
              <a:spcBef>
                <a:spcPts val="5"/>
              </a:spcBef>
            </a:pPr>
            <a:r>
              <a:rPr sz="1150" dirty="0">
                <a:latin typeface="Times New Roman"/>
                <a:cs typeface="Times New Roman"/>
              </a:rPr>
              <a:t>Access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main </a:t>
            </a:r>
            <a:r>
              <a:rPr sz="1150" dirty="0">
                <a:latin typeface="Times New Roman"/>
                <a:cs typeface="Times New Roman"/>
              </a:rPr>
              <a:t>memory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block </a:t>
            </a:r>
            <a:r>
              <a:rPr sz="1150" spc="-10" dirty="0">
                <a:latin typeface="Times New Roman"/>
                <a:cs typeface="Times New Roman"/>
              </a:rPr>
              <a:t>containing</a:t>
            </a:r>
            <a:r>
              <a:rPr sz="115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RA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583109" y="2298962"/>
            <a:ext cx="78740" cy="366395"/>
            <a:chOff x="2583109" y="2298962"/>
            <a:chExt cx="78740" cy="366395"/>
          </a:xfrm>
        </p:grpSpPr>
        <p:sp>
          <p:nvSpPr>
            <p:cNvPr id="31" name="object 31"/>
            <p:cNvSpPr/>
            <p:nvPr/>
          </p:nvSpPr>
          <p:spPr>
            <a:xfrm>
              <a:off x="2622225" y="2298962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h="309244">
                  <a:moveTo>
                    <a:pt x="0" y="0"/>
                  </a:moveTo>
                  <a:lnTo>
                    <a:pt x="0" y="0"/>
                  </a:lnTo>
                  <a:lnTo>
                    <a:pt x="0" y="309243"/>
                  </a:lnTo>
                </a:path>
              </a:pathLst>
            </a:custGeom>
            <a:ln w="10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83109" y="2596621"/>
              <a:ext cx="78740" cy="68580"/>
            </a:xfrm>
            <a:custGeom>
              <a:avLst/>
              <a:gdLst/>
              <a:ahLst/>
              <a:cxnLst/>
              <a:rect l="l" t="t" r="r" b="b"/>
              <a:pathLst>
                <a:path w="78739" h="68580">
                  <a:moveTo>
                    <a:pt x="78245" y="0"/>
                  </a:moveTo>
                  <a:lnTo>
                    <a:pt x="0" y="0"/>
                  </a:lnTo>
                  <a:lnTo>
                    <a:pt x="39124" y="68122"/>
                  </a:lnTo>
                  <a:lnTo>
                    <a:pt x="782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694258" y="2339395"/>
            <a:ext cx="25146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25" dirty="0">
                <a:latin typeface="Times New Roman"/>
                <a:cs typeface="Times New Roman"/>
              </a:rPr>
              <a:t>Yes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215859" y="2293537"/>
            <a:ext cx="78740" cy="366395"/>
            <a:chOff x="5215859" y="2293537"/>
            <a:chExt cx="78740" cy="366395"/>
          </a:xfrm>
        </p:grpSpPr>
        <p:sp>
          <p:nvSpPr>
            <p:cNvPr id="47" name="object 47"/>
            <p:cNvSpPr/>
            <p:nvPr/>
          </p:nvSpPr>
          <p:spPr>
            <a:xfrm>
              <a:off x="5254978" y="2293537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h="309244">
                  <a:moveTo>
                    <a:pt x="0" y="0"/>
                  </a:moveTo>
                  <a:lnTo>
                    <a:pt x="0" y="0"/>
                  </a:lnTo>
                  <a:lnTo>
                    <a:pt x="0" y="309243"/>
                  </a:lnTo>
                </a:path>
              </a:pathLst>
            </a:custGeom>
            <a:ln w="10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215859" y="2591927"/>
              <a:ext cx="78740" cy="67945"/>
            </a:xfrm>
            <a:custGeom>
              <a:avLst/>
              <a:gdLst/>
              <a:ahLst/>
              <a:cxnLst/>
              <a:rect l="l" t="t" r="r" b="b"/>
              <a:pathLst>
                <a:path w="78739" h="67944">
                  <a:moveTo>
                    <a:pt x="78242" y="0"/>
                  </a:moveTo>
                  <a:lnTo>
                    <a:pt x="0" y="0"/>
                  </a:lnTo>
                  <a:lnTo>
                    <a:pt x="39136" y="67391"/>
                  </a:lnTo>
                  <a:lnTo>
                    <a:pt x="782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/>
          <p:cNvSpPr/>
          <p:nvPr/>
        </p:nvSpPr>
        <p:spPr>
          <a:xfrm>
            <a:off x="1945206" y="2744784"/>
            <a:ext cx="1504950" cy="563880"/>
          </a:xfrm>
          <a:custGeom>
            <a:avLst/>
            <a:gdLst/>
            <a:ahLst/>
            <a:cxnLst/>
            <a:rect l="l" t="t" r="r" b="b"/>
            <a:pathLst>
              <a:path w="1504950" h="563879">
                <a:moveTo>
                  <a:pt x="1504611" y="0"/>
                </a:moveTo>
                <a:lnTo>
                  <a:pt x="0" y="0"/>
                </a:lnTo>
                <a:lnTo>
                  <a:pt x="0" y="563758"/>
                </a:lnTo>
                <a:lnTo>
                  <a:pt x="1504611" y="563758"/>
                </a:lnTo>
                <a:lnTo>
                  <a:pt x="15046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870098" y="2669317"/>
            <a:ext cx="1504315" cy="564515"/>
          </a:xfrm>
          <a:prstGeom prst="rect">
            <a:avLst/>
          </a:prstGeom>
          <a:solidFill>
            <a:srgbClr val="D0D0D0"/>
          </a:solidFill>
          <a:ln w="2046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362585" marR="238760">
              <a:lnSpc>
                <a:spcPct val="100000"/>
              </a:lnSpc>
              <a:spcBef>
                <a:spcPts val="170"/>
              </a:spcBef>
            </a:pPr>
            <a:r>
              <a:rPr sz="1150" dirty="0">
                <a:latin typeface="Times New Roman"/>
                <a:cs typeface="Times New Roman"/>
              </a:rPr>
              <a:t>Fetch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RA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word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deliver</a:t>
            </a:r>
            <a:endParaRPr sz="115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</a:pP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CPU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7974" y="2744784"/>
            <a:ext cx="1504950" cy="563880"/>
          </a:xfrm>
          <a:custGeom>
            <a:avLst/>
            <a:gdLst/>
            <a:ahLst/>
            <a:cxnLst/>
            <a:rect l="l" t="t" r="r" b="b"/>
            <a:pathLst>
              <a:path w="1504950" h="563879">
                <a:moveTo>
                  <a:pt x="1504584" y="0"/>
                </a:moveTo>
                <a:lnTo>
                  <a:pt x="0" y="0"/>
                </a:lnTo>
                <a:lnTo>
                  <a:pt x="0" y="563758"/>
                </a:lnTo>
                <a:lnTo>
                  <a:pt x="1504584" y="563758"/>
                </a:lnTo>
                <a:lnTo>
                  <a:pt x="1504584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502839" y="2669317"/>
            <a:ext cx="1504315" cy="564515"/>
          </a:xfrm>
          <a:prstGeom prst="rect">
            <a:avLst/>
          </a:prstGeom>
          <a:solidFill>
            <a:srgbClr val="D0D0D0"/>
          </a:solidFill>
          <a:ln w="20460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268605" marR="371475">
              <a:lnSpc>
                <a:spcPts val="1380"/>
              </a:lnSpc>
              <a:spcBef>
                <a:spcPts val="15"/>
              </a:spcBef>
            </a:pPr>
            <a:r>
              <a:rPr sz="1150" spc="-10" dirty="0">
                <a:latin typeface="Times New Roman"/>
                <a:cs typeface="Times New Roman"/>
              </a:rPr>
              <a:t>Allocate cache </a:t>
            </a:r>
            <a:r>
              <a:rPr sz="1150" dirty="0">
                <a:latin typeface="Times New Roman"/>
                <a:cs typeface="Times New Roman"/>
              </a:rPr>
              <a:t>line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main</a:t>
            </a:r>
            <a:endParaRPr sz="1150">
              <a:latin typeface="Times New Roman"/>
              <a:cs typeface="Times New Roman"/>
            </a:endParaRPr>
          </a:p>
          <a:p>
            <a:pPr marL="268605">
              <a:lnSpc>
                <a:spcPts val="1335"/>
              </a:lnSpc>
            </a:pPr>
            <a:r>
              <a:rPr sz="1150" dirty="0">
                <a:latin typeface="Times New Roman"/>
                <a:cs typeface="Times New Roman"/>
              </a:rPr>
              <a:t>memory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block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49817" y="4060460"/>
            <a:ext cx="1504315" cy="564515"/>
          </a:xfrm>
          <a:custGeom>
            <a:avLst/>
            <a:gdLst/>
            <a:ahLst/>
            <a:cxnLst/>
            <a:rect l="l" t="t" r="r" b="b"/>
            <a:pathLst>
              <a:path w="1504314" h="564514">
                <a:moveTo>
                  <a:pt x="1504279" y="0"/>
                </a:moveTo>
                <a:lnTo>
                  <a:pt x="0" y="0"/>
                </a:lnTo>
                <a:lnTo>
                  <a:pt x="0" y="563998"/>
                </a:lnTo>
                <a:lnTo>
                  <a:pt x="1504279" y="563998"/>
                </a:lnTo>
                <a:lnTo>
                  <a:pt x="150427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06252" y="4060460"/>
            <a:ext cx="1504950" cy="564515"/>
          </a:xfrm>
          <a:custGeom>
            <a:avLst/>
            <a:gdLst/>
            <a:ahLst/>
            <a:cxnLst/>
            <a:rect l="l" t="t" r="r" b="b"/>
            <a:pathLst>
              <a:path w="1504950" h="564514">
                <a:moveTo>
                  <a:pt x="1504462" y="0"/>
                </a:moveTo>
                <a:lnTo>
                  <a:pt x="0" y="0"/>
                </a:lnTo>
                <a:lnTo>
                  <a:pt x="0" y="563998"/>
                </a:lnTo>
                <a:lnTo>
                  <a:pt x="1504462" y="563998"/>
                </a:lnTo>
                <a:lnTo>
                  <a:pt x="1504462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235937" y="5149855"/>
            <a:ext cx="838835" cy="367665"/>
            <a:chOff x="2235937" y="5149855"/>
            <a:chExt cx="838835" cy="367665"/>
          </a:xfrm>
        </p:grpSpPr>
        <p:sp>
          <p:nvSpPr>
            <p:cNvPr id="13" name="object 13"/>
            <p:cNvSpPr/>
            <p:nvPr/>
          </p:nvSpPr>
          <p:spPr>
            <a:xfrm>
              <a:off x="2322063" y="5235415"/>
              <a:ext cx="752475" cy="281940"/>
            </a:xfrm>
            <a:custGeom>
              <a:avLst/>
              <a:gdLst/>
              <a:ahLst/>
              <a:cxnLst/>
              <a:rect l="l" t="t" r="r" b="b"/>
              <a:pathLst>
                <a:path w="752475" h="281939">
                  <a:moveTo>
                    <a:pt x="611291" y="0"/>
                  </a:moveTo>
                  <a:lnTo>
                    <a:pt x="141162" y="0"/>
                  </a:lnTo>
                  <a:lnTo>
                    <a:pt x="96355" y="7196"/>
                  </a:lnTo>
                  <a:lnTo>
                    <a:pt x="57581" y="27228"/>
                  </a:lnTo>
                  <a:lnTo>
                    <a:pt x="27094" y="57755"/>
                  </a:lnTo>
                  <a:lnTo>
                    <a:pt x="7149" y="96441"/>
                  </a:lnTo>
                  <a:lnTo>
                    <a:pt x="0" y="140945"/>
                  </a:lnTo>
                  <a:lnTo>
                    <a:pt x="7149" y="185643"/>
                  </a:lnTo>
                  <a:lnTo>
                    <a:pt x="27094" y="224337"/>
                  </a:lnTo>
                  <a:lnTo>
                    <a:pt x="57581" y="254768"/>
                  </a:lnTo>
                  <a:lnTo>
                    <a:pt x="96355" y="274681"/>
                  </a:lnTo>
                  <a:lnTo>
                    <a:pt x="141162" y="281821"/>
                  </a:lnTo>
                  <a:lnTo>
                    <a:pt x="611291" y="281821"/>
                  </a:lnTo>
                  <a:lnTo>
                    <a:pt x="655699" y="274681"/>
                  </a:lnTo>
                  <a:lnTo>
                    <a:pt x="694423" y="254768"/>
                  </a:lnTo>
                  <a:lnTo>
                    <a:pt x="725059" y="224337"/>
                  </a:lnTo>
                  <a:lnTo>
                    <a:pt x="745204" y="185643"/>
                  </a:lnTo>
                  <a:lnTo>
                    <a:pt x="752453" y="140945"/>
                  </a:lnTo>
                  <a:lnTo>
                    <a:pt x="745204" y="96441"/>
                  </a:lnTo>
                  <a:lnTo>
                    <a:pt x="725059" y="57755"/>
                  </a:lnTo>
                  <a:lnTo>
                    <a:pt x="694423" y="27228"/>
                  </a:lnTo>
                  <a:lnTo>
                    <a:pt x="655699" y="7196"/>
                  </a:lnTo>
                  <a:lnTo>
                    <a:pt x="611291" y="0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46174" y="5160084"/>
              <a:ext cx="752475" cy="282575"/>
            </a:xfrm>
            <a:custGeom>
              <a:avLst/>
              <a:gdLst/>
              <a:ahLst/>
              <a:cxnLst/>
              <a:rect l="l" t="t" r="r" b="b"/>
              <a:pathLst>
                <a:path w="752475" h="282575">
                  <a:moveTo>
                    <a:pt x="611230" y="0"/>
                  </a:moveTo>
                  <a:lnTo>
                    <a:pt x="140884" y="0"/>
                  </a:lnTo>
                  <a:lnTo>
                    <a:pt x="96506" y="7219"/>
                  </a:lnTo>
                  <a:lnTo>
                    <a:pt x="57850" y="27304"/>
                  </a:lnTo>
                  <a:lnTo>
                    <a:pt x="27296" y="57896"/>
                  </a:lnTo>
                  <a:lnTo>
                    <a:pt x="7220" y="96635"/>
                  </a:lnTo>
                  <a:lnTo>
                    <a:pt x="0" y="141162"/>
                  </a:lnTo>
                  <a:lnTo>
                    <a:pt x="7220" y="185856"/>
                  </a:lnTo>
                  <a:lnTo>
                    <a:pt x="27296" y="224540"/>
                  </a:lnTo>
                  <a:lnTo>
                    <a:pt x="57850" y="254961"/>
                  </a:lnTo>
                  <a:lnTo>
                    <a:pt x="96506" y="274865"/>
                  </a:lnTo>
                  <a:lnTo>
                    <a:pt x="140884" y="282000"/>
                  </a:lnTo>
                  <a:lnTo>
                    <a:pt x="611230" y="282000"/>
                  </a:lnTo>
                  <a:lnTo>
                    <a:pt x="655936" y="274865"/>
                  </a:lnTo>
                  <a:lnTo>
                    <a:pt x="694646" y="254961"/>
                  </a:lnTo>
                  <a:lnTo>
                    <a:pt x="725098" y="224540"/>
                  </a:lnTo>
                  <a:lnTo>
                    <a:pt x="745029" y="185856"/>
                  </a:lnTo>
                  <a:lnTo>
                    <a:pt x="752176" y="141162"/>
                  </a:lnTo>
                  <a:lnTo>
                    <a:pt x="745029" y="96635"/>
                  </a:lnTo>
                  <a:lnTo>
                    <a:pt x="725098" y="57896"/>
                  </a:lnTo>
                  <a:lnTo>
                    <a:pt x="694646" y="27304"/>
                  </a:lnTo>
                  <a:lnTo>
                    <a:pt x="655936" y="7219"/>
                  </a:lnTo>
                  <a:lnTo>
                    <a:pt x="611230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46167" y="5160085"/>
              <a:ext cx="752475" cy="282575"/>
            </a:xfrm>
            <a:custGeom>
              <a:avLst/>
              <a:gdLst/>
              <a:ahLst/>
              <a:cxnLst/>
              <a:rect l="l" t="t" r="r" b="b"/>
              <a:pathLst>
                <a:path w="752475" h="282575">
                  <a:moveTo>
                    <a:pt x="611230" y="282000"/>
                  </a:moveTo>
                  <a:lnTo>
                    <a:pt x="655935" y="274865"/>
                  </a:lnTo>
                  <a:lnTo>
                    <a:pt x="694646" y="254960"/>
                  </a:lnTo>
                  <a:lnTo>
                    <a:pt x="725098" y="224539"/>
                  </a:lnTo>
                  <a:lnTo>
                    <a:pt x="745029" y="185854"/>
                  </a:lnTo>
                  <a:lnTo>
                    <a:pt x="752176" y="141158"/>
                  </a:lnTo>
                  <a:lnTo>
                    <a:pt x="745029" y="96633"/>
                  </a:lnTo>
                  <a:lnTo>
                    <a:pt x="725098" y="57894"/>
                  </a:lnTo>
                  <a:lnTo>
                    <a:pt x="694646" y="27303"/>
                  </a:lnTo>
                  <a:lnTo>
                    <a:pt x="655935" y="7219"/>
                  </a:lnTo>
                  <a:lnTo>
                    <a:pt x="611230" y="0"/>
                  </a:lnTo>
                  <a:lnTo>
                    <a:pt x="140887" y="0"/>
                  </a:lnTo>
                  <a:lnTo>
                    <a:pt x="96507" y="7219"/>
                  </a:lnTo>
                  <a:lnTo>
                    <a:pt x="57851" y="27303"/>
                  </a:lnTo>
                  <a:lnTo>
                    <a:pt x="27296" y="57894"/>
                  </a:lnTo>
                  <a:lnTo>
                    <a:pt x="7220" y="96633"/>
                  </a:lnTo>
                  <a:lnTo>
                    <a:pt x="0" y="141158"/>
                  </a:lnTo>
                  <a:lnTo>
                    <a:pt x="7220" y="185854"/>
                  </a:lnTo>
                  <a:lnTo>
                    <a:pt x="27296" y="224539"/>
                  </a:lnTo>
                  <a:lnTo>
                    <a:pt x="57851" y="254960"/>
                  </a:lnTo>
                  <a:lnTo>
                    <a:pt x="96507" y="274865"/>
                  </a:lnTo>
                  <a:lnTo>
                    <a:pt x="140887" y="282000"/>
                  </a:lnTo>
                  <a:lnTo>
                    <a:pt x="611230" y="282000"/>
                  </a:lnTo>
                  <a:close/>
                </a:path>
              </a:pathLst>
            </a:custGeom>
            <a:ln w="204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2583109" y="3244309"/>
            <a:ext cx="78740" cy="1911350"/>
            <a:chOff x="2583109" y="3244309"/>
            <a:chExt cx="78740" cy="1911350"/>
          </a:xfrm>
        </p:grpSpPr>
        <p:sp>
          <p:nvSpPr>
            <p:cNvPr id="40" name="object 40"/>
            <p:cNvSpPr/>
            <p:nvPr/>
          </p:nvSpPr>
          <p:spPr>
            <a:xfrm>
              <a:off x="2622225" y="3244309"/>
              <a:ext cx="0" cy="1854835"/>
            </a:xfrm>
            <a:custGeom>
              <a:avLst/>
              <a:gdLst/>
              <a:ahLst/>
              <a:cxnLst/>
              <a:rect l="l" t="t" r="r" b="b"/>
              <a:pathLst>
                <a:path h="1854835">
                  <a:moveTo>
                    <a:pt x="0" y="0"/>
                  </a:moveTo>
                  <a:lnTo>
                    <a:pt x="0" y="0"/>
                  </a:lnTo>
                  <a:lnTo>
                    <a:pt x="0" y="1854636"/>
                  </a:lnTo>
                </a:path>
              </a:pathLst>
            </a:custGeom>
            <a:ln w="10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83109" y="5087267"/>
              <a:ext cx="78740" cy="68580"/>
            </a:xfrm>
            <a:custGeom>
              <a:avLst/>
              <a:gdLst/>
              <a:ahLst/>
              <a:cxnLst/>
              <a:rect l="l" t="t" r="r" b="b"/>
              <a:pathLst>
                <a:path w="78739" h="68579">
                  <a:moveTo>
                    <a:pt x="78245" y="0"/>
                  </a:moveTo>
                  <a:lnTo>
                    <a:pt x="0" y="0"/>
                  </a:lnTo>
                  <a:lnTo>
                    <a:pt x="39124" y="68125"/>
                  </a:lnTo>
                  <a:lnTo>
                    <a:pt x="782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374355" y="3985341"/>
            <a:ext cx="1504950" cy="563880"/>
          </a:xfrm>
          <a:prstGeom prst="rect">
            <a:avLst/>
          </a:prstGeom>
          <a:solidFill>
            <a:srgbClr val="D0D0D0"/>
          </a:solidFill>
          <a:ln w="20460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78765" marR="373380">
              <a:lnSpc>
                <a:spcPct val="100000"/>
              </a:lnSpc>
              <a:spcBef>
                <a:spcPts val="125"/>
              </a:spcBef>
            </a:pPr>
            <a:r>
              <a:rPr sz="1150" dirty="0">
                <a:latin typeface="Times New Roman"/>
                <a:cs typeface="Times New Roman"/>
              </a:rPr>
              <a:t>Load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main </a:t>
            </a:r>
            <a:r>
              <a:rPr sz="1150" dirty="0">
                <a:latin typeface="Times New Roman"/>
                <a:cs typeface="Times New Roman"/>
              </a:rPr>
              <a:t>memory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block </a:t>
            </a:r>
            <a:r>
              <a:rPr sz="1150" dirty="0">
                <a:latin typeface="Times New Roman"/>
                <a:cs typeface="Times New Roman"/>
              </a:rPr>
              <a:t>into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cache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line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631109" y="3985341"/>
            <a:ext cx="1504315" cy="563880"/>
          </a:xfrm>
          <a:prstGeom prst="rect">
            <a:avLst/>
          </a:prstGeom>
          <a:solidFill>
            <a:srgbClr val="D0D0D0"/>
          </a:solidFill>
          <a:ln w="20460">
            <a:solidFill>
              <a:srgbClr val="000000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174625" marR="313690">
              <a:lnSpc>
                <a:spcPct val="100000"/>
              </a:lnSpc>
              <a:spcBef>
                <a:spcPts val="865"/>
              </a:spcBef>
            </a:pPr>
            <a:r>
              <a:rPr sz="1150" dirty="0">
                <a:latin typeface="Times New Roman"/>
                <a:cs typeface="Times New Roman"/>
              </a:rPr>
              <a:t>Deliver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RA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word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CPU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088221" y="3233803"/>
            <a:ext cx="2334895" cy="751840"/>
            <a:chOff x="4088221" y="3233803"/>
            <a:chExt cx="2334895" cy="751840"/>
          </a:xfrm>
        </p:grpSpPr>
        <p:sp>
          <p:nvSpPr>
            <p:cNvPr id="50" name="object 50"/>
            <p:cNvSpPr/>
            <p:nvPr/>
          </p:nvSpPr>
          <p:spPr>
            <a:xfrm>
              <a:off x="4126495" y="3238853"/>
              <a:ext cx="1129030" cy="690880"/>
            </a:xfrm>
            <a:custGeom>
              <a:avLst/>
              <a:gdLst/>
              <a:ahLst/>
              <a:cxnLst/>
              <a:rect l="l" t="t" r="r" b="b"/>
              <a:pathLst>
                <a:path w="1129029" h="690879">
                  <a:moveTo>
                    <a:pt x="1128483" y="0"/>
                  </a:moveTo>
                  <a:lnTo>
                    <a:pt x="1128483" y="370384"/>
                  </a:lnTo>
                  <a:lnTo>
                    <a:pt x="0" y="370384"/>
                  </a:lnTo>
                </a:path>
                <a:path w="1129029" h="690879">
                  <a:moveTo>
                    <a:pt x="853" y="381540"/>
                  </a:moveTo>
                  <a:lnTo>
                    <a:pt x="853" y="381540"/>
                  </a:lnTo>
                  <a:lnTo>
                    <a:pt x="853" y="690777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88221" y="3917941"/>
              <a:ext cx="78740" cy="67945"/>
            </a:xfrm>
            <a:custGeom>
              <a:avLst/>
              <a:gdLst/>
              <a:ahLst/>
              <a:cxnLst/>
              <a:rect l="l" t="t" r="r" b="b"/>
              <a:pathLst>
                <a:path w="78739" h="67945">
                  <a:moveTo>
                    <a:pt x="78455" y="0"/>
                  </a:moveTo>
                  <a:lnTo>
                    <a:pt x="0" y="0"/>
                  </a:lnTo>
                  <a:lnTo>
                    <a:pt x="39136" y="67400"/>
                  </a:lnTo>
                  <a:lnTo>
                    <a:pt x="784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254978" y="3610061"/>
              <a:ext cx="1130300" cy="320040"/>
            </a:xfrm>
            <a:custGeom>
              <a:avLst/>
              <a:gdLst/>
              <a:ahLst/>
              <a:cxnLst/>
              <a:rect l="l" t="t" r="r" b="b"/>
              <a:pathLst>
                <a:path w="1130300" h="320039">
                  <a:moveTo>
                    <a:pt x="1129824" y="319569"/>
                  </a:moveTo>
                  <a:lnTo>
                    <a:pt x="1129824" y="0"/>
                  </a:lnTo>
                  <a:lnTo>
                    <a:pt x="0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45692" y="3917941"/>
              <a:ext cx="77470" cy="67945"/>
            </a:xfrm>
            <a:custGeom>
              <a:avLst/>
              <a:gdLst/>
              <a:ahLst/>
              <a:cxnLst/>
              <a:rect l="l" t="t" r="r" b="b"/>
              <a:pathLst>
                <a:path w="77470" h="67945">
                  <a:moveTo>
                    <a:pt x="77419" y="0"/>
                  </a:moveTo>
                  <a:lnTo>
                    <a:pt x="0" y="0"/>
                  </a:lnTo>
                  <a:lnTo>
                    <a:pt x="38282" y="67400"/>
                  </a:lnTo>
                  <a:lnTo>
                    <a:pt x="774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13701" y="5190408"/>
            <a:ext cx="429259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20" dirty="0">
                <a:latin typeface="Times New Roman"/>
                <a:cs typeface="Times New Roman"/>
              </a:rPr>
              <a:t>DONE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008375" y="5262646"/>
            <a:ext cx="2251710" cy="78740"/>
            <a:chOff x="3008375" y="5262646"/>
            <a:chExt cx="2251710" cy="78740"/>
          </a:xfrm>
        </p:grpSpPr>
        <p:sp>
          <p:nvSpPr>
            <p:cNvPr id="37" name="object 37"/>
            <p:cNvSpPr/>
            <p:nvPr/>
          </p:nvSpPr>
          <p:spPr>
            <a:xfrm>
              <a:off x="3064916" y="5301972"/>
              <a:ext cx="2190115" cy="0"/>
            </a:xfrm>
            <a:custGeom>
              <a:avLst/>
              <a:gdLst/>
              <a:ahLst/>
              <a:cxnLst/>
              <a:rect l="l" t="t" r="r" b="b"/>
              <a:pathLst>
                <a:path w="2190115">
                  <a:moveTo>
                    <a:pt x="2190062" y="0"/>
                  </a:moveTo>
                  <a:lnTo>
                    <a:pt x="2190062" y="0"/>
                  </a:lnTo>
                  <a:lnTo>
                    <a:pt x="0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08375" y="5262646"/>
              <a:ext cx="67945" cy="78740"/>
            </a:xfrm>
            <a:custGeom>
              <a:avLst/>
              <a:gdLst/>
              <a:ahLst/>
              <a:cxnLst/>
              <a:rect l="l" t="t" r="r" b="b"/>
              <a:pathLst>
                <a:path w="67944" h="78739">
                  <a:moveTo>
                    <a:pt x="67604" y="0"/>
                  </a:moveTo>
                  <a:lnTo>
                    <a:pt x="0" y="39325"/>
                  </a:lnTo>
                  <a:lnTo>
                    <a:pt x="67604" y="78449"/>
                  </a:lnTo>
                  <a:lnTo>
                    <a:pt x="67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4121444" y="4539385"/>
            <a:ext cx="2266950" cy="757555"/>
            <a:chOff x="4121444" y="4539385"/>
            <a:chExt cx="2266950" cy="757555"/>
          </a:xfrm>
        </p:grpSpPr>
        <p:sp>
          <p:nvSpPr>
            <p:cNvPr id="55" name="object 55"/>
            <p:cNvSpPr/>
            <p:nvPr/>
          </p:nvSpPr>
          <p:spPr>
            <a:xfrm>
              <a:off x="4126495" y="4549138"/>
              <a:ext cx="1129030" cy="691515"/>
            </a:xfrm>
            <a:custGeom>
              <a:avLst/>
              <a:gdLst/>
              <a:ahLst/>
              <a:cxnLst/>
              <a:rect l="l" t="t" r="r" b="b"/>
              <a:pathLst>
                <a:path w="1129029" h="691514">
                  <a:moveTo>
                    <a:pt x="1128483" y="690966"/>
                  </a:moveTo>
                  <a:lnTo>
                    <a:pt x="1128483" y="381525"/>
                  </a:lnTo>
                  <a:lnTo>
                    <a:pt x="0" y="381525"/>
                  </a:lnTo>
                  <a:lnTo>
                    <a:pt x="0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215859" y="5228213"/>
              <a:ext cx="78740" cy="68580"/>
            </a:xfrm>
            <a:custGeom>
              <a:avLst/>
              <a:gdLst/>
              <a:ahLst/>
              <a:cxnLst/>
              <a:rect l="l" t="t" r="r" b="b"/>
              <a:pathLst>
                <a:path w="78739" h="68579">
                  <a:moveTo>
                    <a:pt x="78242" y="0"/>
                  </a:moveTo>
                  <a:lnTo>
                    <a:pt x="0" y="0"/>
                  </a:lnTo>
                  <a:lnTo>
                    <a:pt x="39136" y="68128"/>
                  </a:lnTo>
                  <a:lnTo>
                    <a:pt x="782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54978" y="4544436"/>
              <a:ext cx="1128395" cy="386715"/>
            </a:xfrm>
            <a:custGeom>
              <a:avLst/>
              <a:gdLst/>
              <a:ahLst/>
              <a:cxnLst/>
              <a:rect l="l" t="t" r="r" b="b"/>
              <a:pathLst>
                <a:path w="1128395" h="386714">
                  <a:moveTo>
                    <a:pt x="0" y="386227"/>
                  </a:moveTo>
                  <a:lnTo>
                    <a:pt x="1128270" y="386227"/>
                  </a:lnTo>
                  <a:lnTo>
                    <a:pt x="1128270" y="0"/>
                  </a:lnTo>
                </a:path>
              </a:pathLst>
            </a:custGeom>
            <a:ln w="10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297519" y="6092695"/>
            <a:ext cx="83566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dirty="0">
                <a:latin typeface="Times New Roman"/>
                <a:cs typeface="Times New Roman"/>
              </a:rPr>
              <a:t>Figure</a:t>
            </a:r>
            <a:r>
              <a:rPr sz="1450" b="1" spc="55" dirty="0">
                <a:latin typeface="Times New Roman"/>
                <a:cs typeface="Times New Roman"/>
              </a:rPr>
              <a:t> </a:t>
            </a:r>
            <a:r>
              <a:rPr sz="1450" b="1" spc="-25" dirty="0">
                <a:latin typeface="Times New Roman"/>
                <a:cs typeface="Times New Roman"/>
              </a:rPr>
              <a:t>4.5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246067" y="6092695"/>
            <a:ext cx="185420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dirty="0">
                <a:latin typeface="Times New Roman"/>
                <a:cs typeface="Times New Roman"/>
              </a:rPr>
              <a:t>Cache</a:t>
            </a:r>
            <a:r>
              <a:rPr sz="1450" b="1" spc="4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Read</a:t>
            </a:r>
            <a:r>
              <a:rPr sz="1450" b="1" spc="40" dirty="0">
                <a:latin typeface="Times New Roman"/>
                <a:cs typeface="Times New Roman"/>
              </a:rPr>
              <a:t> </a:t>
            </a:r>
            <a:r>
              <a:rPr sz="1450" b="1" spc="-10" dirty="0">
                <a:latin typeface="Times New Roman"/>
                <a:cs typeface="Times New Roman"/>
              </a:rPr>
              <a:t>Operation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4072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6610010" y="221842"/>
            <a:ext cx="408940" cy="795020"/>
            <a:chOff x="6610010" y="221842"/>
            <a:chExt cx="408940" cy="795020"/>
          </a:xfrm>
        </p:grpSpPr>
        <p:sp>
          <p:nvSpPr>
            <p:cNvPr id="10" name="object 10"/>
            <p:cNvSpPr/>
            <p:nvPr/>
          </p:nvSpPr>
          <p:spPr>
            <a:xfrm>
              <a:off x="6620682" y="232501"/>
              <a:ext cx="387350" cy="773430"/>
            </a:xfrm>
            <a:custGeom>
              <a:avLst/>
              <a:gdLst/>
              <a:ahLst/>
              <a:cxnLst/>
              <a:rect l="l" t="t" r="r" b="b"/>
              <a:pathLst>
                <a:path w="387350" h="773430">
                  <a:moveTo>
                    <a:pt x="387065" y="0"/>
                  </a:moveTo>
                  <a:lnTo>
                    <a:pt x="0" y="0"/>
                  </a:lnTo>
                  <a:lnTo>
                    <a:pt x="0" y="773247"/>
                  </a:lnTo>
                  <a:lnTo>
                    <a:pt x="387065" y="773247"/>
                  </a:lnTo>
                  <a:lnTo>
                    <a:pt x="387065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20667" y="232500"/>
              <a:ext cx="387350" cy="773430"/>
            </a:xfrm>
            <a:custGeom>
              <a:avLst/>
              <a:gdLst/>
              <a:ahLst/>
              <a:cxnLst/>
              <a:rect l="l" t="t" r="r" b="b"/>
              <a:pathLst>
                <a:path w="387350" h="773430">
                  <a:moveTo>
                    <a:pt x="387077" y="0"/>
                  </a:moveTo>
                  <a:lnTo>
                    <a:pt x="0" y="0"/>
                  </a:lnTo>
                  <a:lnTo>
                    <a:pt x="0" y="773252"/>
                  </a:lnTo>
                  <a:lnTo>
                    <a:pt x="387077" y="773252"/>
                  </a:lnTo>
                  <a:lnTo>
                    <a:pt x="387077" y="0"/>
                  </a:lnTo>
                  <a:close/>
                </a:path>
              </a:pathLst>
            </a:custGeom>
            <a:ln w="21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6518848" y="571896"/>
            <a:ext cx="93345" cy="106680"/>
          </a:xfrm>
          <a:custGeom>
            <a:avLst/>
            <a:gdLst/>
            <a:ahLst/>
            <a:cxnLst/>
            <a:rect l="l" t="t" r="r" b="b"/>
            <a:pathLst>
              <a:path w="93345" h="106679">
                <a:moveTo>
                  <a:pt x="0" y="0"/>
                </a:moveTo>
                <a:lnTo>
                  <a:pt x="0" y="106527"/>
                </a:lnTo>
                <a:lnTo>
                  <a:pt x="92842" y="532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4278" y="524522"/>
            <a:ext cx="203453" cy="203166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7007745" y="571896"/>
            <a:ext cx="513080" cy="106680"/>
            <a:chOff x="7007745" y="571896"/>
            <a:chExt cx="513080" cy="106680"/>
          </a:xfrm>
        </p:grpSpPr>
        <p:sp>
          <p:nvSpPr>
            <p:cNvPr id="20" name="object 20"/>
            <p:cNvSpPr/>
            <p:nvPr/>
          </p:nvSpPr>
          <p:spPr>
            <a:xfrm>
              <a:off x="7007745" y="625161"/>
              <a:ext cx="435609" cy="0"/>
            </a:xfrm>
            <a:custGeom>
              <a:avLst/>
              <a:gdLst/>
              <a:ahLst/>
              <a:cxnLst/>
              <a:rect l="l" t="t" r="r" b="b"/>
              <a:pathLst>
                <a:path w="435609">
                  <a:moveTo>
                    <a:pt x="0" y="0"/>
                  </a:moveTo>
                  <a:lnTo>
                    <a:pt x="0" y="0"/>
                  </a:lnTo>
                  <a:lnTo>
                    <a:pt x="435206" y="0"/>
                  </a:lnTo>
                </a:path>
              </a:pathLst>
            </a:custGeom>
            <a:ln w="213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27640" y="571896"/>
              <a:ext cx="92710" cy="106680"/>
            </a:xfrm>
            <a:custGeom>
              <a:avLst/>
              <a:gdLst/>
              <a:ahLst/>
              <a:cxnLst/>
              <a:rect l="l" t="t" r="r" b="b"/>
              <a:pathLst>
                <a:path w="92709" h="106679">
                  <a:moveTo>
                    <a:pt x="0" y="0"/>
                  </a:moveTo>
                  <a:lnTo>
                    <a:pt x="0" y="106527"/>
                  </a:lnTo>
                  <a:lnTo>
                    <a:pt x="92598" y="53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" name="object 3"/>
          <p:cNvGrpSpPr/>
          <p:nvPr/>
        </p:nvGrpSpPr>
        <p:grpSpPr>
          <a:xfrm>
            <a:off x="3982372" y="1576239"/>
            <a:ext cx="1182370" cy="1955800"/>
            <a:chOff x="3982372" y="1576239"/>
            <a:chExt cx="1182370" cy="1955800"/>
          </a:xfrm>
        </p:grpSpPr>
        <p:sp>
          <p:nvSpPr>
            <p:cNvPr id="4" name="object 4"/>
            <p:cNvSpPr/>
            <p:nvPr/>
          </p:nvSpPr>
          <p:spPr>
            <a:xfrm>
              <a:off x="3993032" y="1586880"/>
              <a:ext cx="1160780" cy="1934210"/>
            </a:xfrm>
            <a:custGeom>
              <a:avLst/>
              <a:gdLst/>
              <a:ahLst/>
              <a:cxnLst/>
              <a:rect l="l" t="t" r="r" b="b"/>
              <a:pathLst>
                <a:path w="1160779" h="1934210">
                  <a:moveTo>
                    <a:pt x="1160617" y="0"/>
                  </a:moveTo>
                  <a:lnTo>
                    <a:pt x="0" y="0"/>
                  </a:lnTo>
                  <a:lnTo>
                    <a:pt x="0" y="1933925"/>
                  </a:lnTo>
                  <a:lnTo>
                    <a:pt x="1160617" y="1933925"/>
                  </a:lnTo>
                  <a:lnTo>
                    <a:pt x="1160617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93030" y="1586896"/>
              <a:ext cx="1160780" cy="1934210"/>
            </a:xfrm>
            <a:custGeom>
              <a:avLst/>
              <a:gdLst/>
              <a:ahLst/>
              <a:cxnLst/>
              <a:rect l="l" t="t" r="r" b="b"/>
              <a:pathLst>
                <a:path w="1160779" h="1934210">
                  <a:moveTo>
                    <a:pt x="1160621" y="0"/>
                  </a:moveTo>
                  <a:lnTo>
                    <a:pt x="0" y="0"/>
                  </a:lnTo>
                  <a:lnTo>
                    <a:pt x="0" y="1933924"/>
                  </a:lnTo>
                  <a:lnTo>
                    <a:pt x="1160621" y="1933924"/>
                  </a:lnTo>
                  <a:lnTo>
                    <a:pt x="1160621" y="0"/>
                  </a:lnTo>
                  <a:close/>
                </a:path>
              </a:pathLst>
            </a:custGeom>
            <a:ln w="21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4519909" y="1486418"/>
            <a:ext cx="107950" cy="93980"/>
          </a:xfrm>
          <a:custGeom>
            <a:avLst/>
            <a:gdLst/>
            <a:ahLst/>
            <a:cxnLst/>
            <a:rect l="l" t="t" r="r" b="b"/>
            <a:pathLst>
              <a:path w="107950" h="93980">
                <a:moveTo>
                  <a:pt x="107838" y="0"/>
                </a:moveTo>
                <a:lnTo>
                  <a:pt x="0" y="0"/>
                </a:lnTo>
                <a:lnTo>
                  <a:pt x="54589" y="93512"/>
                </a:lnTo>
                <a:lnTo>
                  <a:pt x="107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2562249" y="2499390"/>
            <a:ext cx="1423035" cy="107950"/>
            <a:chOff x="2562249" y="2499390"/>
            <a:chExt cx="1423035" cy="107950"/>
          </a:xfrm>
        </p:grpSpPr>
        <p:sp>
          <p:nvSpPr>
            <p:cNvPr id="29" name="object 29"/>
            <p:cNvSpPr/>
            <p:nvPr/>
          </p:nvSpPr>
          <p:spPr>
            <a:xfrm>
              <a:off x="2639790" y="2553721"/>
              <a:ext cx="1268095" cy="0"/>
            </a:xfrm>
            <a:custGeom>
              <a:avLst/>
              <a:gdLst/>
              <a:ahLst/>
              <a:cxnLst/>
              <a:rect l="l" t="t" r="r" b="b"/>
              <a:pathLst>
                <a:path w="1268095">
                  <a:moveTo>
                    <a:pt x="0" y="0"/>
                  </a:moveTo>
                  <a:lnTo>
                    <a:pt x="0" y="0"/>
                  </a:lnTo>
                  <a:lnTo>
                    <a:pt x="1267649" y="0"/>
                  </a:lnTo>
                </a:path>
              </a:pathLst>
            </a:custGeom>
            <a:ln w="213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62237" y="2499397"/>
              <a:ext cx="1423035" cy="107950"/>
            </a:xfrm>
            <a:custGeom>
              <a:avLst/>
              <a:gdLst/>
              <a:ahLst/>
              <a:cxnLst/>
              <a:rect l="l" t="t" r="r" b="b"/>
              <a:pathLst>
                <a:path w="1423035" h="107950">
                  <a:moveTo>
                    <a:pt x="92570" y="0"/>
                  </a:moveTo>
                  <a:lnTo>
                    <a:pt x="0" y="53251"/>
                  </a:lnTo>
                  <a:lnTo>
                    <a:pt x="92570" y="107835"/>
                  </a:lnTo>
                  <a:lnTo>
                    <a:pt x="92570" y="0"/>
                  </a:lnTo>
                  <a:close/>
                </a:path>
                <a:path w="1423035" h="107950">
                  <a:moveTo>
                    <a:pt x="1422742" y="54317"/>
                  </a:moveTo>
                  <a:lnTo>
                    <a:pt x="1328864" y="0"/>
                  </a:lnTo>
                  <a:lnTo>
                    <a:pt x="1328864" y="107835"/>
                  </a:lnTo>
                  <a:lnTo>
                    <a:pt x="1422742" y="543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313458" y="2347526"/>
            <a:ext cx="539115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10" dirty="0">
                <a:latin typeface="Times New Roman"/>
                <a:cs typeface="Times New Roman"/>
              </a:rPr>
              <a:t>Cache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235219" y="2499390"/>
            <a:ext cx="2289810" cy="107950"/>
            <a:chOff x="5235219" y="2499390"/>
            <a:chExt cx="2289810" cy="107950"/>
          </a:xfrm>
        </p:grpSpPr>
        <p:sp>
          <p:nvSpPr>
            <p:cNvPr id="38" name="object 38"/>
            <p:cNvSpPr/>
            <p:nvPr/>
          </p:nvSpPr>
          <p:spPr>
            <a:xfrm>
              <a:off x="5235219" y="2553721"/>
              <a:ext cx="2212340" cy="0"/>
            </a:xfrm>
            <a:custGeom>
              <a:avLst/>
              <a:gdLst/>
              <a:ahLst/>
              <a:cxnLst/>
              <a:rect l="l" t="t" r="r" b="b"/>
              <a:pathLst>
                <a:path w="2212340">
                  <a:moveTo>
                    <a:pt x="0" y="0"/>
                  </a:moveTo>
                  <a:lnTo>
                    <a:pt x="0" y="0"/>
                  </a:lnTo>
                  <a:lnTo>
                    <a:pt x="2211756" y="0"/>
                  </a:lnTo>
                </a:path>
              </a:pathLst>
            </a:custGeom>
            <a:ln w="213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431664" y="2499390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0" y="0"/>
                  </a:moveTo>
                  <a:lnTo>
                    <a:pt x="0" y="107838"/>
                  </a:lnTo>
                  <a:lnTo>
                    <a:pt x="92994" y="54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5157673" y="2499390"/>
            <a:ext cx="93345" cy="107950"/>
          </a:xfrm>
          <a:custGeom>
            <a:avLst/>
            <a:gdLst/>
            <a:ahLst/>
            <a:cxnLst/>
            <a:rect l="l" t="t" r="r" b="b"/>
            <a:pathLst>
              <a:path w="93345" h="107950">
                <a:moveTo>
                  <a:pt x="92842" y="0"/>
                </a:moveTo>
                <a:lnTo>
                  <a:pt x="0" y="53248"/>
                </a:lnTo>
                <a:lnTo>
                  <a:pt x="92842" y="107838"/>
                </a:lnTo>
                <a:lnTo>
                  <a:pt x="928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6610010" y="4089950"/>
            <a:ext cx="408940" cy="795020"/>
            <a:chOff x="6610010" y="4089950"/>
            <a:chExt cx="408940" cy="795020"/>
          </a:xfrm>
        </p:grpSpPr>
        <p:sp>
          <p:nvSpPr>
            <p:cNvPr id="7" name="object 7"/>
            <p:cNvSpPr/>
            <p:nvPr/>
          </p:nvSpPr>
          <p:spPr>
            <a:xfrm>
              <a:off x="6620682" y="4100608"/>
              <a:ext cx="387350" cy="774065"/>
            </a:xfrm>
            <a:custGeom>
              <a:avLst/>
              <a:gdLst/>
              <a:ahLst/>
              <a:cxnLst/>
              <a:rect l="l" t="t" r="r" b="b"/>
              <a:pathLst>
                <a:path w="387350" h="774064">
                  <a:moveTo>
                    <a:pt x="387065" y="0"/>
                  </a:moveTo>
                  <a:lnTo>
                    <a:pt x="0" y="0"/>
                  </a:lnTo>
                  <a:lnTo>
                    <a:pt x="0" y="773512"/>
                  </a:lnTo>
                  <a:lnTo>
                    <a:pt x="387065" y="773512"/>
                  </a:lnTo>
                  <a:lnTo>
                    <a:pt x="387065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20667" y="4100608"/>
              <a:ext cx="387350" cy="774065"/>
            </a:xfrm>
            <a:custGeom>
              <a:avLst/>
              <a:gdLst/>
              <a:ahLst/>
              <a:cxnLst/>
              <a:rect l="l" t="t" r="r" b="b"/>
              <a:pathLst>
                <a:path w="387350" h="774064">
                  <a:moveTo>
                    <a:pt x="387077" y="0"/>
                  </a:moveTo>
                  <a:lnTo>
                    <a:pt x="0" y="0"/>
                  </a:lnTo>
                  <a:lnTo>
                    <a:pt x="0" y="773511"/>
                  </a:lnTo>
                  <a:lnTo>
                    <a:pt x="387077" y="773511"/>
                  </a:lnTo>
                  <a:lnTo>
                    <a:pt x="387077" y="0"/>
                  </a:lnTo>
                  <a:close/>
                </a:path>
              </a:pathLst>
            </a:custGeom>
            <a:ln w="21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630801" y="4439198"/>
            <a:ext cx="3981450" cy="106680"/>
            <a:chOff x="2630801" y="4439198"/>
            <a:chExt cx="3981450" cy="106680"/>
          </a:xfrm>
        </p:grpSpPr>
        <p:sp>
          <p:nvSpPr>
            <p:cNvPr id="25" name="object 25"/>
            <p:cNvSpPr/>
            <p:nvPr/>
          </p:nvSpPr>
          <p:spPr>
            <a:xfrm>
              <a:off x="2630801" y="4492596"/>
              <a:ext cx="3903979" cy="0"/>
            </a:xfrm>
            <a:custGeom>
              <a:avLst/>
              <a:gdLst/>
              <a:ahLst/>
              <a:cxnLst/>
              <a:rect l="l" t="t" r="r" b="b"/>
              <a:pathLst>
                <a:path w="3903979">
                  <a:moveTo>
                    <a:pt x="0" y="0"/>
                  </a:moveTo>
                  <a:lnTo>
                    <a:pt x="0" y="0"/>
                  </a:lnTo>
                  <a:lnTo>
                    <a:pt x="3903361" y="0"/>
                  </a:lnTo>
                </a:path>
              </a:pathLst>
            </a:custGeom>
            <a:ln w="213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18848" y="4439198"/>
              <a:ext cx="93345" cy="106680"/>
            </a:xfrm>
            <a:custGeom>
              <a:avLst/>
              <a:gdLst/>
              <a:ahLst/>
              <a:cxnLst/>
              <a:rect l="l" t="t" r="r" b="b"/>
              <a:pathLst>
                <a:path w="93345" h="106679">
                  <a:moveTo>
                    <a:pt x="0" y="0"/>
                  </a:moveTo>
                  <a:lnTo>
                    <a:pt x="0" y="106655"/>
                  </a:lnTo>
                  <a:lnTo>
                    <a:pt x="92842" y="53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519909" y="3523762"/>
            <a:ext cx="107950" cy="969010"/>
            <a:chOff x="4519909" y="3523762"/>
            <a:chExt cx="107950" cy="969010"/>
          </a:xfrm>
        </p:grpSpPr>
        <p:sp>
          <p:nvSpPr>
            <p:cNvPr id="35" name="object 35"/>
            <p:cNvSpPr/>
            <p:nvPr/>
          </p:nvSpPr>
          <p:spPr>
            <a:xfrm>
              <a:off x="4573539" y="3600097"/>
              <a:ext cx="0" cy="815975"/>
            </a:xfrm>
            <a:custGeom>
              <a:avLst/>
              <a:gdLst/>
              <a:ahLst/>
              <a:cxnLst/>
              <a:rect l="l" t="t" r="r" b="b"/>
              <a:pathLst>
                <a:path h="815975">
                  <a:moveTo>
                    <a:pt x="0" y="0"/>
                  </a:moveTo>
                  <a:lnTo>
                    <a:pt x="0" y="0"/>
                  </a:lnTo>
                  <a:lnTo>
                    <a:pt x="0" y="815896"/>
                  </a:lnTo>
                </a:path>
              </a:pathLst>
            </a:custGeom>
            <a:ln w="213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19905" y="3523767"/>
              <a:ext cx="107950" cy="969010"/>
            </a:xfrm>
            <a:custGeom>
              <a:avLst/>
              <a:gdLst/>
              <a:ahLst/>
              <a:cxnLst/>
              <a:rect l="l" t="t" r="r" b="b"/>
              <a:pathLst>
                <a:path w="107950" h="969010">
                  <a:moveTo>
                    <a:pt x="106895" y="876134"/>
                  </a:moveTo>
                  <a:lnTo>
                    <a:pt x="0" y="876134"/>
                  </a:lnTo>
                  <a:lnTo>
                    <a:pt x="53644" y="968832"/>
                  </a:lnTo>
                  <a:lnTo>
                    <a:pt x="106895" y="876134"/>
                  </a:lnTo>
                  <a:close/>
                </a:path>
                <a:path w="107950" h="969010">
                  <a:moveTo>
                    <a:pt x="107835" y="92570"/>
                  </a:moveTo>
                  <a:lnTo>
                    <a:pt x="54584" y="0"/>
                  </a:lnTo>
                  <a:lnTo>
                    <a:pt x="0" y="92570"/>
                  </a:lnTo>
                  <a:lnTo>
                    <a:pt x="107835" y="925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2553260" y="4438269"/>
            <a:ext cx="92710" cy="107950"/>
          </a:xfrm>
          <a:custGeom>
            <a:avLst/>
            <a:gdLst/>
            <a:ahLst/>
            <a:cxnLst/>
            <a:rect l="l" t="t" r="r" b="b"/>
            <a:pathLst>
              <a:path w="92710" h="107950">
                <a:moveTo>
                  <a:pt x="92570" y="0"/>
                </a:moveTo>
                <a:lnTo>
                  <a:pt x="0" y="54327"/>
                </a:lnTo>
                <a:lnTo>
                  <a:pt x="92570" y="107585"/>
                </a:lnTo>
                <a:lnTo>
                  <a:pt x="925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6714278" y="4300995"/>
            <a:ext cx="203835" cy="203835"/>
            <a:chOff x="6714278" y="4300995"/>
            <a:chExt cx="203835" cy="203835"/>
          </a:xfrm>
        </p:grpSpPr>
        <p:sp>
          <p:nvSpPr>
            <p:cNvPr id="13" name="object 13"/>
            <p:cNvSpPr/>
            <p:nvPr/>
          </p:nvSpPr>
          <p:spPr>
            <a:xfrm>
              <a:off x="6719285" y="4305992"/>
              <a:ext cx="193675" cy="193675"/>
            </a:xfrm>
            <a:custGeom>
              <a:avLst/>
              <a:gdLst/>
              <a:ahLst/>
              <a:cxnLst/>
              <a:rect l="l" t="t" r="r" b="b"/>
              <a:pathLst>
                <a:path w="193675" h="193675">
                  <a:moveTo>
                    <a:pt x="0" y="0"/>
                  </a:moveTo>
                  <a:lnTo>
                    <a:pt x="0" y="193581"/>
                  </a:lnTo>
                  <a:lnTo>
                    <a:pt x="193456" y="96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19273" y="4305991"/>
              <a:ext cx="193675" cy="193675"/>
            </a:xfrm>
            <a:custGeom>
              <a:avLst/>
              <a:gdLst/>
              <a:ahLst/>
              <a:cxnLst/>
              <a:rect l="l" t="t" r="r" b="b"/>
              <a:pathLst>
                <a:path w="193675" h="193675">
                  <a:moveTo>
                    <a:pt x="0" y="0"/>
                  </a:moveTo>
                  <a:lnTo>
                    <a:pt x="193462" y="96987"/>
                  </a:lnTo>
                  <a:lnTo>
                    <a:pt x="0" y="193584"/>
                  </a:lnTo>
                  <a:lnTo>
                    <a:pt x="0" y="0"/>
                  </a:lnTo>
                  <a:close/>
                </a:path>
              </a:pathLst>
            </a:custGeom>
            <a:ln w="9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713211" y="4476600"/>
            <a:ext cx="203835" cy="203200"/>
            <a:chOff x="6713211" y="4476600"/>
            <a:chExt cx="203835" cy="203200"/>
          </a:xfrm>
        </p:grpSpPr>
        <p:sp>
          <p:nvSpPr>
            <p:cNvPr id="17" name="object 17"/>
            <p:cNvSpPr/>
            <p:nvPr/>
          </p:nvSpPr>
          <p:spPr>
            <a:xfrm>
              <a:off x="6718218" y="4481596"/>
              <a:ext cx="193675" cy="193675"/>
            </a:xfrm>
            <a:custGeom>
              <a:avLst/>
              <a:gdLst/>
              <a:ahLst/>
              <a:cxnLst/>
              <a:rect l="l" t="t" r="r" b="b"/>
              <a:pathLst>
                <a:path w="193675" h="193675">
                  <a:moveTo>
                    <a:pt x="193608" y="0"/>
                  </a:moveTo>
                  <a:lnTo>
                    <a:pt x="0" y="96581"/>
                  </a:lnTo>
                  <a:lnTo>
                    <a:pt x="193608" y="193179"/>
                  </a:lnTo>
                  <a:lnTo>
                    <a:pt x="19360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18207" y="4481596"/>
              <a:ext cx="193675" cy="193675"/>
            </a:xfrm>
            <a:custGeom>
              <a:avLst/>
              <a:gdLst/>
              <a:ahLst/>
              <a:cxnLst/>
              <a:rect l="l" t="t" r="r" b="b"/>
              <a:pathLst>
                <a:path w="193675" h="193675">
                  <a:moveTo>
                    <a:pt x="193584" y="0"/>
                  </a:moveTo>
                  <a:lnTo>
                    <a:pt x="0" y="96584"/>
                  </a:lnTo>
                  <a:lnTo>
                    <a:pt x="193584" y="193179"/>
                  </a:lnTo>
                  <a:lnTo>
                    <a:pt x="193584" y="0"/>
                  </a:lnTo>
                  <a:close/>
                </a:path>
              </a:pathLst>
            </a:custGeom>
            <a:ln w="9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994953" y="221842"/>
          <a:ext cx="5711190" cy="464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7495"/>
                <a:gridCol w="2021205"/>
                <a:gridCol w="2142490"/>
              </a:tblGrid>
              <a:tr h="39243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71475">
                        <a:lnSpc>
                          <a:spcPct val="100000"/>
                        </a:lnSpc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Processor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7785" marR="176530"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0033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8769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653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Ad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1336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3712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176530"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6533402" y="1042378"/>
            <a:ext cx="619125" cy="48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5100">
              <a:lnSpc>
                <a:spcPct val="101400"/>
              </a:lnSpc>
              <a:spcBef>
                <a:spcPts val="95"/>
              </a:spcBef>
            </a:pPr>
            <a:r>
              <a:rPr sz="1500" b="1" spc="-10" dirty="0">
                <a:latin typeface="Times New Roman"/>
                <a:cs typeface="Times New Roman"/>
              </a:rPr>
              <a:t>dress buffer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933521" y="2223580"/>
            <a:ext cx="66548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10" dirty="0">
                <a:latin typeface="Times New Roman"/>
                <a:cs typeface="Times New Roman"/>
              </a:rPr>
              <a:t>Control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964315" y="2223555"/>
            <a:ext cx="66548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10" dirty="0">
                <a:latin typeface="Times New Roman"/>
                <a:cs typeface="Times New Roman"/>
              </a:rPr>
              <a:t>Control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33402" y="3556105"/>
            <a:ext cx="538480" cy="4895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9055">
              <a:lnSpc>
                <a:spcPct val="101299"/>
              </a:lnSpc>
              <a:spcBef>
                <a:spcPts val="100"/>
              </a:spcBef>
            </a:pPr>
            <a:r>
              <a:rPr sz="1500" b="1" spc="-20" dirty="0">
                <a:latin typeface="Times New Roman"/>
                <a:cs typeface="Times New Roman"/>
              </a:rPr>
              <a:t>Data </a:t>
            </a:r>
            <a:r>
              <a:rPr sz="1500" b="1" spc="-10" dirty="0">
                <a:latin typeface="Times New Roman"/>
                <a:cs typeface="Times New Roman"/>
              </a:rPr>
              <a:t>buffer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023689" y="4439198"/>
            <a:ext cx="492759" cy="107950"/>
            <a:chOff x="7023689" y="4439198"/>
            <a:chExt cx="492759" cy="107950"/>
          </a:xfrm>
        </p:grpSpPr>
        <p:sp>
          <p:nvSpPr>
            <p:cNvPr id="32" name="object 32"/>
            <p:cNvSpPr/>
            <p:nvPr/>
          </p:nvSpPr>
          <p:spPr>
            <a:xfrm>
              <a:off x="7100285" y="4492596"/>
              <a:ext cx="339725" cy="0"/>
            </a:xfrm>
            <a:custGeom>
              <a:avLst/>
              <a:gdLst/>
              <a:ahLst/>
              <a:cxnLst/>
              <a:rect l="l" t="t" r="r" b="b"/>
              <a:pathLst>
                <a:path w="339725">
                  <a:moveTo>
                    <a:pt x="0" y="0"/>
                  </a:moveTo>
                  <a:lnTo>
                    <a:pt x="0" y="0"/>
                  </a:lnTo>
                  <a:lnTo>
                    <a:pt x="339283" y="0"/>
                  </a:lnTo>
                </a:path>
              </a:pathLst>
            </a:custGeom>
            <a:ln w="213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23684" y="4439208"/>
              <a:ext cx="492759" cy="107950"/>
            </a:xfrm>
            <a:custGeom>
              <a:avLst/>
              <a:gdLst/>
              <a:ahLst/>
              <a:cxnLst/>
              <a:rect l="l" t="t" r="r" b="b"/>
              <a:pathLst>
                <a:path w="492759" h="107950">
                  <a:moveTo>
                    <a:pt x="92570" y="0"/>
                  </a:moveTo>
                  <a:lnTo>
                    <a:pt x="0" y="53390"/>
                  </a:lnTo>
                  <a:lnTo>
                    <a:pt x="92570" y="106654"/>
                  </a:lnTo>
                  <a:lnTo>
                    <a:pt x="92570" y="0"/>
                  </a:lnTo>
                  <a:close/>
                </a:path>
                <a:path w="492759" h="107950">
                  <a:moveTo>
                    <a:pt x="492531" y="53390"/>
                  </a:moveTo>
                  <a:lnTo>
                    <a:pt x="399923" y="0"/>
                  </a:lnTo>
                  <a:lnTo>
                    <a:pt x="399923" y="107594"/>
                  </a:lnTo>
                  <a:lnTo>
                    <a:pt x="492531" y="533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394238" y="4592412"/>
            <a:ext cx="421005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20" dirty="0">
                <a:latin typeface="Times New Roman"/>
                <a:cs typeface="Times New Roman"/>
              </a:rPr>
              <a:t>Data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7561553" y="232500"/>
            <a:ext cx="0" cy="4641850"/>
          </a:xfrm>
          <a:custGeom>
            <a:avLst/>
            <a:gdLst/>
            <a:ahLst/>
            <a:cxnLst/>
            <a:rect l="l" t="t" r="r" b="b"/>
            <a:pathLst>
              <a:path h="4641850">
                <a:moveTo>
                  <a:pt x="0" y="4641620"/>
                </a:moveTo>
                <a:lnTo>
                  <a:pt x="0" y="4641620"/>
                </a:lnTo>
                <a:lnTo>
                  <a:pt x="0" y="0"/>
                </a:lnTo>
              </a:path>
            </a:pathLst>
          </a:custGeom>
          <a:ln w="855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661916" y="1925832"/>
            <a:ext cx="240029" cy="9759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b="1" dirty="0">
                <a:latin typeface="Times New Roman"/>
                <a:cs typeface="Times New Roman"/>
              </a:rPr>
              <a:t>System</a:t>
            </a:r>
            <a:r>
              <a:rPr sz="1500" b="1" spc="25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Bus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27552" y="6073008"/>
            <a:ext cx="106743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Times New Roman"/>
                <a:cs typeface="Times New Roman"/>
              </a:rPr>
              <a:t>Figure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spc="-25" dirty="0">
                <a:latin typeface="Times New Roman"/>
                <a:cs typeface="Times New Roman"/>
              </a:rPr>
              <a:t>4.6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806923" y="6073008"/>
            <a:ext cx="292354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Times New Roman"/>
                <a:cs typeface="Times New Roman"/>
              </a:rPr>
              <a:t>Typical</a:t>
            </a:r>
            <a:r>
              <a:rPr sz="1900" b="1" spc="-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Cache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Organization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4072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95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Cache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0" dirty="0"/>
              <a:t>organization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2435" y="1510660"/>
            <a:ext cx="7400290" cy="435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7620" indent="-228600" algn="just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figure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4.6,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cache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connects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4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processor</a:t>
            </a:r>
            <a:r>
              <a:rPr sz="1800" spc="4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via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data,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control,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address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lines.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3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address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lines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also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attach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address </a:t>
            </a:r>
            <a:r>
              <a:rPr sz="1800" dirty="0">
                <a:latin typeface="Times New Roman"/>
                <a:cs typeface="Times New Roman"/>
              </a:rPr>
              <a:t>buffers,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attach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memory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reached.</a:t>
            </a:r>
            <a:endParaRPr sz="1800">
              <a:latin typeface="Times New Roman"/>
              <a:cs typeface="Times New Roman"/>
            </a:endParaRPr>
          </a:p>
          <a:p>
            <a:pPr marL="240665" marR="5080" indent="-228600" algn="just">
              <a:lnSpc>
                <a:spcPct val="100000"/>
              </a:lnSpc>
              <a:spcBef>
                <a:spcPts val="2005"/>
              </a:spcBef>
              <a:buSzPct val="75000"/>
              <a:buFont typeface="Wingdings"/>
              <a:buChar char=""/>
              <a:tabLst>
                <a:tab pos="240665" algn="l"/>
                <a:tab pos="293370" algn="l"/>
              </a:tabLst>
            </a:pPr>
            <a:r>
              <a:rPr sz="1800" dirty="0">
                <a:solidFill>
                  <a:srgbClr val="653265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cache</a:t>
            </a:r>
            <a:r>
              <a:rPr sz="1800" b="1" spc="3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hit</a:t>
            </a:r>
            <a:r>
              <a:rPr sz="1800" b="1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occurs,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address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buffers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disabled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communication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processor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cache,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bus </a:t>
            </a:r>
            <a:r>
              <a:rPr sz="1800" spc="-10" dirty="0">
                <a:latin typeface="Times New Roman"/>
                <a:cs typeface="Times New Roman"/>
              </a:rPr>
              <a:t>traffic.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1995"/>
              </a:spcBef>
              <a:buSzPct val="75000"/>
              <a:buFont typeface="Wingdings"/>
              <a:buChar char=""/>
              <a:tabLst>
                <a:tab pos="241300" algn="l"/>
                <a:tab pos="294005" algn="l"/>
              </a:tabLst>
            </a:pPr>
            <a:r>
              <a:rPr sz="1800" dirty="0">
                <a:solidFill>
                  <a:srgbClr val="653265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When 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cache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miss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occurs,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desired address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loaded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onto the system </a:t>
            </a:r>
            <a:r>
              <a:rPr sz="1800" spc="-25" dirty="0">
                <a:latin typeface="Times New Roman"/>
                <a:cs typeface="Times New Roman"/>
              </a:rPr>
              <a:t>bus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returned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buffer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cache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processor.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organizations,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cache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physically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interposed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processor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memory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address,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lines.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this </a:t>
            </a:r>
            <a:r>
              <a:rPr sz="1800" dirty="0">
                <a:latin typeface="Times New Roman"/>
                <a:cs typeface="Times New Roman"/>
              </a:rPr>
              <a:t>latter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case,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cache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miss,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desired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read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cache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transferred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cache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processor.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8371" y="854874"/>
            <a:ext cx="4408805" cy="4443095"/>
          </a:xfrm>
          <a:custGeom>
            <a:avLst/>
            <a:gdLst/>
            <a:ahLst/>
            <a:cxnLst/>
            <a:rect l="l" t="t" r="r" b="b"/>
            <a:pathLst>
              <a:path w="4408805" h="4443095">
                <a:moveTo>
                  <a:pt x="4408665" y="0"/>
                </a:moveTo>
                <a:lnTo>
                  <a:pt x="0" y="0"/>
                </a:lnTo>
                <a:lnTo>
                  <a:pt x="0" y="4419054"/>
                </a:lnTo>
                <a:lnTo>
                  <a:pt x="123215" y="4419054"/>
                </a:lnTo>
                <a:lnTo>
                  <a:pt x="123215" y="4442726"/>
                </a:lnTo>
                <a:lnTo>
                  <a:pt x="4261726" y="4442726"/>
                </a:lnTo>
                <a:lnTo>
                  <a:pt x="4261726" y="4419054"/>
                </a:lnTo>
                <a:lnTo>
                  <a:pt x="4408665" y="4419054"/>
                </a:lnTo>
                <a:lnTo>
                  <a:pt x="4408665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0701" y="793026"/>
            <a:ext cx="3821429" cy="445516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452755" marR="1621790" indent="-440690">
              <a:lnSpc>
                <a:spcPts val="2710"/>
              </a:lnSpc>
              <a:spcBef>
                <a:spcPts val="250"/>
              </a:spcBef>
            </a:pPr>
            <a:r>
              <a:rPr sz="2300" b="1" spc="-105" dirty="0">
                <a:latin typeface="Arial"/>
                <a:cs typeface="Arial"/>
              </a:rPr>
              <a:t>Cache</a:t>
            </a:r>
            <a:r>
              <a:rPr sz="2300" spc="-250" dirty="0">
                <a:latin typeface="Times New Roman"/>
                <a:cs typeface="Times New Roman"/>
              </a:rPr>
              <a:t> </a:t>
            </a:r>
            <a:r>
              <a:rPr sz="2300" b="1" spc="25" dirty="0">
                <a:latin typeface="Arial"/>
                <a:cs typeface="Arial"/>
              </a:rPr>
              <a:t>A</a:t>
            </a:r>
            <a:r>
              <a:rPr sz="2300" b="1" spc="-125" dirty="0">
                <a:latin typeface="Arial"/>
                <a:cs typeface="Arial"/>
              </a:rPr>
              <a:t>d</a:t>
            </a:r>
            <a:r>
              <a:rPr sz="2300" b="1" spc="-120" dirty="0">
                <a:latin typeface="Arial"/>
                <a:cs typeface="Arial"/>
              </a:rPr>
              <a:t>d</a:t>
            </a:r>
            <a:r>
              <a:rPr sz="2300" b="1" spc="135" dirty="0">
                <a:latin typeface="Arial"/>
                <a:cs typeface="Arial"/>
              </a:rPr>
              <a:t>r</a:t>
            </a:r>
            <a:r>
              <a:rPr sz="2300" b="1" spc="-254" dirty="0">
                <a:latin typeface="Arial"/>
                <a:cs typeface="Arial"/>
              </a:rPr>
              <a:t>e</a:t>
            </a:r>
            <a:r>
              <a:rPr sz="2300" b="1" spc="-390" dirty="0">
                <a:latin typeface="Arial"/>
                <a:cs typeface="Arial"/>
              </a:rPr>
              <a:t>s</a:t>
            </a:r>
            <a:r>
              <a:rPr sz="2300" b="1" spc="-385" dirty="0">
                <a:latin typeface="Arial"/>
                <a:cs typeface="Arial"/>
              </a:rPr>
              <a:t>s</a:t>
            </a:r>
            <a:r>
              <a:rPr sz="2300" b="1" spc="-254" dirty="0">
                <a:latin typeface="Arial"/>
                <a:cs typeface="Arial"/>
              </a:rPr>
              <a:t>e</a:t>
            </a:r>
            <a:r>
              <a:rPr sz="2300" b="1" spc="10" dirty="0">
                <a:latin typeface="Arial"/>
                <a:cs typeface="Arial"/>
              </a:rPr>
              <a:t>s</a:t>
            </a:r>
            <a:r>
              <a:rPr sz="2300" spc="-15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Logical Physical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ts val="2500"/>
              </a:lnSpc>
            </a:pPr>
            <a:r>
              <a:rPr sz="2300" b="1" spc="-105" dirty="0">
                <a:latin typeface="Arial"/>
                <a:cs typeface="Arial"/>
              </a:rPr>
              <a:t>Cache</a:t>
            </a:r>
            <a:r>
              <a:rPr sz="2300" spc="-250" dirty="0">
                <a:latin typeface="Times New Roman"/>
                <a:cs typeface="Times New Roman"/>
              </a:rPr>
              <a:t> </a:t>
            </a:r>
            <a:r>
              <a:rPr sz="2300" b="1" spc="-20" dirty="0">
                <a:latin typeface="Arial"/>
                <a:cs typeface="Arial"/>
              </a:rPr>
              <a:t>Size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ts val="2610"/>
              </a:lnSpc>
            </a:pPr>
            <a:r>
              <a:rPr sz="2300" b="1" dirty="0">
                <a:latin typeface="Arial"/>
                <a:cs typeface="Arial"/>
              </a:rPr>
              <a:t>M</a:t>
            </a:r>
            <a:r>
              <a:rPr sz="2300" spc="-310" dirty="0">
                <a:latin typeface="Times New Roman"/>
                <a:cs typeface="Times New Roman"/>
              </a:rPr>
              <a:t> </a:t>
            </a:r>
            <a:r>
              <a:rPr sz="2300" b="1" spc="-85" dirty="0">
                <a:latin typeface="Arial"/>
                <a:cs typeface="Arial"/>
              </a:rPr>
              <a:t>apping</a:t>
            </a:r>
            <a:r>
              <a:rPr sz="2300" spc="-26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Arial"/>
                <a:cs typeface="Arial"/>
              </a:rPr>
              <a:t>Function</a:t>
            </a:r>
            <a:endParaRPr sz="2300">
              <a:latin typeface="Arial"/>
              <a:cs typeface="Arial"/>
            </a:endParaRPr>
          </a:p>
          <a:p>
            <a:pPr marL="452755" marR="1993264">
              <a:lnSpc>
                <a:spcPts val="2710"/>
              </a:lnSpc>
              <a:spcBef>
                <a:spcPts val="100"/>
              </a:spcBef>
            </a:pPr>
            <a:r>
              <a:rPr sz="2300" spc="-10" dirty="0">
                <a:latin typeface="Times New Roman"/>
                <a:cs typeface="Times New Roman"/>
              </a:rPr>
              <a:t>Direct Associative</a:t>
            </a:r>
            <a:endParaRPr sz="2300">
              <a:latin typeface="Times New Roman"/>
              <a:cs typeface="Times New Roman"/>
            </a:endParaRPr>
          </a:p>
          <a:p>
            <a:pPr marL="452755">
              <a:lnSpc>
                <a:spcPts val="2595"/>
              </a:lnSpc>
            </a:pPr>
            <a:r>
              <a:rPr sz="2300" dirty="0">
                <a:latin typeface="Times New Roman"/>
                <a:cs typeface="Times New Roman"/>
              </a:rPr>
              <a:t>Set</a:t>
            </a:r>
            <a:r>
              <a:rPr sz="2300" spc="-10" dirty="0">
                <a:latin typeface="Times New Roman"/>
                <a:cs typeface="Times New Roman"/>
              </a:rPr>
              <a:t> Associative</a:t>
            </a:r>
            <a:endParaRPr sz="2300">
              <a:latin typeface="Times New Roman"/>
              <a:cs typeface="Times New Roman"/>
            </a:endParaRPr>
          </a:p>
          <a:p>
            <a:pPr marL="452755" marR="234950" indent="-440690">
              <a:lnSpc>
                <a:spcPts val="2710"/>
              </a:lnSpc>
              <a:spcBef>
                <a:spcPts val="100"/>
              </a:spcBef>
            </a:pPr>
            <a:r>
              <a:rPr sz="2300" b="1" spc="-145" dirty="0">
                <a:latin typeface="Arial"/>
                <a:cs typeface="Arial"/>
              </a:rPr>
              <a:t>Replacement</a:t>
            </a:r>
            <a:r>
              <a:rPr sz="2300" spc="7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Arial"/>
                <a:cs typeface="Arial"/>
              </a:rPr>
              <a:t>Algorithm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Least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recently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used</a:t>
            </a:r>
            <a:r>
              <a:rPr sz="2300" spc="-20" dirty="0">
                <a:latin typeface="Times New Roman"/>
                <a:cs typeface="Times New Roman"/>
              </a:rPr>
              <a:t> (LRU) </a:t>
            </a:r>
            <a:r>
              <a:rPr sz="2300" dirty="0">
                <a:latin typeface="Times New Roman"/>
                <a:cs typeface="Times New Roman"/>
              </a:rPr>
              <a:t>First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first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out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(FIFO)</a:t>
            </a:r>
            <a:endParaRPr sz="2300">
              <a:latin typeface="Times New Roman"/>
              <a:cs typeface="Times New Roman"/>
            </a:endParaRPr>
          </a:p>
          <a:p>
            <a:pPr marL="452755">
              <a:lnSpc>
                <a:spcPts val="2400"/>
              </a:lnSpc>
            </a:pPr>
            <a:r>
              <a:rPr sz="2300" dirty="0">
                <a:latin typeface="Times New Roman"/>
                <a:cs typeface="Times New Roman"/>
              </a:rPr>
              <a:t>Least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frequently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used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(LFU)</a:t>
            </a:r>
            <a:endParaRPr sz="2300">
              <a:latin typeface="Times New Roman"/>
              <a:cs typeface="Times New Roman"/>
            </a:endParaRPr>
          </a:p>
          <a:p>
            <a:pPr marL="452755">
              <a:lnSpc>
                <a:spcPts val="2735"/>
              </a:lnSpc>
            </a:pPr>
            <a:r>
              <a:rPr sz="2300" spc="-10" dirty="0">
                <a:latin typeface="Times New Roman"/>
                <a:cs typeface="Times New Roman"/>
              </a:rPr>
              <a:t>Random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13330" y="854872"/>
            <a:ext cx="4408805" cy="4419600"/>
          </a:xfrm>
          <a:custGeom>
            <a:avLst/>
            <a:gdLst/>
            <a:ahLst/>
            <a:cxnLst/>
            <a:rect l="l" t="t" r="r" b="b"/>
            <a:pathLst>
              <a:path w="4408805" h="4419600">
                <a:moveTo>
                  <a:pt x="4408627" y="0"/>
                </a:moveTo>
                <a:lnTo>
                  <a:pt x="0" y="0"/>
                </a:lnTo>
                <a:lnTo>
                  <a:pt x="0" y="4419048"/>
                </a:lnTo>
                <a:lnTo>
                  <a:pt x="4408627" y="4419048"/>
                </a:lnTo>
                <a:lnTo>
                  <a:pt x="4408627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749308" y="793026"/>
            <a:ext cx="161671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b="1" spc="50" dirty="0">
                <a:solidFill>
                  <a:srgbClr val="000000"/>
                </a:solidFill>
                <a:latin typeface="Arial"/>
                <a:cs typeface="Arial"/>
              </a:rPr>
              <a:t>Write</a:t>
            </a:r>
            <a:r>
              <a:rPr sz="2300" spc="-2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b="1" spc="-90" dirty="0">
                <a:solidFill>
                  <a:srgbClr val="000000"/>
                </a:solidFill>
                <a:latin typeface="Arial"/>
                <a:cs typeface="Arial"/>
              </a:rPr>
              <a:t>Policy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49308" y="1137247"/>
            <a:ext cx="2781935" cy="2072639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41655" marR="584200">
              <a:lnSpc>
                <a:spcPts val="2710"/>
              </a:lnSpc>
              <a:spcBef>
                <a:spcPts val="250"/>
              </a:spcBef>
            </a:pPr>
            <a:r>
              <a:rPr sz="2300" dirty="0">
                <a:latin typeface="Times New Roman"/>
                <a:cs typeface="Times New Roman"/>
              </a:rPr>
              <a:t>Write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through </a:t>
            </a:r>
            <a:r>
              <a:rPr sz="2300" dirty="0">
                <a:latin typeface="Times New Roman"/>
                <a:cs typeface="Times New Roman"/>
              </a:rPr>
              <a:t>Write</a:t>
            </a:r>
            <a:r>
              <a:rPr sz="2300" spc="-20" dirty="0">
                <a:latin typeface="Times New Roman"/>
                <a:cs typeface="Times New Roman"/>
              </a:rPr>
              <a:t> back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ts val="2500"/>
              </a:lnSpc>
            </a:pPr>
            <a:r>
              <a:rPr sz="2300" b="1" dirty="0">
                <a:latin typeface="Arial"/>
                <a:cs typeface="Arial"/>
              </a:rPr>
              <a:t>Line</a:t>
            </a:r>
            <a:r>
              <a:rPr sz="2300" spc="-245" dirty="0">
                <a:latin typeface="Times New Roman"/>
                <a:cs typeface="Times New Roman"/>
              </a:rPr>
              <a:t> </a:t>
            </a:r>
            <a:r>
              <a:rPr sz="2300" b="1" spc="-20" dirty="0">
                <a:latin typeface="Arial"/>
                <a:cs typeface="Arial"/>
              </a:rPr>
              <a:t>Size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ts val="2610"/>
              </a:lnSpc>
            </a:pPr>
            <a:r>
              <a:rPr sz="2300" b="1" spc="-85" dirty="0">
                <a:latin typeface="Arial"/>
                <a:cs typeface="Arial"/>
              </a:rPr>
              <a:t>Number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b="1" spc="-135" dirty="0">
                <a:latin typeface="Arial"/>
                <a:cs typeface="Arial"/>
              </a:rPr>
              <a:t>of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Arial"/>
                <a:cs typeface="Arial"/>
              </a:rPr>
              <a:t>caches</a:t>
            </a:r>
            <a:endParaRPr sz="2300">
              <a:latin typeface="Arial"/>
              <a:cs typeface="Arial"/>
            </a:endParaRPr>
          </a:p>
          <a:p>
            <a:pPr marL="541655" marR="5080">
              <a:lnSpc>
                <a:spcPts val="2710"/>
              </a:lnSpc>
              <a:spcBef>
                <a:spcPts val="100"/>
              </a:spcBef>
            </a:pPr>
            <a:r>
              <a:rPr sz="2300" dirty="0">
                <a:latin typeface="Times New Roman"/>
                <a:cs typeface="Times New Roman"/>
              </a:rPr>
              <a:t>Single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or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two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level </a:t>
            </a:r>
            <a:r>
              <a:rPr sz="2300" dirty="0">
                <a:latin typeface="Times New Roman"/>
                <a:cs typeface="Times New Roman"/>
              </a:rPr>
              <a:t>Unified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or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split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4673" y="835164"/>
            <a:ext cx="8841105" cy="4462780"/>
          </a:xfrm>
          <a:custGeom>
            <a:avLst/>
            <a:gdLst/>
            <a:ahLst/>
            <a:cxnLst/>
            <a:rect l="l" t="t" r="r" b="b"/>
            <a:pathLst>
              <a:path w="8841105" h="4462780">
                <a:moveTo>
                  <a:pt x="8840991" y="0"/>
                </a:moveTo>
                <a:lnTo>
                  <a:pt x="8817280" y="0"/>
                </a:lnTo>
                <a:lnTo>
                  <a:pt x="8817280" y="19710"/>
                </a:lnTo>
                <a:lnTo>
                  <a:pt x="8817280" y="4438764"/>
                </a:lnTo>
                <a:lnTo>
                  <a:pt x="4432363" y="4438764"/>
                </a:lnTo>
                <a:lnTo>
                  <a:pt x="4408652" y="4438764"/>
                </a:lnTo>
                <a:lnTo>
                  <a:pt x="23698" y="4438764"/>
                </a:lnTo>
                <a:lnTo>
                  <a:pt x="23698" y="19710"/>
                </a:lnTo>
                <a:lnTo>
                  <a:pt x="4432363" y="19710"/>
                </a:lnTo>
                <a:lnTo>
                  <a:pt x="4458551" y="19710"/>
                </a:lnTo>
                <a:lnTo>
                  <a:pt x="8817280" y="19710"/>
                </a:lnTo>
                <a:lnTo>
                  <a:pt x="8817280" y="0"/>
                </a:lnTo>
                <a:lnTo>
                  <a:pt x="4458551" y="0"/>
                </a:lnTo>
                <a:lnTo>
                  <a:pt x="4432363" y="0"/>
                </a:lnTo>
                <a:lnTo>
                  <a:pt x="23698" y="0"/>
                </a:lnTo>
                <a:lnTo>
                  <a:pt x="0" y="0"/>
                </a:lnTo>
                <a:lnTo>
                  <a:pt x="0" y="19710"/>
                </a:lnTo>
                <a:lnTo>
                  <a:pt x="0" y="4438764"/>
                </a:lnTo>
                <a:lnTo>
                  <a:pt x="0" y="4462437"/>
                </a:lnTo>
                <a:lnTo>
                  <a:pt x="23698" y="4462437"/>
                </a:lnTo>
                <a:lnTo>
                  <a:pt x="4408652" y="4462437"/>
                </a:lnTo>
                <a:lnTo>
                  <a:pt x="4432363" y="4462437"/>
                </a:lnTo>
                <a:lnTo>
                  <a:pt x="8817280" y="4462437"/>
                </a:lnTo>
                <a:lnTo>
                  <a:pt x="8840991" y="4462437"/>
                </a:lnTo>
                <a:lnTo>
                  <a:pt x="8840991" y="4438764"/>
                </a:lnTo>
                <a:lnTo>
                  <a:pt x="8840991" y="19710"/>
                </a:lnTo>
                <a:lnTo>
                  <a:pt x="88409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16532" y="5468816"/>
            <a:ext cx="37109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523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Rockwell"/>
                <a:cs typeface="Rockwell"/>
              </a:rPr>
              <a:t>Table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Rockwell"/>
                <a:cs typeface="Rockwell"/>
              </a:rPr>
              <a:t>4.2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Rockwell"/>
                <a:cs typeface="Rockwell"/>
              </a:rPr>
              <a:t>Elements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Rockwell"/>
                <a:cs typeface="Rockwell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Rockwell"/>
                <a:cs typeface="Rockwell"/>
              </a:rPr>
              <a:t>Cache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Rockwell"/>
                <a:cs typeface="Rockwell"/>
              </a:rPr>
              <a:t>Design</a:t>
            </a:r>
            <a:endParaRPr sz="2400">
              <a:latin typeface="Rockwell"/>
              <a:cs typeface="Rockwel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1941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85011" y="402525"/>
            <a:ext cx="5928995" cy="133286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25"/>
              </a:spcBef>
            </a:pPr>
            <a:r>
              <a:rPr sz="5400" b="1" baseline="37037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27" baseline="37037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Cache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10" dirty="0"/>
              <a:t>Addresses</a:t>
            </a:r>
            <a:endParaRPr sz="3600">
              <a:latin typeface="Times New Roman"/>
              <a:cs typeface="Times New Roman"/>
            </a:endParaRPr>
          </a:p>
          <a:p>
            <a:pPr marL="2573655">
              <a:lnSpc>
                <a:spcPct val="100000"/>
              </a:lnSpc>
              <a:spcBef>
                <a:spcPts val="825"/>
              </a:spcBef>
            </a:pPr>
            <a:r>
              <a:rPr dirty="0">
                <a:solidFill>
                  <a:srgbClr val="656598"/>
                </a:solidFill>
              </a:rPr>
              <a:t>Virtual</a:t>
            </a:r>
            <a:r>
              <a:rPr spc="50" dirty="0">
                <a:solidFill>
                  <a:srgbClr val="656598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656598"/>
                </a:solidFill>
              </a:rPr>
              <a:t>Memory</a:t>
            </a:r>
          </a:p>
        </p:txBody>
      </p:sp>
      <p:sp>
        <p:nvSpPr>
          <p:cNvPr id="2" name="object 2"/>
          <p:cNvSpPr/>
          <p:nvPr/>
        </p:nvSpPr>
        <p:spPr>
          <a:xfrm>
            <a:off x="8166872" y="282580"/>
            <a:ext cx="685800" cy="1600200"/>
          </a:xfrm>
          <a:custGeom>
            <a:avLst/>
            <a:gdLst/>
            <a:ahLst/>
            <a:cxnLst/>
            <a:rect l="l" t="t" r="r" b="b"/>
            <a:pathLst>
              <a:path w="685800" h="1600200">
                <a:moveTo>
                  <a:pt x="685799" y="0"/>
                </a:moveTo>
                <a:lnTo>
                  <a:pt x="0" y="0"/>
                </a:lnTo>
                <a:lnTo>
                  <a:pt x="0" y="1600199"/>
                </a:lnTo>
                <a:lnTo>
                  <a:pt x="685799" y="1600199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2224653"/>
            <a:ext cx="7121525" cy="28416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8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Virtual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2000">
              <a:latin typeface="Rockwell"/>
              <a:cs typeface="Rockwell"/>
            </a:endParaRPr>
          </a:p>
          <a:p>
            <a:pPr marL="469900" marR="88900" lvl="1" indent="-229235">
              <a:lnSpc>
                <a:spcPct val="100000"/>
              </a:lnSpc>
              <a:spcBef>
                <a:spcPts val="60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Facility</a:t>
            </a:r>
            <a:r>
              <a:rPr sz="18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allows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programs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logical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point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Rockwell"/>
                <a:cs typeface="Rockwell"/>
              </a:rPr>
              <a:t>view,</a:t>
            </a:r>
            <a:r>
              <a:rPr sz="1800" spc="-1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without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regard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amount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physically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available</a:t>
            </a:r>
            <a:endParaRPr sz="1800">
              <a:latin typeface="Rockwell"/>
              <a:cs typeface="Rockwell"/>
            </a:endParaRPr>
          </a:p>
          <a:p>
            <a:pPr marL="469900" marR="174625" lvl="1" indent="-229235">
              <a:lnSpc>
                <a:spcPct val="100000"/>
              </a:lnSpc>
              <a:spcBef>
                <a:spcPts val="60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used,</a:t>
            </a:r>
            <a:r>
              <a:rPr sz="1800" spc="-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fields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machine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instructions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contain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virtual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addresses</a:t>
            </a:r>
            <a:endParaRPr sz="1800">
              <a:latin typeface="Rockwell"/>
              <a:cs typeface="Rockwell"/>
            </a:endParaRPr>
          </a:p>
          <a:p>
            <a:pPr marL="469900" marR="5080" lvl="1" indent="-22923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reads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writes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from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40" dirty="0">
                <a:solidFill>
                  <a:srgbClr val="595959"/>
                </a:solidFill>
                <a:latin typeface="Rockwell"/>
                <a:cs typeface="Rockwell"/>
              </a:rPr>
              <a:t>memory,</a:t>
            </a:r>
            <a:r>
              <a:rPr sz="1800" spc="-1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hardware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management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unit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(MMU)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translates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virtual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into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physical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8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465" y="5105351"/>
            <a:ext cx="1728947" cy="1736087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4185299" y="651936"/>
            <a:ext cx="120650" cy="101600"/>
          </a:xfrm>
          <a:custGeom>
            <a:avLst/>
            <a:gdLst/>
            <a:ahLst/>
            <a:cxnLst/>
            <a:rect l="l" t="t" r="r" b="b"/>
            <a:pathLst>
              <a:path w="120650" h="101600">
                <a:moveTo>
                  <a:pt x="0" y="0"/>
                </a:moveTo>
                <a:lnTo>
                  <a:pt x="21335" y="50871"/>
                </a:lnTo>
                <a:lnTo>
                  <a:pt x="0" y="101437"/>
                </a:lnTo>
                <a:lnTo>
                  <a:pt x="120609" y="5087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921973" y="651936"/>
            <a:ext cx="1370330" cy="101600"/>
            <a:chOff x="4921973" y="651936"/>
            <a:chExt cx="1370330" cy="101600"/>
          </a:xfrm>
        </p:grpSpPr>
        <p:sp>
          <p:nvSpPr>
            <p:cNvPr id="10" name="object 10"/>
            <p:cNvSpPr/>
            <p:nvPr/>
          </p:nvSpPr>
          <p:spPr>
            <a:xfrm>
              <a:off x="4921973" y="702816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0" y="0"/>
                  </a:lnTo>
                  <a:lnTo>
                    <a:pt x="1288911" y="0"/>
                  </a:lnTo>
                </a:path>
              </a:pathLst>
            </a:custGeom>
            <a:ln w="192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71651" y="651936"/>
              <a:ext cx="120650" cy="101600"/>
            </a:xfrm>
            <a:custGeom>
              <a:avLst/>
              <a:gdLst/>
              <a:ahLst/>
              <a:cxnLst/>
              <a:rect l="l" t="t" r="r" b="b"/>
              <a:pathLst>
                <a:path w="120650" h="101600">
                  <a:moveTo>
                    <a:pt x="0" y="0"/>
                  </a:moveTo>
                  <a:lnTo>
                    <a:pt x="22158" y="50871"/>
                  </a:lnTo>
                  <a:lnTo>
                    <a:pt x="0" y="101437"/>
                  </a:lnTo>
                  <a:lnTo>
                    <a:pt x="120639" y="508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" name="object 2"/>
          <p:cNvGrpSpPr/>
          <p:nvPr/>
        </p:nvGrpSpPr>
        <p:grpSpPr>
          <a:xfrm>
            <a:off x="3298398" y="1090466"/>
            <a:ext cx="637540" cy="283845"/>
            <a:chOff x="3298398" y="1090466"/>
            <a:chExt cx="637540" cy="283845"/>
          </a:xfrm>
        </p:grpSpPr>
        <p:sp>
          <p:nvSpPr>
            <p:cNvPr id="3" name="object 3"/>
            <p:cNvSpPr/>
            <p:nvPr/>
          </p:nvSpPr>
          <p:spPr>
            <a:xfrm>
              <a:off x="3307994" y="1100053"/>
              <a:ext cx="618490" cy="264795"/>
            </a:xfrm>
            <a:custGeom>
              <a:avLst/>
              <a:gdLst/>
              <a:ahLst/>
              <a:cxnLst/>
              <a:rect l="l" t="t" r="r" b="b"/>
              <a:pathLst>
                <a:path w="618489" h="264794">
                  <a:moveTo>
                    <a:pt x="618164" y="0"/>
                  </a:moveTo>
                  <a:lnTo>
                    <a:pt x="0" y="0"/>
                  </a:lnTo>
                  <a:lnTo>
                    <a:pt x="0" y="264596"/>
                  </a:lnTo>
                  <a:lnTo>
                    <a:pt x="618164" y="264596"/>
                  </a:lnTo>
                  <a:lnTo>
                    <a:pt x="618164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08007" y="1100074"/>
              <a:ext cx="618490" cy="264795"/>
            </a:xfrm>
            <a:custGeom>
              <a:avLst/>
              <a:gdLst/>
              <a:ahLst/>
              <a:cxnLst/>
              <a:rect l="l" t="t" r="r" b="b"/>
              <a:pathLst>
                <a:path w="618489" h="264794">
                  <a:moveTo>
                    <a:pt x="618165" y="264584"/>
                  </a:moveTo>
                  <a:lnTo>
                    <a:pt x="0" y="264584"/>
                  </a:lnTo>
                  <a:lnTo>
                    <a:pt x="0" y="0"/>
                  </a:lnTo>
                  <a:lnTo>
                    <a:pt x="618165" y="0"/>
                  </a:lnTo>
                  <a:lnTo>
                    <a:pt x="618165" y="264584"/>
                  </a:lnTo>
                  <a:close/>
                </a:path>
              </a:pathLst>
            </a:custGeom>
            <a:ln w="192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3566403" y="980114"/>
            <a:ext cx="101600" cy="120650"/>
          </a:xfrm>
          <a:custGeom>
            <a:avLst/>
            <a:gdLst/>
            <a:ahLst/>
            <a:cxnLst/>
            <a:rect l="l" t="t" r="r" b="b"/>
            <a:pathLst>
              <a:path w="101600" h="120650">
                <a:moveTo>
                  <a:pt x="101437" y="0"/>
                </a:moveTo>
                <a:lnTo>
                  <a:pt x="50749" y="21183"/>
                </a:lnTo>
                <a:lnTo>
                  <a:pt x="0" y="0"/>
                </a:lnTo>
                <a:lnTo>
                  <a:pt x="50749" y="120639"/>
                </a:lnTo>
                <a:lnTo>
                  <a:pt x="101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015067" y="1706240"/>
            <a:ext cx="3277235" cy="101600"/>
            <a:chOff x="3015067" y="1706240"/>
            <a:chExt cx="3277235" cy="101600"/>
          </a:xfrm>
        </p:grpSpPr>
        <p:sp>
          <p:nvSpPr>
            <p:cNvPr id="6" name="object 6"/>
            <p:cNvSpPr/>
            <p:nvPr/>
          </p:nvSpPr>
          <p:spPr>
            <a:xfrm>
              <a:off x="3015067" y="1756797"/>
              <a:ext cx="3195955" cy="0"/>
            </a:xfrm>
            <a:custGeom>
              <a:avLst/>
              <a:gdLst/>
              <a:ahLst/>
              <a:cxnLst/>
              <a:rect l="l" t="t" r="r" b="b"/>
              <a:pathLst>
                <a:path w="3195954">
                  <a:moveTo>
                    <a:pt x="0" y="0"/>
                  </a:moveTo>
                  <a:lnTo>
                    <a:pt x="0" y="0"/>
                  </a:lnTo>
                  <a:lnTo>
                    <a:pt x="3195817" y="0"/>
                  </a:lnTo>
                </a:path>
              </a:pathLst>
            </a:custGeom>
            <a:ln w="192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71651" y="1706240"/>
              <a:ext cx="120650" cy="101600"/>
            </a:xfrm>
            <a:custGeom>
              <a:avLst/>
              <a:gdLst/>
              <a:ahLst/>
              <a:cxnLst/>
              <a:rect l="l" t="t" r="r" b="b"/>
              <a:pathLst>
                <a:path w="120650" h="101600">
                  <a:moveTo>
                    <a:pt x="0" y="0"/>
                  </a:moveTo>
                  <a:lnTo>
                    <a:pt x="22158" y="50566"/>
                  </a:lnTo>
                  <a:lnTo>
                    <a:pt x="0" y="101437"/>
                  </a:lnTo>
                  <a:lnTo>
                    <a:pt x="120639" y="50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6403" y="1362486"/>
            <a:ext cx="101437" cy="39431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933331" y="1706240"/>
            <a:ext cx="120014" cy="101600"/>
          </a:xfrm>
          <a:custGeom>
            <a:avLst/>
            <a:gdLst/>
            <a:ahLst/>
            <a:cxnLst/>
            <a:rect l="l" t="t" r="r" b="b"/>
            <a:pathLst>
              <a:path w="120014" h="101600">
                <a:moveTo>
                  <a:pt x="119941" y="0"/>
                </a:moveTo>
                <a:lnTo>
                  <a:pt x="0" y="50566"/>
                </a:lnTo>
                <a:lnTo>
                  <a:pt x="119941" y="101437"/>
                </a:lnTo>
                <a:lnTo>
                  <a:pt x="98773" y="50566"/>
                </a:lnTo>
                <a:lnTo>
                  <a:pt x="1199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42833" y="187659"/>
          <a:ext cx="2171700" cy="17614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285"/>
                <a:gridCol w="681990"/>
                <a:gridCol w="606425"/>
              </a:tblGrid>
              <a:tr h="505459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58115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Processor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74320">
                        <a:lnSpc>
                          <a:spcPct val="100000"/>
                        </a:lnSpc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Logical</a:t>
                      </a:r>
                      <a:r>
                        <a:rPr sz="9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149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9410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0482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Cache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4304448" y="394525"/>
            <a:ext cx="618490" cy="618490"/>
          </a:xfrm>
          <a:prstGeom prst="rect">
            <a:avLst/>
          </a:prstGeom>
          <a:solidFill>
            <a:srgbClr val="DCDCDC"/>
          </a:solidFill>
          <a:ln w="19218">
            <a:solidFill>
              <a:srgbClr val="00000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endParaRPr sz="1050">
              <a:latin typeface="Times New Roman"/>
              <a:cs typeface="Times New Roman"/>
            </a:endParaRPr>
          </a:p>
          <a:p>
            <a:pPr marL="133985">
              <a:lnSpc>
                <a:spcPct val="100000"/>
              </a:lnSpc>
            </a:pPr>
            <a:r>
              <a:rPr sz="1050" b="1" spc="-25" dirty="0">
                <a:latin typeface="Times New Roman"/>
                <a:cs typeface="Times New Roman"/>
              </a:rPr>
              <a:t>MMU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53747" y="521512"/>
            <a:ext cx="857885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dirty="0">
                <a:latin typeface="Times New Roman"/>
                <a:cs typeface="Times New Roman"/>
              </a:rPr>
              <a:t>Physical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address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39202" y="1584527"/>
            <a:ext cx="26670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spc="-20" dirty="0">
                <a:latin typeface="Times New Roman"/>
                <a:cs typeface="Times New Roman"/>
              </a:rPr>
              <a:t>Data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91630" y="197268"/>
            <a:ext cx="883919" cy="1762760"/>
          </a:xfrm>
          <a:prstGeom prst="rect">
            <a:avLst/>
          </a:prstGeom>
          <a:solidFill>
            <a:srgbClr val="CBEBCC"/>
          </a:solidFill>
          <a:ln w="1921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050">
              <a:latin typeface="Times New Roman"/>
              <a:cs typeface="Times New Roman"/>
            </a:endParaRPr>
          </a:p>
          <a:p>
            <a:pPr marL="210185" marR="179070" indent="86995">
              <a:lnSpc>
                <a:spcPct val="102899"/>
              </a:lnSpc>
              <a:spcBef>
                <a:spcPts val="5"/>
              </a:spcBef>
            </a:pPr>
            <a:r>
              <a:rPr sz="1050" b="1" spc="-20" dirty="0">
                <a:latin typeface="Times New Roman"/>
                <a:cs typeface="Times New Roman"/>
              </a:rPr>
              <a:t>Main </a:t>
            </a:r>
            <a:r>
              <a:rPr sz="1050" b="1" spc="-10" dirty="0">
                <a:latin typeface="Times New Roman"/>
                <a:cs typeface="Times New Roman"/>
              </a:rPr>
              <a:t>memory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90061" y="2276614"/>
            <a:ext cx="104838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dirty="0">
                <a:latin typeface="Times New Roman"/>
                <a:cs typeface="Times New Roman"/>
              </a:rPr>
              <a:t>(a)</a:t>
            </a:r>
            <a:r>
              <a:rPr sz="1050" b="1" spc="5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Logical</a:t>
            </a:r>
            <a:r>
              <a:rPr sz="1050" b="1" spc="4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Cache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935593" y="3424611"/>
            <a:ext cx="1370330" cy="101600"/>
            <a:chOff x="2935593" y="3424611"/>
            <a:chExt cx="1370330" cy="101600"/>
          </a:xfrm>
        </p:grpSpPr>
        <p:sp>
          <p:nvSpPr>
            <p:cNvPr id="28" name="object 28"/>
            <p:cNvSpPr/>
            <p:nvPr/>
          </p:nvSpPr>
          <p:spPr>
            <a:xfrm>
              <a:off x="2935593" y="3475485"/>
              <a:ext cx="1288415" cy="0"/>
            </a:xfrm>
            <a:custGeom>
              <a:avLst/>
              <a:gdLst/>
              <a:ahLst/>
              <a:cxnLst/>
              <a:rect l="l" t="t" r="r" b="b"/>
              <a:pathLst>
                <a:path w="1288414">
                  <a:moveTo>
                    <a:pt x="0" y="0"/>
                  </a:moveTo>
                  <a:lnTo>
                    <a:pt x="0" y="0"/>
                  </a:lnTo>
                  <a:lnTo>
                    <a:pt x="1287926" y="0"/>
                  </a:lnTo>
                </a:path>
              </a:pathLst>
            </a:custGeom>
            <a:ln w="192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85300" y="3424611"/>
              <a:ext cx="120650" cy="101600"/>
            </a:xfrm>
            <a:custGeom>
              <a:avLst/>
              <a:gdLst/>
              <a:ahLst/>
              <a:cxnLst/>
              <a:rect l="l" t="t" r="r" b="b"/>
              <a:pathLst>
                <a:path w="120650" h="101600">
                  <a:moveTo>
                    <a:pt x="0" y="0"/>
                  </a:moveTo>
                  <a:lnTo>
                    <a:pt x="21335" y="50871"/>
                  </a:lnTo>
                  <a:lnTo>
                    <a:pt x="0" y="101437"/>
                  </a:lnTo>
                  <a:lnTo>
                    <a:pt x="120609" y="508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912131" y="3424611"/>
            <a:ext cx="1380490" cy="101600"/>
            <a:chOff x="4912131" y="3424611"/>
            <a:chExt cx="1380490" cy="101600"/>
          </a:xfrm>
        </p:grpSpPr>
        <p:sp>
          <p:nvSpPr>
            <p:cNvPr id="25" name="object 25"/>
            <p:cNvSpPr/>
            <p:nvPr/>
          </p:nvSpPr>
          <p:spPr>
            <a:xfrm>
              <a:off x="4921973" y="3475485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0" y="0"/>
                  </a:lnTo>
                  <a:lnTo>
                    <a:pt x="1288911" y="0"/>
                  </a:lnTo>
                </a:path>
              </a:pathLst>
            </a:custGeom>
            <a:ln w="192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71651" y="3424611"/>
              <a:ext cx="120650" cy="101600"/>
            </a:xfrm>
            <a:custGeom>
              <a:avLst/>
              <a:gdLst/>
              <a:ahLst/>
              <a:cxnLst/>
              <a:rect l="l" t="t" r="r" b="b"/>
              <a:pathLst>
                <a:path w="120650" h="101600">
                  <a:moveTo>
                    <a:pt x="0" y="0"/>
                  </a:moveTo>
                  <a:lnTo>
                    <a:pt x="22158" y="50871"/>
                  </a:lnTo>
                  <a:lnTo>
                    <a:pt x="0" y="101437"/>
                  </a:lnTo>
                  <a:lnTo>
                    <a:pt x="120639" y="508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933331" y="4478904"/>
            <a:ext cx="3359150" cy="101600"/>
            <a:chOff x="2933331" y="4478904"/>
            <a:chExt cx="3359150" cy="101600"/>
          </a:xfrm>
        </p:grpSpPr>
        <p:sp>
          <p:nvSpPr>
            <p:cNvPr id="22" name="object 22"/>
            <p:cNvSpPr/>
            <p:nvPr/>
          </p:nvSpPr>
          <p:spPr>
            <a:xfrm>
              <a:off x="3015067" y="4529471"/>
              <a:ext cx="3195955" cy="0"/>
            </a:xfrm>
            <a:custGeom>
              <a:avLst/>
              <a:gdLst/>
              <a:ahLst/>
              <a:cxnLst/>
              <a:rect l="l" t="t" r="r" b="b"/>
              <a:pathLst>
                <a:path w="3195954">
                  <a:moveTo>
                    <a:pt x="0" y="0"/>
                  </a:moveTo>
                  <a:lnTo>
                    <a:pt x="0" y="0"/>
                  </a:lnTo>
                  <a:lnTo>
                    <a:pt x="3195817" y="0"/>
                  </a:lnTo>
                </a:path>
              </a:pathLst>
            </a:custGeom>
            <a:ln w="192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33319" y="4478908"/>
              <a:ext cx="3359150" cy="101600"/>
            </a:xfrm>
            <a:custGeom>
              <a:avLst/>
              <a:gdLst/>
              <a:ahLst/>
              <a:cxnLst/>
              <a:rect l="l" t="t" r="r" b="b"/>
              <a:pathLst>
                <a:path w="3359150" h="101600">
                  <a:moveTo>
                    <a:pt x="119951" y="0"/>
                  </a:moveTo>
                  <a:lnTo>
                    <a:pt x="0" y="50571"/>
                  </a:lnTo>
                  <a:lnTo>
                    <a:pt x="119951" y="101422"/>
                  </a:lnTo>
                  <a:lnTo>
                    <a:pt x="98780" y="50571"/>
                  </a:lnTo>
                  <a:lnTo>
                    <a:pt x="119951" y="0"/>
                  </a:lnTo>
                  <a:close/>
                </a:path>
                <a:path w="3359150" h="101600">
                  <a:moveTo>
                    <a:pt x="3358972" y="50571"/>
                  </a:moveTo>
                  <a:lnTo>
                    <a:pt x="3238322" y="0"/>
                  </a:lnTo>
                  <a:lnTo>
                    <a:pt x="3260483" y="50571"/>
                  </a:lnTo>
                  <a:lnTo>
                    <a:pt x="3238322" y="101422"/>
                  </a:lnTo>
                  <a:lnTo>
                    <a:pt x="3358972" y="50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52442" y="2969936"/>
            <a:ext cx="883285" cy="1762760"/>
          </a:xfrm>
          <a:prstGeom prst="rect">
            <a:avLst/>
          </a:prstGeom>
          <a:solidFill>
            <a:srgbClr val="D0D0D0"/>
          </a:solidFill>
          <a:ln w="1921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050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</a:pPr>
            <a:r>
              <a:rPr sz="1050" b="1" spc="-10" dirty="0">
                <a:latin typeface="Times New Roman"/>
                <a:cs typeface="Times New Roman"/>
              </a:rPr>
              <a:t>Processor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97481" y="3294179"/>
            <a:ext cx="812165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dirty="0">
                <a:latin typeface="Times New Roman"/>
                <a:cs typeface="Times New Roman"/>
              </a:rPr>
              <a:t>Logical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address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04448" y="3166493"/>
            <a:ext cx="618490" cy="618490"/>
          </a:xfrm>
          <a:prstGeom prst="rect">
            <a:avLst/>
          </a:prstGeom>
          <a:solidFill>
            <a:srgbClr val="DCDCDC"/>
          </a:solidFill>
          <a:ln w="19218">
            <a:solidFill>
              <a:srgbClr val="000000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sz="1050">
              <a:latin typeface="Times New Roman"/>
              <a:cs typeface="Times New Roman"/>
            </a:endParaRPr>
          </a:p>
          <a:p>
            <a:pPr marL="133985">
              <a:lnSpc>
                <a:spcPct val="100000"/>
              </a:lnSpc>
            </a:pPr>
            <a:r>
              <a:rPr sz="1050" b="1" spc="-25" dirty="0">
                <a:latin typeface="Times New Roman"/>
                <a:cs typeface="Times New Roman"/>
              </a:rPr>
              <a:t>MMU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53756" y="3294179"/>
            <a:ext cx="857885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dirty="0">
                <a:latin typeface="Times New Roman"/>
                <a:cs typeface="Times New Roman"/>
              </a:rPr>
              <a:t>Physical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address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532089" y="3475485"/>
            <a:ext cx="102235" cy="397510"/>
            <a:chOff x="5532089" y="3475485"/>
            <a:chExt cx="102235" cy="397510"/>
          </a:xfrm>
        </p:grpSpPr>
        <p:sp>
          <p:nvSpPr>
            <p:cNvPr id="34" name="object 34"/>
            <p:cNvSpPr/>
            <p:nvPr/>
          </p:nvSpPr>
          <p:spPr>
            <a:xfrm>
              <a:off x="5582996" y="3475485"/>
              <a:ext cx="0" cy="315595"/>
            </a:xfrm>
            <a:custGeom>
              <a:avLst/>
              <a:gdLst/>
              <a:ahLst/>
              <a:cxnLst/>
              <a:rect l="l" t="t" r="r" b="b"/>
              <a:pathLst>
                <a:path h="315595">
                  <a:moveTo>
                    <a:pt x="0" y="315423"/>
                  </a:moveTo>
                  <a:lnTo>
                    <a:pt x="0" y="315423"/>
                  </a:lnTo>
                  <a:lnTo>
                    <a:pt x="0" y="0"/>
                  </a:lnTo>
                </a:path>
              </a:pathLst>
            </a:custGeom>
            <a:ln w="1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32089" y="3752789"/>
              <a:ext cx="102235" cy="120014"/>
            </a:xfrm>
            <a:custGeom>
              <a:avLst/>
              <a:gdLst/>
              <a:ahLst/>
              <a:cxnLst/>
              <a:rect l="l" t="t" r="r" b="b"/>
              <a:pathLst>
                <a:path w="102235" h="120014">
                  <a:moveTo>
                    <a:pt x="101650" y="0"/>
                  </a:moveTo>
                  <a:lnTo>
                    <a:pt x="50871" y="21366"/>
                  </a:lnTo>
                  <a:lnTo>
                    <a:pt x="0" y="0"/>
                  </a:lnTo>
                  <a:lnTo>
                    <a:pt x="50871" y="119944"/>
                  </a:lnTo>
                  <a:lnTo>
                    <a:pt x="1016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32089" y="4135148"/>
            <a:ext cx="101650" cy="394322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5273700" y="3872734"/>
            <a:ext cx="618490" cy="264795"/>
          </a:xfrm>
          <a:prstGeom prst="rect">
            <a:avLst/>
          </a:prstGeom>
          <a:solidFill>
            <a:srgbClr val="CBEBCC"/>
          </a:solidFill>
          <a:ln w="19217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350"/>
              </a:spcBef>
            </a:pPr>
            <a:r>
              <a:rPr sz="1050" b="1" spc="-20" dirty="0">
                <a:latin typeface="Times New Roman"/>
                <a:cs typeface="Times New Roman"/>
              </a:rPr>
              <a:t>Cache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39210" y="4357194"/>
            <a:ext cx="26670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spc="-20" dirty="0">
                <a:latin typeface="Times New Roman"/>
                <a:cs typeface="Times New Roman"/>
              </a:rPr>
              <a:t>Data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91630" y="2969936"/>
            <a:ext cx="883919" cy="1762760"/>
          </a:xfrm>
          <a:prstGeom prst="rect">
            <a:avLst/>
          </a:prstGeom>
          <a:solidFill>
            <a:srgbClr val="CBEBCC"/>
          </a:solidFill>
          <a:ln w="1921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1050">
              <a:latin typeface="Times New Roman"/>
              <a:cs typeface="Times New Roman"/>
            </a:endParaRPr>
          </a:p>
          <a:p>
            <a:pPr marL="210185" marR="179070" indent="86995">
              <a:lnSpc>
                <a:spcPct val="102899"/>
              </a:lnSpc>
            </a:pPr>
            <a:r>
              <a:rPr sz="1050" b="1" spc="-20" dirty="0">
                <a:latin typeface="Times New Roman"/>
                <a:cs typeface="Times New Roman"/>
              </a:rPr>
              <a:t>Main </a:t>
            </a:r>
            <a:r>
              <a:rPr sz="1050" b="1" spc="-10" dirty="0">
                <a:latin typeface="Times New Roman"/>
                <a:cs typeface="Times New Roman"/>
              </a:rPr>
              <a:t>memory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59197" y="5049293"/>
            <a:ext cx="110934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dirty="0">
                <a:latin typeface="Times New Roman"/>
                <a:cs typeface="Times New Roman"/>
              </a:rPr>
              <a:t>(b)</a:t>
            </a:r>
            <a:r>
              <a:rPr sz="1050" b="1" spc="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Physical</a:t>
            </a:r>
            <a:r>
              <a:rPr sz="1050" b="1" spc="4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Cache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85556" y="6065364"/>
            <a:ext cx="304736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02335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Figure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4.7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10" dirty="0">
                <a:latin typeface="Times New Roman"/>
                <a:cs typeface="Times New Roman"/>
              </a:rPr>
              <a:t>Logical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Physical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Caches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203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42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Logical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/>
              <a:t>and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/>
              <a:t>physical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/>
              <a:t>caches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2430" y="1337559"/>
            <a:ext cx="7575550" cy="471995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1300" marR="5080" indent="-228600" algn="just">
              <a:lnSpc>
                <a:spcPts val="2050"/>
              </a:lnSpc>
              <a:spcBef>
                <a:spcPts val="355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dirty="0">
                <a:latin typeface="Times New Roman"/>
                <a:cs typeface="Times New Roman"/>
              </a:rPr>
              <a:t>When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virtual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addresses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used,</a:t>
            </a:r>
            <a:r>
              <a:rPr sz="1900" spc="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system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designer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may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choose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10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place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cache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between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processor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MMU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or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between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MMU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 </a:t>
            </a:r>
            <a:r>
              <a:rPr sz="1900" dirty="0">
                <a:latin typeface="Times New Roman"/>
                <a:cs typeface="Times New Roman"/>
              </a:rPr>
              <a:t>main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memory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(Figure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4.7).</a:t>
            </a:r>
            <a:endParaRPr sz="1900">
              <a:latin typeface="Times New Roman"/>
              <a:cs typeface="Times New Roman"/>
            </a:endParaRPr>
          </a:p>
          <a:p>
            <a:pPr marL="240665" marR="5080" indent="-228600" algn="just">
              <a:lnSpc>
                <a:spcPts val="2050"/>
              </a:lnSpc>
              <a:spcBef>
                <a:spcPts val="2010"/>
              </a:spcBef>
              <a:buSzPct val="73684"/>
              <a:buFont typeface="Wingdings"/>
              <a:buChar char=""/>
              <a:tabLst>
                <a:tab pos="240665" algn="l"/>
                <a:tab pos="287020" algn="l"/>
              </a:tabLst>
            </a:pPr>
            <a:r>
              <a:rPr sz="1900" dirty="0">
                <a:solidFill>
                  <a:srgbClr val="653265"/>
                </a:solidFill>
                <a:latin typeface="Times New Roman"/>
                <a:cs typeface="Times New Roman"/>
              </a:rPr>
              <a:t>	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logical</a:t>
            </a:r>
            <a:r>
              <a:rPr sz="1900" b="1" spc="1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cache,</a:t>
            </a:r>
            <a:r>
              <a:rPr sz="1900" b="1" spc="1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also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known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virtual</a:t>
            </a:r>
            <a:r>
              <a:rPr sz="1900" b="1" spc="1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cache,</a:t>
            </a:r>
            <a:r>
              <a:rPr sz="1900" b="1" spc="1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stores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using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virtual </a:t>
            </a:r>
            <a:r>
              <a:rPr sz="1900" b="1" dirty="0">
                <a:latin typeface="Times New Roman"/>
                <a:cs typeface="Times New Roman"/>
              </a:rPr>
              <a:t>addresses.</a:t>
            </a:r>
            <a:r>
              <a:rPr sz="1900" b="1" spc="12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14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processor</a:t>
            </a:r>
            <a:r>
              <a:rPr sz="1900" spc="12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accesses</a:t>
            </a:r>
            <a:r>
              <a:rPr sz="1900" spc="12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14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cache</a:t>
            </a:r>
            <a:r>
              <a:rPr sz="1900" spc="114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directly,</a:t>
            </a:r>
            <a:r>
              <a:rPr sz="1900" spc="12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without</a:t>
            </a:r>
            <a:r>
              <a:rPr sz="1900" spc="120" dirty="0">
                <a:latin typeface="Times New Roman"/>
                <a:cs typeface="Times New Roman"/>
              </a:rPr>
              <a:t>  </a:t>
            </a:r>
            <a:r>
              <a:rPr sz="1900" spc="-10" dirty="0">
                <a:latin typeface="Times New Roman"/>
                <a:cs typeface="Times New Roman"/>
              </a:rPr>
              <a:t>going </a:t>
            </a:r>
            <a:r>
              <a:rPr sz="1900" dirty="0">
                <a:latin typeface="Times New Roman"/>
                <a:cs typeface="Times New Roman"/>
              </a:rPr>
              <a:t>through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MMU.</a:t>
            </a:r>
            <a:endParaRPr sz="19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45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physical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cache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stores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using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main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memory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physical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addresses.</a:t>
            </a:r>
            <a:endParaRPr sz="1900">
              <a:latin typeface="Times New Roman"/>
              <a:cs typeface="Times New Roman"/>
            </a:endParaRPr>
          </a:p>
          <a:p>
            <a:pPr marL="240029" marR="5715" indent="-227965" algn="just">
              <a:lnSpc>
                <a:spcPts val="2050"/>
              </a:lnSpc>
              <a:spcBef>
                <a:spcPts val="2035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dirty="0">
                <a:latin typeface="Times New Roman"/>
                <a:cs typeface="Times New Roman"/>
              </a:rPr>
              <a:t>One</a:t>
            </a:r>
            <a:r>
              <a:rPr sz="1900" spc="1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obvious</a:t>
            </a:r>
            <a:r>
              <a:rPr sz="1900" spc="1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advantage</a:t>
            </a:r>
            <a:r>
              <a:rPr sz="1900" spc="1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1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logical</a:t>
            </a:r>
            <a:r>
              <a:rPr sz="1900" spc="1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cache</a:t>
            </a:r>
            <a:r>
              <a:rPr sz="1900" spc="1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1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18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cache</a:t>
            </a:r>
            <a:r>
              <a:rPr sz="1900" b="1" spc="17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access</a:t>
            </a:r>
            <a:r>
              <a:rPr sz="1900" b="1" spc="17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speed</a:t>
            </a:r>
            <a:r>
              <a:rPr sz="1900" b="1" spc="18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is 	</a:t>
            </a:r>
            <a:r>
              <a:rPr sz="1900" dirty="0">
                <a:latin typeface="Times New Roman"/>
                <a:cs typeface="Times New Roman"/>
              </a:rPr>
              <a:t>faster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than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physical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cache,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because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cache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can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respond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before</a:t>
            </a:r>
            <a:r>
              <a:rPr sz="1900" spc="14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the 	</a:t>
            </a:r>
            <a:r>
              <a:rPr sz="1900" dirty="0">
                <a:latin typeface="Times New Roman"/>
                <a:cs typeface="Times New Roman"/>
              </a:rPr>
              <a:t>MMU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performs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address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translation.</a:t>
            </a:r>
            <a:endParaRPr sz="19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ts val="2050"/>
              </a:lnSpc>
              <a:spcBef>
                <a:spcPts val="2010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dirty="0">
                <a:latin typeface="Times New Roman"/>
                <a:cs typeface="Times New Roman"/>
              </a:rPr>
              <a:t>While</a:t>
            </a:r>
            <a:r>
              <a:rPr sz="1900" spc="4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40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disadvantage</a:t>
            </a:r>
            <a:r>
              <a:rPr sz="1900" spc="40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is,</a:t>
            </a:r>
            <a:r>
              <a:rPr sz="1900" spc="4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each</a:t>
            </a:r>
            <a:r>
              <a:rPr sz="1900" spc="4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application</a:t>
            </a:r>
            <a:r>
              <a:rPr sz="1900" spc="4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sees</a:t>
            </a:r>
            <a:r>
              <a:rPr sz="1900" spc="40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40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virtual</a:t>
            </a:r>
            <a:r>
              <a:rPr sz="1900" spc="4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memory</a:t>
            </a:r>
            <a:r>
              <a:rPr sz="1900" spc="434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that </a:t>
            </a:r>
            <a:r>
              <a:rPr sz="1900" dirty="0">
                <a:latin typeface="Times New Roman"/>
                <a:cs typeface="Times New Roman"/>
              </a:rPr>
              <a:t>starts</a:t>
            </a:r>
            <a:r>
              <a:rPr sz="1900" spc="10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114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address</a:t>
            </a:r>
            <a:r>
              <a:rPr sz="1900" spc="10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0.</a:t>
            </a:r>
            <a:r>
              <a:rPr sz="1900" spc="114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Thus,</a:t>
            </a:r>
            <a:r>
              <a:rPr sz="1900" spc="114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1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same</a:t>
            </a:r>
            <a:r>
              <a:rPr sz="1900" spc="11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virtual</a:t>
            </a:r>
            <a:r>
              <a:rPr sz="1900" spc="11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address</a:t>
            </a:r>
            <a:r>
              <a:rPr sz="1900" spc="11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11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two</a:t>
            </a:r>
            <a:r>
              <a:rPr sz="1900" spc="114" dirty="0">
                <a:latin typeface="Times New Roman"/>
                <a:cs typeface="Times New Roman"/>
              </a:rPr>
              <a:t>  </a:t>
            </a:r>
            <a:r>
              <a:rPr sz="1900" spc="-10" dirty="0">
                <a:latin typeface="Times New Roman"/>
                <a:cs typeface="Times New Roman"/>
              </a:rPr>
              <a:t>different </a:t>
            </a:r>
            <a:r>
              <a:rPr sz="1900" dirty="0">
                <a:latin typeface="Times New Roman"/>
                <a:cs typeface="Times New Roman"/>
              </a:rPr>
              <a:t>applications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refers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two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different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physical</a:t>
            </a:r>
            <a:r>
              <a:rPr sz="1900" spc="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addresses,</a:t>
            </a:r>
            <a:r>
              <a:rPr sz="1900" spc="1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cache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memory </a:t>
            </a:r>
            <a:r>
              <a:rPr sz="1900" dirty="0">
                <a:latin typeface="Times New Roman"/>
                <a:cs typeface="Times New Roman"/>
              </a:rPr>
              <a:t>must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therefore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completely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flushed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each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application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context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switch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95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Cache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20" dirty="0"/>
              <a:t>size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marR="5080" indent="-228600" algn="just">
              <a:lnSpc>
                <a:spcPts val="2160"/>
              </a:lnSpc>
              <a:spcBef>
                <a:spcPts val="37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b="1" dirty="0">
                <a:latin typeface="Rockwell"/>
                <a:cs typeface="Rockwell"/>
              </a:rPr>
              <a:t>Small</a:t>
            </a:r>
            <a:r>
              <a:rPr spc="4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enough</a:t>
            </a:r>
            <a:r>
              <a:rPr spc="470" dirty="0">
                <a:latin typeface="Times New Roman"/>
                <a:cs typeface="Times New Roman"/>
              </a:rPr>
              <a:t> </a:t>
            </a:r>
            <a:r>
              <a:rPr dirty="0"/>
              <a:t>so</a:t>
            </a:r>
            <a:r>
              <a:rPr spc="480" dirty="0">
                <a:latin typeface="Times New Roman"/>
                <a:cs typeface="Times New Roman"/>
              </a:rPr>
              <a:t> </a:t>
            </a:r>
            <a:r>
              <a:rPr dirty="0"/>
              <a:t>that</a:t>
            </a:r>
            <a:r>
              <a:rPr spc="47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480" dirty="0">
                <a:latin typeface="Times New Roman"/>
                <a:cs typeface="Times New Roman"/>
              </a:rPr>
              <a:t> </a:t>
            </a:r>
            <a:r>
              <a:rPr dirty="0"/>
              <a:t>overall</a:t>
            </a:r>
            <a:r>
              <a:rPr spc="480" dirty="0">
                <a:latin typeface="Times New Roman"/>
                <a:cs typeface="Times New Roman"/>
              </a:rPr>
              <a:t> </a:t>
            </a:r>
            <a:r>
              <a:rPr dirty="0"/>
              <a:t>average</a:t>
            </a:r>
            <a:r>
              <a:rPr spc="480" dirty="0">
                <a:latin typeface="Times New Roman"/>
                <a:cs typeface="Times New Roman"/>
              </a:rPr>
              <a:t> </a:t>
            </a:r>
            <a:r>
              <a:rPr dirty="0"/>
              <a:t>cost</a:t>
            </a:r>
            <a:r>
              <a:rPr spc="455" dirty="0">
                <a:latin typeface="Times New Roman"/>
                <a:cs typeface="Times New Roman"/>
              </a:rPr>
              <a:t> </a:t>
            </a:r>
            <a:r>
              <a:rPr dirty="0"/>
              <a:t>per</a:t>
            </a:r>
            <a:r>
              <a:rPr spc="480" dirty="0">
                <a:latin typeface="Times New Roman"/>
                <a:cs typeface="Times New Roman"/>
              </a:rPr>
              <a:t> </a:t>
            </a:r>
            <a:r>
              <a:rPr dirty="0"/>
              <a:t>bit</a:t>
            </a:r>
            <a:r>
              <a:rPr spc="475" dirty="0">
                <a:latin typeface="Times New Roman"/>
                <a:cs typeface="Times New Roman"/>
              </a:rPr>
              <a:t> </a:t>
            </a:r>
            <a:r>
              <a:rPr spc="-25" dirty="0"/>
              <a:t>is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close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/>
              <a:t>to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that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main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memory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/>
              <a:t>alone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25" dirty="0"/>
              <a:t>and</a:t>
            </a:r>
          </a:p>
          <a:p>
            <a:pPr marL="240665" marR="6350" indent="-228600" algn="just">
              <a:lnSpc>
                <a:spcPts val="216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b="1" dirty="0">
                <a:latin typeface="Rockwell"/>
                <a:cs typeface="Rockwell"/>
              </a:rPr>
              <a:t>Large</a:t>
            </a:r>
            <a:r>
              <a:rPr spc="4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enough</a:t>
            </a:r>
            <a:r>
              <a:rPr spc="470" dirty="0">
                <a:latin typeface="Times New Roman"/>
                <a:cs typeface="Times New Roman"/>
              </a:rPr>
              <a:t> </a:t>
            </a:r>
            <a:r>
              <a:rPr dirty="0"/>
              <a:t>so</a:t>
            </a:r>
            <a:r>
              <a:rPr spc="480" dirty="0">
                <a:latin typeface="Times New Roman"/>
                <a:cs typeface="Times New Roman"/>
              </a:rPr>
              <a:t> </a:t>
            </a:r>
            <a:r>
              <a:rPr dirty="0"/>
              <a:t>that</a:t>
            </a:r>
            <a:r>
              <a:rPr spc="484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484" dirty="0">
                <a:latin typeface="Times New Roman"/>
                <a:cs typeface="Times New Roman"/>
              </a:rPr>
              <a:t> </a:t>
            </a:r>
            <a:r>
              <a:rPr dirty="0"/>
              <a:t>overall</a:t>
            </a:r>
            <a:r>
              <a:rPr spc="470" dirty="0">
                <a:latin typeface="Times New Roman"/>
                <a:cs typeface="Times New Roman"/>
              </a:rPr>
              <a:t> </a:t>
            </a:r>
            <a:r>
              <a:rPr dirty="0"/>
              <a:t>average</a:t>
            </a:r>
            <a:r>
              <a:rPr spc="470" dirty="0">
                <a:latin typeface="Times New Roman"/>
                <a:cs typeface="Times New Roman"/>
              </a:rPr>
              <a:t> </a:t>
            </a:r>
            <a:r>
              <a:rPr dirty="0"/>
              <a:t>access</a:t>
            </a:r>
            <a:r>
              <a:rPr spc="475" dirty="0">
                <a:latin typeface="Times New Roman"/>
                <a:cs typeface="Times New Roman"/>
              </a:rPr>
              <a:t> </a:t>
            </a:r>
            <a:r>
              <a:rPr dirty="0"/>
              <a:t>time</a:t>
            </a:r>
            <a:r>
              <a:rPr spc="484" dirty="0">
                <a:latin typeface="Times New Roman"/>
                <a:cs typeface="Times New Roman"/>
              </a:rPr>
              <a:t> </a:t>
            </a:r>
            <a:r>
              <a:rPr spc="-25" dirty="0"/>
              <a:t>is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close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to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/>
              <a:t>that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cache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/>
              <a:t>alone</a:t>
            </a:r>
          </a:p>
          <a:p>
            <a:pPr marL="240665" marR="6350" indent="-228600" algn="just">
              <a:lnSpc>
                <a:spcPct val="90000"/>
              </a:lnSpc>
              <a:spcBef>
                <a:spcPts val="1964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b="1" dirty="0">
                <a:latin typeface="Rockwell"/>
                <a:cs typeface="Rockwell"/>
              </a:rPr>
              <a:t>The</a:t>
            </a:r>
            <a:r>
              <a:rPr spc="130" dirty="0">
                <a:latin typeface="Times New Roman"/>
                <a:cs typeface="Times New Roman"/>
              </a:rPr>
              <a:t>  </a:t>
            </a:r>
            <a:r>
              <a:rPr b="1" dirty="0">
                <a:latin typeface="Rockwell"/>
                <a:cs typeface="Rockwell"/>
              </a:rPr>
              <a:t>larger</a:t>
            </a:r>
            <a:r>
              <a:rPr spc="130" dirty="0">
                <a:latin typeface="Times New Roman"/>
                <a:cs typeface="Times New Roman"/>
              </a:rPr>
              <a:t>  </a:t>
            </a:r>
            <a:r>
              <a:rPr b="1" dirty="0">
                <a:latin typeface="Rockwell"/>
                <a:cs typeface="Rockwell"/>
              </a:rPr>
              <a:t>the</a:t>
            </a:r>
            <a:r>
              <a:rPr spc="130" dirty="0">
                <a:latin typeface="Times New Roman"/>
                <a:cs typeface="Times New Roman"/>
              </a:rPr>
              <a:t>  </a:t>
            </a:r>
            <a:r>
              <a:rPr b="1" dirty="0">
                <a:latin typeface="Rockwell"/>
                <a:cs typeface="Rockwell"/>
              </a:rPr>
              <a:t>cache</a:t>
            </a:r>
            <a:r>
              <a:rPr dirty="0"/>
              <a:t>,</a:t>
            </a:r>
            <a:r>
              <a:rPr spc="55" dirty="0">
                <a:latin typeface="Times New Roman"/>
                <a:cs typeface="Times New Roman"/>
              </a:rPr>
              <a:t>  </a:t>
            </a:r>
            <a:r>
              <a:rPr dirty="0"/>
              <a:t>the</a:t>
            </a:r>
            <a:r>
              <a:rPr spc="130" dirty="0">
                <a:latin typeface="Times New Roman"/>
                <a:cs typeface="Times New Roman"/>
              </a:rPr>
              <a:t>  </a:t>
            </a:r>
            <a:r>
              <a:rPr dirty="0"/>
              <a:t>larger</a:t>
            </a:r>
            <a:r>
              <a:rPr spc="130" dirty="0">
                <a:latin typeface="Times New Roman"/>
                <a:cs typeface="Times New Roman"/>
              </a:rPr>
              <a:t>  </a:t>
            </a:r>
            <a:r>
              <a:rPr dirty="0"/>
              <a:t>the</a:t>
            </a:r>
            <a:r>
              <a:rPr spc="135" dirty="0">
                <a:latin typeface="Times New Roman"/>
                <a:cs typeface="Times New Roman"/>
              </a:rPr>
              <a:t>  </a:t>
            </a:r>
            <a:r>
              <a:rPr dirty="0"/>
              <a:t>number</a:t>
            </a:r>
            <a:r>
              <a:rPr spc="135" dirty="0">
                <a:latin typeface="Times New Roman"/>
                <a:cs typeface="Times New Roman"/>
              </a:rPr>
              <a:t>  </a:t>
            </a:r>
            <a:r>
              <a:rPr dirty="0"/>
              <a:t>of</a:t>
            </a:r>
            <a:r>
              <a:rPr spc="135" dirty="0">
                <a:latin typeface="Times New Roman"/>
                <a:cs typeface="Times New Roman"/>
              </a:rPr>
              <a:t>  </a:t>
            </a:r>
            <a:r>
              <a:rPr spc="-10" dirty="0"/>
              <a:t>gates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involved</a:t>
            </a:r>
            <a:r>
              <a:rPr spc="470" dirty="0">
                <a:latin typeface="Times New Roman"/>
                <a:cs typeface="Times New Roman"/>
              </a:rPr>
              <a:t> </a:t>
            </a:r>
            <a:r>
              <a:rPr dirty="0"/>
              <a:t>in</a:t>
            </a:r>
            <a:r>
              <a:rPr spc="465" dirty="0">
                <a:latin typeface="Times New Roman"/>
                <a:cs typeface="Times New Roman"/>
              </a:rPr>
              <a:t> </a:t>
            </a:r>
            <a:r>
              <a:rPr dirty="0"/>
              <a:t>addressing</a:t>
            </a:r>
            <a:r>
              <a:rPr spc="46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480" dirty="0">
                <a:latin typeface="Times New Roman"/>
                <a:cs typeface="Times New Roman"/>
              </a:rPr>
              <a:t> </a:t>
            </a:r>
            <a:r>
              <a:rPr dirty="0"/>
              <a:t>cache.</a:t>
            </a:r>
            <a:r>
              <a:rPr spc="31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484" dirty="0">
                <a:latin typeface="Times New Roman"/>
                <a:cs typeface="Times New Roman"/>
              </a:rPr>
              <a:t> </a:t>
            </a:r>
            <a:r>
              <a:rPr dirty="0"/>
              <a:t>result</a:t>
            </a:r>
            <a:r>
              <a:rPr spc="465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440" dirty="0">
                <a:latin typeface="Times New Roman"/>
                <a:cs typeface="Times New Roman"/>
              </a:rPr>
              <a:t> </a:t>
            </a:r>
            <a:r>
              <a:rPr dirty="0"/>
              <a:t>that</a:t>
            </a:r>
            <a:r>
              <a:rPr spc="470" dirty="0">
                <a:latin typeface="Times New Roman"/>
                <a:cs typeface="Times New Roman"/>
              </a:rPr>
              <a:t> </a:t>
            </a:r>
            <a:r>
              <a:rPr spc="-10" dirty="0"/>
              <a:t>large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caches</a:t>
            </a:r>
            <a:r>
              <a:rPr spc="465" dirty="0">
                <a:latin typeface="Times New Roman"/>
                <a:cs typeface="Times New Roman"/>
              </a:rPr>
              <a:t> </a:t>
            </a:r>
            <a:r>
              <a:rPr dirty="0"/>
              <a:t>tend</a:t>
            </a:r>
            <a:r>
              <a:rPr spc="475" dirty="0">
                <a:latin typeface="Times New Roman"/>
                <a:cs typeface="Times New Roman"/>
              </a:rPr>
              <a:t> </a:t>
            </a:r>
            <a:r>
              <a:rPr dirty="0"/>
              <a:t>to</a:t>
            </a:r>
            <a:r>
              <a:rPr spc="465" dirty="0">
                <a:latin typeface="Times New Roman"/>
                <a:cs typeface="Times New Roman"/>
              </a:rPr>
              <a:t> </a:t>
            </a:r>
            <a:r>
              <a:rPr dirty="0"/>
              <a:t>be</a:t>
            </a:r>
            <a:r>
              <a:rPr spc="475" dirty="0">
                <a:latin typeface="Times New Roman"/>
                <a:cs typeface="Times New Roman"/>
              </a:rPr>
              <a:t> </a:t>
            </a:r>
            <a:r>
              <a:rPr dirty="0"/>
              <a:t>slightly</a:t>
            </a:r>
            <a:r>
              <a:rPr spc="475" dirty="0">
                <a:latin typeface="Times New Roman"/>
                <a:cs typeface="Times New Roman"/>
              </a:rPr>
              <a:t> </a:t>
            </a:r>
            <a:r>
              <a:rPr dirty="0"/>
              <a:t>slower</a:t>
            </a:r>
            <a:r>
              <a:rPr spc="465" dirty="0">
                <a:latin typeface="Times New Roman"/>
                <a:cs typeface="Times New Roman"/>
              </a:rPr>
              <a:t> </a:t>
            </a:r>
            <a:r>
              <a:rPr dirty="0"/>
              <a:t>than</a:t>
            </a:r>
            <a:r>
              <a:rPr spc="475" dirty="0">
                <a:latin typeface="Times New Roman"/>
                <a:cs typeface="Times New Roman"/>
              </a:rPr>
              <a:t> </a:t>
            </a:r>
            <a:r>
              <a:rPr dirty="0"/>
              <a:t>small</a:t>
            </a:r>
            <a:r>
              <a:rPr spc="480" dirty="0">
                <a:latin typeface="Times New Roman"/>
                <a:cs typeface="Times New Roman"/>
              </a:rPr>
              <a:t> </a:t>
            </a:r>
            <a:r>
              <a:rPr dirty="0"/>
              <a:t>ones</a:t>
            </a:r>
            <a:r>
              <a:rPr spc="475" dirty="0">
                <a:latin typeface="Times New Roman"/>
                <a:cs typeface="Times New Roman"/>
              </a:rPr>
              <a:t> </a:t>
            </a:r>
            <a:r>
              <a:rPr dirty="0"/>
              <a:t>–</a:t>
            </a:r>
            <a:r>
              <a:rPr spc="465" dirty="0"/>
              <a:t> </a:t>
            </a:r>
            <a:r>
              <a:rPr spc="-20" dirty="0"/>
              <a:t>even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when</a:t>
            </a:r>
            <a:r>
              <a:rPr spc="245" dirty="0">
                <a:latin typeface="Times New Roman"/>
                <a:cs typeface="Times New Roman"/>
              </a:rPr>
              <a:t> </a:t>
            </a:r>
            <a:r>
              <a:rPr dirty="0"/>
              <a:t>built</a:t>
            </a:r>
            <a:r>
              <a:rPr spc="229" dirty="0">
                <a:latin typeface="Times New Roman"/>
                <a:cs typeface="Times New Roman"/>
              </a:rPr>
              <a:t> </a:t>
            </a:r>
            <a:r>
              <a:rPr dirty="0"/>
              <a:t>with</a:t>
            </a:r>
            <a:r>
              <a:rPr spc="24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240" dirty="0">
                <a:latin typeface="Times New Roman"/>
                <a:cs typeface="Times New Roman"/>
              </a:rPr>
              <a:t> </a:t>
            </a:r>
            <a:r>
              <a:rPr dirty="0"/>
              <a:t>same</a:t>
            </a:r>
            <a:r>
              <a:rPr spc="229" dirty="0">
                <a:latin typeface="Times New Roman"/>
                <a:cs typeface="Times New Roman"/>
              </a:rPr>
              <a:t> </a:t>
            </a:r>
            <a:r>
              <a:rPr dirty="0"/>
              <a:t>integrated</a:t>
            </a:r>
            <a:r>
              <a:rPr spc="229" dirty="0">
                <a:latin typeface="Times New Roman"/>
                <a:cs typeface="Times New Roman"/>
              </a:rPr>
              <a:t> </a:t>
            </a:r>
            <a:r>
              <a:rPr dirty="0"/>
              <a:t>circuit</a:t>
            </a:r>
            <a:r>
              <a:rPr spc="235" dirty="0">
                <a:latin typeface="Times New Roman"/>
                <a:cs typeface="Times New Roman"/>
              </a:rPr>
              <a:t> </a:t>
            </a:r>
            <a:r>
              <a:rPr dirty="0"/>
              <a:t>technology</a:t>
            </a:r>
            <a:r>
              <a:rPr spc="250" dirty="0">
                <a:latin typeface="Times New Roman"/>
                <a:cs typeface="Times New Roman"/>
              </a:rPr>
              <a:t> </a:t>
            </a:r>
            <a:r>
              <a:rPr spc="-25" dirty="0"/>
              <a:t>and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put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in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same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place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on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chip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/>
              <a:t>circuit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10" dirty="0"/>
              <a:t>board</a:t>
            </a:r>
          </a:p>
          <a:p>
            <a:pPr marL="240665" indent="-227965">
              <a:lnSpc>
                <a:spcPct val="100000"/>
              </a:lnSpc>
              <a:spcBef>
                <a:spcPts val="176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dirty="0"/>
              <a:t>The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b="1" spc="-20" dirty="0">
                <a:latin typeface="Rockwell"/>
                <a:cs typeface="Rockwell"/>
              </a:rPr>
              <a:t>available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chip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and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board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area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also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limits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cache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20" dirty="0"/>
              <a:t>size</a:t>
            </a:r>
          </a:p>
          <a:p>
            <a:pPr marL="240665" marR="8890" indent="-228600" algn="just">
              <a:lnSpc>
                <a:spcPct val="90100"/>
              </a:lnSpc>
              <a:spcBef>
                <a:spcPts val="20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dirty="0"/>
              <a:t>Because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performance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of</a:t>
            </a:r>
            <a:r>
              <a:rPr spc="114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the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cache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110" dirty="0">
                <a:latin typeface="Times New Roman"/>
                <a:cs typeface="Times New Roman"/>
              </a:rPr>
              <a:t> </a:t>
            </a:r>
            <a:r>
              <a:rPr dirty="0"/>
              <a:t>very</a:t>
            </a:r>
            <a:r>
              <a:rPr spc="1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sensitive</a:t>
            </a:r>
            <a:r>
              <a:rPr spc="125" dirty="0">
                <a:latin typeface="Times New Roman"/>
                <a:cs typeface="Times New Roman"/>
              </a:rPr>
              <a:t> </a:t>
            </a:r>
            <a:r>
              <a:rPr spc="-25" dirty="0"/>
              <a:t>to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325" dirty="0">
                <a:latin typeface="Times New Roman"/>
                <a:cs typeface="Times New Roman"/>
              </a:rPr>
              <a:t> </a:t>
            </a:r>
            <a:r>
              <a:rPr dirty="0"/>
              <a:t>nature</a:t>
            </a:r>
            <a:r>
              <a:rPr spc="340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32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3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workload</a:t>
            </a:r>
            <a:r>
              <a:rPr dirty="0"/>
              <a:t>,</a:t>
            </a:r>
            <a:r>
              <a:rPr spc="180" dirty="0">
                <a:latin typeface="Times New Roman"/>
                <a:cs typeface="Times New Roman"/>
              </a:rPr>
              <a:t> </a:t>
            </a:r>
            <a:r>
              <a:rPr dirty="0"/>
              <a:t>it</a:t>
            </a:r>
            <a:r>
              <a:rPr spc="325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3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Rockwell"/>
                <a:cs typeface="Rockwell"/>
              </a:rPr>
              <a:t>impossible</a:t>
            </a:r>
            <a:r>
              <a:rPr spc="330" dirty="0">
                <a:latin typeface="Times New Roman"/>
                <a:cs typeface="Times New Roman"/>
              </a:rPr>
              <a:t> </a:t>
            </a:r>
            <a:r>
              <a:rPr dirty="0"/>
              <a:t>to</a:t>
            </a:r>
            <a:r>
              <a:rPr spc="335" dirty="0">
                <a:latin typeface="Times New Roman"/>
                <a:cs typeface="Times New Roman"/>
              </a:rPr>
              <a:t> </a:t>
            </a:r>
            <a:r>
              <a:rPr dirty="0"/>
              <a:t>arrive</a:t>
            </a:r>
            <a:r>
              <a:rPr spc="340" dirty="0">
                <a:latin typeface="Times New Roman"/>
                <a:cs typeface="Times New Roman"/>
              </a:rPr>
              <a:t> </a:t>
            </a:r>
            <a:r>
              <a:rPr dirty="0"/>
              <a:t>at</a:t>
            </a:r>
            <a:r>
              <a:rPr spc="325" dirty="0">
                <a:latin typeface="Times New Roman"/>
                <a:cs typeface="Times New Roman"/>
              </a:rPr>
              <a:t> </a:t>
            </a:r>
            <a:r>
              <a:rPr spc="-50" dirty="0"/>
              <a:t>a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10" dirty="0"/>
              <a:t>single</a:t>
            </a:r>
            <a:r>
              <a:rPr spc="-150" dirty="0">
                <a:latin typeface="Times New Roman"/>
                <a:cs typeface="Times New Roman"/>
              </a:rPr>
              <a:t> </a:t>
            </a:r>
            <a:r>
              <a:rPr spc="-10" dirty="0"/>
              <a:t>‘</a:t>
            </a:r>
            <a:r>
              <a:rPr b="1" spc="-10" dirty="0">
                <a:latin typeface="Rockwell"/>
                <a:cs typeface="Rockwell"/>
              </a:rPr>
              <a:t>optimum’</a:t>
            </a:r>
            <a:r>
              <a:rPr b="1" spc="-120" dirty="0">
                <a:latin typeface="Rockwell"/>
                <a:cs typeface="Rockwell"/>
              </a:rPr>
              <a:t> </a:t>
            </a:r>
            <a:r>
              <a:rPr dirty="0"/>
              <a:t>cache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20" dirty="0"/>
              <a:t>size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5" y="88392"/>
            <a:ext cx="4418076" cy="101193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30200" y="206496"/>
            <a:ext cx="3843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Mapping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10" dirty="0"/>
              <a:t>Function</a:t>
            </a:r>
          </a:p>
        </p:txBody>
      </p:sp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0471" y="974288"/>
            <a:ext cx="7234555" cy="53828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198120" indent="-228600">
              <a:lnSpc>
                <a:spcPts val="2160"/>
              </a:lnSpc>
              <a:spcBef>
                <a:spcPts val="37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Because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there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fewer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than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blocks,</a:t>
            </a:r>
            <a:r>
              <a:rPr sz="2000" spc="-1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algorithm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needed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mapping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blocks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into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73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Three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techniques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used:</a:t>
            </a:r>
            <a:endParaRPr sz="2000">
              <a:latin typeface="Rockwell"/>
              <a:cs typeface="Rockwell"/>
            </a:endParaRPr>
          </a:p>
          <a:p>
            <a:pPr marL="469265" indent="-456565">
              <a:lnSpc>
                <a:spcPct val="100000"/>
              </a:lnSpc>
              <a:spcBef>
                <a:spcPts val="1689"/>
              </a:spcBef>
              <a:buClr>
                <a:srgbClr val="653265"/>
              </a:buClr>
              <a:buSzPct val="75000"/>
              <a:buAutoNum type="arabicPeriod"/>
              <a:tabLst>
                <a:tab pos="469265" algn="l"/>
              </a:tabLst>
            </a:pPr>
            <a:r>
              <a:rPr sz="2400" b="1" dirty="0">
                <a:solidFill>
                  <a:srgbClr val="595959"/>
                </a:solidFill>
                <a:latin typeface="Times New Roman"/>
                <a:cs typeface="Times New Roman"/>
              </a:rPr>
              <a:t>Direct</a:t>
            </a:r>
            <a:r>
              <a:rPr sz="2400" b="1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595959"/>
                </a:solidFill>
                <a:latin typeface="Times New Roman"/>
                <a:cs typeface="Times New Roman"/>
              </a:rPr>
              <a:t>mapping</a:t>
            </a:r>
            <a:r>
              <a:rPr sz="2400" b="1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595959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240029" marR="5080" lvl="1" indent="-227965">
              <a:lnSpc>
                <a:spcPts val="2160"/>
              </a:lnSpc>
              <a:spcBef>
                <a:spcPts val="205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direct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mapping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block 	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 memory into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possible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line.</a:t>
            </a:r>
            <a:endParaRPr sz="20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173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mapping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  <a:p>
            <a:pPr marR="112395" algn="ctr">
              <a:lnSpc>
                <a:spcPct val="100000"/>
              </a:lnSpc>
              <a:spcBef>
                <a:spcPts val="1635"/>
              </a:spcBef>
            </a:pPr>
            <a:r>
              <a:rPr sz="2800" dirty="0">
                <a:solidFill>
                  <a:srgbClr val="595959"/>
                </a:solidFill>
                <a:latin typeface="Rockwell"/>
                <a:cs typeface="Rockwell"/>
              </a:rPr>
              <a:t>i=</a:t>
            </a:r>
            <a:r>
              <a:rPr sz="2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595959"/>
                </a:solidFill>
                <a:latin typeface="Rockwell"/>
                <a:cs typeface="Rockwell"/>
              </a:rPr>
              <a:t>j</a:t>
            </a:r>
            <a:r>
              <a:rPr sz="2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595959"/>
                </a:solidFill>
                <a:latin typeface="Rockwell"/>
                <a:cs typeface="Rockwell"/>
              </a:rPr>
              <a:t>Mod</a:t>
            </a:r>
            <a:r>
              <a:rPr sz="2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595959"/>
                </a:solidFill>
                <a:latin typeface="Rockwell"/>
                <a:cs typeface="Rockwell"/>
              </a:rPr>
              <a:t>m</a:t>
            </a:r>
            <a:endParaRPr sz="2800">
              <a:latin typeface="Rockwell"/>
              <a:cs typeface="Rockwell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  <a:tabLst>
                <a:tab pos="984885" algn="l"/>
              </a:tabLst>
            </a:pP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Where</a:t>
            </a:r>
            <a:r>
              <a:rPr sz="16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solidFill>
                  <a:srgbClr val="595959"/>
                </a:solidFill>
                <a:latin typeface="Rockwell"/>
                <a:cs typeface="Rockwell"/>
              </a:rPr>
              <a:t>:</a:t>
            </a:r>
            <a:r>
              <a:rPr sz="16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</a:t>
            </a:r>
            <a:r>
              <a:rPr sz="16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6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16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endParaRPr sz="1600">
              <a:latin typeface="Rockwell"/>
              <a:cs typeface="Rockwell"/>
            </a:endParaRPr>
          </a:p>
          <a:p>
            <a:pPr marL="977265" marR="3209925" indent="-50800">
              <a:lnSpc>
                <a:spcPct val="193800"/>
              </a:lnSpc>
              <a:spcBef>
                <a:spcPts val="15"/>
              </a:spcBef>
            </a:pP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j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6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16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m</a:t>
            </a:r>
            <a:r>
              <a:rPr sz="16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16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16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6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6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endParaRPr sz="1600">
              <a:latin typeface="Rockwell"/>
              <a:cs typeface="Rockwel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8957" rIns="0" bIns="0" rtlCol="0">
            <a:spAutoFit/>
          </a:bodyPr>
          <a:lstStyle/>
          <a:p>
            <a:pPr marL="26416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35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488" y="260604"/>
            <a:ext cx="6937004" cy="388848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7749" y="4175504"/>
            <a:ext cx="8669020" cy="182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3665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Figure 4.8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Mapping</a:t>
            </a:r>
            <a:r>
              <a:rPr sz="1800" i="1" spc="-3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from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Main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Memory</a:t>
            </a:r>
            <a:r>
              <a:rPr sz="1800" i="1" spc="-3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to</a:t>
            </a:r>
            <a:r>
              <a:rPr sz="1800" i="1" spc="-3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Cache: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Direct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800">
              <a:latin typeface="Times New Roman"/>
              <a:cs typeface="Times New Roman"/>
            </a:endParaRPr>
          </a:p>
          <a:p>
            <a:pPr marL="50800" marR="431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Figure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4.8a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mapping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</a:t>
            </a:r>
            <a:r>
              <a:rPr sz="2000" i="1" spc="1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blocks</a:t>
            </a:r>
            <a:r>
              <a:rPr sz="2000" i="1" spc="10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10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main</a:t>
            </a:r>
            <a:r>
              <a:rPr sz="2000" i="1" spc="1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memory.</a:t>
            </a:r>
            <a:r>
              <a:rPr sz="2000" i="1" spc="10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Each</a:t>
            </a:r>
            <a:r>
              <a:rPr sz="2000" i="1" spc="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block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maps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unique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cache.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next</a:t>
            </a:r>
            <a:r>
              <a:rPr sz="2000" b="1" spc="2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</a:t>
            </a:r>
            <a:r>
              <a:rPr sz="2000" b="1" i="1" spc="28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blocks</a:t>
            </a:r>
            <a:r>
              <a:rPr sz="2000" b="1" i="1" spc="2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fashion;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is,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1950" i="1" baseline="-21367" dirty="0">
                <a:latin typeface="Times New Roman"/>
                <a:cs typeface="Times New Roman"/>
              </a:rPr>
              <a:t>m</a:t>
            </a:r>
            <a:r>
              <a:rPr sz="1950" i="1" spc="652" baseline="-21367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260" dirty="0">
                <a:latin typeface="Times New Roman"/>
                <a:cs typeface="Times New Roman"/>
              </a:rPr>
              <a:t> </a:t>
            </a:r>
            <a:r>
              <a:rPr sz="2000" i="1" spc="-20" dirty="0">
                <a:latin typeface="Times New Roman"/>
                <a:cs typeface="Times New Roman"/>
              </a:rPr>
              <a:t>main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1950" i="1" baseline="-21367" dirty="0">
                <a:latin typeface="Times New Roman"/>
                <a:cs typeface="Times New Roman"/>
              </a:rPr>
              <a:t>0</a:t>
            </a:r>
            <a:r>
              <a:rPr sz="1950" i="1" spc="262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cache,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1950" i="1" baseline="-21367" dirty="0">
                <a:latin typeface="Times New Roman"/>
                <a:cs typeface="Times New Roman"/>
              </a:rPr>
              <a:t>Bm+1</a:t>
            </a:r>
            <a:r>
              <a:rPr sz="1950" i="1" spc="262" baseline="-21367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maps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into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line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L</a:t>
            </a:r>
            <a:r>
              <a:rPr sz="1950" i="1" baseline="-21367" dirty="0">
                <a:latin typeface="Times New Roman"/>
                <a:cs typeface="Times New Roman"/>
              </a:rPr>
              <a:t>1</a:t>
            </a:r>
            <a:r>
              <a:rPr sz="2000" i="1" dirty="0">
                <a:latin typeface="Times New Roman"/>
                <a:cs typeface="Times New Roman"/>
              </a:rPr>
              <a:t>,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and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so </a:t>
            </a:r>
            <a:r>
              <a:rPr sz="2000" i="1" spc="-25" dirty="0">
                <a:latin typeface="Times New Roman"/>
                <a:cs typeface="Times New Roman"/>
              </a:rPr>
              <a:t>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203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9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-10" dirty="0"/>
              <a:t>Example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98" y="2005694"/>
            <a:ext cx="736409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If</a:t>
            </a:r>
            <a:r>
              <a:rPr sz="2000" spc="4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64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Kbytes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size=4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=16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Mbyte?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Find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total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blocks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total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within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memory.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24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Direct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0" dirty="0"/>
              <a:t>Mapping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98" y="1436866"/>
            <a:ext cx="6819265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maps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only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one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two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parts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989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0665" algn="l"/>
              </a:tabLst>
            </a:pPr>
            <a:r>
              <a:rPr sz="2000" b="1" spc="-75" dirty="0">
                <a:solidFill>
                  <a:srgbClr val="595959"/>
                </a:solidFill>
                <a:latin typeface="Rockwell"/>
                <a:cs typeface="Rockwell"/>
              </a:rPr>
              <a:t>W:</a:t>
            </a:r>
            <a:r>
              <a:rPr sz="2000" spc="-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least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significant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identify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unique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10"/>
              </a:spcBef>
              <a:buClr>
                <a:srgbClr val="653265"/>
              </a:buClr>
              <a:buSzPct val="75000"/>
              <a:buFont typeface="Wingdings"/>
              <a:buChar char=""/>
              <a:tabLst>
                <a:tab pos="240665" algn="l"/>
              </a:tabLst>
            </a:pPr>
            <a:r>
              <a:rPr sz="2000" b="1" spc="-10" dirty="0">
                <a:solidFill>
                  <a:srgbClr val="595959"/>
                </a:solidFill>
                <a:latin typeface="Rockwell"/>
                <a:cs typeface="Rockwell"/>
              </a:rPr>
              <a:t>S:</a:t>
            </a:r>
            <a:r>
              <a:rPr sz="2000" spc="-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Most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significant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identify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one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endParaRPr sz="2000">
              <a:latin typeface="Rockwell"/>
              <a:cs typeface="Rockwell"/>
            </a:endParaRPr>
          </a:p>
          <a:p>
            <a:pPr marL="240029" marR="4373245" indent="-227965">
              <a:lnSpc>
                <a:spcPct val="183300"/>
              </a:lnSpc>
              <a:buClr>
                <a:srgbClr val="653265"/>
              </a:buClr>
              <a:buSzPct val="75000"/>
              <a:buFont typeface="Wingdings"/>
              <a:buChar char=""/>
              <a:tabLst>
                <a:tab pos="647700" algn="l"/>
              </a:tabLst>
            </a:pPr>
            <a:r>
              <a:rPr sz="2000" b="1" spc="-10" dirty="0">
                <a:solidFill>
                  <a:srgbClr val="595959"/>
                </a:solidFill>
                <a:latin typeface="Rockwell"/>
                <a:cs typeface="Rockwell"/>
              </a:rPr>
              <a:t>S-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split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into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	</a:t>
            </a:r>
            <a:r>
              <a:rPr sz="2000" b="1" spc="-20" dirty="0">
                <a:solidFill>
                  <a:srgbClr val="595959"/>
                </a:solidFill>
                <a:latin typeface="Rockwell"/>
                <a:cs typeface="Rockwell"/>
              </a:rPr>
              <a:t>s-</a:t>
            </a:r>
            <a:r>
              <a:rPr sz="2000" b="1" spc="-10" dirty="0">
                <a:solidFill>
                  <a:srgbClr val="595959"/>
                </a:solidFill>
                <a:latin typeface="Rockwell"/>
                <a:cs typeface="Rockwell"/>
              </a:rPr>
              <a:t>r:</a:t>
            </a:r>
            <a:r>
              <a:rPr sz="2000" spc="-2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Tag</a:t>
            </a:r>
            <a:r>
              <a:rPr sz="20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	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r:cache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324" y="382524"/>
            <a:ext cx="5987795" cy="101193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209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Direct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/>
              <a:t>Mapping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10" dirty="0"/>
              <a:t>Summary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5640" y="1929202"/>
            <a:ext cx="6318885" cy="312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9565" indent="-228600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length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(s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+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w)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addressable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units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950" baseline="25641" dirty="0">
                <a:solidFill>
                  <a:srgbClr val="595959"/>
                </a:solidFill>
                <a:latin typeface="Rockwell"/>
                <a:cs typeface="Rockwell"/>
              </a:rPr>
              <a:t>s+w</a:t>
            </a:r>
            <a:r>
              <a:rPr sz="1950" spc="-22" baseline="256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19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950" baseline="25641" dirty="0">
                <a:solidFill>
                  <a:srgbClr val="595959"/>
                </a:solidFill>
                <a:latin typeface="Rockwell"/>
                <a:cs typeface="Rockwell"/>
              </a:rPr>
              <a:t>w</a:t>
            </a:r>
            <a:r>
              <a:rPr sz="1950" spc="217" baseline="256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20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950" baseline="25641" dirty="0">
                <a:solidFill>
                  <a:srgbClr val="595959"/>
                </a:solidFill>
                <a:latin typeface="Rockwell"/>
                <a:cs typeface="Rockwell"/>
              </a:rPr>
              <a:t>s+</a:t>
            </a:r>
            <a:r>
              <a:rPr sz="1950" spc="7" baseline="256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50" baseline="25641" dirty="0">
                <a:solidFill>
                  <a:srgbClr val="595959"/>
                </a:solidFill>
                <a:latin typeface="Rockwell"/>
                <a:cs typeface="Rockwell"/>
              </a:rPr>
              <a:t>w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/2</a:t>
            </a:r>
            <a:r>
              <a:rPr sz="1950" baseline="25641" dirty="0">
                <a:solidFill>
                  <a:srgbClr val="595959"/>
                </a:solidFill>
                <a:latin typeface="Rockwell"/>
                <a:cs typeface="Rockwell"/>
              </a:rPr>
              <a:t>w</a:t>
            </a:r>
            <a:r>
              <a:rPr sz="1950" spc="225" baseline="256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950" spc="-37" baseline="25641" dirty="0">
                <a:solidFill>
                  <a:srgbClr val="595959"/>
                </a:solidFill>
                <a:latin typeface="Rockwell"/>
                <a:cs typeface="Rockwell"/>
              </a:rPr>
              <a:t>s</a:t>
            </a:r>
            <a:endParaRPr sz="1950" baseline="25641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950" spc="-37" baseline="25641" dirty="0">
                <a:solidFill>
                  <a:srgbClr val="595959"/>
                </a:solidFill>
                <a:latin typeface="Rockwell"/>
                <a:cs typeface="Rockwell"/>
              </a:rPr>
              <a:t>r</a:t>
            </a:r>
            <a:endParaRPr sz="1950" baseline="25641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19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tag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(s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–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r)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endParaRPr sz="2000">
              <a:latin typeface="Rockwell"/>
              <a:cs typeface="Rockwel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7562" y="5206785"/>
            <a:ext cx="1004456" cy="9470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56709" y="1293024"/>
            <a:ext cx="118491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80" algn="ctr">
              <a:lnSpc>
                <a:spcPct val="100000"/>
              </a:lnSpc>
              <a:spcBef>
                <a:spcPts val="95"/>
              </a:spcBef>
            </a:pPr>
            <a:r>
              <a:rPr sz="1150" spc="-20" dirty="0">
                <a:latin typeface="Times New Roman"/>
                <a:cs typeface="Times New Roman"/>
              </a:rPr>
              <a:t>Line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63079" y="1099431"/>
            <a:ext cx="103441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latin typeface="Times New Roman"/>
                <a:cs typeface="Times New Roman"/>
              </a:rPr>
              <a:t>Memory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Address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498648" y="764455"/>
            <a:ext cx="798195" cy="53530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690"/>
              </a:spcBef>
            </a:pPr>
            <a:r>
              <a:rPr sz="1300" b="1" spc="-10" dirty="0">
                <a:latin typeface="Times New Roman"/>
                <a:cs typeface="Times New Roman"/>
              </a:rPr>
              <a:t>Cache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510540" algn="l"/>
              </a:tabLst>
            </a:pPr>
            <a:r>
              <a:rPr sz="1150" spc="-25" dirty="0">
                <a:latin typeface="Times New Roman"/>
                <a:cs typeface="Times New Roman"/>
              </a:rPr>
              <a:t>Tag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spc="-20" dirty="0">
                <a:latin typeface="Times New Roman"/>
                <a:cs typeface="Times New Roman"/>
              </a:rPr>
              <a:t>Data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06441" y="1148562"/>
            <a:ext cx="687705" cy="172085"/>
          </a:xfrm>
          <a:prstGeom prst="rect">
            <a:avLst/>
          </a:prstGeom>
          <a:solidFill>
            <a:srgbClr val="CBEBCC"/>
          </a:solidFill>
          <a:ln w="2375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0029">
              <a:lnSpc>
                <a:spcPts val="1250"/>
              </a:lnSpc>
            </a:pPr>
            <a:r>
              <a:rPr sz="1150" spc="-25" dirty="0">
                <a:latin typeface="Times New Roman"/>
                <a:cs typeface="Times New Roman"/>
              </a:rPr>
              <a:t>WO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559929" y="1307873"/>
            <a:ext cx="49720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latin typeface="Palatino Linotype"/>
                <a:cs typeface="Palatino Linotype"/>
              </a:rPr>
              <a:t>Word</a:t>
            </a:r>
            <a:endParaRPr sz="95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47537" y="1320202"/>
            <a:ext cx="1718945" cy="172085"/>
          </a:xfrm>
          <a:custGeom>
            <a:avLst/>
            <a:gdLst/>
            <a:ahLst/>
            <a:cxnLst/>
            <a:rect l="l" t="t" r="r" b="b"/>
            <a:pathLst>
              <a:path w="1718945" h="172084">
                <a:moveTo>
                  <a:pt x="0" y="0"/>
                </a:moveTo>
                <a:lnTo>
                  <a:pt x="1718530" y="0"/>
                </a:lnTo>
                <a:lnTo>
                  <a:pt x="1718530" y="172036"/>
                </a:lnTo>
                <a:lnTo>
                  <a:pt x="0" y="172036"/>
                </a:lnTo>
                <a:lnTo>
                  <a:pt x="0" y="0"/>
                </a:lnTo>
                <a:close/>
              </a:path>
              <a:path w="1718945" h="172084">
                <a:moveTo>
                  <a:pt x="1203220" y="0"/>
                </a:moveTo>
                <a:lnTo>
                  <a:pt x="1203220" y="0"/>
                </a:lnTo>
                <a:lnTo>
                  <a:pt x="1203220" y="172036"/>
                </a:lnTo>
              </a:path>
            </a:pathLst>
          </a:custGeom>
          <a:ln w="18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3828" y="1320202"/>
            <a:ext cx="344170" cy="172085"/>
          </a:xfrm>
          <a:prstGeom prst="rect">
            <a:avLst/>
          </a:prstGeom>
          <a:solidFill>
            <a:srgbClr val="DCDCDC"/>
          </a:solidFill>
          <a:ln w="1834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215">
              <a:lnSpc>
                <a:spcPts val="1260"/>
              </a:lnSpc>
            </a:pPr>
            <a:r>
              <a:rPr sz="1150" spc="-25" dirty="0">
                <a:latin typeface="Times New Roman"/>
                <a:cs typeface="Times New Roman"/>
              </a:rPr>
              <a:t>Tag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29263" y="1308137"/>
            <a:ext cx="1056005" cy="3634104"/>
            <a:chOff x="4429263" y="1308137"/>
            <a:chExt cx="1056005" cy="3634104"/>
          </a:xfrm>
        </p:grpSpPr>
        <p:sp>
          <p:nvSpPr>
            <p:cNvPr id="11" name="object 11"/>
            <p:cNvSpPr/>
            <p:nvPr/>
          </p:nvSpPr>
          <p:spPr>
            <a:xfrm>
              <a:off x="4441332" y="1320210"/>
              <a:ext cx="344170" cy="172085"/>
            </a:xfrm>
            <a:custGeom>
              <a:avLst/>
              <a:gdLst/>
              <a:ahLst/>
              <a:cxnLst/>
              <a:rect l="l" t="t" r="r" b="b"/>
              <a:pathLst>
                <a:path w="344170" h="172084">
                  <a:moveTo>
                    <a:pt x="343661" y="0"/>
                  </a:moveTo>
                  <a:lnTo>
                    <a:pt x="0" y="0"/>
                  </a:lnTo>
                  <a:lnTo>
                    <a:pt x="0" y="172029"/>
                  </a:lnTo>
                  <a:lnTo>
                    <a:pt x="343661" y="172029"/>
                  </a:lnTo>
                  <a:lnTo>
                    <a:pt x="343661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41328" y="1320202"/>
              <a:ext cx="344170" cy="172085"/>
            </a:xfrm>
            <a:custGeom>
              <a:avLst/>
              <a:gdLst/>
              <a:ahLst/>
              <a:cxnLst/>
              <a:rect l="l" t="t" r="r" b="b"/>
              <a:pathLst>
                <a:path w="344170" h="172084">
                  <a:moveTo>
                    <a:pt x="0" y="0"/>
                  </a:moveTo>
                  <a:lnTo>
                    <a:pt x="343678" y="0"/>
                  </a:lnTo>
                  <a:lnTo>
                    <a:pt x="343678" y="172036"/>
                  </a:lnTo>
                  <a:lnTo>
                    <a:pt x="0" y="172036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84994" y="1320210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4">
                  <a:moveTo>
                    <a:pt x="687445" y="0"/>
                  </a:moveTo>
                  <a:lnTo>
                    <a:pt x="0" y="0"/>
                  </a:lnTo>
                  <a:lnTo>
                    <a:pt x="0" y="172029"/>
                  </a:lnTo>
                  <a:lnTo>
                    <a:pt x="687445" y="172029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85006" y="1320202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4">
                  <a:moveTo>
                    <a:pt x="0" y="0"/>
                  </a:moveTo>
                  <a:lnTo>
                    <a:pt x="687447" y="0"/>
                  </a:lnTo>
                  <a:lnTo>
                    <a:pt x="687447" y="172036"/>
                  </a:lnTo>
                  <a:lnTo>
                    <a:pt x="0" y="172036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84994" y="1492239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687445" y="0"/>
                  </a:moveTo>
                  <a:lnTo>
                    <a:pt x="0" y="0"/>
                  </a:lnTo>
                  <a:lnTo>
                    <a:pt x="0" y="172029"/>
                  </a:lnTo>
                  <a:lnTo>
                    <a:pt x="687445" y="172029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5006" y="1492238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0" y="0"/>
                  </a:moveTo>
                  <a:lnTo>
                    <a:pt x="687447" y="0"/>
                  </a:lnTo>
                  <a:lnTo>
                    <a:pt x="687447" y="172036"/>
                  </a:lnTo>
                  <a:lnTo>
                    <a:pt x="0" y="172036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84994" y="1664269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687445" y="0"/>
                  </a:moveTo>
                  <a:lnTo>
                    <a:pt x="0" y="0"/>
                  </a:lnTo>
                  <a:lnTo>
                    <a:pt x="0" y="172029"/>
                  </a:lnTo>
                  <a:lnTo>
                    <a:pt x="687445" y="172029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85006" y="1664274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0" y="0"/>
                  </a:moveTo>
                  <a:lnTo>
                    <a:pt x="687447" y="0"/>
                  </a:lnTo>
                  <a:lnTo>
                    <a:pt x="687447" y="172036"/>
                  </a:lnTo>
                  <a:lnTo>
                    <a:pt x="0" y="172036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84994" y="1836298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687445" y="0"/>
                  </a:moveTo>
                  <a:lnTo>
                    <a:pt x="0" y="0"/>
                  </a:lnTo>
                  <a:lnTo>
                    <a:pt x="0" y="171663"/>
                  </a:lnTo>
                  <a:lnTo>
                    <a:pt x="687445" y="171663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85006" y="1836310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0" y="0"/>
                  </a:moveTo>
                  <a:lnTo>
                    <a:pt x="687447" y="0"/>
                  </a:lnTo>
                  <a:lnTo>
                    <a:pt x="687447" y="171639"/>
                  </a:lnTo>
                  <a:lnTo>
                    <a:pt x="0" y="171639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41332" y="3038917"/>
              <a:ext cx="344170" cy="172085"/>
            </a:xfrm>
            <a:custGeom>
              <a:avLst/>
              <a:gdLst/>
              <a:ahLst/>
              <a:cxnLst/>
              <a:rect l="l" t="t" r="r" b="b"/>
              <a:pathLst>
                <a:path w="344170" h="172085">
                  <a:moveTo>
                    <a:pt x="343661" y="0"/>
                  </a:moveTo>
                  <a:lnTo>
                    <a:pt x="0" y="0"/>
                  </a:lnTo>
                  <a:lnTo>
                    <a:pt x="0" y="172029"/>
                  </a:lnTo>
                  <a:lnTo>
                    <a:pt x="343661" y="172029"/>
                  </a:lnTo>
                  <a:lnTo>
                    <a:pt x="343661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41328" y="3038916"/>
              <a:ext cx="344170" cy="172085"/>
            </a:xfrm>
            <a:custGeom>
              <a:avLst/>
              <a:gdLst/>
              <a:ahLst/>
              <a:cxnLst/>
              <a:rect l="l" t="t" r="r" b="b"/>
              <a:pathLst>
                <a:path w="344170" h="172085">
                  <a:moveTo>
                    <a:pt x="0" y="0"/>
                  </a:moveTo>
                  <a:lnTo>
                    <a:pt x="343678" y="0"/>
                  </a:lnTo>
                  <a:lnTo>
                    <a:pt x="343678" y="172036"/>
                  </a:lnTo>
                  <a:lnTo>
                    <a:pt x="0" y="172036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84994" y="3038917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687445" y="0"/>
                  </a:moveTo>
                  <a:lnTo>
                    <a:pt x="0" y="0"/>
                  </a:lnTo>
                  <a:lnTo>
                    <a:pt x="0" y="172029"/>
                  </a:lnTo>
                  <a:lnTo>
                    <a:pt x="687445" y="172029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85006" y="3038916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0" y="0"/>
                  </a:moveTo>
                  <a:lnTo>
                    <a:pt x="687447" y="0"/>
                  </a:lnTo>
                  <a:lnTo>
                    <a:pt x="687447" y="172036"/>
                  </a:lnTo>
                  <a:lnTo>
                    <a:pt x="0" y="172036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84994" y="3210946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687445" y="0"/>
                  </a:moveTo>
                  <a:lnTo>
                    <a:pt x="0" y="0"/>
                  </a:lnTo>
                  <a:lnTo>
                    <a:pt x="0" y="172029"/>
                  </a:lnTo>
                  <a:lnTo>
                    <a:pt x="687445" y="172029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85006" y="3210952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0" y="0"/>
                  </a:moveTo>
                  <a:lnTo>
                    <a:pt x="687447" y="0"/>
                  </a:lnTo>
                  <a:lnTo>
                    <a:pt x="687447" y="172036"/>
                  </a:lnTo>
                  <a:lnTo>
                    <a:pt x="0" y="172036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84994" y="4757736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687445" y="0"/>
                  </a:moveTo>
                  <a:lnTo>
                    <a:pt x="0" y="0"/>
                  </a:lnTo>
                  <a:lnTo>
                    <a:pt x="0" y="171916"/>
                  </a:lnTo>
                  <a:lnTo>
                    <a:pt x="687445" y="171916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85006" y="4757740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0" y="0"/>
                  </a:moveTo>
                  <a:lnTo>
                    <a:pt x="687447" y="0"/>
                  </a:lnTo>
                  <a:lnTo>
                    <a:pt x="687447" y="171914"/>
                  </a:lnTo>
                  <a:lnTo>
                    <a:pt x="0" y="171914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84994" y="3382975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687445" y="0"/>
                  </a:moveTo>
                  <a:lnTo>
                    <a:pt x="0" y="0"/>
                  </a:lnTo>
                  <a:lnTo>
                    <a:pt x="0" y="171785"/>
                  </a:lnTo>
                  <a:lnTo>
                    <a:pt x="687445" y="171785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85006" y="3382988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0" y="0"/>
                  </a:moveTo>
                  <a:lnTo>
                    <a:pt x="687447" y="0"/>
                  </a:lnTo>
                  <a:lnTo>
                    <a:pt x="687447" y="171761"/>
                  </a:lnTo>
                  <a:lnTo>
                    <a:pt x="0" y="171761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4994" y="3554760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687445" y="0"/>
                  </a:moveTo>
                  <a:lnTo>
                    <a:pt x="0" y="0"/>
                  </a:lnTo>
                  <a:lnTo>
                    <a:pt x="0" y="172029"/>
                  </a:lnTo>
                  <a:lnTo>
                    <a:pt x="687445" y="172029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85006" y="3554750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0" y="0"/>
                  </a:moveTo>
                  <a:lnTo>
                    <a:pt x="687447" y="0"/>
                  </a:lnTo>
                  <a:lnTo>
                    <a:pt x="687447" y="172036"/>
                  </a:lnTo>
                  <a:lnTo>
                    <a:pt x="0" y="172036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85009" y="2020061"/>
              <a:ext cx="0" cy="1019175"/>
            </a:xfrm>
            <a:custGeom>
              <a:avLst/>
              <a:gdLst/>
              <a:ahLst/>
              <a:cxnLst/>
              <a:rect l="l" t="t" r="r" b="b"/>
              <a:pathLst>
                <a:path h="1019175">
                  <a:moveTo>
                    <a:pt x="0" y="0"/>
                  </a:moveTo>
                  <a:lnTo>
                    <a:pt x="0" y="1018854"/>
                  </a:lnTo>
                </a:path>
              </a:pathLst>
            </a:custGeom>
            <a:ln w="235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72577" y="2020061"/>
              <a:ext cx="0" cy="1019175"/>
            </a:xfrm>
            <a:custGeom>
              <a:avLst/>
              <a:gdLst/>
              <a:ahLst/>
              <a:cxnLst/>
              <a:rect l="l" t="t" r="r" b="b"/>
              <a:pathLst>
                <a:path h="1019175">
                  <a:moveTo>
                    <a:pt x="0" y="0"/>
                  </a:moveTo>
                  <a:lnTo>
                    <a:pt x="0" y="1018854"/>
                  </a:lnTo>
                </a:path>
              </a:pathLst>
            </a:custGeom>
            <a:ln w="2374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68748" y="3738768"/>
              <a:ext cx="711835" cy="861694"/>
            </a:xfrm>
            <a:custGeom>
              <a:avLst/>
              <a:gdLst/>
              <a:ahLst/>
              <a:cxnLst/>
              <a:rect l="l" t="t" r="r" b="b"/>
              <a:pathLst>
                <a:path w="711835" h="861695">
                  <a:moveTo>
                    <a:pt x="711220" y="81780"/>
                  </a:moveTo>
                  <a:lnTo>
                    <a:pt x="687476" y="81780"/>
                  </a:lnTo>
                  <a:lnTo>
                    <a:pt x="687476" y="202688"/>
                  </a:lnTo>
                  <a:lnTo>
                    <a:pt x="711220" y="202688"/>
                  </a:lnTo>
                  <a:lnTo>
                    <a:pt x="711220" y="81780"/>
                  </a:lnTo>
                  <a:close/>
                </a:path>
                <a:path w="711835" h="861695">
                  <a:moveTo>
                    <a:pt x="711220" y="323953"/>
                  </a:moveTo>
                  <a:lnTo>
                    <a:pt x="687476" y="323953"/>
                  </a:lnTo>
                  <a:lnTo>
                    <a:pt x="687476" y="445706"/>
                  </a:lnTo>
                  <a:lnTo>
                    <a:pt x="711220" y="445706"/>
                  </a:lnTo>
                  <a:lnTo>
                    <a:pt x="711220" y="323953"/>
                  </a:lnTo>
                  <a:close/>
                </a:path>
                <a:path w="711835" h="861695">
                  <a:moveTo>
                    <a:pt x="711220" y="566614"/>
                  </a:moveTo>
                  <a:lnTo>
                    <a:pt x="687476" y="566614"/>
                  </a:lnTo>
                  <a:lnTo>
                    <a:pt x="687476" y="687759"/>
                  </a:lnTo>
                  <a:lnTo>
                    <a:pt x="711220" y="687759"/>
                  </a:lnTo>
                  <a:lnTo>
                    <a:pt x="711220" y="566614"/>
                  </a:lnTo>
                  <a:close/>
                </a:path>
                <a:path w="711835" h="861695">
                  <a:moveTo>
                    <a:pt x="711220" y="809634"/>
                  </a:moveTo>
                  <a:lnTo>
                    <a:pt x="687476" y="809634"/>
                  </a:lnTo>
                  <a:lnTo>
                    <a:pt x="687476" y="849614"/>
                  </a:lnTo>
                  <a:lnTo>
                    <a:pt x="699211" y="861355"/>
                  </a:lnTo>
                  <a:lnTo>
                    <a:pt x="702838" y="861355"/>
                  </a:lnTo>
                  <a:lnTo>
                    <a:pt x="704545" y="860389"/>
                  </a:lnTo>
                  <a:lnTo>
                    <a:pt x="706374" y="859545"/>
                  </a:lnTo>
                  <a:lnTo>
                    <a:pt x="707349" y="858566"/>
                  </a:lnTo>
                  <a:lnTo>
                    <a:pt x="708172" y="856759"/>
                  </a:lnTo>
                  <a:lnTo>
                    <a:pt x="709391" y="855911"/>
                  </a:lnTo>
                  <a:lnTo>
                    <a:pt x="710366" y="854092"/>
                  </a:lnTo>
                  <a:lnTo>
                    <a:pt x="711220" y="853244"/>
                  </a:lnTo>
                  <a:lnTo>
                    <a:pt x="711220" y="809634"/>
                  </a:lnTo>
                  <a:close/>
                </a:path>
                <a:path w="711835" h="861695">
                  <a:moveTo>
                    <a:pt x="24353" y="727862"/>
                  </a:moveTo>
                  <a:lnTo>
                    <a:pt x="0" y="727862"/>
                  </a:lnTo>
                  <a:lnTo>
                    <a:pt x="0" y="849614"/>
                  </a:lnTo>
                  <a:lnTo>
                    <a:pt x="24353" y="849614"/>
                  </a:lnTo>
                  <a:lnTo>
                    <a:pt x="24353" y="727862"/>
                  </a:lnTo>
                  <a:close/>
                </a:path>
                <a:path w="711835" h="861695">
                  <a:moveTo>
                    <a:pt x="24353" y="485689"/>
                  </a:moveTo>
                  <a:lnTo>
                    <a:pt x="0" y="485689"/>
                  </a:lnTo>
                  <a:lnTo>
                    <a:pt x="0" y="606585"/>
                  </a:lnTo>
                  <a:lnTo>
                    <a:pt x="24353" y="606585"/>
                  </a:lnTo>
                  <a:lnTo>
                    <a:pt x="24353" y="485689"/>
                  </a:lnTo>
                  <a:close/>
                </a:path>
                <a:path w="711835" h="861695">
                  <a:moveTo>
                    <a:pt x="24353" y="242669"/>
                  </a:moveTo>
                  <a:lnTo>
                    <a:pt x="0" y="242669"/>
                  </a:lnTo>
                  <a:lnTo>
                    <a:pt x="0" y="363934"/>
                  </a:lnTo>
                  <a:lnTo>
                    <a:pt x="24353" y="363934"/>
                  </a:lnTo>
                  <a:lnTo>
                    <a:pt x="24353" y="242669"/>
                  </a:lnTo>
                  <a:close/>
                </a:path>
                <a:path w="711835" h="861695">
                  <a:moveTo>
                    <a:pt x="24353" y="0"/>
                  </a:moveTo>
                  <a:lnTo>
                    <a:pt x="0" y="0"/>
                  </a:lnTo>
                  <a:lnTo>
                    <a:pt x="0" y="121761"/>
                  </a:lnTo>
                  <a:lnTo>
                    <a:pt x="24353" y="121761"/>
                  </a:lnTo>
                  <a:lnTo>
                    <a:pt x="243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06441" y="1320202"/>
            <a:ext cx="687705" cy="172085"/>
          </a:xfrm>
          <a:prstGeom prst="rect">
            <a:avLst/>
          </a:prstGeom>
          <a:solidFill>
            <a:srgbClr val="CBEBCC"/>
          </a:solidFill>
          <a:ln w="2375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260"/>
              </a:lnSpc>
            </a:pPr>
            <a:r>
              <a:rPr sz="1150" spc="-25" dirty="0">
                <a:latin typeface="Times New Roman"/>
                <a:cs typeface="Times New Roman"/>
              </a:rPr>
              <a:t>W1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06441" y="1492238"/>
            <a:ext cx="687705" cy="172085"/>
          </a:xfrm>
          <a:prstGeom prst="rect">
            <a:avLst/>
          </a:prstGeom>
          <a:solidFill>
            <a:srgbClr val="CBEBCC"/>
          </a:solidFill>
          <a:ln w="2375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270"/>
              </a:lnSpc>
            </a:pPr>
            <a:r>
              <a:rPr sz="1150" spc="-25" dirty="0">
                <a:latin typeface="Times New Roman"/>
                <a:cs typeface="Times New Roman"/>
              </a:rPr>
              <a:t>W2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06441" y="1664274"/>
            <a:ext cx="687705" cy="172085"/>
          </a:xfrm>
          <a:prstGeom prst="rect">
            <a:avLst/>
          </a:prstGeom>
          <a:solidFill>
            <a:srgbClr val="CBEBCC"/>
          </a:solidFill>
          <a:ln w="2375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255"/>
              </a:lnSpc>
            </a:pPr>
            <a:r>
              <a:rPr sz="1150" spc="-25" dirty="0">
                <a:latin typeface="Times New Roman"/>
                <a:cs typeface="Times New Roman"/>
              </a:rPr>
              <a:t>W3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69305" y="3413932"/>
            <a:ext cx="55626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latin typeface="Times New Roman"/>
                <a:cs typeface="Times New Roman"/>
              </a:rPr>
              <a:t>Compare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08636" y="3975086"/>
            <a:ext cx="79121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95"/>
              </a:spcBef>
            </a:pPr>
            <a:r>
              <a:rPr sz="1150" dirty="0">
                <a:latin typeface="Times New Roman"/>
                <a:cs typeface="Times New Roman"/>
              </a:rPr>
              <a:t>1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if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match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150" dirty="0">
                <a:latin typeface="Times New Roman"/>
                <a:cs typeface="Times New Roman"/>
              </a:rPr>
              <a:t>0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if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no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match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124767" y="1480173"/>
            <a:ext cx="3406775" cy="2508885"/>
            <a:chOff x="1124767" y="1480173"/>
            <a:chExt cx="3406775" cy="2508885"/>
          </a:xfrm>
        </p:grpSpPr>
        <p:sp>
          <p:nvSpPr>
            <p:cNvPr id="40" name="object 40"/>
            <p:cNvSpPr/>
            <p:nvPr/>
          </p:nvSpPr>
          <p:spPr>
            <a:xfrm>
              <a:off x="1175539" y="1492238"/>
              <a:ext cx="0" cy="1891030"/>
            </a:xfrm>
            <a:custGeom>
              <a:avLst/>
              <a:gdLst/>
              <a:ahLst/>
              <a:cxnLst/>
              <a:rect l="l" t="t" r="r" b="b"/>
              <a:pathLst>
                <a:path h="1891029">
                  <a:moveTo>
                    <a:pt x="0" y="0"/>
                  </a:moveTo>
                  <a:lnTo>
                    <a:pt x="0" y="0"/>
                  </a:lnTo>
                  <a:lnTo>
                    <a:pt x="0" y="1890750"/>
                  </a:lnTo>
                </a:path>
              </a:pathLst>
            </a:custGeom>
            <a:ln w="117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4767" y="3242932"/>
              <a:ext cx="102732" cy="14090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952232" y="1490409"/>
              <a:ext cx="2492375" cy="1630680"/>
            </a:xfrm>
            <a:custGeom>
              <a:avLst/>
              <a:gdLst/>
              <a:ahLst/>
              <a:cxnLst/>
              <a:rect l="l" t="t" r="r" b="b"/>
              <a:pathLst>
                <a:path w="2492375" h="1630680">
                  <a:moveTo>
                    <a:pt x="0" y="0"/>
                  </a:moveTo>
                  <a:lnTo>
                    <a:pt x="0" y="1630409"/>
                  </a:lnTo>
                  <a:lnTo>
                    <a:pt x="2491778" y="1630409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2991" y="3069921"/>
              <a:ext cx="141014" cy="10286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521963" y="2690394"/>
              <a:ext cx="3003550" cy="699135"/>
            </a:xfrm>
            <a:custGeom>
              <a:avLst/>
              <a:gdLst/>
              <a:ahLst/>
              <a:cxnLst/>
              <a:rect l="l" t="t" r="r" b="b"/>
              <a:pathLst>
                <a:path w="3003550" h="699135">
                  <a:moveTo>
                    <a:pt x="3002967" y="349497"/>
                  </a:moveTo>
                  <a:lnTo>
                    <a:pt x="3002967" y="0"/>
                  </a:lnTo>
                  <a:lnTo>
                    <a:pt x="0" y="0"/>
                  </a:lnTo>
                  <a:lnTo>
                    <a:pt x="0" y="698873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0289" y="3248388"/>
              <a:ext cx="102729" cy="14090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6546" y="3377124"/>
              <a:ext cx="183738" cy="18348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809028" y="14922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ln w="23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809028" y="1492238"/>
              <a:ext cx="0" cy="1891030"/>
            </a:xfrm>
            <a:custGeom>
              <a:avLst/>
              <a:gdLst/>
              <a:ahLst/>
              <a:cxnLst/>
              <a:rect l="l" t="t" r="r" b="b"/>
              <a:pathLst>
                <a:path h="1891029">
                  <a:moveTo>
                    <a:pt x="0" y="0"/>
                  </a:moveTo>
                  <a:lnTo>
                    <a:pt x="0" y="0"/>
                  </a:lnTo>
                  <a:lnTo>
                    <a:pt x="0" y="1890750"/>
                  </a:lnTo>
                </a:path>
              </a:pathLst>
            </a:custGeom>
            <a:ln w="117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57055" y="3242932"/>
              <a:ext cx="102720" cy="14090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21963" y="3551976"/>
              <a:ext cx="1292860" cy="430530"/>
            </a:xfrm>
            <a:custGeom>
              <a:avLst/>
              <a:gdLst/>
              <a:ahLst/>
              <a:cxnLst/>
              <a:rect l="l" t="t" r="r" b="b"/>
              <a:pathLst>
                <a:path w="1292860" h="430529">
                  <a:moveTo>
                    <a:pt x="0" y="174809"/>
                  </a:moveTo>
                  <a:lnTo>
                    <a:pt x="0" y="430431"/>
                  </a:lnTo>
                  <a:lnTo>
                    <a:pt x="1292508" y="430431"/>
                  </a:lnTo>
                  <a:lnTo>
                    <a:pt x="1292508" y="0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2508" y="3551128"/>
              <a:ext cx="102720" cy="140995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5711867" y="1536045"/>
            <a:ext cx="22606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50" spc="-25" dirty="0">
                <a:latin typeface="Times New Roman"/>
                <a:cs typeface="Times New Roman"/>
              </a:rPr>
              <a:t>L</a:t>
            </a:r>
            <a:r>
              <a:rPr sz="1425" spc="-37" baseline="-17543" dirty="0">
                <a:latin typeface="Times New Roman"/>
                <a:cs typeface="Times New Roman"/>
              </a:rPr>
              <a:t>0</a:t>
            </a:r>
            <a:endParaRPr sz="1425" baseline="-17543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706441" y="1848032"/>
            <a:ext cx="0" cy="1334770"/>
          </a:xfrm>
          <a:custGeom>
            <a:avLst/>
            <a:gdLst/>
            <a:ahLst/>
            <a:cxnLst/>
            <a:rect l="l" t="t" r="r" b="b"/>
            <a:pathLst>
              <a:path h="1334770">
                <a:moveTo>
                  <a:pt x="0" y="0"/>
                </a:moveTo>
                <a:lnTo>
                  <a:pt x="0" y="1334688"/>
                </a:lnTo>
              </a:path>
            </a:pathLst>
          </a:custGeom>
          <a:ln w="24688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706441" y="3210952"/>
            <a:ext cx="687705" cy="172085"/>
          </a:xfrm>
          <a:prstGeom prst="rect">
            <a:avLst/>
          </a:prstGeom>
          <a:solidFill>
            <a:srgbClr val="CBEBCC"/>
          </a:solidFill>
          <a:ln w="2375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1275"/>
              </a:lnSpc>
            </a:pPr>
            <a:r>
              <a:rPr sz="1150" spc="-25" dirty="0">
                <a:latin typeface="Times New Roman"/>
                <a:cs typeface="Times New Roman"/>
              </a:rPr>
              <a:t>W4j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2888388" y="3417620"/>
            <a:ext cx="1903095" cy="102870"/>
            <a:chOff x="2888388" y="3417620"/>
            <a:chExt cx="1903095" cy="102870"/>
          </a:xfrm>
        </p:grpSpPr>
        <p:sp>
          <p:nvSpPr>
            <p:cNvPr id="64" name="object 64"/>
            <p:cNvSpPr/>
            <p:nvPr/>
          </p:nvSpPr>
          <p:spPr>
            <a:xfrm>
              <a:off x="2894420" y="3469372"/>
              <a:ext cx="1891030" cy="0"/>
            </a:xfrm>
            <a:custGeom>
              <a:avLst/>
              <a:gdLst/>
              <a:ahLst/>
              <a:cxnLst/>
              <a:rect l="l" t="t" r="r" b="b"/>
              <a:pathLst>
                <a:path w="1891029">
                  <a:moveTo>
                    <a:pt x="0" y="0"/>
                  </a:moveTo>
                  <a:lnTo>
                    <a:pt x="0" y="0"/>
                  </a:lnTo>
                  <a:lnTo>
                    <a:pt x="1890585" y="0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44962" y="3417620"/>
              <a:ext cx="140038" cy="102497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5745550" y="3282735"/>
            <a:ext cx="19939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50" spc="-25" dirty="0">
                <a:latin typeface="Times New Roman"/>
                <a:cs typeface="Times New Roman"/>
              </a:rPr>
              <a:t>L</a:t>
            </a:r>
            <a:r>
              <a:rPr sz="1425" i="1" spc="-37" baseline="-17543" dirty="0">
                <a:latin typeface="Times New Roman"/>
                <a:cs typeface="Times New Roman"/>
              </a:rPr>
              <a:t>i</a:t>
            </a:r>
            <a:endParaRPr sz="1425" baseline="-17543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06441" y="3382988"/>
            <a:ext cx="687705" cy="172085"/>
          </a:xfrm>
          <a:prstGeom prst="rect">
            <a:avLst/>
          </a:prstGeom>
          <a:solidFill>
            <a:srgbClr val="CBEBCC"/>
          </a:solidFill>
          <a:ln w="2375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0489">
              <a:lnSpc>
                <a:spcPts val="1260"/>
              </a:lnSpc>
            </a:pPr>
            <a:r>
              <a:rPr sz="1150" spc="-10" dirty="0">
                <a:latin typeface="Times New Roman"/>
                <a:cs typeface="Times New Roman"/>
              </a:rPr>
              <a:t>W(4j+1)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706441" y="3554750"/>
            <a:ext cx="687705" cy="172085"/>
          </a:xfrm>
          <a:prstGeom prst="rect">
            <a:avLst/>
          </a:prstGeom>
          <a:solidFill>
            <a:srgbClr val="CBEBCC"/>
          </a:solidFill>
          <a:ln w="2375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0489">
              <a:lnSpc>
                <a:spcPts val="1270"/>
              </a:lnSpc>
            </a:pPr>
            <a:r>
              <a:rPr sz="1150" spc="-10" dirty="0">
                <a:latin typeface="Times New Roman"/>
                <a:cs typeface="Times New Roman"/>
              </a:rPr>
              <a:t>W(4j+2)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706441" y="3726786"/>
            <a:ext cx="687705" cy="172085"/>
          </a:xfrm>
          <a:prstGeom prst="rect">
            <a:avLst/>
          </a:prstGeom>
          <a:solidFill>
            <a:srgbClr val="CBEBCC"/>
          </a:solidFill>
          <a:ln w="2375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0489">
              <a:lnSpc>
                <a:spcPts val="1275"/>
              </a:lnSpc>
            </a:pPr>
            <a:r>
              <a:rPr sz="1150" spc="-10" dirty="0">
                <a:latin typeface="Times New Roman"/>
                <a:cs typeface="Times New Roman"/>
              </a:rPr>
              <a:t>W(4j+3)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7694097" y="1835650"/>
            <a:ext cx="712470" cy="2937510"/>
            <a:chOff x="7694097" y="1835650"/>
            <a:chExt cx="712470" cy="2937510"/>
          </a:xfrm>
        </p:grpSpPr>
        <p:sp>
          <p:nvSpPr>
            <p:cNvPr id="58" name="object 58"/>
            <p:cNvSpPr/>
            <p:nvPr/>
          </p:nvSpPr>
          <p:spPr>
            <a:xfrm>
              <a:off x="8394085" y="1848032"/>
              <a:ext cx="0" cy="1334770"/>
            </a:xfrm>
            <a:custGeom>
              <a:avLst/>
              <a:gdLst/>
              <a:ahLst/>
              <a:cxnLst/>
              <a:rect l="l" t="t" r="r" b="b"/>
              <a:pathLst>
                <a:path h="1334770">
                  <a:moveTo>
                    <a:pt x="0" y="0"/>
                  </a:moveTo>
                  <a:lnTo>
                    <a:pt x="0" y="1334688"/>
                  </a:lnTo>
                </a:path>
              </a:pathLst>
            </a:custGeom>
            <a:ln w="2435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694097" y="3911406"/>
              <a:ext cx="711200" cy="861694"/>
            </a:xfrm>
            <a:custGeom>
              <a:avLst/>
              <a:gdLst/>
              <a:ahLst/>
              <a:cxnLst/>
              <a:rect l="l" t="t" r="r" b="b"/>
              <a:pathLst>
                <a:path w="711200" h="861695">
                  <a:moveTo>
                    <a:pt x="711189" y="81174"/>
                  </a:moveTo>
                  <a:lnTo>
                    <a:pt x="686836" y="81174"/>
                  </a:lnTo>
                  <a:lnTo>
                    <a:pt x="686836" y="203048"/>
                  </a:lnTo>
                  <a:lnTo>
                    <a:pt x="711189" y="203048"/>
                  </a:lnTo>
                  <a:lnTo>
                    <a:pt x="711189" y="81174"/>
                  </a:lnTo>
                  <a:close/>
                </a:path>
                <a:path w="711200" h="861695">
                  <a:moveTo>
                    <a:pt x="711189" y="323944"/>
                  </a:moveTo>
                  <a:lnTo>
                    <a:pt x="686836" y="323944"/>
                  </a:lnTo>
                  <a:lnTo>
                    <a:pt x="686836" y="445090"/>
                  </a:lnTo>
                  <a:lnTo>
                    <a:pt x="711189" y="445090"/>
                  </a:lnTo>
                  <a:lnTo>
                    <a:pt x="711189" y="323944"/>
                  </a:lnTo>
                  <a:close/>
                </a:path>
                <a:path w="711200" h="861695">
                  <a:moveTo>
                    <a:pt x="711189" y="566842"/>
                  </a:moveTo>
                  <a:lnTo>
                    <a:pt x="686836" y="566842"/>
                  </a:lnTo>
                  <a:lnTo>
                    <a:pt x="686836" y="687750"/>
                  </a:lnTo>
                  <a:lnTo>
                    <a:pt x="711189" y="687750"/>
                  </a:lnTo>
                  <a:lnTo>
                    <a:pt x="711189" y="566842"/>
                  </a:lnTo>
                  <a:close/>
                </a:path>
                <a:path w="711200" h="861695">
                  <a:moveTo>
                    <a:pt x="686836" y="837246"/>
                  </a:moveTo>
                  <a:lnTo>
                    <a:pt x="618622" y="837246"/>
                  </a:lnTo>
                  <a:lnTo>
                    <a:pt x="618622" y="861593"/>
                  </a:lnTo>
                  <a:lnTo>
                    <a:pt x="699455" y="861593"/>
                  </a:lnTo>
                  <a:lnTo>
                    <a:pt x="686836" y="849843"/>
                  </a:lnTo>
                  <a:lnTo>
                    <a:pt x="686836" y="837246"/>
                  </a:lnTo>
                  <a:close/>
                </a:path>
                <a:path w="711200" h="861695">
                  <a:moveTo>
                    <a:pt x="711189" y="809015"/>
                  </a:moveTo>
                  <a:lnTo>
                    <a:pt x="686836" y="809015"/>
                  </a:lnTo>
                  <a:lnTo>
                    <a:pt x="686836" y="849843"/>
                  </a:lnTo>
                  <a:lnTo>
                    <a:pt x="699455" y="861593"/>
                  </a:lnTo>
                  <a:lnTo>
                    <a:pt x="699455" y="837246"/>
                  </a:lnTo>
                  <a:lnTo>
                    <a:pt x="711189" y="837246"/>
                  </a:lnTo>
                  <a:lnTo>
                    <a:pt x="711189" y="809015"/>
                  </a:lnTo>
                  <a:close/>
                </a:path>
                <a:path w="711200" h="861695">
                  <a:moveTo>
                    <a:pt x="711189" y="837246"/>
                  </a:moveTo>
                  <a:lnTo>
                    <a:pt x="699455" y="837246"/>
                  </a:lnTo>
                  <a:lnTo>
                    <a:pt x="699455" y="861593"/>
                  </a:lnTo>
                  <a:lnTo>
                    <a:pt x="701253" y="861593"/>
                  </a:lnTo>
                  <a:lnTo>
                    <a:pt x="703082" y="860749"/>
                  </a:lnTo>
                  <a:lnTo>
                    <a:pt x="704880" y="859785"/>
                  </a:lnTo>
                  <a:lnTo>
                    <a:pt x="705855" y="858926"/>
                  </a:lnTo>
                  <a:lnTo>
                    <a:pt x="707654" y="857963"/>
                  </a:lnTo>
                  <a:lnTo>
                    <a:pt x="708538" y="857118"/>
                  </a:lnTo>
                  <a:lnTo>
                    <a:pt x="709361" y="855296"/>
                  </a:lnTo>
                  <a:lnTo>
                    <a:pt x="710336" y="854451"/>
                  </a:lnTo>
                  <a:lnTo>
                    <a:pt x="711189" y="852629"/>
                  </a:lnTo>
                  <a:lnTo>
                    <a:pt x="711189" y="837246"/>
                  </a:lnTo>
                  <a:close/>
                </a:path>
                <a:path w="711200" h="861695">
                  <a:moveTo>
                    <a:pt x="496763" y="837246"/>
                  </a:moveTo>
                  <a:lnTo>
                    <a:pt x="375635" y="837246"/>
                  </a:lnTo>
                  <a:lnTo>
                    <a:pt x="375635" y="861593"/>
                  </a:lnTo>
                  <a:lnTo>
                    <a:pt x="496763" y="861593"/>
                  </a:lnTo>
                  <a:lnTo>
                    <a:pt x="496763" y="837246"/>
                  </a:lnTo>
                  <a:close/>
                </a:path>
                <a:path w="711200" h="861695">
                  <a:moveTo>
                    <a:pt x="254751" y="837246"/>
                  </a:moveTo>
                  <a:lnTo>
                    <a:pt x="133014" y="837246"/>
                  </a:lnTo>
                  <a:lnTo>
                    <a:pt x="133014" y="861593"/>
                  </a:lnTo>
                  <a:lnTo>
                    <a:pt x="254751" y="861593"/>
                  </a:lnTo>
                  <a:lnTo>
                    <a:pt x="254751" y="837246"/>
                  </a:lnTo>
                  <a:close/>
                </a:path>
                <a:path w="711200" h="861695">
                  <a:moveTo>
                    <a:pt x="24688" y="728091"/>
                  </a:moveTo>
                  <a:lnTo>
                    <a:pt x="0" y="728091"/>
                  </a:lnTo>
                  <a:lnTo>
                    <a:pt x="0" y="848996"/>
                  </a:lnTo>
                  <a:lnTo>
                    <a:pt x="24688" y="848996"/>
                  </a:lnTo>
                  <a:lnTo>
                    <a:pt x="24688" y="728091"/>
                  </a:lnTo>
                  <a:close/>
                </a:path>
                <a:path w="711200" h="861695">
                  <a:moveTo>
                    <a:pt x="24688" y="485070"/>
                  </a:moveTo>
                  <a:lnTo>
                    <a:pt x="0" y="485070"/>
                  </a:lnTo>
                  <a:lnTo>
                    <a:pt x="0" y="605978"/>
                  </a:lnTo>
                  <a:lnTo>
                    <a:pt x="24688" y="605978"/>
                  </a:lnTo>
                  <a:lnTo>
                    <a:pt x="24688" y="485070"/>
                  </a:lnTo>
                  <a:close/>
                </a:path>
                <a:path w="711200" h="861695">
                  <a:moveTo>
                    <a:pt x="24688" y="242053"/>
                  </a:moveTo>
                  <a:lnTo>
                    <a:pt x="0" y="242053"/>
                  </a:lnTo>
                  <a:lnTo>
                    <a:pt x="0" y="363925"/>
                  </a:lnTo>
                  <a:lnTo>
                    <a:pt x="24688" y="363925"/>
                  </a:lnTo>
                  <a:lnTo>
                    <a:pt x="24688" y="242053"/>
                  </a:lnTo>
                  <a:close/>
                </a:path>
                <a:path w="711200" h="861695">
                  <a:moveTo>
                    <a:pt x="24688" y="0"/>
                  </a:moveTo>
                  <a:lnTo>
                    <a:pt x="0" y="0"/>
                  </a:lnTo>
                  <a:lnTo>
                    <a:pt x="0" y="121145"/>
                  </a:lnTo>
                  <a:lnTo>
                    <a:pt x="24688" y="121145"/>
                  </a:lnTo>
                  <a:lnTo>
                    <a:pt x="246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377547" y="5019551"/>
            <a:ext cx="79121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014" indent="-107314">
              <a:lnSpc>
                <a:spcPts val="1380"/>
              </a:lnSpc>
              <a:spcBef>
                <a:spcPts val="95"/>
              </a:spcBef>
              <a:buAutoNum type="arabicPlain"/>
              <a:tabLst>
                <a:tab pos="120014" algn="l"/>
              </a:tabLst>
            </a:pPr>
            <a:r>
              <a:rPr sz="1150" dirty="0">
                <a:latin typeface="Times New Roman"/>
                <a:cs typeface="Times New Roman"/>
              </a:rPr>
              <a:t>if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match</a:t>
            </a:r>
            <a:endParaRPr sz="1150">
              <a:latin typeface="Times New Roman"/>
              <a:cs typeface="Times New Roman"/>
            </a:endParaRPr>
          </a:p>
          <a:p>
            <a:pPr marL="120014" indent="-107314">
              <a:lnSpc>
                <a:spcPts val="1380"/>
              </a:lnSpc>
              <a:buAutoNum type="arabicPlain"/>
              <a:tabLst>
                <a:tab pos="120014" algn="l"/>
              </a:tabLst>
            </a:pPr>
            <a:r>
              <a:rPr sz="1150" dirty="0">
                <a:latin typeface="Times New Roman"/>
                <a:cs typeface="Times New Roman"/>
              </a:rPr>
              <a:t>if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no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match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166791" y="460086"/>
            <a:ext cx="5514975" cy="5025390"/>
            <a:chOff x="1166791" y="460086"/>
            <a:chExt cx="5514975" cy="5025390"/>
          </a:xfrm>
        </p:grpSpPr>
        <p:pic>
          <p:nvPicPr>
            <p:cNvPr id="68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98081" y="3205088"/>
              <a:ext cx="183353" cy="183764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2034110" y="466118"/>
              <a:ext cx="4551680" cy="2748915"/>
            </a:xfrm>
            <a:custGeom>
              <a:avLst/>
              <a:gdLst/>
              <a:ahLst/>
              <a:cxnLst/>
              <a:rect l="l" t="t" r="r" b="b"/>
              <a:pathLst>
                <a:path w="4551680" h="2748915">
                  <a:moveTo>
                    <a:pt x="0" y="512206"/>
                  </a:moveTo>
                  <a:lnTo>
                    <a:pt x="0" y="0"/>
                  </a:lnTo>
                  <a:lnTo>
                    <a:pt x="4551579" y="0"/>
                  </a:lnTo>
                  <a:lnTo>
                    <a:pt x="4551579" y="2748461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33972" y="3073579"/>
              <a:ext cx="102489" cy="140995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172824" y="3389267"/>
              <a:ext cx="5413375" cy="2034539"/>
            </a:xfrm>
            <a:custGeom>
              <a:avLst/>
              <a:gdLst/>
              <a:ahLst/>
              <a:cxnLst/>
              <a:rect l="l" t="t" r="r" b="b"/>
              <a:pathLst>
                <a:path w="5413375" h="2034539">
                  <a:moveTo>
                    <a:pt x="0" y="337518"/>
                  </a:moveTo>
                  <a:lnTo>
                    <a:pt x="0" y="2034258"/>
                  </a:lnTo>
                  <a:lnTo>
                    <a:pt x="5412865" y="2034258"/>
                  </a:lnTo>
                  <a:lnTo>
                    <a:pt x="5412865" y="0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33972" y="3388419"/>
              <a:ext cx="102489" cy="14102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2532351" y="5339904"/>
              <a:ext cx="885190" cy="146050"/>
            </a:xfrm>
            <a:custGeom>
              <a:avLst/>
              <a:gdLst/>
              <a:ahLst/>
              <a:cxnLst/>
              <a:rect l="l" t="t" r="r" b="b"/>
              <a:pathLst>
                <a:path w="885189" h="146050">
                  <a:moveTo>
                    <a:pt x="885005" y="0"/>
                  </a:moveTo>
                  <a:lnTo>
                    <a:pt x="0" y="0"/>
                  </a:lnTo>
                  <a:lnTo>
                    <a:pt x="0" y="145566"/>
                  </a:lnTo>
                  <a:lnTo>
                    <a:pt x="885005" y="145566"/>
                  </a:lnTo>
                  <a:lnTo>
                    <a:pt x="885005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/>
          <p:nvPr/>
        </p:nvSpPr>
        <p:spPr>
          <a:xfrm>
            <a:off x="1862972" y="1749682"/>
            <a:ext cx="172085" cy="172085"/>
          </a:xfrm>
          <a:custGeom>
            <a:avLst/>
            <a:gdLst/>
            <a:ahLst/>
            <a:cxnLst/>
            <a:rect l="l" t="t" r="r" b="b"/>
            <a:pathLst>
              <a:path w="172085" h="172085">
                <a:moveTo>
                  <a:pt x="0" y="172005"/>
                </a:moveTo>
                <a:lnTo>
                  <a:pt x="0" y="172005"/>
                </a:lnTo>
                <a:lnTo>
                  <a:pt x="171985" y="0"/>
                </a:lnTo>
              </a:path>
            </a:pathLst>
          </a:custGeom>
          <a:ln w="117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1786827" y="1666042"/>
            <a:ext cx="8255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i="1" spc="-50" dirty="0">
                <a:latin typeface="Times New Roman"/>
                <a:cs typeface="Times New Roman"/>
              </a:rPr>
              <a:t>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722411" y="1749682"/>
            <a:ext cx="172085" cy="172085"/>
          </a:xfrm>
          <a:custGeom>
            <a:avLst/>
            <a:gdLst/>
            <a:ahLst/>
            <a:cxnLst/>
            <a:rect l="l" t="t" r="r" b="b"/>
            <a:pathLst>
              <a:path w="172085" h="172085">
                <a:moveTo>
                  <a:pt x="0" y="172005"/>
                </a:moveTo>
                <a:lnTo>
                  <a:pt x="0" y="172005"/>
                </a:lnTo>
                <a:lnTo>
                  <a:pt x="172009" y="0"/>
                </a:lnTo>
              </a:path>
            </a:pathLst>
          </a:custGeom>
          <a:ln w="117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2658937" y="1666042"/>
            <a:ext cx="10985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50" i="1" spc="-50" dirty="0">
                <a:latin typeface="Times New Roman"/>
                <a:cs typeface="Times New Roman"/>
              </a:rPr>
              <a:t>w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1090135" y="374065"/>
            <a:ext cx="2148205" cy="1548130"/>
          </a:xfrm>
          <a:custGeom>
            <a:avLst/>
            <a:gdLst/>
            <a:ahLst/>
            <a:cxnLst/>
            <a:rect l="l" t="t" r="r" b="b"/>
            <a:pathLst>
              <a:path w="2148205" h="1548130">
                <a:moveTo>
                  <a:pt x="0" y="1547622"/>
                </a:moveTo>
                <a:lnTo>
                  <a:pt x="0" y="1547622"/>
                </a:lnTo>
                <a:lnTo>
                  <a:pt x="171701" y="1375617"/>
                </a:lnTo>
              </a:path>
              <a:path w="2148205" h="1548130">
                <a:moveTo>
                  <a:pt x="1975932" y="172036"/>
                </a:moveTo>
                <a:lnTo>
                  <a:pt x="1975932" y="172036"/>
                </a:lnTo>
                <a:lnTo>
                  <a:pt x="2147954" y="0"/>
                </a:lnTo>
              </a:path>
            </a:pathLst>
          </a:custGeom>
          <a:ln w="117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2913585" y="283151"/>
            <a:ext cx="26987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25" dirty="0">
                <a:latin typeface="Times New Roman"/>
                <a:cs typeface="Times New Roman"/>
              </a:rPr>
              <a:t>s+w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537125" y="835327"/>
            <a:ext cx="107124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dirty="0">
                <a:latin typeface="Times New Roman"/>
                <a:cs typeface="Times New Roman"/>
              </a:rPr>
              <a:t>Main</a:t>
            </a:r>
            <a:r>
              <a:rPr sz="1300" b="1" spc="4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Memory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715702" y="1333127"/>
            <a:ext cx="23431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150" spc="-25" dirty="0">
                <a:latin typeface="Times New Roman"/>
                <a:cs typeface="Times New Roman"/>
              </a:rPr>
              <a:t>B</a:t>
            </a:r>
            <a:r>
              <a:rPr sz="1425" spc="-37" baseline="-17543" dirty="0">
                <a:latin typeface="Times New Roman"/>
                <a:cs typeface="Times New Roman"/>
              </a:rPr>
              <a:t>0</a:t>
            </a:r>
            <a:endParaRPr sz="1425" baseline="-17543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668114" y="2609466"/>
            <a:ext cx="172085" cy="172085"/>
          </a:xfrm>
          <a:custGeom>
            <a:avLst/>
            <a:gdLst/>
            <a:ahLst/>
            <a:cxnLst/>
            <a:rect l="l" t="t" r="r" b="b"/>
            <a:pathLst>
              <a:path w="172085" h="172085">
                <a:moveTo>
                  <a:pt x="0" y="172005"/>
                </a:moveTo>
                <a:lnTo>
                  <a:pt x="0" y="172005"/>
                </a:lnTo>
                <a:lnTo>
                  <a:pt x="172021" y="0"/>
                </a:lnTo>
              </a:path>
            </a:pathLst>
          </a:custGeom>
          <a:ln w="117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3577300" y="2509590"/>
            <a:ext cx="211454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i="1" spc="-20" dirty="0">
                <a:latin typeface="Times New Roman"/>
                <a:cs typeface="Times New Roman"/>
              </a:rPr>
              <a:t>s</a:t>
            </a:r>
            <a:r>
              <a:rPr sz="1150" spc="-20" dirty="0">
                <a:latin typeface="Times New Roman"/>
                <a:cs typeface="Times New Roman"/>
              </a:rPr>
              <a:t>–</a:t>
            </a:r>
            <a:r>
              <a:rPr sz="1150" i="1" spc="-50" dirty="0">
                <a:latin typeface="Times New Roman"/>
                <a:cs typeface="Times New Roman"/>
              </a:rPr>
              <a:t>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668114" y="3382988"/>
            <a:ext cx="172085" cy="172085"/>
          </a:xfrm>
          <a:custGeom>
            <a:avLst/>
            <a:gdLst/>
            <a:ahLst/>
            <a:cxnLst/>
            <a:rect l="l" t="t" r="r" b="b"/>
            <a:pathLst>
              <a:path w="172085" h="172085">
                <a:moveTo>
                  <a:pt x="0" y="171761"/>
                </a:moveTo>
                <a:lnTo>
                  <a:pt x="0" y="171761"/>
                </a:lnTo>
                <a:lnTo>
                  <a:pt x="172021" y="0"/>
                </a:lnTo>
              </a:path>
            </a:pathLst>
          </a:custGeom>
          <a:ln w="117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3650097" y="3270130"/>
            <a:ext cx="12255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i="1" spc="-50" dirty="0">
                <a:latin typeface="Times New Roman"/>
                <a:cs typeface="Times New Roman"/>
              </a:rPr>
              <a:t>w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6669538" y="3204920"/>
            <a:ext cx="1043940" cy="492125"/>
            <a:chOff x="6669538" y="3204920"/>
            <a:chExt cx="1043940" cy="492125"/>
          </a:xfrm>
        </p:grpSpPr>
        <p:sp>
          <p:nvSpPr>
            <p:cNvPr id="91" name="object 91"/>
            <p:cNvSpPr/>
            <p:nvPr/>
          </p:nvSpPr>
          <p:spPr>
            <a:xfrm>
              <a:off x="6675571" y="3297336"/>
              <a:ext cx="1031875" cy="0"/>
            </a:xfrm>
            <a:custGeom>
              <a:avLst/>
              <a:gdLst/>
              <a:ahLst/>
              <a:cxnLst/>
              <a:rect l="l" t="t" r="r" b="b"/>
              <a:pathLst>
                <a:path w="1031875">
                  <a:moveTo>
                    <a:pt x="0" y="0"/>
                  </a:moveTo>
                  <a:lnTo>
                    <a:pt x="0" y="0"/>
                  </a:lnTo>
                  <a:lnTo>
                    <a:pt x="1031491" y="0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66042" y="3245615"/>
              <a:ext cx="141014" cy="102710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015713" y="3295507"/>
              <a:ext cx="687705" cy="349885"/>
            </a:xfrm>
            <a:custGeom>
              <a:avLst/>
              <a:gdLst/>
              <a:ahLst/>
              <a:cxnLst/>
              <a:rect l="l" t="t" r="r" b="b"/>
              <a:pathLst>
                <a:path w="687704" h="349885">
                  <a:moveTo>
                    <a:pt x="0" y="0"/>
                  </a:moveTo>
                  <a:lnTo>
                    <a:pt x="0" y="349375"/>
                  </a:lnTo>
                  <a:lnTo>
                    <a:pt x="687691" y="349375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62415" y="3594137"/>
              <a:ext cx="141014" cy="102497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7276763" y="3210952"/>
              <a:ext cx="172085" cy="172085"/>
            </a:xfrm>
            <a:custGeom>
              <a:avLst/>
              <a:gdLst/>
              <a:ahLst/>
              <a:cxnLst/>
              <a:rect l="l" t="t" r="r" b="b"/>
              <a:pathLst>
                <a:path w="172084" h="172085">
                  <a:moveTo>
                    <a:pt x="0" y="172036"/>
                  </a:moveTo>
                  <a:lnTo>
                    <a:pt x="0" y="172036"/>
                  </a:lnTo>
                  <a:lnTo>
                    <a:pt x="172021" y="0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7284192" y="3097270"/>
            <a:ext cx="8255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i="1" spc="-50" dirty="0">
                <a:latin typeface="Times New Roman"/>
                <a:cs typeface="Times New Roman"/>
              </a:rPr>
              <a:t>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754663" y="3390196"/>
            <a:ext cx="12255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50" dirty="0">
                <a:latin typeface="Times New Roman"/>
                <a:cs typeface="Times New Roman"/>
              </a:rPr>
              <a:t>B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852056" y="3451193"/>
            <a:ext cx="5905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i="1" spc="-50" dirty="0">
                <a:latin typeface="Times New Roman"/>
                <a:cs typeface="Times New Roman"/>
              </a:rPr>
              <a:t>j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276763" y="3554750"/>
            <a:ext cx="172085" cy="172085"/>
          </a:xfrm>
          <a:custGeom>
            <a:avLst/>
            <a:gdLst/>
            <a:ahLst/>
            <a:cxnLst/>
            <a:rect l="l" t="t" r="r" b="b"/>
            <a:pathLst>
              <a:path w="172084" h="172085">
                <a:moveTo>
                  <a:pt x="0" y="172036"/>
                </a:moveTo>
                <a:lnTo>
                  <a:pt x="0" y="172036"/>
                </a:lnTo>
                <a:lnTo>
                  <a:pt x="172021" y="0"/>
                </a:lnTo>
              </a:path>
            </a:pathLst>
          </a:custGeom>
          <a:ln w="117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7260456" y="3440348"/>
            <a:ext cx="12255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i="1" spc="-50" dirty="0">
                <a:latin typeface="Times New Roman"/>
                <a:cs typeface="Times New Roman"/>
              </a:rPr>
              <a:t>w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500490" y="3898809"/>
            <a:ext cx="775970" cy="146050"/>
          </a:xfrm>
          <a:prstGeom prst="rect">
            <a:avLst/>
          </a:prstGeom>
          <a:solidFill>
            <a:srgbClr val="FEFEFE"/>
          </a:solidFill>
        </p:spPr>
        <p:txBody>
          <a:bodyPr vert="horz" wrap="square" lIns="0" tIns="0" rIns="0" bIns="0" rtlCol="0">
            <a:spAutoFit/>
          </a:bodyPr>
          <a:lstStyle/>
          <a:p>
            <a:pPr marL="6350">
              <a:lnSpc>
                <a:spcPts val="1090"/>
              </a:lnSpc>
            </a:pPr>
            <a:r>
              <a:rPr sz="1150" dirty="0">
                <a:latin typeface="Times New Roman"/>
                <a:cs typeface="Times New Roman"/>
              </a:rPr>
              <a:t>(hit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cache)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525955" y="5289025"/>
            <a:ext cx="90170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latin typeface="Times New Roman"/>
                <a:cs typeface="Times New Roman"/>
              </a:rPr>
              <a:t>(miss</a:t>
            </a:r>
            <a:r>
              <a:rPr sz="1150" spc="-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cache)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996262" y="919867"/>
            <a:ext cx="4755515" cy="4373245"/>
            <a:chOff x="996262" y="919867"/>
            <a:chExt cx="4755515" cy="4373245"/>
          </a:xfrm>
        </p:grpSpPr>
        <p:sp>
          <p:nvSpPr>
            <p:cNvPr id="102" name="object 102"/>
            <p:cNvSpPr/>
            <p:nvPr/>
          </p:nvSpPr>
          <p:spPr>
            <a:xfrm>
              <a:off x="1008327" y="931932"/>
              <a:ext cx="2068195" cy="258445"/>
            </a:xfrm>
            <a:custGeom>
              <a:avLst/>
              <a:gdLst/>
              <a:ahLst/>
              <a:cxnLst/>
              <a:rect l="l" t="t" r="r" b="b"/>
              <a:pathLst>
                <a:path w="2068195" h="258444">
                  <a:moveTo>
                    <a:pt x="2068042" y="258419"/>
                  </a:moveTo>
                  <a:lnTo>
                    <a:pt x="2065938" y="233291"/>
                  </a:lnTo>
                  <a:lnTo>
                    <a:pt x="2059777" y="211525"/>
                  </a:lnTo>
                  <a:lnTo>
                    <a:pt x="2036187" y="177298"/>
                  </a:lnTo>
                  <a:lnTo>
                    <a:pt x="1999073" y="154171"/>
                  </a:lnTo>
                  <a:lnTo>
                    <a:pt x="1950239" y="140577"/>
                  </a:lnTo>
                  <a:lnTo>
                    <a:pt x="1891487" y="134950"/>
                  </a:lnTo>
                  <a:lnTo>
                    <a:pt x="1858956" y="134634"/>
                  </a:lnTo>
                  <a:lnTo>
                    <a:pt x="1824622" y="135723"/>
                  </a:lnTo>
                  <a:lnTo>
                    <a:pt x="1751446" y="141330"/>
                  </a:lnTo>
                  <a:lnTo>
                    <a:pt x="1713055" y="145456"/>
                  </a:lnTo>
                  <a:lnTo>
                    <a:pt x="1673762" y="150204"/>
                  </a:lnTo>
                  <a:lnTo>
                    <a:pt x="1633793" y="155376"/>
                  </a:lnTo>
                  <a:lnTo>
                    <a:pt x="1593374" y="160778"/>
                  </a:lnTo>
                  <a:lnTo>
                    <a:pt x="1552729" y="166214"/>
                  </a:lnTo>
                  <a:lnTo>
                    <a:pt x="1512084" y="171487"/>
                  </a:lnTo>
                  <a:lnTo>
                    <a:pt x="1471664" y="176401"/>
                  </a:lnTo>
                  <a:lnTo>
                    <a:pt x="1431695" y="180762"/>
                  </a:lnTo>
                  <a:lnTo>
                    <a:pt x="1392403" y="184373"/>
                  </a:lnTo>
                  <a:lnTo>
                    <a:pt x="1354011" y="187038"/>
                  </a:lnTo>
                  <a:lnTo>
                    <a:pt x="1280835" y="188748"/>
                  </a:lnTo>
                  <a:lnTo>
                    <a:pt x="1246501" y="187401"/>
                  </a:lnTo>
                  <a:lnTo>
                    <a:pt x="1183468" y="179325"/>
                  </a:lnTo>
                  <a:lnTo>
                    <a:pt x="1129449" y="162766"/>
                  </a:lnTo>
                  <a:lnTo>
                    <a:pt x="1086250" y="136158"/>
                  </a:lnTo>
                  <a:lnTo>
                    <a:pt x="1055672" y="97935"/>
                  </a:lnTo>
                  <a:lnTo>
                    <a:pt x="1039520" y="46528"/>
                  </a:lnTo>
                  <a:lnTo>
                    <a:pt x="1037416" y="15393"/>
                  </a:lnTo>
                  <a:lnTo>
                    <a:pt x="1030272" y="0"/>
                  </a:lnTo>
                  <a:lnTo>
                    <a:pt x="1022010" y="58549"/>
                  </a:lnTo>
                  <a:lnTo>
                    <a:pt x="998428" y="103140"/>
                  </a:lnTo>
                  <a:lnTo>
                    <a:pt x="961327" y="135337"/>
                  </a:lnTo>
                  <a:lnTo>
                    <a:pt x="912509" y="156703"/>
                  </a:lnTo>
                  <a:lnTo>
                    <a:pt x="853778" y="168806"/>
                  </a:lnTo>
                  <a:lnTo>
                    <a:pt x="786936" y="173209"/>
                  </a:lnTo>
                  <a:lnTo>
                    <a:pt x="751036" y="173012"/>
                  </a:lnTo>
                  <a:lnTo>
                    <a:pt x="675407" y="168799"/>
                  </a:lnTo>
                  <a:lnTo>
                    <a:pt x="636128" y="165175"/>
                  </a:lnTo>
                  <a:lnTo>
                    <a:pt x="596172" y="160799"/>
                  </a:lnTo>
                  <a:lnTo>
                    <a:pt x="555767" y="155868"/>
                  </a:lnTo>
                  <a:lnTo>
                    <a:pt x="515136" y="150577"/>
                  </a:lnTo>
                  <a:lnTo>
                    <a:pt x="474504" y="145121"/>
                  </a:lnTo>
                  <a:lnTo>
                    <a:pt x="434099" y="139697"/>
                  </a:lnTo>
                  <a:lnTo>
                    <a:pt x="394144" y="134499"/>
                  </a:lnTo>
                  <a:lnTo>
                    <a:pt x="354864" y="129724"/>
                  </a:lnTo>
                  <a:lnTo>
                    <a:pt x="316486" y="125567"/>
                  </a:lnTo>
                  <a:lnTo>
                    <a:pt x="243335" y="119890"/>
                  </a:lnTo>
                  <a:lnTo>
                    <a:pt x="209013" y="118760"/>
                  </a:lnTo>
                  <a:lnTo>
                    <a:pt x="176493" y="119032"/>
                  </a:lnTo>
                  <a:lnTo>
                    <a:pt x="117762" y="124558"/>
                  </a:lnTo>
                  <a:lnTo>
                    <a:pt x="68945" y="138034"/>
                  </a:lnTo>
                  <a:lnTo>
                    <a:pt x="31843" y="161024"/>
                  </a:lnTo>
                  <a:lnTo>
                    <a:pt x="8261" y="195094"/>
                  </a:lnTo>
                  <a:lnTo>
                    <a:pt x="2102" y="216772"/>
                  </a:lnTo>
                  <a:lnTo>
                    <a:pt x="0" y="241807"/>
                  </a:lnTo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487236" y="1315721"/>
              <a:ext cx="258445" cy="2419350"/>
            </a:xfrm>
            <a:custGeom>
              <a:avLst/>
              <a:gdLst/>
              <a:ahLst/>
              <a:cxnLst/>
              <a:rect l="l" t="t" r="r" b="b"/>
              <a:pathLst>
                <a:path w="258445" h="2419350">
                  <a:moveTo>
                    <a:pt x="0" y="690552"/>
                  </a:moveTo>
                  <a:lnTo>
                    <a:pt x="34257" y="689168"/>
                  </a:lnTo>
                  <a:lnTo>
                    <a:pt x="62024" y="685158"/>
                  </a:lnTo>
                  <a:lnTo>
                    <a:pt x="100264" y="670100"/>
                  </a:lnTo>
                  <a:lnTo>
                    <a:pt x="122575" y="633066"/>
                  </a:lnTo>
                  <a:lnTo>
                    <a:pt x="122847" y="617710"/>
                  </a:lnTo>
                  <a:lnTo>
                    <a:pt x="120446" y="601198"/>
                  </a:lnTo>
                  <a:lnTo>
                    <a:pt x="115916" y="583740"/>
                  </a:lnTo>
                  <a:lnTo>
                    <a:pt x="109803" y="565547"/>
                  </a:lnTo>
                  <a:lnTo>
                    <a:pt x="102654" y="546829"/>
                  </a:lnTo>
                  <a:lnTo>
                    <a:pt x="95012" y="527795"/>
                  </a:lnTo>
                  <a:lnTo>
                    <a:pt x="87423" y="508657"/>
                  </a:lnTo>
                  <a:lnTo>
                    <a:pt x="80433" y="489623"/>
                  </a:lnTo>
                  <a:lnTo>
                    <a:pt x="74588" y="470905"/>
                  </a:lnTo>
                  <a:lnTo>
                    <a:pt x="70432" y="452712"/>
                  </a:lnTo>
                  <a:lnTo>
                    <a:pt x="68511" y="435254"/>
                  </a:lnTo>
                  <a:lnTo>
                    <a:pt x="69371" y="418742"/>
                  </a:lnTo>
                  <a:lnTo>
                    <a:pt x="94085" y="376981"/>
                  </a:lnTo>
                  <a:lnTo>
                    <a:pt x="134462" y="357720"/>
                  </a:lnTo>
                  <a:lnTo>
                    <a:pt x="199051" y="347284"/>
                  </a:lnTo>
                  <a:lnTo>
                    <a:pt x="241787" y="345900"/>
                  </a:lnTo>
                  <a:lnTo>
                    <a:pt x="258246" y="344072"/>
                  </a:lnTo>
                  <a:lnTo>
                    <a:pt x="215517" y="342691"/>
                  </a:lnTo>
                  <a:lnTo>
                    <a:pt x="150912" y="332272"/>
                  </a:lnTo>
                  <a:lnTo>
                    <a:pt x="110482" y="313043"/>
                  </a:lnTo>
                  <a:lnTo>
                    <a:pt x="85632" y="271352"/>
                  </a:lnTo>
                  <a:lnTo>
                    <a:pt x="84716" y="254868"/>
                  </a:lnTo>
                  <a:lnTo>
                    <a:pt x="86576" y="237439"/>
                  </a:lnTo>
                  <a:lnTo>
                    <a:pt x="96446" y="200590"/>
                  </a:lnTo>
                  <a:lnTo>
                    <a:pt x="110887" y="162482"/>
                  </a:lnTo>
                  <a:lnTo>
                    <a:pt x="118459" y="143481"/>
                  </a:lnTo>
                  <a:lnTo>
                    <a:pt x="125540" y="124794"/>
                  </a:lnTo>
                  <a:lnTo>
                    <a:pt x="131586" y="106632"/>
                  </a:lnTo>
                  <a:lnTo>
                    <a:pt x="136051" y="89203"/>
                  </a:lnTo>
                  <a:lnTo>
                    <a:pt x="138391" y="72719"/>
                  </a:lnTo>
                  <a:lnTo>
                    <a:pt x="138062" y="57389"/>
                  </a:lnTo>
                  <a:lnTo>
                    <a:pt x="115612" y="20417"/>
                  </a:lnTo>
                  <a:lnTo>
                    <a:pt x="77314" y="5384"/>
                  </a:lnTo>
                  <a:lnTo>
                    <a:pt x="49532" y="1380"/>
                  </a:lnTo>
                  <a:lnTo>
                    <a:pt x="15269" y="0"/>
                  </a:lnTo>
                </a:path>
                <a:path w="258445" h="2419350">
                  <a:moveTo>
                    <a:pt x="0" y="2419172"/>
                  </a:moveTo>
                  <a:lnTo>
                    <a:pt x="34257" y="2417792"/>
                  </a:lnTo>
                  <a:lnTo>
                    <a:pt x="62024" y="2413792"/>
                  </a:lnTo>
                  <a:lnTo>
                    <a:pt x="100264" y="2398771"/>
                  </a:lnTo>
                  <a:lnTo>
                    <a:pt x="122575" y="2361829"/>
                  </a:lnTo>
                  <a:lnTo>
                    <a:pt x="122847" y="2346510"/>
                  </a:lnTo>
                  <a:lnTo>
                    <a:pt x="120446" y="2330039"/>
                  </a:lnTo>
                  <a:lnTo>
                    <a:pt x="115916" y="2312625"/>
                  </a:lnTo>
                  <a:lnTo>
                    <a:pt x="109803" y="2294477"/>
                  </a:lnTo>
                  <a:lnTo>
                    <a:pt x="102654" y="2275805"/>
                  </a:lnTo>
                  <a:lnTo>
                    <a:pt x="95012" y="2256819"/>
                  </a:lnTo>
                  <a:lnTo>
                    <a:pt x="87423" y="2237728"/>
                  </a:lnTo>
                  <a:lnTo>
                    <a:pt x="80433" y="2218741"/>
                  </a:lnTo>
                  <a:lnTo>
                    <a:pt x="74588" y="2200069"/>
                  </a:lnTo>
                  <a:lnTo>
                    <a:pt x="70432" y="2181921"/>
                  </a:lnTo>
                  <a:lnTo>
                    <a:pt x="68511" y="2164507"/>
                  </a:lnTo>
                  <a:lnTo>
                    <a:pt x="69371" y="2148036"/>
                  </a:lnTo>
                  <a:lnTo>
                    <a:pt x="94085" y="2106378"/>
                  </a:lnTo>
                  <a:lnTo>
                    <a:pt x="134462" y="2087164"/>
                  </a:lnTo>
                  <a:lnTo>
                    <a:pt x="199051" y="2076754"/>
                  </a:lnTo>
                  <a:lnTo>
                    <a:pt x="241787" y="2075374"/>
                  </a:lnTo>
                  <a:lnTo>
                    <a:pt x="258246" y="2072722"/>
                  </a:lnTo>
                  <a:lnTo>
                    <a:pt x="215517" y="2071341"/>
                  </a:lnTo>
                  <a:lnTo>
                    <a:pt x="150912" y="2060923"/>
                  </a:lnTo>
                  <a:lnTo>
                    <a:pt x="110482" y="2041694"/>
                  </a:lnTo>
                  <a:lnTo>
                    <a:pt x="85632" y="2000003"/>
                  </a:lnTo>
                  <a:lnTo>
                    <a:pt x="84716" y="1983519"/>
                  </a:lnTo>
                  <a:lnTo>
                    <a:pt x="86576" y="1966090"/>
                  </a:lnTo>
                  <a:lnTo>
                    <a:pt x="96446" y="1929241"/>
                  </a:lnTo>
                  <a:lnTo>
                    <a:pt x="110887" y="1891133"/>
                  </a:lnTo>
                  <a:lnTo>
                    <a:pt x="118459" y="1872132"/>
                  </a:lnTo>
                  <a:lnTo>
                    <a:pt x="125540" y="1853445"/>
                  </a:lnTo>
                  <a:lnTo>
                    <a:pt x="131586" y="1835283"/>
                  </a:lnTo>
                  <a:lnTo>
                    <a:pt x="136051" y="1817854"/>
                  </a:lnTo>
                  <a:lnTo>
                    <a:pt x="138391" y="1801370"/>
                  </a:lnTo>
                  <a:lnTo>
                    <a:pt x="138062" y="1786039"/>
                  </a:lnTo>
                  <a:lnTo>
                    <a:pt x="115612" y="1749068"/>
                  </a:lnTo>
                  <a:lnTo>
                    <a:pt x="77314" y="1734034"/>
                  </a:lnTo>
                  <a:lnTo>
                    <a:pt x="49532" y="1730031"/>
                  </a:lnTo>
                  <a:lnTo>
                    <a:pt x="15269" y="1728650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41332" y="4592860"/>
              <a:ext cx="344170" cy="172085"/>
            </a:xfrm>
            <a:custGeom>
              <a:avLst/>
              <a:gdLst/>
              <a:ahLst/>
              <a:cxnLst/>
              <a:rect l="l" t="t" r="r" b="b"/>
              <a:pathLst>
                <a:path w="344170" h="172085">
                  <a:moveTo>
                    <a:pt x="343661" y="0"/>
                  </a:moveTo>
                  <a:lnTo>
                    <a:pt x="0" y="0"/>
                  </a:lnTo>
                  <a:lnTo>
                    <a:pt x="0" y="172032"/>
                  </a:lnTo>
                  <a:lnTo>
                    <a:pt x="343661" y="172032"/>
                  </a:lnTo>
                  <a:lnTo>
                    <a:pt x="343661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41328" y="4592864"/>
              <a:ext cx="344170" cy="172085"/>
            </a:xfrm>
            <a:custGeom>
              <a:avLst/>
              <a:gdLst/>
              <a:ahLst/>
              <a:cxnLst/>
              <a:rect l="l" t="t" r="r" b="b"/>
              <a:pathLst>
                <a:path w="344170" h="172085">
                  <a:moveTo>
                    <a:pt x="0" y="0"/>
                  </a:moveTo>
                  <a:lnTo>
                    <a:pt x="343678" y="0"/>
                  </a:lnTo>
                  <a:lnTo>
                    <a:pt x="343678" y="172032"/>
                  </a:lnTo>
                  <a:lnTo>
                    <a:pt x="0" y="172032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784994" y="4592860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687445" y="0"/>
                  </a:moveTo>
                  <a:lnTo>
                    <a:pt x="0" y="0"/>
                  </a:lnTo>
                  <a:lnTo>
                    <a:pt x="0" y="172032"/>
                  </a:lnTo>
                  <a:lnTo>
                    <a:pt x="687445" y="172032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785006" y="4592864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0" y="0"/>
                  </a:moveTo>
                  <a:lnTo>
                    <a:pt x="687447" y="0"/>
                  </a:lnTo>
                  <a:lnTo>
                    <a:pt x="687447" y="172032"/>
                  </a:lnTo>
                  <a:lnTo>
                    <a:pt x="0" y="172032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784994" y="4936915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687445" y="0"/>
                  </a:moveTo>
                  <a:lnTo>
                    <a:pt x="0" y="0"/>
                  </a:lnTo>
                  <a:lnTo>
                    <a:pt x="0" y="172032"/>
                  </a:lnTo>
                  <a:lnTo>
                    <a:pt x="687445" y="172032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785006" y="4936918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0" y="0"/>
                  </a:moveTo>
                  <a:lnTo>
                    <a:pt x="687447" y="0"/>
                  </a:lnTo>
                  <a:lnTo>
                    <a:pt x="687447" y="172032"/>
                  </a:lnTo>
                  <a:lnTo>
                    <a:pt x="0" y="172032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784994" y="5108948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687445" y="0"/>
                  </a:moveTo>
                  <a:lnTo>
                    <a:pt x="0" y="0"/>
                  </a:lnTo>
                  <a:lnTo>
                    <a:pt x="0" y="171724"/>
                  </a:lnTo>
                  <a:lnTo>
                    <a:pt x="687445" y="171724"/>
                  </a:lnTo>
                  <a:lnTo>
                    <a:pt x="687445" y="0"/>
                  </a:lnTo>
                  <a:close/>
                </a:path>
              </a:pathLst>
            </a:custGeom>
            <a:solidFill>
              <a:srgbClr val="CB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785006" y="5108951"/>
              <a:ext cx="687705" cy="172085"/>
            </a:xfrm>
            <a:custGeom>
              <a:avLst/>
              <a:gdLst/>
              <a:ahLst/>
              <a:cxnLst/>
              <a:rect l="l" t="t" r="r" b="b"/>
              <a:pathLst>
                <a:path w="687704" h="172085">
                  <a:moveTo>
                    <a:pt x="0" y="0"/>
                  </a:moveTo>
                  <a:lnTo>
                    <a:pt x="687447" y="0"/>
                  </a:lnTo>
                  <a:lnTo>
                    <a:pt x="687447" y="171725"/>
                  </a:lnTo>
                  <a:lnTo>
                    <a:pt x="0" y="171725"/>
                  </a:lnTo>
                  <a:lnTo>
                    <a:pt x="0" y="0"/>
                  </a:lnTo>
                  <a:close/>
                </a:path>
              </a:pathLst>
            </a:custGeom>
            <a:ln w="2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918358" y="1666880"/>
            <a:ext cx="21209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i="1" spc="-10" dirty="0">
                <a:latin typeface="Times New Roman"/>
                <a:cs typeface="Times New Roman"/>
              </a:rPr>
              <a:t>s</a:t>
            </a:r>
            <a:r>
              <a:rPr sz="1150" spc="-10" dirty="0">
                <a:latin typeface="Times New Roman"/>
                <a:cs typeface="Times New Roman"/>
              </a:rPr>
              <a:t>–</a:t>
            </a:r>
            <a:r>
              <a:rPr sz="1150" i="1" spc="-50" dirty="0">
                <a:latin typeface="Times New Roman"/>
                <a:cs typeface="Times New Roman"/>
              </a:rPr>
              <a:t>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745560" y="4872176"/>
            <a:ext cx="37274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725" spc="-15" baseline="14492" dirty="0">
                <a:latin typeface="Times New Roman"/>
                <a:cs typeface="Times New Roman"/>
              </a:rPr>
              <a:t>L</a:t>
            </a:r>
            <a:r>
              <a:rPr sz="950" i="1" spc="-10" dirty="0">
                <a:latin typeface="Times New Roman"/>
                <a:cs typeface="Times New Roman"/>
              </a:rPr>
              <a:t>m</a:t>
            </a:r>
            <a:r>
              <a:rPr sz="950" spc="-10" dirty="0">
                <a:latin typeface="Times New Roman"/>
                <a:cs typeface="Times New Roman"/>
              </a:rPr>
              <a:t>–</a:t>
            </a:r>
            <a:r>
              <a:rPr sz="950" spc="-50" dirty="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892413" y="2217298"/>
            <a:ext cx="5741670" cy="3077845"/>
            <a:chOff x="892413" y="2217298"/>
            <a:chExt cx="5741670" cy="3077845"/>
          </a:xfrm>
        </p:grpSpPr>
        <p:sp>
          <p:nvSpPr>
            <p:cNvPr id="122" name="object 122"/>
            <p:cNvSpPr/>
            <p:nvPr/>
          </p:nvSpPr>
          <p:spPr>
            <a:xfrm>
              <a:off x="5487236" y="4598317"/>
              <a:ext cx="258445" cy="690880"/>
            </a:xfrm>
            <a:custGeom>
              <a:avLst/>
              <a:gdLst/>
              <a:ahLst/>
              <a:cxnLst/>
              <a:rect l="l" t="t" r="r" b="b"/>
              <a:pathLst>
                <a:path w="258445" h="690879">
                  <a:moveTo>
                    <a:pt x="0" y="690774"/>
                  </a:moveTo>
                  <a:lnTo>
                    <a:pt x="34257" y="689393"/>
                  </a:lnTo>
                  <a:lnTo>
                    <a:pt x="62024" y="685390"/>
                  </a:lnTo>
                  <a:lnTo>
                    <a:pt x="100264" y="670358"/>
                  </a:lnTo>
                  <a:lnTo>
                    <a:pt x="122575" y="633388"/>
                  </a:lnTo>
                  <a:lnTo>
                    <a:pt x="122847" y="618058"/>
                  </a:lnTo>
                  <a:lnTo>
                    <a:pt x="120446" y="601575"/>
                  </a:lnTo>
                  <a:lnTo>
                    <a:pt x="115916" y="584148"/>
                  </a:lnTo>
                  <a:lnTo>
                    <a:pt x="109803" y="565986"/>
                  </a:lnTo>
                  <a:lnTo>
                    <a:pt x="102654" y="547300"/>
                  </a:lnTo>
                  <a:lnTo>
                    <a:pt x="95012" y="528300"/>
                  </a:lnTo>
                  <a:lnTo>
                    <a:pt x="87423" y="509195"/>
                  </a:lnTo>
                  <a:lnTo>
                    <a:pt x="80433" y="490194"/>
                  </a:lnTo>
                  <a:lnTo>
                    <a:pt x="74588" y="471508"/>
                  </a:lnTo>
                  <a:lnTo>
                    <a:pt x="70432" y="453347"/>
                  </a:lnTo>
                  <a:lnTo>
                    <a:pt x="68511" y="435919"/>
                  </a:lnTo>
                  <a:lnTo>
                    <a:pt x="69371" y="419436"/>
                  </a:lnTo>
                  <a:lnTo>
                    <a:pt x="94085" y="377747"/>
                  </a:lnTo>
                  <a:lnTo>
                    <a:pt x="134462" y="358519"/>
                  </a:lnTo>
                  <a:lnTo>
                    <a:pt x="199051" y="348101"/>
                  </a:lnTo>
                  <a:lnTo>
                    <a:pt x="241787" y="346720"/>
                  </a:lnTo>
                  <a:lnTo>
                    <a:pt x="258246" y="344053"/>
                  </a:lnTo>
                  <a:lnTo>
                    <a:pt x="215517" y="342672"/>
                  </a:lnTo>
                  <a:lnTo>
                    <a:pt x="150912" y="332254"/>
                  </a:lnTo>
                  <a:lnTo>
                    <a:pt x="110482" y="313027"/>
                  </a:lnTo>
                  <a:lnTo>
                    <a:pt x="85632" y="271338"/>
                  </a:lnTo>
                  <a:lnTo>
                    <a:pt x="84716" y="254854"/>
                  </a:lnTo>
                  <a:lnTo>
                    <a:pt x="86576" y="237427"/>
                  </a:lnTo>
                  <a:lnTo>
                    <a:pt x="96446" y="200580"/>
                  </a:lnTo>
                  <a:lnTo>
                    <a:pt x="110887" y="162474"/>
                  </a:lnTo>
                  <a:lnTo>
                    <a:pt x="118459" y="143473"/>
                  </a:lnTo>
                  <a:lnTo>
                    <a:pt x="125540" y="124787"/>
                  </a:lnTo>
                  <a:lnTo>
                    <a:pt x="131586" y="106626"/>
                  </a:lnTo>
                  <a:lnTo>
                    <a:pt x="136051" y="89199"/>
                  </a:lnTo>
                  <a:lnTo>
                    <a:pt x="138391" y="72715"/>
                  </a:lnTo>
                  <a:lnTo>
                    <a:pt x="138062" y="57385"/>
                  </a:lnTo>
                  <a:lnTo>
                    <a:pt x="115612" y="20416"/>
                  </a:lnTo>
                  <a:lnTo>
                    <a:pt x="77314" y="5383"/>
                  </a:lnTo>
                  <a:lnTo>
                    <a:pt x="49532" y="1380"/>
                  </a:lnTo>
                  <a:lnTo>
                    <a:pt x="15269" y="0"/>
                  </a:lnTo>
                </a:path>
              </a:pathLst>
            </a:custGeom>
            <a:ln w="117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112563" y="2217305"/>
              <a:ext cx="63500" cy="2209800"/>
            </a:xfrm>
            <a:custGeom>
              <a:avLst/>
              <a:gdLst/>
              <a:ahLst/>
              <a:cxnLst/>
              <a:rect l="l" t="t" r="r" b="b"/>
              <a:pathLst>
                <a:path w="63500" h="2209800">
                  <a:moveTo>
                    <a:pt x="63334" y="2177364"/>
                  </a:moveTo>
                  <a:lnTo>
                    <a:pt x="60807" y="2165032"/>
                  </a:lnTo>
                  <a:lnTo>
                    <a:pt x="53987" y="2154898"/>
                  </a:lnTo>
                  <a:lnTo>
                    <a:pt x="43967" y="2148027"/>
                  </a:lnTo>
                  <a:lnTo>
                    <a:pt x="31851" y="2145512"/>
                  </a:lnTo>
                  <a:lnTo>
                    <a:pt x="19507" y="2148027"/>
                  </a:lnTo>
                  <a:lnTo>
                    <a:pt x="9385" y="2154898"/>
                  </a:lnTo>
                  <a:lnTo>
                    <a:pt x="2514" y="2165032"/>
                  </a:lnTo>
                  <a:lnTo>
                    <a:pt x="0" y="2177364"/>
                  </a:lnTo>
                  <a:lnTo>
                    <a:pt x="2514" y="2189962"/>
                  </a:lnTo>
                  <a:lnTo>
                    <a:pt x="9385" y="2200071"/>
                  </a:lnTo>
                  <a:lnTo>
                    <a:pt x="19507" y="2206790"/>
                  </a:lnTo>
                  <a:lnTo>
                    <a:pt x="31851" y="2209228"/>
                  </a:lnTo>
                  <a:lnTo>
                    <a:pt x="43967" y="2206790"/>
                  </a:lnTo>
                  <a:lnTo>
                    <a:pt x="53987" y="2200071"/>
                  </a:lnTo>
                  <a:lnTo>
                    <a:pt x="60807" y="2189962"/>
                  </a:lnTo>
                  <a:lnTo>
                    <a:pt x="63334" y="2177364"/>
                  </a:lnTo>
                  <a:close/>
                </a:path>
                <a:path w="63500" h="2209800">
                  <a:moveTo>
                    <a:pt x="63334" y="1937981"/>
                  </a:moveTo>
                  <a:lnTo>
                    <a:pt x="60807" y="1925383"/>
                  </a:lnTo>
                  <a:lnTo>
                    <a:pt x="53987" y="1915287"/>
                  </a:lnTo>
                  <a:lnTo>
                    <a:pt x="43967" y="1908556"/>
                  </a:lnTo>
                  <a:lnTo>
                    <a:pt x="31851" y="1906117"/>
                  </a:lnTo>
                  <a:lnTo>
                    <a:pt x="19507" y="1908556"/>
                  </a:lnTo>
                  <a:lnTo>
                    <a:pt x="9385" y="1915287"/>
                  </a:lnTo>
                  <a:lnTo>
                    <a:pt x="2514" y="1925383"/>
                  </a:lnTo>
                  <a:lnTo>
                    <a:pt x="0" y="1937981"/>
                  </a:lnTo>
                  <a:lnTo>
                    <a:pt x="2514" y="1950313"/>
                  </a:lnTo>
                  <a:lnTo>
                    <a:pt x="9385" y="1960448"/>
                  </a:lnTo>
                  <a:lnTo>
                    <a:pt x="19507" y="1967318"/>
                  </a:lnTo>
                  <a:lnTo>
                    <a:pt x="31851" y="1969846"/>
                  </a:lnTo>
                  <a:lnTo>
                    <a:pt x="43967" y="1967318"/>
                  </a:lnTo>
                  <a:lnTo>
                    <a:pt x="53987" y="1960448"/>
                  </a:lnTo>
                  <a:lnTo>
                    <a:pt x="60807" y="1950313"/>
                  </a:lnTo>
                  <a:lnTo>
                    <a:pt x="63334" y="1937981"/>
                  </a:lnTo>
                  <a:close/>
                </a:path>
                <a:path w="63500" h="2209800">
                  <a:moveTo>
                    <a:pt x="63334" y="1698599"/>
                  </a:moveTo>
                  <a:lnTo>
                    <a:pt x="60807" y="1686445"/>
                  </a:lnTo>
                  <a:lnTo>
                    <a:pt x="53987" y="1676374"/>
                  </a:lnTo>
                  <a:lnTo>
                    <a:pt x="43967" y="1669503"/>
                  </a:lnTo>
                  <a:lnTo>
                    <a:pt x="31851" y="1666976"/>
                  </a:lnTo>
                  <a:lnTo>
                    <a:pt x="19507" y="1669503"/>
                  </a:lnTo>
                  <a:lnTo>
                    <a:pt x="9385" y="1676374"/>
                  </a:lnTo>
                  <a:lnTo>
                    <a:pt x="2514" y="1686445"/>
                  </a:lnTo>
                  <a:lnTo>
                    <a:pt x="0" y="1698599"/>
                  </a:lnTo>
                  <a:lnTo>
                    <a:pt x="2514" y="1711337"/>
                  </a:lnTo>
                  <a:lnTo>
                    <a:pt x="9385" y="1721421"/>
                  </a:lnTo>
                  <a:lnTo>
                    <a:pt x="19507" y="1728063"/>
                  </a:lnTo>
                  <a:lnTo>
                    <a:pt x="31851" y="1730451"/>
                  </a:lnTo>
                  <a:lnTo>
                    <a:pt x="43967" y="1728063"/>
                  </a:lnTo>
                  <a:lnTo>
                    <a:pt x="53987" y="1721421"/>
                  </a:lnTo>
                  <a:lnTo>
                    <a:pt x="60807" y="1711337"/>
                  </a:lnTo>
                  <a:lnTo>
                    <a:pt x="63334" y="1698599"/>
                  </a:lnTo>
                  <a:close/>
                </a:path>
                <a:path w="63500" h="2209800">
                  <a:moveTo>
                    <a:pt x="63334" y="510387"/>
                  </a:moveTo>
                  <a:lnTo>
                    <a:pt x="60807" y="497840"/>
                  </a:lnTo>
                  <a:lnTo>
                    <a:pt x="53987" y="487819"/>
                  </a:lnTo>
                  <a:lnTo>
                    <a:pt x="43967" y="481177"/>
                  </a:lnTo>
                  <a:lnTo>
                    <a:pt x="31851" y="478777"/>
                  </a:lnTo>
                  <a:lnTo>
                    <a:pt x="19507" y="481177"/>
                  </a:lnTo>
                  <a:lnTo>
                    <a:pt x="9385" y="487819"/>
                  </a:lnTo>
                  <a:lnTo>
                    <a:pt x="2514" y="497840"/>
                  </a:lnTo>
                  <a:lnTo>
                    <a:pt x="0" y="510387"/>
                  </a:lnTo>
                  <a:lnTo>
                    <a:pt x="2514" y="522719"/>
                  </a:lnTo>
                  <a:lnTo>
                    <a:pt x="9385" y="532853"/>
                  </a:lnTo>
                  <a:lnTo>
                    <a:pt x="19507" y="539711"/>
                  </a:lnTo>
                  <a:lnTo>
                    <a:pt x="31851" y="542239"/>
                  </a:lnTo>
                  <a:lnTo>
                    <a:pt x="43967" y="539711"/>
                  </a:lnTo>
                  <a:lnTo>
                    <a:pt x="53987" y="532853"/>
                  </a:lnTo>
                  <a:lnTo>
                    <a:pt x="60807" y="522719"/>
                  </a:lnTo>
                  <a:lnTo>
                    <a:pt x="63334" y="510387"/>
                  </a:lnTo>
                  <a:close/>
                </a:path>
                <a:path w="63500" h="2209800">
                  <a:moveTo>
                    <a:pt x="63334" y="270383"/>
                  </a:moveTo>
                  <a:lnTo>
                    <a:pt x="60807" y="258051"/>
                  </a:lnTo>
                  <a:lnTo>
                    <a:pt x="53987" y="247916"/>
                  </a:lnTo>
                  <a:lnTo>
                    <a:pt x="43967" y="241058"/>
                  </a:lnTo>
                  <a:lnTo>
                    <a:pt x="31851" y="238531"/>
                  </a:lnTo>
                  <a:lnTo>
                    <a:pt x="19507" y="241058"/>
                  </a:lnTo>
                  <a:lnTo>
                    <a:pt x="9385" y="247929"/>
                  </a:lnTo>
                  <a:lnTo>
                    <a:pt x="2514" y="258051"/>
                  </a:lnTo>
                  <a:lnTo>
                    <a:pt x="0" y="270383"/>
                  </a:lnTo>
                  <a:lnTo>
                    <a:pt x="2514" y="282981"/>
                  </a:lnTo>
                  <a:lnTo>
                    <a:pt x="9385" y="293077"/>
                  </a:lnTo>
                  <a:lnTo>
                    <a:pt x="19507" y="299796"/>
                  </a:lnTo>
                  <a:lnTo>
                    <a:pt x="31851" y="302234"/>
                  </a:lnTo>
                  <a:lnTo>
                    <a:pt x="43967" y="299796"/>
                  </a:lnTo>
                  <a:lnTo>
                    <a:pt x="53987" y="293077"/>
                  </a:lnTo>
                  <a:lnTo>
                    <a:pt x="60807" y="282981"/>
                  </a:lnTo>
                  <a:lnTo>
                    <a:pt x="63334" y="270383"/>
                  </a:lnTo>
                  <a:close/>
                </a:path>
                <a:path w="63500" h="2209800">
                  <a:moveTo>
                    <a:pt x="63334" y="31851"/>
                  </a:moveTo>
                  <a:lnTo>
                    <a:pt x="60807" y="19265"/>
                  </a:lnTo>
                  <a:lnTo>
                    <a:pt x="53987" y="9156"/>
                  </a:lnTo>
                  <a:lnTo>
                    <a:pt x="43967" y="2438"/>
                  </a:lnTo>
                  <a:lnTo>
                    <a:pt x="31851" y="0"/>
                  </a:lnTo>
                  <a:lnTo>
                    <a:pt x="19507" y="2438"/>
                  </a:lnTo>
                  <a:lnTo>
                    <a:pt x="9385" y="9156"/>
                  </a:lnTo>
                  <a:lnTo>
                    <a:pt x="2514" y="19265"/>
                  </a:lnTo>
                  <a:lnTo>
                    <a:pt x="0" y="31851"/>
                  </a:lnTo>
                  <a:lnTo>
                    <a:pt x="2514" y="44221"/>
                  </a:lnTo>
                  <a:lnTo>
                    <a:pt x="9385" y="54406"/>
                  </a:lnTo>
                  <a:lnTo>
                    <a:pt x="19507" y="61315"/>
                  </a:lnTo>
                  <a:lnTo>
                    <a:pt x="31851" y="63855"/>
                  </a:lnTo>
                  <a:lnTo>
                    <a:pt x="43967" y="61315"/>
                  </a:lnTo>
                  <a:lnTo>
                    <a:pt x="53987" y="54406"/>
                  </a:lnTo>
                  <a:lnTo>
                    <a:pt x="60807" y="44221"/>
                  </a:lnTo>
                  <a:lnTo>
                    <a:pt x="63334" y="318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778013" y="3266306"/>
              <a:ext cx="3848735" cy="240665"/>
            </a:xfrm>
            <a:custGeom>
              <a:avLst/>
              <a:gdLst/>
              <a:ahLst/>
              <a:cxnLst/>
              <a:rect l="l" t="t" r="r" b="b"/>
              <a:pathLst>
                <a:path w="3848734" h="240664">
                  <a:moveTo>
                    <a:pt x="0" y="170207"/>
                  </a:moveTo>
                  <a:lnTo>
                    <a:pt x="0" y="170207"/>
                  </a:lnTo>
                  <a:lnTo>
                    <a:pt x="69165" y="240374"/>
                  </a:lnTo>
                </a:path>
                <a:path w="3848734" h="240664">
                  <a:moveTo>
                    <a:pt x="69165" y="170207"/>
                  </a:moveTo>
                  <a:lnTo>
                    <a:pt x="69165" y="170207"/>
                  </a:lnTo>
                  <a:lnTo>
                    <a:pt x="0" y="240374"/>
                  </a:lnTo>
                </a:path>
                <a:path w="3848734" h="240664">
                  <a:moveTo>
                    <a:pt x="3779452" y="0"/>
                  </a:moveTo>
                  <a:lnTo>
                    <a:pt x="3779452" y="0"/>
                  </a:lnTo>
                  <a:lnTo>
                    <a:pt x="3848639" y="70015"/>
                  </a:lnTo>
                </a:path>
                <a:path w="3848734" h="240664">
                  <a:moveTo>
                    <a:pt x="3848639" y="0"/>
                  </a:moveTo>
                  <a:lnTo>
                    <a:pt x="3848639" y="0"/>
                  </a:lnTo>
                  <a:lnTo>
                    <a:pt x="3779452" y="70015"/>
                  </a:lnTo>
                </a:path>
              </a:pathLst>
            </a:custGeom>
            <a:ln w="144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898277" y="3379361"/>
              <a:ext cx="894080" cy="348615"/>
            </a:xfrm>
            <a:custGeom>
              <a:avLst/>
              <a:gdLst/>
              <a:ahLst/>
              <a:cxnLst/>
              <a:rect l="l" t="t" r="r" b="b"/>
              <a:pathLst>
                <a:path w="894080" h="348614">
                  <a:moveTo>
                    <a:pt x="223732" y="348278"/>
                  </a:moveTo>
                  <a:lnTo>
                    <a:pt x="0" y="174444"/>
                  </a:lnTo>
                  <a:lnTo>
                    <a:pt x="223732" y="0"/>
                  </a:lnTo>
                  <a:lnTo>
                    <a:pt x="671193" y="0"/>
                  </a:lnTo>
                  <a:lnTo>
                    <a:pt x="894029" y="174444"/>
                  </a:lnTo>
                  <a:lnTo>
                    <a:pt x="671193" y="348278"/>
                  </a:lnTo>
                  <a:lnTo>
                    <a:pt x="223732" y="348278"/>
                  </a:lnTo>
                  <a:close/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" name="object 113"/>
          <p:cNvGrpSpPr/>
          <p:nvPr/>
        </p:nvGrpSpPr>
        <p:grpSpPr>
          <a:xfrm>
            <a:off x="8038124" y="1146204"/>
            <a:ext cx="655320" cy="3479800"/>
            <a:chOff x="8038124" y="1146204"/>
            <a:chExt cx="655320" cy="3479800"/>
          </a:xfrm>
        </p:grpSpPr>
        <p:sp>
          <p:nvSpPr>
            <p:cNvPr id="114" name="object 114"/>
            <p:cNvSpPr/>
            <p:nvPr/>
          </p:nvSpPr>
          <p:spPr>
            <a:xfrm>
              <a:off x="8429042" y="1152068"/>
              <a:ext cx="258445" cy="2744470"/>
            </a:xfrm>
            <a:custGeom>
              <a:avLst/>
              <a:gdLst/>
              <a:ahLst/>
              <a:cxnLst/>
              <a:rect l="l" t="t" r="r" b="b"/>
              <a:pathLst>
                <a:path w="258445" h="2744470">
                  <a:moveTo>
                    <a:pt x="0" y="690521"/>
                  </a:moveTo>
                  <a:lnTo>
                    <a:pt x="34270" y="689137"/>
                  </a:lnTo>
                  <a:lnTo>
                    <a:pt x="62049" y="685124"/>
                  </a:lnTo>
                  <a:lnTo>
                    <a:pt x="100310" y="670055"/>
                  </a:lnTo>
                  <a:lnTo>
                    <a:pt x="122645" y="632995"/>
                  </a:lnTo>
                  <a:lnTo>
                    <a:pt x="122923" y="617628"/>
                  </a:lnTo>
                  <a:lnTo>
                    <a:pt x="120526" y="601104"/>
                  </a:lnTo>
                  <a:lnTo>
                    <a:pt x="116000" y="583634"/>
                  </a:lnTo>
                  <a:lnTo>
                    <a:pt x="109890" y="565428"/>
                  </a:lnTo>
                  <a:lnTo>
                    <a:pt x="102741" y="546697"/>
                  </a:lnTo>
                  <a:lnTo>
                    <a:pt x="95100" y="527650"/>
                  </a:lnTo>
                  <a:lnTo>
                    <a:pt x="87510" y="508498"/>
                  </a:lnTo>
                  <a:lnTo>
                    <a:pt x="80519" y="489451"/>
                  </a:lnTo>
                  <a:lnTo>
                    <a:pt x="74670" y="470719"/>
                  </a:lnTo>
                  <a:lnTo>
                    <a:pt x="70510" y="452513"/>
                  </a:lnTo>
                  <a:lnTo>
                    <a:pt x="68583" y="435043"/>
                  </a:lnTo>
                  <a:lnTo>
                    <a:pt x="69436" y="418520"/>
                  </a:lnTo>
                  <a:lnTo>
                    <a:pt x="94124" y="376728"/>
                  </a:lnTo>
                  <a:lnTo>
                    <a:pt x="134477" y="357454"/>
                  </a:lnTo>
                  <a:lnTo>
                    <a:pt x="199036" y="347010"/>
                  </a:lnTo>
                  <a:lnTo>
                    <a:pt x="241757" y="345626"/>
                  </a:lnTo>
                  <a:lnTo>
                    <a:pt x="258368" y="343797"/>
                  </a:lnTo>
                  <a:lnTo>
                    <a:pt x="215639" y="342417"/>
                  </a:lnTo>
                  <a:lnTo>
                    <a:pt x="151034" y="332007"/>
                  </a:lnTo>
                  <a:lnTo>
                    <a:pt x="110603" y="312794"/>
                  </a:lnTo>
                  <a:lnTo>
                    <a:pt x="85753" y="271136"/>
                  </a:lnTo>
                  <a:lnTo>
                    <a:pt x="84836" y="254664"/>
                  </a:lnTo>
                  <a:lnTo>
                    <a:pt x="86696" y="237250"/>
                  </a:lnTo>
                  <a:lnTo>
                    <a:pt x="96566" y="200430"/>
                  </a:lnTo>
                  <a:lnTo>
                    <a:pt x="111004" y="162353"/>
                  </a:lnTo>
                  <a:lnTo>
                    <a:pt x="118576" y="143366"/>
                  </a:lnTo>
                  <a:lnTo>
                    <a:pt x="125656" y="124694"/>
                  </a:lnTo>
                  <a:lnTo>
                    <a:pt x="131700" y="106547"/>
                  </a:lnTo>
                  <a:lnTo>
                    <a:pt x="136164" y="89132"/>
                  </a:lnTo>
                  <a:lnTo>
                    <a:pt x="138502" y="72661"/>
                  </a:lnTo>
                  <a:lnTo>
                    <a:pt x="138171" y="57343"/>
                  </a:lnTo>
                  <a:lnTo>
                    <a:pt x="115715" y="20401"/>
                  </a:lnTo>
                  <a:lnTo>
                    <a:pt x="77412" y="5379"/>
                  </a:lnTo>
                  <a:lnTo>
                    <a:pt x="49627" y="1379"/>
                  </a:lnTo>
                  <a:lnTo>
                    <a:pt x="15361" y="0"/>
                  </a:lnTo>
                </a:path>
                <a:path w="258445" h="2744470">
                  <a:moveTo>
                    <a:pt x="0" y="2743962"/>
                  </a:moveTo>
                  <a:lnTo>
                    <a:pt x="34270" y="2742581"/>
                  </a:lnTo>
                  <a:lnTo>
                    <a:pt x="62049" y="2738578"/>
                  </a:lnTo>
                  <a:lnTo>
                    <a:pt x="100310" y="2723545"/>
                  </a:lnTo>
                  <a:lnTo>
                    <a:pt x="122645" y="2686576"/>
                  </a:lnTo>
                  <a:lnTo>
                    <a:pt x="122923" y="2671246"/>
                  </a:lnTo>
                  <a:lnTo>
                    <a:pt x="120526" y="2654762"/>
                  </a:lnTo>
                  <a:lnTo>
                    <a:pt x="116000" y="2637335"/>
                  </a:lnTo>
                  <a:lnTo>
                    <a:pt x="109890" y="2619174"/>
                  </a:lnTo>
                  <a:lnTo>
                    <a:pt x="102741" y="2600488"/>
                  </a:lnTo>
                  <a:lnTo>
                    <a:pt x="95100" y="2581487"/>
                  </a:lnTo>
                  <a:lnTo>
                    <a:pt x="87510" y="2562382"/>
                  </a:lnTo>
                  <a:lnTo>
                    <a:pt x="80519" y="2543382"/>
                  </a:lnTo>
                  <a:lnTo>
                    <a:pt x="74670" y="2524696"/>
                  </a:lnTo>
                  <a:lnTo>
                    <a:pt x="70510" y="2506534"/>
                  </a:lnTo>
                  <a:lnTo>
                    <a:pt x="68583" y="2489107"/>
                  </a:lnTo>
                  <a:lnTo>
                    <a:pt x="69436" y="2472624"/>
                  </a:lnTo>
                  <a:lnTo>
                    <a:pt x="94124" y="2430934"/>
                  </a:lnTo>
                  <a:lnTo>
                    <a:pt x="134477" y="2411707"/>
                  </a:lnTo>
                  <a:lnTo>
                    <a:pt x="199036" y="2401289"/>
                  </a:lnTo>
                  <a:lnTo>
                    <a:pt x="241757" y="2399908"/>
                  </a:lnTo>
                  <a:lnTo>
                    <a:pt x="258368" y="2397226"/>
                  </a:lnTo>
                  <a:lnTo>
                    <a:pt x="215639" y="2395846"/>
                  </a:lnTo>
                  <a:lnTo>
                    <a:pt x="151034" y="2385440"/>
                  </a:lnTo>
                  <a:lnTo>
                    <a:pt x="110603" y="2366233"/>
                  </a:lnTo>
                  <a:lnTo>
                    <a:pt x="85753" y="2324590"/>
                  </a:lnTo>
                  <a:lnTo>
                    <a:pt x="84836" y="2308124"/>
                  </a:lnTo>
                  <a:lnTo>
                    <a:pt x="86696" y="2290716"/>
                  </a:lnTo>
                  <a:lnTo>
                    <a:pt x="96566" y="2253909"/>
                  </a:lnTo>
                  <a:lnTo>
                    <a:pt x="111004" y="2215845"/>
                  </a:lnTo>
                  <a:lnTo>
                    <a:pt x="118576" y="2196866"/>
                  </a:lnTo>
                  <a:lnTo>
                    <a:pt x="125656" y="2178201"/>
                  </a:lnTo>
                  <a:lnTo>
                    <a:pt x="131700" y="2160059"/>
                  </a:lnTo>
                  <a:lnTo>
                    <a:pt x="136164" y="2142651"/>
                  </a:lnTo>
                  <a:lnTo>
                    <a:pt x="138502" y="2126186"/>
                  </a:lnTo>
                  <a:lnTo>
                    <a:pt x="138171" y="2110873"/>
                  </a:lnTo>
                  <a:lnTo>
                    <a:pt x="115715" y="2073944"/>
                  </a:lnTo>
                  <a:lnTo>
                    <a:pt x="77412" y="2058928"/>
                  </a:lnTo>
                  <a:lnTo>
                    <a:pt x="49627" y="2054929"/>
                  </a:lnTo>
                  <a:lnTo>
                    <a:pt x="15361" y="2053550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38124" y="2686751"/>
              <a:ext cx="64312" cy="63825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8038124" y="2447696"/>
              <a:ext cx="64769" cy="63500"/>
            </a:xfrm>
            <a:custGeom>
              <a:avLst/>
              <a:gdLst/>
              <a:ahLst/>
              <a:cxnLst/>
              <a:rect l="l" t="t" r="r" b="b"/>
              <a:pathLst>
                <a:path w="64770" h="63500">
                  <a:moveTo>
                    <a:pt x="32461" y="0"/>
                  </a:moveTo>
                  <a:lnTo>
                    <a:pt x="19776" y="2409"/>
                  </a:lnTo>
                  <a:lnTo>
                    <a:pt x="9464" y="9083"/>
                  </a:lnTo>
                  <a:lnTo>
                    <a:pt x="2534" y="19185"/>
                  </a:lnTo>
                  <a:lnTo>
                    <a:pt x="0" y="31882"/>
                  </a:lnTo>
                  <a:lnTo>
                    <a:pt x="2534" y="44021"/>
                  </a:lnTo>
                  <a:lnTo>
                    <a:pt x="9464" y="54086"/>
                  </a:lnTo>
                  <a:lnTo>
                    <a:pt x="19776" y="60951"/>
                  </a:lnTo>
                  <a:lnTo>
                    <a:pt x="32461" y="63489"/>
                  </a:lnTo>
                  <a:lnTo>
                    <a:pt x="44793" y="60951"/>
                  </a:lnTo>
                  <a:lnTo>
                    <a:pt x="54924" y="54086"/>
                  </a:lnTo>
                  <a:lnTo>
                    <a:pt x="61787" y="44021"/>
                  </a:lnTo>
                  <a:lnTo>
                    <a:pt x="64312" y="31882"/>
                  </a:lnTo>
                  <a:lnTo>
                    <a:pt x="61787" y="19185"/>
                  </a:lnTo>
                  <a:lnTo>
                    <a:pt x="54924" y="9083"/>
                  </a:lnTo>
                  <a:lnTo>
                    <a:pt x="44793" y="2409"/>
                  </a:lnTo>
                  <a:lnTo>
                    <a:pt x="324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38124" y="2208337"/>
              <a:ext cx="64312" cy="63733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38124" y="4561844"/>
              <a:ext cx="64312" cy="6384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38124" y="4322826"/>
              <a:ext cx="64312" cy="63721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038124" y="4083439"/>
              <a:ext cx="64312" cy="63721"/>
            </a:xfrm>
            <a:prstGeom prst="rect">
              <a:avLst/>
            </a:prstGeom>
          </p:spPr>
        </p:pic>
      </p:grpSp>
      <p:sp>
        <p:nvSpPr>
          <p:cNvPr id="99" name="object 99"/>
          <p:cNvSpPr txBox="1"/>
          <p:nvPr/>
        </p:nvSpPr>
        <p:spPr>
          <a:xfrm>
            <a:off x="1547458" y="5917560"/>
            <a:ext cx="96520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dirty="0">
                <a:latin typeface="Times New Roman"/>
                <a:cs typeface="Times New Roman"/>
              </a:rPr>
              <a:t>Figure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spc="-25" dirty="0">
                <a:latin typeface="Times New Roman"/>
                <a:cs typeface="Times New Roman"/>
              </a:rPr>
              <a:t>4.9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646725" y="5917560"/>
            <a:ext cx="3437254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dirty="0">
                <a:latin typeface="Times New Roman"/>
                <a:cs typeface="Times New Roman"/>
              </a:rPr>
              <a:t>Direct-Mapping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Cache </a:t>
            </a:r>
            <a:r>
              <a:rPr sz="1700" b="1" spc="-10" dirty="0">
                <a:latin typeface="Times New Roman"/>
                <a:cs typeface="Times New Roman"/>
              </a:rPr>
              <a:t>Organization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203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961" y="1219271"/>
            <a:ext cx="759142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Figure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4.9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illustrates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mechanism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8100" marR="3556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purposes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cache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can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viewed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fields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8100" marR="419734" indent="762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significant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unique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 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byte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memory;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contemporary </a:t>
            </a:r>
            <a:r>
              <a:rPr sz="2400" dirty="0">
                <a:latin typeface="Times New Roman"/>
                <a:cs typeface="Times New Roman"/>
              </a:rPr>
              <a:t>machines,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8100" marR="463550">
              <a:lnSpc>
                <a:spcPct val="100000"/>
              </a:lnSpc>
              <a:spcBef>
                <a:spcPts val="5"/>
              </a:spcBef>
              <a:tabLst>
                <a:tab pos="216725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remaining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bits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2</a:t>
            </a:r>
            <a:r>
              <a:rPr sz="2625" baseline="28571" dirty="0">
                <a:latin typeface="Cambria Math"/>
                <a:cs typeface="Cambria Math"/>
              </a:rPr>
              <a:t>𝑠</a:t>
            </a:r>
            <a:r>
              <a:rPr sz="2625" spc="509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main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14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cache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interprets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tag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bits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(most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significant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portion)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  bits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latter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identifies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2</a:t>
            </a:r>
            <a:r>
              <a:rPr sz="2625" baseline="28571" dirty="0">
                <a:latin typeface="Cambria Math"/>
                <a:cs typeface="Cambria Math"/>
              </a:rPr>
              <a:t>𝑟</a:t>
            </a:r>
            <a:r>
              <a:rPr sz="2625" spc="427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cache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411" y="200603"/>
            <a:ext cx="286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211989" y="502153"/>
            <a:ext cx="61283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3670" marR="5080" indent="-14116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10" dirty="0"/>
              <a:t>disadvantage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Direct</a:t>
            </a:r>
            <a:r>
              <a:rPr spc="-204" dirty="0">
                <a:latin typeface="Times New Roman"/>
                <a:cs typeface="Times New Roman"/>
              </a:rPr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7395" y="2373245"/>
            <a:ext cx="7329170" cy="2414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mapping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inexpensive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implement.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Its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disadvantage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fixed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cache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location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any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Thus,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happens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reference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words </a:t>
            </a:r>
            <a:r>
              <a:rPr sz="2000" dirty="0">
                <a:latin typeface="Times New Roman"/>
                <a:cs typeface="Times New Roman"/>
              </a:rPr>
              <a:t>repeatedly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 into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line,</a:t>
            </a:r>
            <a:r>
              <a:rPr sz="2000" spc="-20" dirty="0">
                <a:latin typeface="Times New Roman"/>
                <a:cs typeface="Times New Roman"/>
              </a:rPr>
              <a:t> then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continually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swapped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cache,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ratio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phenomenon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thrashing).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8767" y="382524"/>
            <a:ext cx="2494788" cy="101193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232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Fully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/>
              <a:t>associative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10" dirty="0"/>
              <a:t>mapping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8068178" y="282580"/>
            <a:ext cx="784860" cy="1600200"/>
            <a:chOff x="8068178" y="282580"/>
            <a:chExt cx="784860" cy="1600200"/>
          </a:xfrm>
        </p:grpSpPr>
        <p:sp>
          <p:nvSpPr>
            <p:cNvPr id="3" name="object 3"/>
            <p:cNvSpPr/>
            <p:nvPr/>
          </p:nvSpPr>
          <p:spPr>
            <a:xfrm>
              <a:off x="8210550" y="282580"/>
              <a:ext cx="642620" cy="1600200"/>
            </a:xfrm>
            <a:custGeom>
              <a:avLst/>
              <a:gdLst/>
              <a:ahLst/>
              <a:cxnLst/>
              <a:rect l="l" t="t" r="r" b="b"/>
              <a:pathLst>
                <a:path w="642620" h="1600200">
                  <a:moveTo>
                    <a:pt x="642103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642103" y="1600199"/>
                  </a:lnTo>
                  <a:lnTo>
                    <a:pt x="642103" y="0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68178" y="282580"/>
              <a:ext cx="91440" cy="1600200"/>
            </a:xfrm>
            <a:custGeom>
              <a:avLst/>
              <a:gdLst/>
              <a:ahLst/>
              <a:cxnLst/>
              <a:rect l="l" t="t" r="r" b="b"/>
              <a:pathLst>
                <a:path w="91440" h="1600200">
                  <a:moveTo>
                    <a:pt x="91439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91439" y="1600199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656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12140" y="2310494"/>
            <a:ext cx="7362825" cy="292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marR="379730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Originally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proposed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approach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reduce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conflict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	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misses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direct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mapped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without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affecting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its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fast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	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time</a:t>
            </a:r>
            <a:endParaRPr sz="2000">
              <a:latin typeface="Rockwell"/>
              <a:cs typeface="Rockwell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Also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called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victim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989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Typical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4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16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endParaRPr sz="2000">
              <a:latin typeface="Rockwell"/>
              <a:cs typeface="Rockwell"/>
            </a:endParaRPr>
          </a:p>
          <a:p>
            <a:pPr marL="240029" marR="5080" indent="-227965">
              <a:lnSpc>
                <a:spcPct val="100000"/>
              </a:lnSpc>
              <a:spcBef>
                <a:spcPts val="201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Residing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between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direct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mapped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L1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next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level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	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2000">
              <a:latin typeface="Rockwell"/>
              <a:cs typeface="Rockwel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8037" y="0"/>
            <a:ext cx="2195962" cy="233878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79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-10" dirty="0"/>
              <a:t>Associative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/>
              <a:t>mapping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98" y="1624318"/>
            <a:ext cx="739838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5"/>
              </a:spcBef>
              <a:buSzPct val="75000"/>
              <a:buFont typeface="Wingdings"/>
              <a:buChar char=""/>
              <a:tabLst>
                <a:tab pos="241300" algn="l"/>
                <a:tab pos="304165" algn="l"/>
              </a:tabLst>
            </a:pPr>
            <a:r>
              <a:rPr sz="2000" dirty="0">
                <a:solidFill>
                  <a:srgbClr val="653265"/>
                </a:solidFill>
                <a:latin typeface="Rockwell"/>
                <a:cs typeface="Rockwell"/>
              </a:rPr>
              <a:t>	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Overcome</a:t>
            </a:r>
            <a:r>
              <a:rPr sz="2000" spc="200" dirty="0">
                <a:solidFill>
                  <a:srgbClr val="595959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200" dirty="0">
                <a:solidFill>
                  <a:srgbClr val="595959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disadvantage</a:t>
            </a:r>
            <a:r>
              <a:rPr sz="2000" spc="200" dirty="0">
                <a:solidFill>
                  <a:srgbClr val="595959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204" dirty="0">
                <a:solidFill>
                  <a:srgbClr val="595959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direct</a:t>
            </a:r>
            <a:r>
              <a:rPr sz="2000" spc="200" dirty="0">
                <a:solidFill>
                  <a:srgbClr val="595959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mapping</a:t>
            </a:r>
            <a:r>
              <a:rPr sz="2000" spc="204" dirty="0">
                <a:solidFill>
                  <a:srgbClr val="595959"/>
                </a:solidFill>
                <a:latin typeface="Times New Roman"/>
                <a:cs typeface="Times New Roman"/>
              </a:rPr>
              <a:t>  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permitting</a:t>
            </a:r>
            <a:r>
              <a:rPr sz="2000" spc="3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2000" spc="3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2000" spc="3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3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2000" spc="3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3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2000" spc="3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loaded</a:t>
            </a:r>
            <a:r>
              <a:rPr sz="2000" spc="3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595959"/>
                </a:solidFill>
                <a:latin typeface="Rockwell"/>
                <a:cs typeface="Rockwell"/>
              </a:rPr>
              <a:t>into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any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endParaRPr sz="2000">
              <a:latin typeface="Rockwell"/>
              <a:cs typeface="Rockwel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100" y="2852891"/>
            <a:ext cx="6003676" cy="302437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79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-10" dirty="0"/>
              <a:t>Associative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/>
              <a:t>mapping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98" y="1293109"/>
            <a:ext cx="7263765" cy="236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logic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interprets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simply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Tag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field.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Tag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field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uniquely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identifies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2000">
              <a:latin typeface="Rockwell"/>
              <a:cs typeface="Rockwell"/>
            </a:endParaRPr>
          </a:p>
          <a:p>
            <a:pPr marL="241300" marR="220345" indent="-228600">
              <a:lnSpc>
                <a:spcPct val="100000"/>
              </a:lnSpc>
              <a:spcBef>
                <a:spcPts val="19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determine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whether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cache,</a:t>
            </a:r>
            <a:r>
              <a:rPr sz="2000" spc="-1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control</a:t>
            </a:r>
            <a:r>
              <a:rPr sz="2000" spc="-6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logic</a:t>
            </a:r>
            <a:r>
              <a:rPr sz="2000" spc="-7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must</a:t>
            </a:r>
            <a:r>
              <a:rPr sz="2000" spc="-7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simultaneously</a:t>
            </a:r>
            <a:r>
              <a:rPr sz="2000" spc="-9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examine</a:t>
            </a:r>
            <a:r>
              <a:rPr sz="2000" spc="-6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every</a:t>
            </a:r>
            <a:r>
              <a:rPr sz="2000" spc="-8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spc="-35" dirty="0">
                <a:solidFill>
                  <a:srgbClr val="595959"/>
                </a:solidFill>
                <a:latin typeface="Rockwell"/>
                <a:cs typeface="Rockwell"/>
              </a:rPr>
              <a:t>line’s</a:t>
            </a:r>
            <a:r>
              <a:rPr sz="2000" spc="-7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tag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match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398" y="4443727"/>
            <a:ext cx="5474335" cy="144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60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specific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access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within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Wingdings"/>
                <a:cs typeface="Wingdings"/>
              </a:rPr>
              <a:t>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1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out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4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989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4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Wingdings"/>
                <a:cs typeface="Wingdings"/>
              </a:rPr>
              <a:t>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1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out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16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endParaRPr sz="2000">
              <a:latin typeface="Rockwell"/>
              <a:cs typeface="Rockwel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592" y="3733431"/>
            <a:ext cx="6603613" cy="72007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ect 50"/>
          <p:cNvSpPr/>
          <p:nvPr/>
        </p:nvSpPr>
        <p:spPr>
          <a:xfrm>
            <a:off x="2675371" y="113000"/>
            <a:ext cx="182880" cy="184150"/>
          </a:xfrm>
          <a:custGeom>
            <a:avLst/>
            <a:gdLst/>
            <a:ahLst/>
            <a:cxnLst/>
            <a:rect l="l" t="t" r="r" b="b"/>
            <a:pathLst>
              <a:path w="182880" h="184150">
                <a:moveTo>
                  <a:pt x="0" y="183708"/>
                </a:moveTo>
                <a:lnTo>
                  <a:pt x="0" y="183708"/>
                </a:lnTo>
                <a:lnTo>
                  <a:pt x="182402" y="0"/>
                </a:lnTo>
              </a:path>
            </a:pathLst>
          </a:custGeom>
          <a:ln w="12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499527" y="4237"/>
            <a:ext cx="27686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-25" dirty="0">
                <a:latin typeface="Times New Roman"/>
                <a:cs typeface="Times New Roman"/>
              </a:rPr>
              <a:t>s</a:t>
            </a:r>
            <a:r>
              <a:rPr sz="1200" spc="-25" dirty="0">
                <a:latin typeface="Times New Roman"/>
                <a:cs typeface="Times New Roman"/>
              </a:rPr>
              <a:t>+</a:t>
            </a:r>
            <a:r>
              <a:rPr sz="1200" i="1" spc="-25" dirty="0">
                <a:latin typeface="Times New Roman"/>
                <a:cs typeface="Times New Roman"/>
              </a:rPr>
              <a:t>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04884" y="530785"/>
            <a:ext cx="851535" cy="5702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720"/>
              </a:spcBef>
            </a:pPr>
            <a:r>
              <a:rPr sz="1400" b="1" spc="-10" dirty="0">
                <a:latin typeface="Times New Roman"/>
                <a:cs typeface="Times New Roman"/>
              </a:rPr>
              <a:t>Cache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545465" algn="l"/>
              </a:tabLst>
            </a:pPr>
            <a:r>
              <a:rPr sz="1200" spc="-25" dirty="0">
                <a:latin typeface="Times New Roman"/>
                <a:cs typeface="Times New Roman"/>
              </a:rPr>
              <a:t>Tag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50788" y="606475"/>
            <a:ext cx="1142365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dirty="0">
                <a:latin typeface="Times New Roman"/>
                <a:cs typeface="Times New Roman"/>
              </a:rPr>
              <a:t>Main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Memory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62776" y="1113600"/>
            <a:ext cx="2221865" cy="203835"/>
            <a:chOff x="462776" y="1113600"/>
            <a:chExt cx="2221865" cy="203835"/>
          </a:xfrm>
        </p:grpSpPr>
        <p:sp>
          <p:nvSpPr>
            <p:cNvPr id="8" name="object 8"/>
            <p:cNvSpPr/>
            <p:nvPr/>
          </p:nvSpPr>
          <p:spPr>
            <a:xfrm>
              <a:off x="1941326" y="1123442"/>
              <a:ext cx="733425" cy="184150"/>
            </a:xfrm>
            <a:custGeom>
              <a:avLst/>
              <a:gdLst/>
              <a:ahLst/>
              <a:cxnLst/>
              <a:rect l="l" t="t" r="r" b="b"/>
              <a:pathLst>
                <a:path w="733425" h="184150">
                  <a:moveTo>
                    <a:pt x="0" y="0"/>
                  </a:moveTo>
                  <a:lnTo>
                    <a:pt x="733139" y="0"/>
                  </a:lnTo>
                  <a:lnTo>
                    <a:pt x="733139" y="183708"/>
                  </a:lnTo>
                  <a:lnTo>
                    <a:pt x="0" y="183708"/>
                  </a:lnTo>
                  <a:lnTo>
                    <a:pt x="0" y="0"/>
                  </a:lnTo>
                  <a:close/>
                </a:path>
              </a:pathLst>
            </a:custGeom>
            <a:ln w="19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2619" y="1123431"/>
              <a:ext cx="1468755" cy="184150"/>
            </a:xfrm>
            <a:custGeom>
              <a:avLst/>
              <a:gdLst/>
              <a:ahLst/>
              <a:cxnLst/>
              <a:rect l="l" t="t" r="r" b="b"/>
              <a:pathLst>
                <a:path w="1468755" h="184150">
                  <a:moveTo>
                    <a:pt x="1468706" y="0"/>
                  </a:moveTo>
                  <a:lnTo>
                    <a:pt x="0" y="0"/>
                  </a:lnTo>
                  <a:lnTo>
                    <a:pt x="0" y="183733"/>
                  </a:lnTo>
                  <a:lnTo>
                    <a:pt x="1468706" y="183733"/>
                  </a:lnTo>
                  <a:lnTo>
                    <a:pt x="1468706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2618" y="1123442"/>
              <a:ext cx="1468755" cy="184150"/>
            </a:xfrm>
            <a:custGeom>
              <a:avLst/>
              <a:gdLst/>
              <a:ahLst/>
              <a:cxnLst/>
              <a:rect l="l" t="t" r="r" b="b"/>
              <a:pathLst>
                <a:path w="1468755" h="184150">
                  <a:moveTo>
                    <a:pt x="0" y="0"/>
                  </a:moveTo>
                  <a:lnTo>
                    <a:pt x="1468707" y="0"/>
                  </a:lnTo>
                  <a:lnTo>
                    <a:pt x="1468707" y="183708"/>
                  </a:lnTo>
                  <a:lnTo>
                    <a:pt x="0" y="183708"/>
                  </a:lnTo>
                  <a:lnTo>
                    <a:pt x="0" y="0"/>
                  </a:lnTo>
                  <a:close/>
                </a:path>
              </a:pathLst>
            </a:custGeom>
            <a:ln w="19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2414" y="1095282"/>
            <a:ext cx="144970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3975" algn="ctr">
              <a:lnSpc>
                <a:spcPct val="100000"/>
              </a:lnSpc>
              <a:spcBef>
                <a:spcPts val="120"/>
              </a:spcBef>
            </a:pPr>
            <a:r>
              <a:rPr sz="1200" spc="-25" dirty="0">
                <a:latin typeface="Times New Roman"/>
                <a:cs typeface="Times New Roman"/>
              </a:rPr>
              <a:t>Tag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69810" y="888526"/>
            <a:ext cx="110299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41326" y="1123432"/>
            <a:ext cx="733425" cy="184150"/>
          </a:xfrm>
          <a:prstGeom prst="rect">
            <a:avLst/>
          </a:prstGeom>
          <a:solidFill>
            <a:srgbClr val="FEFEFE"/>
          </a:solidFill>
        </p:spPr>
        <p:txBody>
          <a:bodyPr vert="horz" wrap="square" lIns="0" tIns="190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5"/>
              </a:spcBef>
            </a:pPr>
            <a:r>
              <a:rPr sz="1000" spc="-20" dirty="0">
                <a:latin typeface="Palatino Linotype"/>
                <a:cs typeface="Palatino Linotype"/>
              </a:rPr>
              <a:t>Word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62965" y="1110742"/>
            <a:ext cx="1494155" cy="760095"/>
            <a:chOff x="3762965" y="1110742"/>
            <a:chExt cx="1494155" cy="760095"/>
          </a:xfrm>
        </p:grpSpPr>
        <p:sp>
          <p:nvSpPr>
            <p:cNvPr id="15" name="object 15"/>
            <p:cNvSpPr/>
            <p:nvPr/>
          </p:nvSpPr>
          <p:spPr>
            <a:xfrm>
              <a:off x="3775649" y="1123432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734171" y="0"/>
                  </a:moveTo>
                  <a:lnTo>
                    <a:pt x="0" y="0"/>
                  </a:lnTo>
                  <a:lnTo>
                    <a:pt x="0" y="183733"/>
                  </a:lnTo>
                  <a:lnTo>
                    <a:pt x="734171" y="183733"/>
                  </a:lnTo>
                  <a:lnTo>
                    <a:pt x="734171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75665" y="1123442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0" y="0"/>
                  </a:moveTo>
                  <a:lnTo>
                    <a:pt x="734151" y="0"/>
                  </a:lnTo>
                  <a:lnTo>
                    <a:pt x="734151" y="183708"/>
                  </a:lnTo>
                  <a:lnTo>
                    <a:pt x="0" y="183708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09820" y="1123432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734567" y="0"/>
                  </a:moveTo>
                  <a:lnTo>
                    <a:pt x="0" y="0"/>
                  </a:lnTo>
                  <a:lnTo>
                    <a:pt x="0" y="183733"/>
                  </a:lnTo>
                  <a:lnTo>
                    <a:pt x="734567" y="183733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09816" y="1123442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0" y="0"/>
                  </a:moveTo>
                  <a:lnTo>
                    <a:pt x="734577" y="0"/>
                  </a:lnTo>
                  <a:lnTo>
                    <a:pt x="734577" y="183708"/>
                  </a:lnTo>
                  <a:lnTo>
                    <a:pt x="0" y="183708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09820" y="1307165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734567" y="0"/>
                  </a:moveTo>
                  <a:lnTo>
                    <a:pt x="0" y="0"/>
                  </a:lnTo>
                  <a:lnTo>
                    <a:pt x="0" y="183702"/>
                  </a:lnTo>
                  <a:lnTo>
                    <a:pt x="734567" y="183702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09816" y="1307151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0" y="0"/>
                  </a:moveTo>
                  <a:lnTo>
                    <a:pt x="734577" y="0"/>
                  </a:lnTo>
                  <a:lnTo>
                    <a:pt x="734577" y="183708"/>
                  </a:lnTo>
                  <a:lnTo>
                    <a:pt x="0" y="183708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09820" y="1490868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734567" y="0"/>
                  </a:moveTo>
                  <a:lnTo>
                    <a:pt x="0" y="0"/>
                  </a:lnTo>
                  <a:lnTo>
                    <a:pt x="0" y="183733"/>
                  </a:lnTo>
                  <a:lnTo>
                    <a:pt x="734567" y="183733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09816" y="1490859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0" y="0"/>
                  </a:moveTo>
                  <a:lnTo>
                    <a:pt x="734577" y="0"/>
                  </a:lnTo>
                  <a:lnTo>
                    <a:pt x="734577" y="183708"/>
                  </a:lnTo>
                  <a:lnTo>
                    <a:pt x="0" y="183708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09820" y="1674601"/>
              <a:ext cx="734695" cy="183515"/>
            </a:xfrm>
            <a:custGeom>
              <a:avLst/>
              <a:gdLst/>
              <a:ahLst/>
              <a:cxnLst/>
              <a:rect l="l" t="t" r="r" b="b"/>
              <a:pathLst>
                <a:path w="734695" h="183514">
                  <a:moveTo>
                    <a:pt x="734567" y="0"/>
                  </a:moveTo>
                  <a:lnTo>
                    <a:pt x="0" y="0"/>
                  </a:lnTo>
                  <a:lnTo>
                    <a:pt x="0" y="183306"/>
                  </a:lnTo>
                  <a:lnTo>
                    <a:pt x="734567" y="183306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09816" y="1674567"/>
              <a:ext cx="734695" cy="183515"/>
            </a:xfrm>
            <a:custGeom>
              <a:avLst/>
              <a:gdLst/>
              <a:ahLst/>
              <a:cxnLst/>
              <a:rect l="l" t="t" r="r" b="b"/>
              <a:pathLst>
                <a:path w="734695" h="183514">
                  <a:moveTo>
                    <a:pt x="0" y="0"/>
                  </a:moveTo>
                  <a:lnTo>
                    <a:pt x="734577" y="0"/>
                  </a:lnTo>
                  <a:lnTo>
                    <a:pt x="734577" y="183342"/>
                  </a:lnTo>
                  <a:lnTo>
                    <a:pt x="0" y="183342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80994" y="1379915"/>
            <a:ext cx="12065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76472" y="1445050"/>
            <a:ext cx="9017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50" dirty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617347" y="927291"/>
          <a:ext cx="734060" cy="874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4060"/>
              </a:tblGrid>
              <a:tr h="182880">
                <a:tc>
                  <a:txBody>
                    <a:bodyPr/>
                    <a:lstStyle/>
                    <a:p>
                      <a:pPr marR="8890" algn="ctr">
                        <a:lnSpc>
                          <a:spcPts val="131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W0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W1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W2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18415" algn="ctr">
                        <a:lnSpc>
                          <a:spcPts val="131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W3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40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2399550" y="13071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ln w="253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72618" y="1582058"/>
            <a:ext cx="184150" cy="184150"/>
          </a:xfrm>
          <a:custGeom>
            <a:avLst/>
            <a:gdLst/>
            <a:ahLst/>
            <a:cxnLst/>
            <a:rect l="l" t="t" r="r" b="b"/>
            <a:pathLst>
              <a:path w="184150" h="184150">
                <a:moveTo>
                  <a:pt x="0" y="183738"/>
                </a:moveTo>
                <a:lnTo>
                  <a:pt x="0" y="183738"/>
                </a:lnTo>
                <a:lnTo>
                  <a:pt x="183713" y="0"/>
                </a:lnTo>
              </a:path>
            </a:pathLst>
          </a:custGeom>
          <a:ln w="12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53179" y="1500616"/>
            <a:ext cx="8636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8400631" y="953572"/>
            <a:ext cx="276225" cy="737870"/>
          </a:xfrm>
          <a:custGeom>
            <a:avLst/>
            <a:gdLst/>
            <a:ahLst/>
            <a:cxnLst/>
            <a:rect l="l" t="t" r="r" b="b"/>
            <a:pathLst>
              <a:path w="276225" h="737869">
                <a:moveTo>
                  <a:pt x="0" y="737302"/>
                </a:moveTo>
                <a:lnTo>
                  <a:pt x="34299" y="736023"/>
                </a:lnTo>
                <a:lnTo>
                  <a:pt x="62564" y="732306"/>
                </a:lnTo>
                <a:lnTo>
                  <a:pt x="102866" y="718279"/>
                </a:lnTo>
                <a:lnTo>
                  <a:pt x="129790" y="683469"/>
                </a:lnTo>
                <a:lnTo>
                  <a:pt x="131701" y="668916"/>
                </a:lnTo>
                <a:lnTo>
                  <a:pt x="130862" y="653189"/>
                </a:lnTo>
                <a:lnTo>
                  <a:pt x="116543" y="600770"/>
                </a:lnTo>
                <a:lnTo>
                  <a:pt x="101855" y="563266"/>
                </a:lnTo>
                <a:lnTo>
                  <a:pt x="94376" y="544288"/>
                </a:lnTo>
                <a:lnTo>
                  <a:pt x="81495" y="506784"/>
                </a:lnTo>
                <a:lnTo>
                  <a:pt x="74407" y="454365"/>
                </a:lnTo>
                <a:lnTo>
                  <a:pt x="77183" y="438638"/>
                </a:lnTo>
                <a:lnTo>
                  <a:pt x="107504" y="399222"/>
                </a:lnTo>
                <a:lnTo>
                  <a:pt x="150736" y="381223"/>
                </a:lnTo>
                <a:lnTo>
                  <a:pt x="216764" y="371530"/>
                </a:lnTo>
                <a:lnTo>
                  <a:pt x="259499" y="370251"/>
                </a:lnTo>
                <a:lnTo>
                  <a:pt x="275836" y="367416"/>
                </a:lnTo>
                <a:lnTo>
                  <a:pt x="233102" y="366136"/>
                </a:lnTo>
                <a:lnTo>
                  <a:pt x="167106" y="356434"/>
                </a:lnTo>
                <a:lnTo>
                  <a:pt x="123938" y="338417"/>
                </a:lnTo>
                <a:lnTo>
                  <a:pt x="93763" y="298962"/>
                </a:lnTo>
                <a:lnTo>
                  <a:pt x="91044" y="283219"/>
                </a:lnTo>
                <a:lnTo>
                  <a:pt x="91212" y="266482"/>
                </a:lnTo>
                <a:lnTo>
                  <a:pt x="104337" y="212113"/>
                </a:lnTo>
                <a:lnTo>
                  <a:pt x="118902" y="174210"/>
                </a:lnTo>
                <a:lnTo>
                  <a:pt x="126519" y="155303"/>
                </a:lnTo>
                <a:lnTo>
                  <a:pt x="133732" y="136668"/>
                </a:lnTo>
                <a:lnTo>
                  <a:pt x="140072" y="118485"/>
                </a:lnTo>
                <a:lnTo>
                  <a:pt x="145068" y="100934"/>
                </a:lnTo>
                <a:lnTo>
                  <a:pt x="148250" y="84197"/>
                </a:lnTo>
                <a:lnTo>
                  <a:pt x="149148" y="68454"/>
                </a:lnTo>
                <a:lnTo>
                  <a:pt x="147293" y="53887"/>
                </a:lnTo>
                <a:lnTo>
                  <a:pt x="120501" y="19041"/>
                </a:lnTo>
                <a:lnTo>
                  <a:pt x="80253" y="5001"/>
                </a:lnTo>
                <a:lnTo>
                  <a:pt x="52003" y="1280"/>
                </a:lnTo>
                <a:lnTo>
                  <a:pt x="17708" y="0"/>
                </a:lnTo>
              </a:path>
            </a:pathLst>
          </a:custGeom>
          <a:ln w="12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711353" y="1206153"/>
            <a:ext cx="129539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815366" y="1271300"/>
            <a:ext cx="9017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50" dirty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617927" y="1946544"/>
            <a:ext cx="25400" cy="129539"/>
          </a:xfrm>
          <a:custGeom>
            <a:avLst/>
            <a:gdLst/>
            <a:ahLst/>
            <a:cxnLst/>
            <a:rect l="l" t="t" r="r" b="b"/>
            <a:pathLst>
              <a:path w="25400" h="129539">
                <a:moveTo>
                  <a:pt x="25115" y="0"/>
                </a:moveTo>
                <a:lnTo>
                  <a:pt x="0" y="0"/>
                </a:lnTo>
                <a:lnTo>
                  <a:pt x="0" y="129113"/>
                </a:lnTo>
                <a:lnTo>
                  <a:pt x="25115" y="129113"/>
                </a:lnTo>
                <a:lnTo>
                  <a:pt x="25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351215" y="1946544"/>
            <a:ext cx="26670" cy="129539"/>
          </a:xfrm>
          <a:custGeom>
            <a:avLst/>
            <a:gdLst/>
            <a:ahLst/>
            <a:cxnLst/>
            <a:rect l="l" t="t" r="r" b="b"/>
            <a:pathLst>
              <a:path w="26670" h="129539">
                <a:moveTo>
                  <a:pt x="26273" y="0"/>
                </a:moveTo>
                <a:lnTo>
                  <a:pt x="0" y="0"/>
                </a:lnTo>
                <a:lnTo>
                  <a:pt x="0" y="129113"/>
                </a:lnTo>
                <a:lnTo>
                  <a:pt x="26273" y="129113"/>
                </a:lnTo>
                <a:lnTo>
                  <a:pt x="262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288810" y="2012753"/>
            <a:ext cx="184150" cy="182880"/>
          </a:xfrm>
          <a:custGeom>
            <a:avLst/>
            <a:gdLst/>
            <a:ahLst/>
            <a:cxnLst/>
            <a:rect l="l" t="t" r="r" b="b"/>
            <a:pathLst>
              <a:path w="184150" h="182880">
                <a:moveTo>
                  <a:pt x="0" y="182428"/>
                </a:moveTo>
                <a:lnTo>
                  <a:pt x="0" y="182428"/>
                </a:lnTo>
                <a:lnTo>
                  <a:pt x="183700" y="0"/>
                </a:lnTo>
              </a:path>
            </a:pathLst>
          </a:custGeom>
          <a:ln w="12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223860" y="1923285"/>
            <a:ext cx="116839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617927" y="2205166"/>
            <a:ext cx="25400" cy="130175"/>
          </a:xfrm>
          <a:custGeom>
            <a:avLst/>
            <a:gdLst/>
            <a:ahLst/>
            <a:cxnLst/>
            <a:rect l="l" t="t" r="r" b="b"/>
            <a:pathLst>
              <a:path w="25400" h="130175">
                <a:moveTo>
                  <a:pt x="25115" y="0"/>
                </a:moveTo>
                <a:lnTo>
                  <a:pt x="0" y="0"/>
                </a:lnTo>
                <a:lnTo>
                  <a:pt x="0" y="130027"/>
                </a:lnTo>
                <a:lnTo>
                  <a:pt x="25115" y="130027"/>
                </a:lnTo>
                <a:lnTo>
                  <a:pt x="25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351215" y="2205166"/>
            <a:ext cx="26670" cy="130175"/>
          </a:xfrm>
          <a:custGeom>
            <a:avLst/>
            <a:gdLst/>
            <a:ahLst/>
            <a:cxnLst/>
            <a:rect l="l" t="t" r="r" b="b"/>
            <a:pathLst>
              <a:path w="26670" h="130175">
                <a:moveTo>
                  <a:pt x="26273" y="0"/>
                </a:moveTo>
                <a:lnTo>
                  <a:pt x="0" y="0"/>
                </a:lnTo>
                <a:lnTo>
                  <a:pt x="0" y="130027"/>
                </a:lnTo>
                <a:lnTo>
                  <a:pt x="26273" y="130027"/>
                </a:lnTo>
                <a:lnTo>
                  <a:pt x="262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17927" y="2464307"/>
            <a:ext cx="25400" cy="129539"/>
          </a:xfrm>
          <a:custGeom>
            <a:avLst/>
            <a:gdLst/>
            <a:ahLst/>
            <a:cxnLst/>
            <a:rect l="l" t="t" r="r" b="b"/>
            <a:pathLst>
              <a:path w="25400" h="129539">
                <a:moveTo>
                  <a:pt x="25115" y="0"/>
                </a:moveTo>
                <a:lnTo>
                  <a:pt x="0" y="0"/>
                </a:lnTo>
                <a:lnTo>
                  <a:pt x="0" y="129509"/>
                </a:lnTo>
                <a:lnTo>
                  <a:pt x="25115" y="129509"/>
                </a:lnTo>
                <a:lnTo>
                  <a:pt x="25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351215" y="2464307"/>
            <a:ext cx="26670" cy="129539"/>
          </a:xfrm>
          <a:custGeom>
            <a:avLst/>
            <a:gdLst/>
            <a:ahLst/>
            <a:cxnLst/>
            <a:rect l="l" t="t" r="r" b="b"/>
            <a:pathLst>
              <a:path w="26670" h="129539">
                <a:moveTo>
                  <a:pt x="26273" y="0"/>
                </a:moveTo>
                <a:lnTo>
                  <a:pt x="0" y="0"/>
                </a:lnTo>
                <a:lnTo>
                  <a:pt x="0" y="129509"/>
                </a:lnTo>
                <a:lnTo>
                  <a:pt x="26273" y="129509"/>
                </a:lnTo>
                <a:lnTo>
                  <a:pt x="262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17927" y="2723844"/>
            <a:ext cx="25400" cy="129539"/>
          </a:xfrm>
          <a:custGeom>
            <a:avLst/>
            <a:gdLst/>
            <a:ahLst/>
            <a:cxnLst/>
            <a:rect l="l" t="t" r="r" b="b"/>
            <a:pathLst>
              <a:path w="25400" h="129539">
                <a:moveTo>
                  <a:pt x="25115" y="0"/>
                </a:moveTo>
                <a:lnTo>
                  <a:pt x="0" y="0"/>
                </a:lnTo>
                <a:lnTo>
                  <a:pt x="0" y="129113"/>
                </a:lnTo>
                <a:lnTo>
                  <a:pt x="25115" y="129113"/>
                </a:lnTo>
                <a:lnTo>
                  <a:pt x="25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351215" y="2723844"/>
            <a:ext cx="26670" cy="129539"/>
          </a:xfrm>
          <a:custGeom>
            <a:avLst/>
            <a:gdLst/>
            <a:ahLst/>
            <a:cxnLst/>
            <a:rect l="l" t="t" r="r" b="b"/>
            <a:pathLst>
              <a:path w="26670" h="129539">
                <a:moveTo>
                  <a:pt x="26273" y="0"/>
                </a:moveTo>
                <a:lnTo>
                  <a:pt x="0" y="0"/>
                </a:lnTo>
                <a:lnTo>
                  <a:pt x="0" y="129113"/>
                </a:lnTo>
                <a:lnTo>
                  <a:pt x="26273" y="129113"/>
                </a:lnTo>
                <a:lnTo>
                  <a:pt x="262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object 2"/>
          <p:cNvGrpSpPr/>
          <p:nvPr/>
        </p:nvGrpSpPr>
        <p:grpSpPr>
          <a:xfrm>
            <a:off x="642357" y="3160989"/>
            <a:ext cx="5862955" cy="2009775"/>
            <a:chOff x="642357" y="3160989"/>
            <a:chExt cx="5862955" cy="2009775"/>
          </a:xfrm>
        </p:grpSpPr>
        <p:sp>
          <p:nvSpPr>
            <p:cNvPr id="3" name="object 3"/>
            <p:cNvSpPr/>
            <p:nvPr/>
          </p:nvSpPr>
          <p:spPr>
            <a:xfrm>
              <a:off x="1025330" y="3276522"/>
              <a:ext cx="1380490" cy="690245"/>
            </a:xfrm>
            <a:custGeom>
              <a:avLst/>
              <a:gdLst/>
              <a:ahLst/>
              <a:cxnLst/>
              <a:rect l="l" t="t" r="r" b="b"/>
              <a:pathLst>
                <a:path w="1380489" h="690245">
                  <a:moveTo>
                    <a:pt x="0" y="411157"/>
                  </a:moveTo>
                  <a:lnTo>
                    <a:pt x="0" y="689847"/>
                  </a:lnTo>
                  <a:lnTo>
                    <a:pt x="1380040" y="689847"/>
                  </a:lnTo>
                  <a:lnTo>
                    <a:pt x="1380040" y="0"/>
                  </a:lnTo>
                </a:path>
              </a:pathLst>
            </a:custGeom>
            <a:ln w="19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33445" y="3160989"/>
              <a:ext cx="144145" cy="170180"/>
            </a:xfrm>
            <a:custGeom>
              <a:avLst/>
              <a:gdLst/>
              <a:ahLst/>
              <a:cxnLst/>
              <a:rect l="l" t="t" r="r" b="b"/>
              <a:pathLst>
                <a:path w="144144" h="170179">
                  <a:moveTo>
                    <a:pt x="71926" y="0"/>
                  </a:moveTo>
                  <a:lnTo>
                    <a:pt x="0" y="170139"/>
                  </a:lnTo>
                  <a:lnTo>
                    <a:pt x="71926" y="139994"/>
                  </a:lnTo>
                  <a:lnTo>
                    <a:pt x="143853" y="170139"/>
                  </a:lnTo>
                  <a:lnTo>
                    <a:pt x="71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2153" y="3447703"/>
              <a:ext cx="5781040" cy="1713230"/>
            </a:xfrm>
            <a:custGeom>
              <a:avLst/>
              <a:gdLst/>
              <a:ahLst/>
              <a:cxnLst/>
              <a:rect l="l" t="t" r="r" b="b"/>
              <a:pathLst>
                <a:path w="5781040" h="1713229">
                  <a:moveTo>
                    <a:pt x="0" y="239976"/>
                  </a:moveTo>
                  <a:lnTo>
                    <a:pt x="0" y="1712820"/>
                  </a:lnTo>
                  <a:lnTo>
                    <a:pt x="5780744" y="1712820"/>
                  </a:lnTo>
                  <a:lnTo>
                    <a:pt x="5780744" y="0"/>
                  </a:lnTo>
                </a:path>
              </a:pathLst>
            </a:custGeom>
            <a:ln w="19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61236" y="3332165"/>
              <a:ext cx="144145" cy="170180"/>
            </a:xfrm>
            <a:custGeom>
              <a:avLst/>
              <a:gdLst/>
              <a:ahLst/>
              <a:cxnLst/>
              <a:rect l="l" t="t" r="r" b="b"/>
              <a:pathLst>
                <a:path w="144145" h="170179">
                  <a:moveTo>
                    <a:pt x="71688" y="0"/>
                  </a:moveTo>
                  <a:lnTo>
                    <a:pt x="0" y="169865"/>
                  </a:lnTo>
                  <a:lnTo>
                    <a:pt x="71688" y="139720"/>
                  </a:lnTo>
                  <a:lnTo>
                    <a:pt x="143621" y="169865"/>
                  </a:lnTo>
                  <a:lnTo>
                    <a:pt x="716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3041486" y="2978449"/>
            <a:ext cx="183515" cy="183515"/>
          </a:xfrm>
          <a:custGeom>
            <a:avLst/>
            <a:gdLst/>
            <a:ahLst/>
            <a:cxnLst/>
            <a:rect l="l" t="t" r="r" b="b"/>
            <a:pathLst>
              <a:path w="183514" h="183514">
                <a:moveTo>
                  <a:pt x="0" y="183464"/>
                </a:moveTo>
                <a:lnTo>
                  <a:pt x="0" y="183464"/>
                </a:lnTo>
                <a:lnTo>
                  <a:pt x="183450" y="0"/>
                </a:lnTo>
              </a:path>
            </a:pathLst>
          </a:custGeom>
          <a:ln w="12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036547" y="2835399"/>
            <a:ext cx="129539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w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9343" y="3136357"/>
            <a:ext cx="196223" cy="196233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7171225" y="3142620"/>
            <a:ext cx="183515" cy="184150"/>
          </a:xfrm>
          <a:custGeom>
            <a:avLst/>
            <a:gdLst/>
            <a:ahLst/>
            <a:cxnLst/>
            <a:rect l="l" t="t" r="r" b="b"/>
            <a:pathLst>
              <a:path w="183515" h="184150">
                <a:moveTo>
                  <a:pt x="0" y="183708"/>
                </a:moveTo>
                <a:lnTo>
                  <a:pt x="0" y="183708"/>
                </a:lnTo>
                <a:lnTo>
                  <a:pt x="183453" y="0"/>
                </a:lnTo>
              </a:path>
            </a:pathLst>
          </a:custGeom>
          <a:ln w="12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7180788" y="3021963"/>
            <a:ext cx="8636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0768" y="3407764"/>
            <a:ext cx="59245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10" dirty="0">
                <a:latin typeface="Times New Roman"/>
                <a:cs typeface="Times New Roman"/>
              </a:rPr>
              <a:t>Compare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497263" y="3400226"/>
            <a:ext cx="26670" cy="130175"/>
          </a:xfrm>
          <a:custGeom>
            <a:avLst/>
            <a:gdLst/>
            <a:ahLst/>
            <a:cxnLst/>
            <a:rect l="l" t="t" r="r" b="b"/>
            <a:pathLst>
              <a:path w="26670" h="130175">
                <a:moveTo>
                  <a:pt x="26395" y="0"/>
                </a:moveTo>
                <a:lnTo>
                  <a:pt x="0" y="0"/>
                </a:lnTo>
                <a:lnTo>
                  <a:pt x="0" y="130027"/>
                </a:lnTo>
                <a:lnTo>
                  <a:pt x="26395" y="130027"/>
                </a:lnTo>
                <a:lnTo>
                  <a:pt x="263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231465" y="3400226"/>
            <a:ext cx="26670" cy="130175"/>
          </a:xfrm>
          <a:custGeom>
            <a:avLst/>
            <a:gdLst/>
            <a:ahLst/>
            <a:cxnLst/>
            <a:rect l="l" t="t" r="r" b="b"/>
            <a:pathLst>
              <a:path w="26670" h="130175">
                <a:moveTo>
                  <a:pt x="26395" y="0"/>
                </a:moveTo>
                <a:lnTo>
                  <a:pt x="0" y="0"/>
                </a:lnTo>
                <a:lnTo>
                  <a:pt x="0" y="130027"/>
                </a:lnTo>
                <a:lnTo>
                  <a:pt x="26395" y="130027"/>
                </a:lnTo>
                <a:lnTo>
                  <a:pt x="263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71225" y="3509671"/>
            <a:ext cx="183515" cy="184150"/>
          </a:xfrm>
          <a:custGeom>
            <a:avLst/>
            <a:gdLst/>
            <a:ahLst/>
            <a:cxnLst/>
            <a:rect l="l" t="t" r="r" b="b"/>
            <a:pathLst>
              <a:path w="183515" h="184150">
                <a:moveTo>
                  <a:pt x="0" y="183708"/>
                </a:moveTo>
                <a:lnTo>
                  <a:pt x="0" y="183708"/>
                </a:lnTo>
                <a:lnTo>
                  <a:pt x="183453" y="0"/>
                </a:lnTo>
              </a:path>
            </a:pathLst>
          </a:custGeom>
          <a:ln w="12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154652" y="3388485"/>
            <a:ext cx="13779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w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7617347" y="2969659"/>
          <a:ext cx="734060" cy="893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4060"/>
              </a:tblGrid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W4</a:t>
                      </a:r>
                      <a:r>
                        <a:rPr sz="1100" i="1" spc="-25" dirty="0">
                          <a:latin typeface="Times New Roman"/>
                          <a:cs typeface="Times New Roman"/>
                        </a:rPr>
                        <a:t>j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W(4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+1)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W(4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+2)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W(4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+3)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</a:tbl>
          </a:graphicData>
        </a:graphic>
      </p:graphicFrame>
      <p:sp>
        <p:nvSpPr>
          <p:cNvPr id="55" name="object 55"/>
          <p:cNvSpPr txBox="1"/>
          <p:nvPr/>
        </p:nvSpPr>
        <p:spPr>
          <a:xfrm>
            <a:off x="8718986" y="3408665"/>
            <a:ext cx="129539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823138" y="3473952"/>
            <a:ext cx="61594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i="1" spc="-50" dirty="0">
                <a:latin typeface="Times New Roman"/>
                <a:cs typeface="Times New Roman"/>
              </a:rPr>
              <a:t>j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497263" y="3659367"/>
            <a:ext cx="26670" cy="129539"/>
          </a:xfrm>
          <a:custGeom>
            <a:avLst/>
            <a:gdLst/>
            <a:ahLst/>
            <a:cxnLst/>
            <a:rect l="l" t="t" r="r" b="b"/>
            <a:pathLst>
              <a:path w="26670" h="129539">
                <a:moveTo>
                  <a:pt x="26395" y="0"/>
                </a:moveTo>
                <a:lnTo>
                  <a:pt x="0" y="0"/>
                </a:lnTo>
                <a:lnTo>
                  <a:pt x="0" y="129509"/>
                </a:lnTo>
                <a:lnTo>
                  <a:pt x="26395" y="129509"/>
                </a:lnTo>
                <a:lnTo>
                  <a:pt x="263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231465" y="3659367"/>
            <a:ext cx="26670" cy="129539"/>
          </a:xfrm>
          <a:custGeom>
            <a:avLst/>
            <a:gdLst/>
            <a:ahLst/>
            <a:cxnLst/>
            <a:rect l="l" t="t" r="r" b="b"/>
            <a:pathLst>
              <a:path w="26670" h="129539">
                <a:moveTo>
                  <a:pt x="26395" y="0"/>
                </a:moveTo>
                <a:lnTo>
                  <a:pt x="0" y="0"/>
                </a:lnTo>
                <a:lnTo>
                  <a:pt x="0" y="129509"/>
                </a:lnTo>
                <a:lnTo>
                  <a:pt x="26395" y="129509"/>
                </a:lnTo>
                <a:lnTo>
                  <a:pt x="263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070305" y="3877104"/>
            <a:ext cx="828675" cy="155575"/>
          </a:xfrm>
          <a:prstGeom prst="rect">
            <a:avLst/>
          </a:prstGeom>
          <a:solidFill>
            <a:srgbClr val="FEFEFE"/>
          </a:solidFill>
        </p:spPr>
        <p:txBody>
          <a:bodyPr vert="horz" wrap="square" lIns="0" tIns="0" rIns="0" bIns="0" rtlCol="0">
            <a:spAutoFit/>
          </a:bodyPr>
          <a:lstStyle/>
          <a:p>
            <a:pPr marL="6350">
              <a:lnSpc>
                <a:spcPts val="1160"/>
              </a:lnSpc>
            </a:pPr>
            <a:r>
              <a:rPr sz="1200" dirty="0">
                <a:latin typeface="Times New Roman"/>
                <a:cs typeface="Times New Roman"/>
              </a:rPr>
              <a:t>(hit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cache)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762965" y="2579160"/>
            <a:ext cx="1495425" cy="2229485"/>
            <a:chOff x="3762965" y="2579160"/>
            <a:chExt cx="1495425" cy="2229485"/>
          </a:xfrm>
        </p:grpSpPr>
        <p:sp>
          <p:nvSpPr>
            <p:cNvPr id="67" name="object 67"/>
            <p:cNvSpPr/>
            <p:nvPr/>
          </p:nvSpPr>
          <p:spPr>
            <a:xfrm>
              <a:off x="4497260" y="3918902"/>
              <a:ext cx="760730" cy="129539"/>
            </a:xfrm>
            <a:custGeom>
              <a:avLst/>
              <a:gdLst/>
              <a:ahLst/>
              <a:cxnLst/>
              <a:rect l="l" t="t" r="r" b="b"/>
              <a:pathLst>
                <a:path w="760729" h="129539">
                  <a:moveTo>
                    <a:pt x="26390" y="0"/>
                  </a:moveTo>
                  <a:lnTo>
                    <a:pt x="0" y="0"/>
                  </a:lnTo>
                  <a:lnTo>
                    <a:pt x="0" y="129120"/>
                  </a:lnTo>
                  <a:lnTo>
                    <a:pt x="26390" y="129120"/>
                  </a:lnTo>
                  <a:lnTo>
                    <a:pt x="26390" y="0"/>
                  </a:lnTo>
                  <a:close/>
                </a:path>
                <a:path w="760729" h="129539">
                  <a:moveTo>
                    <a:pt x="760590" y="0"/>
                  </a:moveTo>
                  <a:lnTo>
                    <a:pt x="734199" y="0"/>
                  </a:lnTo>
                  <a:lnTo>
                    <a:pt x="734199" y="129120"/>
                  </a:lnTo>
                  <a:lnTo>
                    <a:pt x="760590" y="129120"/>
                  </a:lnTo>
                  <a:lnTo>
                    <a:pt x="760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775649" y="4060816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734171" y="0"/>
                  </a:moveTo>
                  <a:lnTo>
                    <a:pt x="0" y="0"/>
                  </a:lnTo>
                  <a:lnTo>
                    <a:pt x="0" y="183724"/>
                  </a:lnTo>
                  <a:lnTo>
                    <a:pt x="734171" y="183724"/>
                  </a:lnTo>
                  <a:lnTo>
                    <a:pt x="734171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775665" y="4060812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0" y="0"/>
                  </a:moveTo>
                  <a:lnTo>
                    <a:pt x="734151" y="0"/>
                  </a:lnTo>
                  <a:lnTo>
                    <a:pt x="734151" y="183726"/>
                  </a:lnTo>
                  <a:lnTo>
                    <a:pt x="0" y="183726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509820" y="4060816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734567" y="0"/>
                  </a:moveTo>
                  <a:lnTo>
                    <a:pt x="0" y="0"/>
                  </a:lnTo>
                  <a:lnTo>
                    <a:pt x="0" y="183724"/>
                  </a:lnTo>
                  <a:lnTo>
                    <a:pt x="734567" y="183724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509816" y="4060812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0" y="0"/>
                  </a:moveTo>
                  <a:lnTo>
                    <a:pt x="734577" y="0"/>
                  </a:lnTo>
                  <a:lnTo>
                    <a:pt x="734577" y="183726"/>
                  </a:lnTo>
                  <a:lnTo>
                    <a:pt x="0" y="183726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509820" y="4244541"/>
              <a:ext cx="734695" cy="183515"/>
            </a:xfrm>
            <a:custGeom>
              <a:avLst/>
              <a:gdLst/>
              <a:ahLst/>
              <a:cxnLst/>
              <a:rect l="l" t="t" r="r" b="b"/>
              <a:pathLst>
                <a:path w="734695" h="183514">
                  <a:moveTo>
                    <a:pt x="734567" y="0"/>
                  </a:moveTo>
                  <a:lnTo>
                    <a:pt x="0" y="0"/>
                  </a:lnTo>
                  <a:lnTo>
                    <a:pt x="0" y="183453"/>
                  </a:lnTo>
                  <a:lnTo>
                    <a:pt x="734567" y="183453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509816" y="4244538"/>
              <a:ext cx="734695" cy="183515"/>
            </a:xfrm>
            <a:custGeom>
              <a:avLst/>
              <a:gdLst/>
              <a:ahLst/>
              <a:cxnLst/>
              <a:rect l="l" t="t" r="r" b="b"/>
              <a:pathLst>
                <a:path w="734695" h="183514">
                  <a:moveTo>
                    <a:pt x="0" y="0"/>
                  </a:moveTo>
                  <a:lnTo>
                    <a:pt x="734577" y="0"/>
                  </a:lnTo>
                  <a:lnTo>
                    <a:pt x="734577" y="183449"/>
                  </a:lnTo>
                  <a:lnTo>
                    <a:pt x="0" y="183449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509820" y="4427994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734567" y="0"/>
                  </a:moveTo>
                  <a:lnTo>
                    <a:pt x="0" y="0"/>
                  </a:lnTo>
                  <a:lnTo>
                    <a:pt x="0" y="183712"/>
                  </a:lnTo>
                  <a:lnTo>
                    <a:pt x="734567" y="183712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509816" y="4427988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0" y="0"/>
                  </a:moveTo>
                  <a:lnTo>
                    <a:pt x="734577" y="0"/>
                  </a:lnTo>
                  <a:lnTo>
                    <a:pt x="734577" y="183714"/>
                  </a:lnTo>
                  <a:lnTo>
                    <a:pt x="0" y="183714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509820" y="4611706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734567" y="0"/>
                  </a:moveTo>
                  <a:lnTo>
                    <a:pt x="0" y="0"/>
                  </a:lnTo>
                  <a:lnTo>
                    <a:pt x="0" y="183715"/>
                  </a:lnTo>
                  <a:lnTo>
                    <a:pt x="734567" y="183715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509816" y="4611702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0" y="0"/>
                  </a:moveTo>
                  <a:lnTo>
                    <a:pt x="734577" y="0"/>
                  </a:lnTo>
                  <a:lnTo>
                    <a:pt x="734577" y="183714"/>
                  </a:lnTo>
                  <a:lnTo>
                    <a:pt x="0" y="183714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775649" y="2591866"/>
              <a:ext cx="734695" cy="183515"/>
            </a:xfrm>
            <a:custGeom>
              <a:avLst/>
              <a:gdLst/>
              <a:ahLst/>
              <a:cxnLst/>
              <a:rect l="l" t="t" r="r" b="b"/>
              <a:pathLst>
                <a:path w="734695" h="183514">
                  <a:moveTo>
                    <a:pt x="734171" y="0"/>
                  </a:moveTo>
                  <a:lnTo>
                    <a:pt x="0" y="0"/>
                  </a:lnTo>
                  <a:lnTo>
                    <a:pt x="0" y="183337"/>
                  </a:lnTo>
                  <a:lnTo>
                    <a:pt x="734171" y="183337"/>
                  </a:lnTo>
                  <a:lnTo>
                    <a:pt x="734171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775665" y="2591860"/>
              <a:ext cx="734695" cy="183515"/>
            </a:xfrm>
            <a:custGeom>
              <a:avLst/>
              <a:gdLst/>
              <a:ahLst/>
              <a:cxnLst/>
              <a:rect l="l" t="t" r="r" b="b"/>
              <a:pathLst>
                <a:path w="734695" h="183514">
                  <a:moveTo>
                    <a:pt x="0" y="0"/>
                  </a:moveTo>
                  <a:lnTo>
                    <a:pt x="734151" y="0"/>
                  </a:lnTo>
                  <a:lnTo>
                    <a:pt x="734151" y="183342"/>
                  </a:lnTo>
                  <a:lnTo>
                    <a:pt x="0" y="183342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509820" y="2592781"/>
              <a:ext cx="734695" cy="182880"/>
            </a:xfrm>
            <a:custGeom>
              <a:avLst/>
              <a:gdLst/>
              <a:ahLst/>
              <a:cxnLst/>
              <a:rect l="l" t="t" r="r" b="b"/>
              <a:pathLst>
                <a:path w="734695" h="182880">
                  <a:moveTo>
                    <a:pt x="734567" y="0"/>
                  </a:moveTo>
                  <a:lnTo>
                    <a:pt x="0" y="0"/>
                  </a:lnTo>
                  <a:lnTo>
                    <a:pt x="0" y="182422"/>
                  </a:lnTo>
                  <a:lnTo>
                    <a:pt x="734567" y="182422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509816" y="2592775"/>
              <a:ext cx="734695" cy="182880"/>
            </a:xfrm>
            <a:custGeom>
              <a:avLst/>
              <a:gdLst/>
              <a:ahLst/>
              <a:cxnLst/>
              <a:rect l="l" t="t" r="r" b="b"/>
              <a:pathLst>
                <a:path w="734695" h="182880">
                  <a:moveTo>
                    <a:pt x="0" y="0"/>
                  </a:moveTo>
                  <a:lnTo>
                    <a:pt x="734577" y="0"/>
                  </a:lnTo>
                  <a:lnTo>
                    <a:pt x="734577" y="182428"/>
                  </a:lnTo>
                  <a:lnTo>
                    <a:pt x="0" y="182428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509820" y="2775204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734567" y="0"/>
                  </a:moveTo>
                  <a:lnTo>
                    <a:pt x="0" y="0"/>
                  </a:lnTo>
                  <a:lnTo>
                    <a:pt x="0" y="183702"/>
                  </a:lnTo>
                  <a:lnTo>
                    <a:pt x="734567" y="183702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509816" y="2775203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0" y="0"/>
                  </a:moveTo>
                  <a:lnTo>
                    <a:pt x="734577" y="0"/>
                  </a:lnTo>
                  <a:lnTo>
                    <a:pt x="734577" y="183708"/>
                  </a:lnTo>
                  <a:lnTo>
                    <a:pt x="0" y="183708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509820" y="2958907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734567" y="0"/>
                  </a:moveTo>
                  <a:lnTo>
                    <a:pt x="0" y="0"/>
                  </a:lnTo>
                  <a:lnTo>
                    <a:pt x="0" y="183733"/>
                  </a:lnTo>
                  <a:lnTo>
                    <a:pt x="734567" y="183733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509816" y="2958911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0" y="0"/>
                  </a:moveTo>
                  <a:lnTo>
                    <a:pt x="734577" y="0"/>
                  </a:lnTo>
                  <a:lnTo>
                    <a:pt x="734577" y="183708"/>
                  </a:lnTo>
                  <a:lnTo>
                    <a:pt x="0" y="183708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509820" y="3142640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734567" y="0"/>
                  </a:moveTo>
                  <a:lnTo>
                    <a:pt x="0" y="0"/>
                  </a:lnTo>
                  <a:lnTo>
                    <a:pt x="0" y="183702"/>
                  </a:lnTo>
                  <a:lnTo>
                    <a:pt x="734567" y="183702"/>
                  </a:lnTo>
                  <a:lnTo>
                    <a:pt x="734567" y="0"/>
                  </a:lnTo>
                  <a:close/>
                </a:path>
              </a:pathLst>
            </a:custGeom>
            <a:solidFill>
              <a:srgbClr val="BEE7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509816" y="3142620"/>
              <a:ext cx="734695" cy="184150"/>
            </a:xfrm>
            <a:custGeom>
              <a:avLst/>
              <a:gdLst/>
              <a:ahLst/>
              <a:cxnLst/>
              <a:rect l="l" t="t" r="r" b="b"/>
              <a:pathLst>
                <a:path w="734695" h="184150">
                  <a:moveTo>
                    <a:pt x="0" y="0"/>
                  </a:moveTo>
                  <a:lnTo>
                    <a:pt x="734577" y="0"/>
                  </a:lnTo>
                  <a:lnTo>
                    <a:pt x="734577" y="183708"/>
                  </a:lnTo>
                  <a:lnTo>
                    <a:pt x="0" y="183708"/>
                  </a:lnTo>
                  <a:lnTo>
                    <a:pt x="0" y="0"/>
                  </a:lnTo>
                  <a:close/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2302084" y="1931791"/>
            <a:ext cx="2955925" cy="2595245"/>
            <a:chOff x="2302084" y="1931791"/>
            <a:chExt cx="2955925" cy="2595245"/>
          </a:xfrm>
        </p:grpSpPr>
        <p:sp>
          <p:nvSpPr>
            <p:cNvPr id="91" name="object 91"/>
            <p:cNvSpPr/>
            <p:nvPr/>
          </p:nvSpPr>
          <p:spPr>
            <a:xfrm>
              <a:off x="4497260" y="1931796"/>
              <a:ext cx="760730" cy="647700"/>
            </a:xfrm>
            <a:custGeom>
              <a:avLst/>
              <a:gdLst/>
              <a:ahLst/>
              <a:cxnLst/>
              <a:rect l="l" t="t" r="r" b="b"/>
              <a:pathLst>
                <a:path w="760729" h="647700">
                  <a:moveTo>
                    <a:pt x="26390" y="518033"/>
                  </a:moveTo>
                  <a:lnTo>
                    <a:pt x="0" y="518033"/>
                  </a:lnTo>
                  <a:lnTo>
                    <a:pt x="0" y="647153"/>
                  </a:lnTo>
                  <a:lnTo>
                    <a:pt x="26390" y="647153"/>
                  </a:lnTo>
                  <a:lnTo>
                    <a:pt x="26390" y="518033"/>
                  </a:lnTo>
                  <a:close/>
                </a:path>
                <a:path w="760729" h="647700">
                  <a:moveTo>
                    <a:pt x="26390" y="258622"/>
                  </a:moveTo>
                  <a:lnTo>
                    <a:pt x="0" y="258622"/>
                  </a:lnTo>
                  <a:lnTo>
                    <a:pt x="0" y="388899"/>
                  </a:lnTo>
                  <a:lnTo>
                    <a:pt x="26390" y="388899"/>
                  </a:lnTo>
                  <a:lnTo>
                    <a:pt x="26390" y="258622"/>
                  </a:lnTo>
                  <a:close/>
                </a:path>
                <a:path w="760729" h="647700">
                  <a:moveTo>
                    <a:pt x="26390" y="0"/>
                  </a:moveTo>
                  <a:lnTo>
                    <a:pt x="0" y="0"/>
                  </a:lnTo>
                  <a:lnTo>
                    <a:pt x="0" y="129514"/>
                  </a:lnTo>
                  <a:lnTo>
                    <a:pt x="26390" y="129514"/>
                  </a:lnTo>
                  <a:lnTo>
                    <a:pt x="26390" y="0"/>
                  </a:lnTo>
                  <a:close/>
                </a:path>
                <a:path w="760729" h="647700">
                  <a:moveTo>
                    <a:pt x="760590" y="518033"/>
                  </a:moveTo>
                  <a:lnTo>
                    <a:pt x="734199" y="518033"/>
                  </a:lnTo>
                  <a:lnTo>
                    <a:pt x="734199" y="647153"/>
                  </a:lnTo>
                  <a:lnTo>
                    <a:pt x="760590" y="647153"/>
                  </a:lnTo>
                  <a:lnTo>
                    <a:pt x="760590" y="518033"/>
                  </a:lnTo>
                  <a:close/>
                </a:path>
                <a:path w="760729" h="647700">
                  <a:moveTo>
                    <a:pt x="760590" y="258622"/>
                  </a:moveTo>
                  <a:lnTo>
                    <a:pt x="734199" y="258622"/>
                  </a:lnTo>
                  <a:lnTo>
                    <a:pt x="734199" y="388899"/>
                  </a:lnTo>
                  <a:lnTo>
                    <a:pt x="760590" y="388899"/>
                  </a:lnTo>
                  <a:lnTo>
                    <a:pt x="760590" y="258622"/>
                  </a:lnTo>
                  <a:close/>
                </a:path>
                <a:path w="760729" h="647700">
                  <a:moveTo>
                    <a:pt x="760590" y="0"/>
                  </a:moveTo>
                  <a:lnTo>
                    <a:pt x="734199" y="0"/>
                  </a:lnTo>
                  <a:lnTo>
                    <a:pt x="734199" y="129514"/>
                  </a:lnTo>
                  <a:lnTo>
                    <a:pt x="760590" y="129514"/>
                  </a:lnTo>
                  <a:lnTo>
                    <a:pt x="760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2084" y="2972187"/>
              <a:ext cx="195836" cy="195989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2491658" y="3070685"/>
              <a:ext cx="1936750" cy="0"/>
            </a:xfrm>
            <a:custGeom>
              <a:avLst/>
              <a:gdLst/>
              <a:ahLst/>
              <a:cxnLst/>
              <a:rect l="l" t="t" r="r" b="b"/>
              <a:pathLst>
                <a:path w="1936750">
                  <a:moveTo>
                    <a:pt x="0" y="0"/>
                  </a:moveTo>
                  <a:lnTo>
                    <a:pt x="0" y="0"/>
                  </a:lnTo>
                  <a:lnTo>
                    <a:pt x="1936657" y="0"/>
                  </a:lnTo>
                </a:path>
              </a:pathLst>
            </a:custGeom>
            <a:ln w="12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6636" y="3015462"/>
              <a:ext cx="150214" cy="109439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582869" y="4336774"/>
              <a:ext cx="184150" cy="184150"/>
            </a:xfrm>
            <a:custGeom>
              <a:avLst/>
              <a:gdLst/>
              <a:ahLst/>
              <a:cxnLst/>
              <a:rect l="l" t="t" r="r" b="b"/>
              <a:pathLst>
                <a:path w="184150" h="184150">
                  <a:moveTo>
                    <a:pt x="0" y="183714"/>
                  </a:moveTo>
                  <a:lnTo>
                    <a:pt x="0" y="183714"/>
                  </a:lnTo>
                  <a:lnTo>
                    <a:pt x="183703" y="0"/>
                  </a:lnTo>
                </a:path>
              </a:pathLst>
            </a:custGeom>
            <a:ln w="12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3" name="object 10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0644" y="2139970"/>
            <a:ext cx="72969" cy="72816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60644" y="2364425"/>
            <a:ext cx="72969" cy="71932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60644" y="2587599"/>
            <a:ext cx="72969" cy="72969"/>
          </a:xfrm>
          <a:prstGeom prst="rect">
            <a:avLst/>
          </a:prstGeom>
        </p:spPr>
      </p:pic>
      <p:sp>
        <p:nvSpPr>
          <p:cNvPr id="89" name="object 89"/>
          <p:cNvSpPr txBox="1"/>
          <p:nvPr/>
        </p:nvSpPr>
        <p:spPr>
          <a:xfrm>
            <a:off x="5547961" y="2848214"/>
            <a:ext cx="20701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200" spc="-25" dirty="0">
                <a:latin typeface="Times New Roman"/>
                <a:cs typeface="Times New Roman"/>
              </a:rPr>
              <a:t>L</a:t>
            </a:r>
            <a:r>
              <a:rPr sz="1500" i="1" spc="-37" baseline="-16666" dirty="0">
                <a:latin typeface="Times New Roman"/>
                <a:cs typeface="Times New Roman"/>
              </a:rPr>
              <a:t>j</a:t>
            </a:r>
            <a:endParaRPr sz="1500" baseline="-16666">
              <a:latin typeface="Times New Roman"/>
              <a:cs typeface="Times New Roman"/>
            </a:endParaRPr>
          </a:p>
        </p:txBody>
      </p:sp>
      <p:pic>
        <p:nvPicPr>
          <p:cNvPr id="100" name="object 10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56652" y="3426226"/>
            <a:ext cx="72999" cy="72969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56652" y="3649797"/>
            <a:ext cx="72999" cy="72847"/>
          </a:xfrm>
          <a:prstGeom prst="rect">
            <a:avLst/>
          </a:prstGeom>
        </p:spPr>
      </p:pic>
      <p:sp>
        <p:nvSpPr>
          <p:cNvPr id="96" name="object 96"/>
          <p:cNvSpPr txBox="1"/>
          <p:nvPr/>
        </p:nvSpPr>
        <p:spPr>
          <a:xfrm>
            <a:off x="2609102" y="4207445"/>
            <a:ext cx="8636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5318123" y="4065728"/>
            <a:ext cx="275590" cy="737870"/>
          </a:xfrm>
          <a:custGeom>
            <a:avLst/>
            <a:gdLst/>
            <a:ahLst/>
            <a:cxnLst/>
            <a:rect l="l" t="t" r="r" b="b"/>
            <a:pathLst>
              <a:path w="275589" h="737870">
                <a:moveTo>
                  <a:pt x="0" y="737333"/>
                </a:moveTo>
                <a:lnTo>
                  <a:pt x="34398" y="736054"/>
                </a:lnTo>
                <a:lnTo>
                  <a:pt x="62746" y="732336"/>
                </a:lnTo>
                <a:lnTo>
                  <a:pt x="103172" y="718310"/>
                </a:lnTo>
                <a:lnTo>
                  <a:pt x="130186" y="683500"/>
                </a:lnTo>
                <a:lnTo>
                  <a:pt x="132105" y="668947"/>
                </a:lnTo>
                <a:lnTo>
                  <a:pt x="131265" y="653220"/>
                </a:lnTo>
                <a:lnTo>
                  <a:pt x="116895" y="600802"/>
                </a:lnTo>
                <a:lnTo>
                  <a:pt x="102141" y="563298"/>
                </a:lnTo>
                <a:lnTo>
                  <a:pt x="94622" y="544320"/>
                </a:lnTo>
                <a:lnTo>
                  <a:pt x="81654" y="506816"/>
                </a:lnTo>
                <a:lnTo>
                  <a:pt x="74425" y="454398"/>
                </a:lnTo>
                <a:lnTo>
                  <a:pt x="77156" y="438671"/>
                </a:lnTo>
                <a:lnTo>
                  <a:pt x="107356" y="399255"/>
                </a:lnTo>
                <a:lnTo>
                  <a:pt x="150529" y="381256"/>
                </a:lnTo>
                <a:lnTo>
                  <a:pt x="216524" y="371564"/>
                </a:lnTo>
                <a:lnTo>
                  <a:pt x="259255" y="370285"/>
                </a:lnTo>
                <a:lnTo>
                  <a:pt x="275561" y="367048"/>
                </a:lnTo>
                <a:lnTo>
                  <a:pt x="232831" y="365768"/>
                </a:lnTo>
                <a:lnTo>
                  <a:pt x="166841" y="356076"/>
                </a:lnTo>
                <a:lnTo>
                  <a:pt x="123677" y="338077"/>
                </a:lnTo>
                <a:lnTo>
                  <a:pt x="93507" y="298662"/>
                </a:lnTo>
                <a:lnTo>
                  <a:pt x="90790" y="282935"/>
                </a:lnTo>
                <a:lnTo>
                  <a:pt x="90960" y="266214"/>
                </a:lnTo>
                <a:lnTo>
                  <a:pt x="104088" y="211900"/>
                </a:lnTo>
                <a:lnTo>
                  <a:pt x="118655" y="174035"/>
                </a:lnTo>
                <a:lnTo>
                  <a:pt x="126272" y="155147"/>
                </a:lnTo>
                <a:lnTo>
                  <a:pt x="133486" y="136531"/>
                </a:lnTo>
                <a:lnTo>
                  <a:pt x="139827" y="118366"/>
                </a:lnTo>
                <a:lnTo>
                  <a:pt x="144823" y="100833"/>
                </a:lnTo>
                <a:lnTo>
                  <a:pt x="148005" y="84113"/>
                </a:lnTo>
                <a:lnTo>
                  <a:pt x="148904" y="68386"/>
                </a:lnTo>
                <a:lnTo>
                  <a:pt x="147048" y="53832"/>
                </a:lnTo>
                <a:lnTo>
                  <a:pt x="120257" y="19022"/>
                </a:lnTo>
                <a:lnTo>
                  <a:pt x="80009" y="4996"/>
                </a:lnTo>
                <a:lnTo>
                  <a:pt x="51759" y="1279"/>
                </a:lnTo>
                <a:lnTo>
                  <a:pt x="17464" y="0"/>
                </a:lnTo>
              </a:path>
            </a:pathLst>
          </a:custGeom>
          <a:ln w="12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5601530" y="4350409"/>
            <a:ext cx="39306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800" baseline="13888" dirty="0">
                <a:latin typeface="Times New Roman"/>
                <a:cs typeface="Times New Roman"/>
              </a:rPr>
              <a:t>L</a:t>
            </a:r>
            <a:r>
              <a:rPr sz="1000" i="1" dirty="0">
                <a:latin typeface="Times New Roman"/>
                <a:cs typeface="Times New Roman"/>
              </a:rPr>
              <a:t>m</a:t>
            </a:r>
            <a:r>
              <a:rPr sz="1000" dirty="0">
                <a:latin typeface="Times New Roman"/>
                <a:cs typeface="Times New Roman"/>
              </a:rPr>
              <a:t>–</a:t>
            </a:r>
            <a:r>
              <a:rPr sz="1000" spc="-50" dirty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617927" y="3890689"/>
            <a:ext cx="758825" cy="920750"/>
          </a:xfrm>
          <a:custGeom>
            <a:avLst/>
            <a:gdLst/>
            <a:ahLst/>
            <a:cxnLst/>
            <a:rect l="l" t="t" r="r" b="b"/>
            <a:pathLst>
              <a:path w="758825" h="920750">
                <a:moveTo>
                  <a:pt x="758647" y="86688"/>
                </a:moveTo>
                <a:lnTo>
                  <a:pt x="733287" y="86688"/>
                </a:lnTo>
                <a:lnTo>
                  <a:pt x="733287" y="216703"/>
                </a:lnTo>
                <a:lnTo>
                  <a:pt x="758647" y="216703"/>
                </a:lnTo>
                <a:lnTo>
                  <a:pt x="758647" y="86688"/>
                </a:lnTo>
                <a:close/>
              </a:path>
              <a:path w="758825" h="920750">
                <a:moveTo>
                  <a:pt x="758647" y="345829"/>
                </a:moveTo>
                <a:lnTo>
                  <a:pt x="733287" y="345829"/>
                </a:lnTo>
                <a:lnTo>
                  <a:pt x="733287" y="475332"/>
                </a:lnTo>
                <a:lnTo>
                  <a:pt x="758647" y="475332"/>
                </a:lnTo>
                <a:lnTo>
                  <a:pt x="758647" y="345829"/>
                </a:lnTo>
                <a:close/>
              </a:path>
              <a:path w="758825" h="920750">
                <a:moveTo>
                  <a:pt x="758647" y="605360"/>
                </a:moveTo>
                <a:lnTo>
                  <a:pt x="733287" y="605360"/>
                </a:lnTo>
                <a:lnTo>
                  <a:pt x="733287" y="734470"/>
                </a:lnTo>
                <a:lnTo>
                  <a:pt x="758647" y="734470"/>
                </a:lnTo>
                <a:lnTo>
                  <a:pt x="758647" y="605360"/>
                </a:lnTo>
                <a:close/>
              </a:path>
              <a:path w="758825" h="920750">
                <a:moveTo>
                  <a:pt x="733287" y="894121"/>
                </a:moveTo>
                <a:lnTo>
                  <a:pt x="659404" y="894121"/>
                </a:lnTo>
                <a:lnTo>
                  <a:pt x="659404" y="920136"/>
                </a:lnTo>
                <a:lnTo>
                  <a:pt x="745845" y="920136"/>
                </a:lnTo>
                <a:lnTo>
                  <a:pt x="733287" y="907575"/>
                </a:lnTo>
                <a:lnTo>
                  <a:pt x="733287" y="894121"/>
                </a:lnTo>
                <a:close/>
              </a:path>
              <a:path w="758825" h="920750">
                <a:moveTo>
                  <a:pt x="758647" y="863858"/>
                </a:moveTo>
                <a:lnTo>
                  <a:pt x="733287" y="863858"/>
                </a:lnTo>
                <a:lnTo>
                  <a:pt x="733287" y="907575"/>
                </a:lnTo>
                <a:lnTo>
                  <a:pt x="745845" y="920136"/>
                </a:lnTo>
                <a:lnTo>
                  <a:pt x="745845" y="894121"/>
                </a:lnTo>
                <a:lnTo>
                  <a:pt x="758647" y="894121"/>
                </a:lnTo>
                <a:lnTo>
                  <a:pt x="758647" y="863858"/>
                </a:lnTo>
                <a:close/>
              </a:path>
              <a:path w="758825" h="920750">
                <a:moveTo>
                  <a:pt x="758647" y="894121"/>
                </a:moveTo>
                <a:lnTo>
                  <a:pt x="745845" y="894121"/>
                </a:lnTo>
                <a:lnTo>
                  <a:pt x="745845" y="920136"/>
                </a:lnTo>
                <a:lnTo>
                  <a:pt x="748680" y="920136"/>
                </a:lnTo>
                <a:lnTo>
                  <a:pt x="750630" y="919103"/>
                </a:lnTo>
                <a:lnTo>
                  <a:pt x="751514" y="918197"/>
                </a:lnTo>
                <a:lnTo>
                  <a:pt x="753861" y="917280"/>
                </a:lnTo>
                <a:lnTo>
                  <a:pt x="754776" y="916256"/>
                </a:lnTo>
                <a:lnTo>
                  <a:pt x="755660" y="915338"/>
                </a:lnTo>
                <a:lnTo>
                  <a:pt x="757610" y="913400"/>
                </a:lnTo>
                <a:lnTo>
                  <a:pt x="757610" y="912376"/>
                </a:lnTo>
                <a:lnTo>
                  <a:pt x="758647" y="910434"/>
                </a:lnTo>
                <a:lnTo>
                  <a:pt x="758647" y="894121"/>
                </a:lnTo>
                <a:close/>
              </a:path>
              <a:path w="758825" h="920750">
                <a:moveTo>
                  <a:pt x="530291" y="894121"/>
                </a:moveTo>
                <a:lnTo>
                  <a:pt x="400171" y="894121"/>
                </a:lnTo>
                <a:lnTo>
                  <a:pt x="400171" y="920136"/>
                </a:lnTo>
                <a:lnTo>
                  <a:pt x="530291" y="920136"/>
                </a:lnTo>
                <a:lnTo>
                  <a:pt x="530291" y="894121"/>
                </a:lnTo>
                <a:close/>
              </a:path>
              <a:path w="758825" h="920750">
                <a:moveTo>
                  <a:pt x="271058" y="894121"/>
                </a:moveTo>
                <a:lnTo>
                  <a:pt x="141671" y="894121"/>
                </a:lnTo>
                <a:lnTo>
                  <a:pt x="141671" y="920136"/>
                </a:lnTo>
                <a:lnTo>
                  <a:pt x="271058" y="920136"/>
                </a:lnTo>
                <a:lnTo>
                  <a:pt x="271058" y="894121"/>
                </a:lnTo>
                <a:close/>
              </a:path>
              <a:path w="758825" h="920750">
                <a:moveTo>
                  <a:pt x="25115" y="777560"/>
                </a:moveTo>
                <a:lnTo>
                  <a:pt x="0" y="777560"/>
                </a:lnTo>
                <a:lnTo>
                  <a:pt x="0" y="906670"/>
                </a:lnTo>
                <a:lnTo>
                  <a:pt x="25115" y="906670"/>
                </a:lnTo>
                <a:lnTo>
                  <a:pt x="25115" y="777560"/>
                </a:lnTo>
                <a:close/>
              </a:path>
              <a:path w="758825" h="920750">
                <a:moveTo>
                  <a:pt x="25115" y="518028"/>
                </a:moveTo>
                <a:lnTo>
                  <a:pt x="0" y="518028"/>
                </a:lnTo>
                <a:lnTo>
                  <a:pt x="0" y="647151"/>
                </a:lnTo>
                <a:lnTo>
                  <a:pt x="25115" y="647151"/>
                </a:lnTo>
                <a:lnTo>
                  <a:pt x="25115" y="518028"/>
                </a:lnTo>
                <a:close/>
              </a:path>
              <a:path w="758825" h="920750">
                <a:moveTo>
                  <a:pt x="25115" y="258494"/>
                </a:moveTo>
                <a:lnTo>
                  <a:pt x="0" y="258494"/>
                </a:lnTo>
                <a:lnTo>
                  <a:pt x="0" y="388522"/>
                </a:lnTo>
                <a:lnTo>
                  <a:pt x="25115" y="388522"/>
                </a:lnTo>
                <a:lnTo>
                  <a:pt x="25115" y="258494"/>
                </a:lnTo>
                <a:close/>
              </a:path>
              <a:path w="758825" h="920750">
                <a:moveTo>
                  <a:pt x="25115" y="0"/>
                </a:moveTo>
                <a:lnTo>
                  <a:pt x="0" y="0"/>
                </a:lnTo>
                <a:lnTo>
                  <a:pt x="0" y="129384"/>
                </a:lnTo>
                <a:lnTo>
                  <a:pt x="25115" y="129384"/>
                </a:lnTo>
                <a:lnTo>
                  <a:pt x="25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4" name="object 104"/>
          <p:cNvGrpSpPr/>
          <p:nvPr/>
        </p:nvGrpSpPr>
        <p:grpSpPr>
          <a:xfrm>
            <a:off x="260738" y="715344"/>
            <a:ext cx="8422640" cy="3836670"/>
            <a:chOff x="260738" y="715344"/>
            <a:chExt cx="8422640" cy="3836670"/>
          </a:xfrm>
        </p:grpSpPr>
        <p:sp>
          <p:nvSpPr>
            <p:cNvPr id="105" name="object 105"/>
            <p:cNvSpPr/>
            <p:nvPr/>
          </p:nvSpPr>
          <p:spPr>
            <a:xfrm>
              <a:off x="480333" y="728044"/>
              <a:ext cx="2207895" cy="276225"/>
            </a:xfrm>
            <a:custGeom>
              <a:avLst/>
              <a:gdLst/>
              <a:ahLst/>
              <a:cxnLst/>
              <a:rect l="l" t="t" r="r" b="b"/>
              <a:pathLst>
                <a:path w="2207895" h="276225">
                  <a:moveTo>
                    <a:pt x="2207586" y="275852"/>
                  </a:moveTo>
                  <a:lnTo>
                    <a:pt x="2205557" y="250364"/>
                  </a:lnTo>
                  <a:lnTo>
                    <a:pt x="2199609" y="228122"/>
                  </a:lnTo>
                  <a:lnTo>
                    <a:pt x="2176778" y="192656"/>
                  </a:lnTo>
                  <a:lnTo>
                    <a:pt x="2140743" y="168020"/>
                  </a:lnTo>
                  <a:lnTo>
                    <a:pt x="2093155" y="152783"/>
                  </a:lnTo>
                  <a:lnTo>
                    <a:pt x="2035665" y="145510"/>
                  </a:lnTo>
                  <a:lnTo>
                    <a:pt x="2003722" y="144413"/>
                  </a:lnTo>
                  <a:lnTo>
                    <a:pt x="1969923" y="144769"/>
                  </a:lnTo>
                  <a:lnTo>
                    <a:pt x="1897579" y="149125"/>
                  </a:lnTo>
                  <a:lnTo>
                    <a:pt x="1859447" y="152768"/>
                  </a:lnTo>
                  <a:lnTo>
                    <a:pt x="1820283" y="157147"/>
                  </a:lnTo>
                  <a:lnTo>
                    <a:pt x="1780295" y="162085"/>
                  </a:lnTo>
                  <a:lnTo>
                    <a:pt x="1739687" y="167401"/>
                  </a:lnTo>
                  <a:lnTo>
                    <a:pt x="1698667" y="172917"/>
                  </a:lnTo>
                  <a:lnTo>
                    <a:pt x="1657440" y="178454"/>
                  </a:lnTo>
                  <a:lnTo>
                    <a:pt x="1616214" y="183832"/>
                  </a:lnTo>
                  <a:lnTo>
                    <a:pt x="1575193" y="188872"/>
                  </a:lnTo>
                  <a:lnTo>
                    <a:pt x="1534586" y="193395"/>
                  </a:lnTo>
                  <a:lnTo>
                    <a:pt x="1494597" y="197223"/>
                  </a:lnTo>
                  <a:lnTo>
                    <a:pt x="1455434" y="200175"/>
                  </a:lnTo>
                  <a:lnTo>
                    <a:pt x="1417302" y="202073"/>
                  </a:lnTo>
                  <a:lnTo>
                    <a:pt x="1380408" y="202737"/>
                  </a:lnTo>
                  <a:lnTo>
                    <a:pt x="1344958" y="201989"/>
                  </a:lnTo>
                  <a:lnTo>
                    <a:pt x="1279215" y="195538"/>
                  </a:lnTo>
                  <a:lnTo>
                    <a:pt x="1221725" y="181287"/>
                  </a:lnTo>
                  <a:lnTo>
                    <a:pt x="1174137" y="157802"/>
                  </a:lnTo>
                  <a:lnTo>
                    <a:pt x="1138103" y="123651"/>
                  </a:lnTo>
                  <a:lnTo>
                    <a:pt x="1115272" y="77401"/>
                  </a:lnTo>
                  <a:lnTo>
                    <a:pt x="1107295" y="17617"/>
                  </a:lnTo>
                  <a:lnTo>
                    <a:pt x="1099663" y="0"/>
                  </a:lnTo>
                  <a:lnTo>
                    <a:pt x="1091690" y="59825"/>
                  </a:lnTo>
                  <a:lnTo>
                    <a:pt x="1068872" y="106110"/>
                  </a:lnTo>
                  <a:lnTo>
                    <a:pt x="1032858" y="140290"/>
                  </a:lnTo>
                  <a:lnTo>
                    <a:pt x="985298" y="163799"/>
                  </a:lnTo>
                  <a:lnTo>
                    <a:pt x="927840" y="178073"/>
                  </a:lnTo>
                  <a:lnTo>
                    <a:pt x="862135" y="184546"/>
                  </a:lnTo>
                  <a:lnTo>
                    <a:pt x="826706" y="185306"/>
                  </a:lnTo>
                  <a:lnTo>
                    <a:pt x="789833" y="184653"/>
                  </a:lnTo>
                  <a:lnTo>
                    <a:pt x="751722" y="182768"/>
                  </a:lnTo>
                  <a:lnTo>
                    <a:pt x="712581" y="179829"/>
                  </a:lnTo>
                  <a:lnTo>
                    <a:pt x="672615" y="176016"/>
                  </a:lnTo>
                  <a:lnTo>
                    <a:pt x="632031" y="171508"/>
                  </a:lnTo>
                  <a:lnTo>
                    <a:pt x="591034" y="166485"/>
                  </a:lnTo>
                  <a:lnTo>
                    <a:pt x="549831" y="161125"/>
                  </a:lnTo>
                  <a:lnTo>
                    <a:pt x="508628" y="155609"/>
                  </a:lnTo>
                  <a:lnTo>
                    <a:pt x="467631" y="150116"/>
                  </a:lnTo>
                  <a:lnTo>
                    <a:pt x="427047" y="144824"/>
                  </a:lnTo>
                  <a:lnTo>
                    <a:pt x="387081" y="139913"/>
                  </a:lnTo>
                  <a:lnTo>
                    <a:pt x="347940" y="135564"/>
                  </a:lnTo>
                  <a:lnTo>
                    <a:pt x="309830" y="131954"/>
                  </a:lnTo>
                  <a:lnTo>
                    <a:pt x="237527" y="127671"/>
                  </a:lnTo>
                  <a:lnTo>
                    <a:pt x="203746" y="127357"/>
                  </a:lnTo>
                  <a:lnTo>
                    <a:pt x="171822" y="128501"/>
                  </a:lnTo>
                  <a:lnTo>
                    <a:pt x="114364" y="135877"/>
                  </a:lnTo>
                  <a:lnTo>
                    <a:pt x="66804" y="151235"/>
                  </a:lnTo>
                  <a:lnTo>
                    <a:pt x="30790" y="176009"/>
                  </a:lnTo>
                  <a:lnTo>
                    <a:pt x="7972" y="211634"/>
                  </a:lnTo>
                  <a:lnTo>
                    <a:pt x="2027" y="233964"/>
                  </a:lnTo>
                  <a:lnTo>
                    <a:pt x="0" y="259544"/>
                  </a:lnTo>
                </a:path>
              </a:pathLst>
            </a:custGeom>
            <a:ln w="253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274141" y="1126277"/>
              <a:ext cx="3402329" cy="2761615"/>
            </a:xfrm>
            <a:custGeom>
              <a:avLst/>
              <a:gdLst/>
              <a:ahLst/>
              <a:cxnLst/>
              <a:rect l="l" t="t" r="r" b="b"/>
              <a:pathLst>
                <a:path w="3402329" h="2761615">
                  <a:moveTo>
                    <a:pt x="0" y="737699"/>
                  </a:moveTo>
                  <a:lnTo>
                    <a:pt x="34437" y="736418"/>
                  </a:lnTo>
                  <a:lnTo>
                    <a:pt x="62821" y="732697"/>
                  </a:lnTo>
                  <a:lnTo>
                    <a:pt x="103306" y="718657"/>
                  </a:lnTo>
                  <a:lnTo>
                    <a:pt x="130387" y="683812"/>
                  </a:lnTo>
                  <a:lnTo>
                    <a:pt x="132323" y="669244"/>
                  </a:lnTo>
                  <a:lnTo>
                    <a:pt x="131497" y="653501"/>
                  </a:lnTo>
                  <a:lnTo>
                    <a:pt x="117157" y="601030"/>
                  </a:lnTo>
                  <a:lnTo>
                    <a:pt x="102413" y="563489"/>
                  </a:lnTo>
                  <a:lnTo>
                    <a:pt x="94898" y="544492"/>
                  </a:lnTo>
                  <a:lnTo>
                    <a:pt x="81932" y="506950"/>
                  </a:lnTo>
                  <a:lnTo>
                    <a:pt x="74702" y="454479"/>
                  </a:lnTo>
                  <a:lnTo>
                    <a:pt x="77432" y="438736"/>
                  </a:lnTo>
                  <a:lnTo>
                    <a:pt x="107627" y="399282"/>
                  </a:lnTo>
                  <a:lnTo>
                    <a:pt x="150799" y="381264"/>
                  </a:lnTo>
                  <a:lnTo>
                    <a:pt x="216796" y="371562"/>
                  </a:lnTo>
                  <a:lnTo>
                    <a:pt x="259529" y="370282"/>
                  </a:lnTo>
                  <a:lnTo>
                    <a:pt x="275958" y="367447"/>
                  </a:lnTo>
                  <a:lnTo>
                    <a:pt x="233224" y="366166"/>
                  </a:lnTo>
                  <a:lnTo>
                    <a:pt x="167226" y="356464"/>
                  </a:lnTo>
                  <a:lnTo>
                    <a:pt x="124053" y="338445"/>
                  </a:lnTo>
                  <a:lnTo>
                    <a:pt x="93867" y="298987"/>
                  </a:lnTo>
                  <a:lnTo>
                    <a:pt x="91145" y="283242"/>
                  </a:lnTo>
                  <a:lnTo>
                    <a:pt x="91309" y="266504"/>
                  </a:lnTo>
                  <a:lnTo>
                    <a:pt x="104420" y="212130"/>
                  </a:lnTo>
                  <a:lnTo>
                    <a:pt x="118976" y="174224"/>
                  </a:lnTo>
                  <a:lnTo>
                    <a:pt x="126588" y="155316"/>
                  </a:lnTo>
                  <a:lnTo>
                    <a:pt x="133797" y="136679"/>
                  </a:lnTo>
                  <a:lnTo>
                    <a:pt x="140132" y="118494"/>
                  </a:lnTo>
                  <a:lnTo>
                    <a:pt x="145124" y="100942"/>
                  </a:lnTo>
                  <a:lnTo>
                    <a:pt x="148302" y="84204"/>
                  </a:lnTo>
                  <a:lnTo>
                    <a:pt x="149196" y="68460"/>
                  </a:lnTo>
                  <a:lnTo>
                    <a:pt x="147337" y="53891"/>
                  </a:lnTo>
                  <a:lnTo>
                    <a:pt x="120537" y="19043"/>
                  </a:lnTo>
                  <a:lnTo>
                    <a:pt x="80285" y="5001"/>
                  </a:lnTo>
                  <a:lnTo>
                    <a:pt x="52033" y="1280"/>
                  </a:lnTo>
                  <a:lnTo>
                    <a:pt x="17738" y="0"/>
                  </a:lnTo>
                </a:path>
                <a:path w="3402329" h="2761615">
                  <a:moveTo>
                    <a:pt x="0" y="2200965"/>
                  </a:moveTo>
                  <a:lnTo>
                    <a:pt x="34437" y="2199685"/>
                  </a:lnTo>
                  <a:lnTo>
                    <a:pt x="62821" y="2195964"/>
                  </a:lnTo>
                  <a:lnTo>
                    <a:pt x="103306" y="2181923"/>
                  </a:lnTo>
                  <a:lnTo>
                    <a:pt x="130387" y="2147078"/>
                  </a:lnTo>
                  <a:lnTo>
                    <a:pt x="132323" y="2132511"/>
                  </a:lnTo>
                  <a:lnTo>
                    <a:pt x="131497" y="2116768"/>
                  </a:lnTo>
                  <a:lnTo>
                    <a:pt x="117157" y="2064297"/>
                  </a:lnTo>
                  <a:lnTo>
                    <a:pt x="102413" y="2026755"/>
                  </a:lnTo>
                  <a:lnTo>
                    <a:pt x="94898" y="2007759"/>
                  </a:lnTo>
                  <a:lnTo>
                    <a:pt x="81932" y="1970217"/>
                  </a:lnTo>
                  <a:lnTo>
                    <a:pt x="74702" y="1917746"/>
                  </a:lnTo>
                  <a:lnTo>
                    <a:pt x="77432" y="1902003"/>
                  </a:lnTo>
                  <a:lnTo>
                    <a:pt x="107627" y="1862548"/>
                  </a:lnTo>
                  <a:lnTo>
                    <a:pt x="150799" y="1844531"/>
                  </a:lnTo>
                  <a:lnTo>
                    <a:pt x="216796" y="1834829"/>
                  </a:lnTo>
                  <a:lnTo>
                    <a:pt x="259529" y="1833548"/>
                  </a:lnTo>
                  <a:lnTo>
                    <a:pt x="275958" y="1830683"/>
                  </a:lnTo>
                  <a:lnTo>
                    <a:pt x="233224" y="1829404"/>
                  </a:lnTo>
                  <a:lnTo>
                    <a:pt x="167226" y="1819712"/>
                  </a:lnTo>
                  <a:lnTo>
                    <a:pt x="124053" y="1801712"/>
                  </a:lnTo>
                  <a:lnTo>
                    <a:pt x="93867" y="1762297"/>
                  </a:lnTo>
                  <a:lnTo>
                    <a:pt x="91145" y="1746570"/>
                  </a:lnTo>
                  <a:lnTo>
                    <a:pt x="91309" y="1729849"/>
                  </a:lnTo>
                  <a:lnTo>
                    <a:pt x="104420" y="1675534"/>
                  </a:lnTo>
                  <a:lnTo>
                    <a:pt x="118976" y="1637669"/>
                  </a:lnTo>
                  <a:lnTo>
                    <a:pt x="126588" y="1618781"/>
                  </a:lnTo>
                  <a:lnTo>
                    <a:pt x="133797" y="1600164"/>
                  </a:lnTo>
                  <a:lnTo>
                    <a:pt x="140132" y="1581999"/>
                  </a:lnTo>
                  <a:lnTo>
                    <a:pt x="145124" y="1564466"/>
                  </a:lnTo>
                  <a:lnTo>
                    <a:pt x="148302" y="1547746"/>
                  </a:lnTo>
                  <a:lnTo>
                    <a:pt x="149196" y="1532019"/>
                  </a:lnTo>
                  <a:lnTo>
                    <a:pt x="147337" y="1517465"/>
                  </a:lnTo>
                  <a:lnTo>
                    <a:pt x="120537" y="1482655"/>
                  </a:lnTo>
                  <a:lnTo>
                    <a:pt x="80285" y="1468629"/>
                  </a:lnTo>
                  <a:lnTo>
                    <a:pt x="52033" y="1464911"/>
                  </a:lnTo>
                  <a:lnTo>
                    <a:pt x="17738" y="1463632"/>
                  </a:lnTo>
                </a:path>
                <a:path w="3402329" h="2761615">
                  <a:moveTo>
                    <a:pt x="3126489" y="2761430"/>
                  </a:moveTo>
                  <a:lnTo>
                    <a:pt x="3160789" y="2760151"/>
                  </a:lnTo>
                  <a:lnTo>
                    <a:pt x="3189054" y="2756434"/>
                  </a:lnTo>
                  <a:lnTo>
                    <a:pt x="3229355" y="2742408"/>
                  </a:lnTo>
                  <a:lnTo>
                    <a:pt x="3256279" y="2707600"/>
                  </a:lnTo>
                  <a:lnTo>
                    <a:pt x="3258190" y="2693047"/>
                  </a:lnTo>
                  <a:lnTo>
                    <a:pt x="3257352" y="2677321"/>
                  </a:lnTo>
                  <a:lnTo>
                    <a:pt x="3243033" y="2624905"/>
                  </a:lnTo>
                  <a:lnTo>
                    <a:pt x="3228345" y="2587402"/>
                  </a:lnTo>
                  <a:lnTo>
                    <a:pt x="3220866" y="2568425"/>
                  </a:lnTo>
                  <a:lnTo>
                    <a:pt x="3207985" y="2530923"/>
                  </a:lnTo>
                  <a:lnTo>
                    <a:pt x="3200896" y="2478507"/>
                  </a:lnTo>
                  <a:lnTo>
                    <a:pt x="3203673" y="2462781"/>
                  </a:lnTo>
                  <a:lnTo>
                    <a:pt x="3233994" y="2423367"/>
                  </a:lnTo>
                  <a:lnTo>
                    <a:pt x="3277226" y="2405368"/>
                  </a:lnTo>
                  <a:lnTo>
                    <a:pt x="3343253" y="2395676"/>
                  </a:lnTo>
                  <a:lnTo>
                    <a:pt x="3385989" y="2394397"/>
                  </a:lnTo>
                  <a:lnTo>
                    <a:pt x="3402326" y="2391532"/>
                  </a:lnTo>
                  <a:lnTo>
                    <a:pt x="3359592" y="2390252"/>
                  </a:lnTo>
                  <a:lnTo>
                    <a:pt x="3293596" y="2380550"/>
                  </a:lnTo>
                  <a:lnTo>
                    <a:pt x="3250428" y="2362532"/>
                  </a:lnTo>
                  <a:lnTo>
                    <a:pt x="3220252" y="2323077"/>
                  </a:lnTo>
                  <a:lnTo>
                    <a:pt x="3217534" y="2307335"/>
                  </a:lnTo>
                  <a:lnTo>
                    <a:pt x="3217702" y="2290598"/>
                  </a:lnTo>
                  <a:lnTo>
                    <a:pt x="3230826" y="2236228"/>
                  </a:lnTo>
                  <a:lnTo>
                    <a:pt x="3245392" y="2198325"/>
                  </a:lnTo>
                  <a:lnTo>
                    <a:pt x="3253009" y="2179419"/>
                  </a:lnTo>
                  <a:lnTo>
                    <a:pt x="3260222" y="2160784"/>
                  </a:lnTo>
                  <a:lnTo>
                    <a:pt x="3266562" y="2142600"/>
                  </a:lnTo>
                  <a:lnTo>
                    <a:pt x="3271558" y="2125050"/>
                  </a:lnTo>
                  <a:lnTo>
                    <a:pt x="3274740" y="2108313"/>
                  </a:lnTo>
                  <a:lnTo>
                    <a:pt x="3275638" y="2092570"/>
                  </a:lnTo>
                  <a:lnTo>
                    <a:pt x="3273783" y="2078002"/>
                  </a:lnTo>
                  <a:lnTo>
                    <a:pt x="3246991" y="2043157"/>
                  </a:lnTo>
                  <a:lnTo>
                    <a:pt x="3206743" y="2029117"/>
                  </a:lnTo>
                  <a:lnTo>
                    <a:pt x="3178492" y="2025396"/>
                  </a:lnTo>
                  <a:lnTo>
                    <a:pt x="3144198" y="2024115"/>
                  </a:lnTo>
                </a:path>
              </a:pathLst>
            </a:custGeom>
            <a:ln w="12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56652" y="2424470"/>
              <a:ext cx="72999" cy="72969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56652" y="2199985"/>
              <a:ext cx="72999" cy="72969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56652" y="1976810"/>
              <a:ext cx="72999" cy="72572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56652" y="3874258"/>
              <a:ext cx="72999" cy="72972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60644" y="4478715"/>
              <a:ext cx="72969" cy="72959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60644" y="4255151"/>
              <a:ext cx="72969" cy="71926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60644" y="4030681"/>
              <a:ext cx="72969" cy="72831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2359701" y="3037582"/>
              <a:ext cx="4117975" cy="240029"/>
            </a:xfrm>
            <a:custGeom>
              <a:avLst/>
              <a:gdLst/>
              <a:ahLst/>
              <a:cxnLst/>
              <a:rect l="l" t="t" r="r" b="b"/>
              <a:pathLst>
                <a:path w="4117975" h="240029">
                  <a:moveTo>
                    <a:pt x="0" y="0"/>
                  </a:moveTo>
                  <a:lnTo>
                    <a:pt x="0" y="0"/>
                  </a:lnTo>
                  <a:lnTo>
                    <a:pt x="74911" y="74891"/>
                  </a:lnTo>
                </a:path>
                <a:path w="4117975" h="240029">
                  <a:moveTo>
                    <a:pt x="74911" y="0"/>
                  </a:moveTo>
                  <a:lnTo>
                    <a:pt x="74911" y="0"/>
                  </a:lnTo>
                  <a:lnTo>
                    <a:pt x="0" y="74891"/>
                  </a:lnTo>
                </a:path>
                <a:path w="4117975" h="240029">
                  <a:moveTo>
                    <a:pt x="4043326" y="165084"/>
                  </a:moveTo>
                  <a:lnTo>
                    <a:pt x="4043326" y="165084"/>
                  </a:lnTo>
                  <a:lnTo>
                    <a:pt x="4117848" y="238939"/>
                  </a:lnTo>
                </a:path>
                <a:path w="4117975" h="240029">
                  <a:moveTo>
                    <a:pt x="4117848" y="165084"/>
                  </a:moveTo>
                  <a:lnTo>
                    <a:pt x="4117848" y="165084"/>
                  </a:lnTo>
                  <a:lnTo>
                    <a:pt x="4043326" y="239976"/>
                  </a:lnTo>
                </a:path>
              </a:pathLst>
            </a:custGeom>
            <a:ln w="15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30059" y="3084156"/>
              <a:ext cx="208279" cy="37465"/>
            </a:xfrm>
            <a:custGeom>
              <a:avLst/>
              <a:gdLst/>
              <a:ahLst/>
              <a:cxnLst/>
              <a:rect l="l" t="t" r="r" b="b"/>
              <a:pathLst>
                <a:path w="208280" h="37464">
                  <a:moveTo>
                    <a:pt x="35966" y="18618"/>
                  </a:moveTo>
                  <a:lnTo>
                    <a:pt x="34594" y="11671"/>
                  </a:lnTo>
                  <a:lnTo>
                    <a:pt x="30746" y="5715"/>
                  </a:lnTo>
                  <a:lnTo>
                    <a:pt x="24853" y="1562"/>
                  </a:lnTo>
                  <a:lnTo>
                    <a:pt x="17335" y="0"/>
                  </a:lnTo>
                  <a:lnTo>
                    <a:pt x="10566" y="1562"/>
                  </a:lnTo>
                  <a:lnTo>
                    <a:pt x="5054" y="5715"/>
                  </a:lnTo>
                  <a:lnTo>
                    <a:pt x="1358" y="11671"/>
                  </a:lnTo>
                  <a:lnTo>
                    <a:pt x="0" y="18618"/>
                  </a:lnTo>
                  <a:lnTo>
                    <a:pt x="0" y="28346"/>
                  </a:lnTo>
                  <a:lnTo>
                    <a:pt x="7708" y="36995"/>
                  </a:lnTo>
                  <a:lnTo>
                    <a:pt x="17335" y="36995"/>
                  </a:lnTo>
                  <a:lnTo>
                    <a:pt x="24853" y="35496"/>
                  </a:lnTo>
                  <a:lnTo>
                    <a:pt x="30746" y="31457"/>
                  </a:lnTo>
                  <a:lnTo>
                    <a:pt x="34594" y="25590"/>
                  </a:lnTo>
                  <a:lnTo>
                    <a:pt x="35966" y="18618"/>
                  </a:lnTo>
                  <a:close/>
                </a:path>
                <a:path w="208280" h="37464">
                  <a:moveTo>
                    <a:pt x="122364" y="18618"/>
                  </a:moveTo>
                  <a:lnTo>
                    <a:pt x="120853" y="11671"/>
                  </a:lnTo>
                  <a:lnTo>
                    <a:pt x="116789" y="5715"/>
                  </a:lnTo>
                  <a:lnTo>
                    <a:pt x="110845" y="1562"/>
                  </a:lnTo>
                  <a:lnTo>
                    <a:pt x="103733" y="0"/>
                  </a:lnTo>
                  <a:lnTo>
                    <a:pt x="96812" y="1562"/>
                  </a:lnTo>
                  <a:lnTo>
                    <a:pt x="90970" y="5715"/>
                  </a:lnTo>
                  <a:lnTo>
                    <a:pt x="86931" y="11671"/>
                  </a:lnTo>
                  <a:lnTo>
                    <a:pt x="85432" y="18618"/>
                  </a:lnTo>
                  <a:lnTo>
                    <a:pt x="86931" y="25590"/>
                  </a:lnTo>
                  <a:lnTo>
                    <a:pt x="90970" y="31457"/>
                  </a:lnTo>
                  <a:lnTo>
                    <a:pt x="96812" y="35496"/>
                  </a:lnTo>
                  <a:lnTo>
                    <a:pt x="103733" y="36995"/>
                  </a:lnTo>
                  <a:lnTo>
                    <a:pt x="110845" y="35496"/>
                  </a:lnTo>
                  <a:lnTo>
                    <a:pt x="116789" y="31457"/>
                  </a:lnTo>
                  <a:lnTo>
                    <a:pt x="120853" y="25590"/>
                  </a:lnTo>
                  <a:lnTo>
                    <a:pt x="122364" y="18618"/>
                  </a:lnTo>
                  <a:close/>
                </a:path>
                <a:path w="208280" h="37464">
                  <a:moveTo>
                    <a:pt x="207784" y="18618"/>
                  </a:moveTo>
                  <a:lnTo>
                    <a:pt x="206425" y="11671"/>
                  </a:lnTo>
                  <a:lnTo>
                    <a:pt x="202603" y="5715"/>
                  </a:lnTo>
                  <a:lnTo>
                    <a:pt x="196811" y="1562"/>
                  </a:lnTo>
                  <a:lnTo>
                    <a:pt x="189484" y="0"/>
                  </a:lnTo>
                  <a:lnTo>
                    <a:pt x="182524" y="1562"/>
                  </a:lnTo>
                  <a:lnTo>
                    <a:pt x="176923" y="5715"/>
                  </a:lnTo>
                  <a:lnTo>
                    <a:pt x="173177" y="11671"/>
                  </a:lnTo>
                  <a:lnTo>
                    <a:pt x="171818" y="18618"/>
                  </a:lnTo>
                  <a:lnTo>
                    <a:pt x="173177" y="25590"/>
                  </a:lnTo>
                  <a:lnTo>
                    <a:pt x="176923" y="31457"/>
                  </a:lnTo>
                  <a:lnTo>
                    <a:pt x="182524" y="35496"/>
                  </a:lnTo>
                  <a:lnTo>
                    <a:pt x="189484" y="36995"/>
                  </a:lnTo>
                  <a:lnTo>
                    <a:pt x="196811" y="35496"/>
                  </a:lnTo>
                  <a:lnTo>
                    <a:pt x="202603" y="31457"/>
                  </a:lnTo>
                  <a:lnTo>
                    <a:pt x="206425" y="25590"/>
                  </a:lnTo>
                  <a:lnTo>
                    <a:pt x="207784" y="186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67723" y="3314441"/>
              <a:ext cx="1146175" cy="373380"/>
            </a:xfrm>
            <a:custGeom>
              <a:avLst/>
              <a:gdLst/>
              <a:ahLst/>
              <a:cxnLst/>
              <a:rect l="l" t="t" r="r" b="b"/>
              <a:pathLst>
                <a:path w="1146175" h="373379">
                  <a:moveTo>
                    <a:pt x="286463" y="373238"/>
                  </a:moveTo>
                  <a:lnTo>
                    <a:pt x="0" y="186573"/>
                  </a:lnTo>
                  <a:lnTo>
                    <a:pt x="286463" y="0"/>
                  </a:lnTo>
                  <a:lnTo>
                    <a:pt x="859404" y="0"/>
                  </a:lnTo>
                  <a:lnTo>
                    <a:pt x="1145880" y="186573"/>
                  </a:lnTo>
                  <a:lnTo>
                    <a:pt x="859404" y="373238"/>
                  </a:lnTo>
                  <a:lnTo>
                    <a:pt x="286463" y="373238"/>
                  </a:lnTo>
                  <a:close/>
                </a:path>
              </a:pathLst>
            </a:custGeom>
            <a:ln w="13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916285" y="3956006"/>
            <a:ext cx="708660" cy="3359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latin typeface="Times New Roman"/>
                <a:cs typeface="Times New Roman"/>
              </a:rPr>
              <a:t>1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if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match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dirty="0">
                <a:latin typeface="Times New Roman"/>
                <a:cs typeface="Times New Roman"/>
              </a:rPr>
              <a:t>0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if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match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491883" y="201535"/>
            <a:ext cx="7138670" cy="4235450"/>
            <a:chOff x="491883" y="201535"/>
            <a:chExt cx="7138670" cy="4235450"/>
          </a:xfrm>
        </p:grpSpPr>
        <p:sp>
          <p:nvSpPr>
            <p:cNvPr id="120" name="object 120"/>
            <p:cNvSpPr/>
            <p:nvPr/>
          </p:nvSpPr>
          <p:spPr>
            <a:xfrm>
              <a:off x="1571971" y="211331"/>
              <a:ext cx="4860925" cy="2814320"/>
            </a:xfrm>
            <a:custGeom>
              <a:avLst/>
              <a:gdLst/>
              <a:ahLst/>
              <a:cxnLst/>
              <a:rect l="l" t="t" r="r" b="b"/>
              <a:pathLst>
                <a:path w="4860925" h="2814320">
                  <a:moveTo>
                    <a:pt x="0" y="480744"/>
                  </a:moveTo>
                  <a:lnTo>
                    <a:pt x="0" y="0"/>
                  </a:lnTo>
                  <a:lnTo>
                    <a:pt x="4860926" y="0"/>
                  </a:lnTo>
                  <a:lnTo>
                    <a:pt x="4860926" y="2813693"/>
                  </a:lnTo>
                </a:path>
              </a:pathLst>
            </a:custGeom>
            <a:ln w="19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361236" y="2970428"/>
              <a:ext cx="144145" cy="171450"/>
            </a:xfrm>
            <a:custGeom>
              <a:avLst/>
              <a:gdLst/>
              <a:ahLst/>
              <a:cxnLst/>
              <a:rect l="l" t="t" r="r" b="b"/>
              <a:pathLst>
                <a:path w="144145" h="171450">
                  <a:moveTo>
                    <a:pt x="143621" y="0"/>
                  </a:moveTo>
                  <a:lnTo>
                    <a:pt x="71688" y="31181"/>
                  </a:lnTo>
                  <a:lnTo>
                    <a:pt x="0" y="0"/>
                  </a:lnTo>
                  <a:lnTo>
                    <a:pt x="71688" y="171297"/>
                  </a:lnTo>
                  <a:lnTo>
                    <a:pt x="1436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529303" y="3234733"/>
              <a:ext cx="984885" cy="0"/>
            </a:xfrm>
            <a:custGeom>
              <a:avLst/>
              <a:gdLst/>
              <a:ahLst/>
              <a:cxnLst/>
              <a:rect l="l" t="t" r="r" b="b"/>
              <a:pathLst>
                <a:path w="984884">
                  <a:moveTo>
                    <a:pt x="0" y="0"/>
                  </a:moveTo>
                  <a:lnTo>
                    <a:pt x="364164" y="0"/>
                  </a:lnTo>
                  <a:lnTo>
                    <a:pt x="984628" y="0"/>
                  </a:lnTo>
                </a:path>
              </a:pathLst>
            </a:custGeom>
            <a:ln w="19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458699" y="3162818"/>
              <a:ext cx="171450" cy="144145"/>
            </a:xfrm>
            <a:custGeom>
              <a:avLst/>
              <a:gdLst/>
              <a:ahLst/>
              <a:cxnLst/>
              <a:rect l="l" t="t" r="r" b="b"/>
              <a:pathLst>
                <a:path w="171450" h="144145">
                  <a:moveTo>
                    <a:pt x="0" y="0"/>
                  </a:moveTo>
                  <a:lnTo>
                    <a:pt x="31150" y="71932"/>
                  </a:lnTo>
                  <a:lnTo>
                    <a:pt x="0" y="143987"/>
                  </a:lnTo>
                  <a:lnTo>
                    <a:pt x="170870" y="71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893468" y="3234733"/>
              <a:ext cx="621665" cy="371475"/>
            </a:xfrm>
            <a:custGeom>
              <a:avLst/>
              <a:gdLst/>
              <a:ahLst/>
              <a:cxnLst/>
              <a:rect l="l" t="t" r="r" b="b"/>
              <a:pathLst>
                <a:path w="621665" h="371475">
                  <a:moveTo>
                    <a:pt x="0" y="0"/>
                  </a:moveTo>
                  <a:lnTo>
                    <a:pt x="0" y="371318"/>
                  </a:lnTo>
                  <a:lnTo>
                    <a:pt x="621378" y="371318"/>
                  </a:lnTo>
                </a:path>
              </a:pathLst>
            </a:custGeom>
            <a:ln w="19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460619" y="3534125"/>
              <a:ext cx="170180" cy="144145"/>
            </a:xfrm>
            <a:custGeom>
              <a:avLst/>
              <a:gdLst/>
              <a:ahLst/>
              <a:cxnLst/>
              <a:rect l="l" t="t" r="r" b="b"/>
              <a:pathLst>
                <a:path w="170179" h="144145">
                  <a:moveTo>
                    <a:pt x="0" y="0"/>
                  </a:moveTo>
                  <a:lnTo>
                    <a:pt x="30144" y="71932"/>
                  </a:lnTo>
                  <a:lnTo>
                    <a:pt x="0" y="143865"/>
                  </a:lnTo>
                  <a:lnTo>
                    <a:pt x="169865" y="71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399550" y="1307151"/>
              <a:ext cx="0" cy="1555750"/>
            </a:xfrm>
            <a:custGeom>
              <a:avLst/>
              <a:gdLst/>
              <a:ahLst/>
              <a:cxnLst/>
              <a:rect l="l" t="t" r="r" b="b"/>
              <a:pathLst>
                <a:path h="1555750">
                  <a:moveTo>
                    <a:pt x="0" y="0"/>
                  </a:moveTo>
                  <a:lnTo>
                    <a:pt x="0" y="0"/>
                  </a:lnTo>
                  <a:lnTo>
                    <a:pt x="0" y="1555745"/>
                  </a:lnTo>
                </a:path>
              </a:pathLst>
            </a:custGeom>
            <a:ln w="195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327623" y="2807299"/>
              <a:ext cx="144145" cy="171450"/>
            </a:xfrm>
            <a:custGeom>
              <a:avLst/>
              <a:gdLst/>
              <a:ahLst/>
              <a:cxnLst/>
              <a:rect l="l" t="t" r="r" b="b"/>
              <a:pathLst>
                <a:path w="144144" h="171450">
                  <a:moveTo>
                    <a:pt x="143853" y="0"/>
                  </a:moveTo>
                  <a:lnTo>
                    <a:pt x="71926" y="31150"/>
                  </a:lnTo>
                  <a:lnTo>
                    <a:pt x="0" y="0"/>
                  </a:lnTo>
                  <a:lnTo>
                    <a:pt x="71926" y="171145"/>
                  </a:lnTo>
                  <a:lnTo>
                    <a:pt x="1438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112674" y="3046239"/>
              <a:ext cx="2846705" cy="1381125"/>
            </a:xfrm>
            <a:custGeom>
              <a:avLst/>
              <a:gdLst/>
              <a:ahLst/>
              <a:cxnLst/>
              <a:rect l="l" t="t" r="r" b="b"/>
              <a:pathLst>
                <a:path w="2846704" h="1381125">
                  <a:moveTo>
                    <a:pt x="2846688" y="1198299"/>
                  </a:moveTo>
                  <a:lnTo>
                    <a:pt x="2846688" y="1380715"/>
                  </a:lnTo>
                  <a:lnTo>
                    <a:pt x="764346" y="1380715"/>
                  </a:lnTo>
                  <a:lnTo>
                    <a:pt x="764346" y="0"/>
                  </a:lnTo>
                  <a:lnTo>
                    <a:pt x="0" y="0"/>
                  </a:lnTo>
                  <a:lnTo>
                    <a:pt x="0" y="161609"/>
                  </a:lnTo>
                </a:path>
              </a:pathLst>
            </a:custGeom>
            <a:ln w="19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040748" y="3152211"/>
              <a:ext cx="144145" cy="171450"/>
            </a:xfrm>
            <a:custGeom>
              <a:avLst/>
              <a:gdLst/>
              <a:ahLst/>
              <a:cxnLst/>
              <a:rect l="l" t="t" r="r" b="b"/>
              <a:pathLst>
                <a:path w="144144" h="171450">
                  <a:moveTo>
                    <a:pt x="143874" y="0"/>
                  </a:moveTo>
                  <a:lnTo>
                    <a:pt x="71926" y="31181"/>
                  </a:lnTo>
                  <a:lnTo>
                    <a:pt x="0" y="0"/>
                  </a:lnTo>
                  <a:lnTo>
                    <a:pt x="71926" y="171297"/>
                  </a:lnTo>
                  <a:lnTo>
                    <a:pt x="143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51390" y="2395197"/>
              <a:ext cx="3208020" cy="810895"/>
            </a:xfrm>
            <a:custGeom>
              <a:avLst/>
              <a:gdLst/>
              <a:ahLst/>
              <a:cxnLst/>
              <a:rect l="l" t="t" r="r" b="b"/>
              <a:pathLst>
                <a:path w="3208020" h="810894">
                  <a:moveTo>
                    <a:pt x="3207972" y="196662"/>
                  </a:moveTo>
                  <a:lnTo>
                    <a:pt x="3207972" y="0"/>
                  </a:lnTo>
                  <a:lnTo>
                    <a:pt x="0" y="0"/>
                  </a:lnTo>
                  <a:lnTo>
                    <a:pt x="0" y="810700"/>
                  </a:lnTo>
                </a:path>
              </a:pathLst>
            </a:custGeom>
            <a:ln w="19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79441" y="3150382"/>
              <a:ext cx="145415" cy="171450"/>
            </a:xfrm>
            <a:custGeom>
              <a:avLst/>
              <a:gdLst/>
              <a:ahLst/>
              <a:cxnLst/>
              <a:rect l="l" t="t" r="r" b="b"/>
              <a:pathLst>
                <a:path w="145415" h="171450">
                  <a:moveTo>
                    <a:pt x="144853" y="0"/>
                  </a:moveTo>
                  <a:lnTo>
                    <a:pt x="71951" y="31059"/>
                  </a:lnTo>
                  <a:lnTo>
                    <a:pt x="0" y="0"/>
                  </a:lnTo>
                  <a:lnTo>
                    <a:pt x="71951" y="171175"/>
                  </a:lnTo>
                  <a:lnTo>
                    <a:pt x="1448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52153" y="1307151"/>
              <a:ext cx="3307715" cy="1888489"/>
            </a:xfrm>
            <a:custGeom>
              <a:avLst/>
              <a:gdLst/>
              <a:ahLst/>
              <a:cxnLst/>
              <a:rect l="l" t="t" r="r" b="b"/>
              <a:pathLst>
                <a:path w="3307715" h="1888489">
                  <a:moveTo>
                    <a:pt x="3307209" y="0"/>
                  </a:moveTo>
                  <a:lnTo>
                    <a:pt x="3307209" y="371318"/>
                  </a:lnTo>
                  <a:lnTo>
                    <a:pt x="0" y="371318"/>
                  </a:lnTo>
                  <a:lnTo>
                    <a:pt x="0" y="1887865"/>
                  </a:lnTo>
                </a:path>
              </a:pathLst>
            </a:custGeom>
            <a:ln w="19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80525" y="3140689"/>
              <a:ext cx="144145" cy="170180"/>
            </a:xfrm>
            <a:custGeom>
              <a:avLst/>
              <a:gdLst/>
              <a:ahLst/>
              <a:cxnLst/>
              <a:rect l="l" t="t" r="r" b="b"/>
              <a:pathLst>
                <a:path w="144145" h="170179">
                  <a:moveTo>
                    <a:pt x="143566" y="0"/>
                  </a:moveTo>
                  <a:lnTo>
                    <a:pt x="71627" y="30144"/>
                  </a:lnTo>
                  <a:lnTo>
                    <a:pt x="0" y="0"/>
                  </a:lnTo>
                  <a:lnTo>
                    <a:pt x="71627" y="169865"/>
                  </a:lnTo>
                  <a:lnTo>
                    <a:pt x="143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63833" y="1307151"/>
              <a:ext cx="0" cy="1889125"/>
            </a:xfrm>
            <a:custGeom>
              <a:avLst/>
              <a:gdLst/>
              <a:ahLst/>
              <a:cxnLst/>
              <a:rect l="l" t="t" r="r" b="b"/>
              <a:pathLst>
                <a:path h="1889125">
                  <a:moveTo>
                    <a:pt x="0" y="0"/>
                  </a:moveTo>
                  <a:lnTo>
                    <a:pt x="0" y="0"/>
                  </a:lnTo>
                  <a:lnTo>
                    <a:pt x="0" y="1888780"/>
                  </a:lnTo>
                </a:path>
              </a:pathLst>
            </a:custGeom>
            <a:ln w="195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91883" y="3141726"/>
              <a:ext cx="144145" cy="170815"/>
            </a:xfrm>
            <a:custGeom>
              <a:avLst/>
              <a:gdLst/>
              <a:ahLst/>
              <a:cxnLst/>
              <a:rect l="l" t="t" r="r" b="b"/>
              <a:pathLst>
                <a:path w="144145" h="170814">
                  <a:moveTo>
                    <a:pt x="143886" y="0"/>
                  </a:moveTo>
                  <a:lnTo>
                    <a:pt x="71948" y="31059"/>
                  </a:lnTo>
                  <a:lnTo>
                    <a:pt x="0" y="0"/>
                  </a:lnTo>
                  <a:lnTo>
                    <a:pt x="71948" y="170779"/>
                  </a:lnTo>
                  <a:lnTo>
                    <a:pt x="1438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/>
          <p:nvPr/>
        </p:nvSpPr>
        <p:spPr>
          <a:xfrm>
            <a:off x="1482708" y="5071253"/>
            <a:ext cx="945515" cy="155575"/>
          </a:xfrm>
          <a:custGeom>
            <a:avLst/>
            <a:gdLst/>
            <a:ahLst/>
            <a:cxnLst/>
            <a:rect l="l" t="t" r="r" b="b"/>
            <a:pathLst>
              <a:path w="945514" h="155575">
                <a:moveTo>
                  <a:pt x="945047" y="0"/>
                </a:moveTo>
                <a:lnTo>
                  <a:pt x="0" y="0"/>
                </a:lnTo>
                <a:lnTo>
                  <a:pt x="0" y="155518"/>
                </a:lnTo>
                <a:lnTo>
                  <a:pt x="945047" y="155518"/>
                </a:lnTo>
                <a:lnTo>
                  <a:pt x="945047" y="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741546" y="4764297"/>
            <a:ext cx="1720214" cy="46545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r>
              <a:rPr sz="1000" dirty="0">
                <a:latin typeface="Times New Roman"/>
                <a:cs typeface="Times New Roman"/>
              </a:rPr>
              <a:t>0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if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match</a:t>
            </a:r>
            <a:endParaRPr sz="1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55"/>
              </a:spcBef>
            </a:pPr>
            <a:r>
              <a:rPr sz="1500" baseline="36111" dirty="0">
                <a:latin typeface="Times New Roman"/>
                <a:cs typeface="Times New Roman"/>
              </a:rPr>
              <a:t>1</a:t>
            </a:r>
            <a:r>
              <a:rPr sz="1500" spc="7" baseline="36111" dirty="0">
                <a:latin typeface="Times New Roman"/>
                <a:cs typeface="Times New Roman"/>
              </a:rPr>
              <a:t> </a:t>
            </a:r>
            <a:r>
              <a:rPr sz="1500" baseline="36111" dirty="0">
                <a:latin typeface="Times New Roman"/>
                <a:cs typeface="Times New Roman"/>
              </a:rPr>
              <a:t>if</a:t>
            </a:r>
            <a:r>
              <a:rPr sz="1500" spc="15" baseline="36111" dirty="0">
                <a:latin typeface="Times New Roman"/>
                <a:cs typeface="Times New Roman"/>
              </a:rPr>
              <a:t> </a:t>
            </a:r>
            <a:r>
              <a:rPr sz="1500" baseline="36111" dirty="0">
                <a:latin typeface="Times New Roman"/>
                <a:cs typeface="Times New Roman"/>
              </a:rPr>
              <a:t>no</a:t>
            </a:r>
            <a:r>
              <a:rPr sz="1500" spc="15" baseline="36111" dirty="0">
                <a:latin typeface="Times New Roman"/>
                <a:cs typeface="Times New Roman"/>
              </a:rPr>
              <a:t> </a:t>
            </a:r>
            <a:r>
              <a:rPr sz="1500" baseline="36111" dirty="0">
                <a:latin typeface="Times New Roman"/>
                <a:cs typeface="Times New Roman"/>
              </a:rPr>
              <a:t>match</a:t>
            </a:r>
            <a:r>
              <a:rPr sz="1500" spc="-67" baseline="36111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(miss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10" dirty="0">
                <a:latin typeface="Times New Roman"/>
                <a:cs typeface="Times New Roman"/>
              </a:rPr>
              <a:t>cache)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877772" y="6033967"/>
            <a:ext cx="4983480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latin typeface="Times New Roman"/>
                <a:cs typeface="Times New Roman"/>
              </a:rPr>
              <a:t>Figure</a:t>
            </a:r>
            <a:r>
              <a:rPr sz="1800" b="1" spc="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4.11</a:t>
            </a:r>
            <a:r>
              <a:rPr sz="1800" b="1" spc="35" dirty="0">
                <a:latin typeface="Times New Roman"/>
                <a:cs typeface="Times New Roman"/>
              </a:rPr>
              <a:t>  </a:t>
            </a:r>
            <a:r>
              <a:rPr sz="1800" b="1" dirty="0">
                <a:latin typeface="Times New Roman"/>
                <a:cs typeface="Times New Roman"/>
              </a:rPr>
              <a:t>Fully</a:t>
            </a:r>
            <a:r>
              <a:rPr sz="1800" b="1" spc="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Associative</a:t>
            </a:r>
            <a:r>
              <a:rPr sz="1800" b="1" spc="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Cache</a:t>
            </a:r>
            <a:r>
              <a:rPr sz="1800" b="1" spc="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Organization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6" name="object 1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324" y="382524"/>
            <a:ext cx="7089648" cy="101193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95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-10" dirty="0"/>
              <a:t>Associative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/>
              <a:t>Mapping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0" dirty="0"/>
              <a:t>Summary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8498" y="2005694"/>
            <a:ext cx="6316345" cy="312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9565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length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(s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+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w)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20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addressable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units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950" baseline="25641" dirty="0">
                <a:solidFill>
                  <a:srgbClr val="595959"/>
                </a:solidFill>
                <a:latin typeface="Rockwell"/>
                <a:cs typeface="Rockwell"/>
              </a:rPr>
              <a:t>s+w</a:t>
            </a:r>
            <a:r>
              <a:rPr sz="1950" spc="-15" baseline="256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19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950" baseline="25641" dirty="0">
                <a:solidFill>
                  <a:srgbClr val="595959"/>
                </a:solidFill>
                <a:latin typeface="Rockwell"/>
                <a:cs typeface="Rockwell"/>
              </a:rPr>
              <a:t>w</a:t>
            </a:r>
            <a:r>
              <a:rPr sz="1950" spc="209" baseline="256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950" baseline="25641" dirty="0">
                <a:solidFill>
                  <a:srgbClr val="595959"/>
                </a:solidFill>
                <a:latin typeface="Rockwell"/>
                <a:cs typeface="Rockwell"/>
              </a:rPr>
              <a:t>s+</a:t>
            </a:r>
            <a:r>
              <a:rPr sz="1950" baseline="256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50" baseline="25641" dirty="0">
                <a:solidFill>
                  <a:srgbClr val="595959"/>
                </a:solidFill>
                <a:latin typeface="Rockwell"/>
                <a:cs typeface="Rockwell"/>
              </a:rPr>
              <a:t>w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/2</a:t>
            </a:r>
            <a:r>
              <a:rPr sz="1950" baseline="25641" dirty="0">
                <a:solidFill>
                  <a:srgbClr val="595959"/>
                </a:solidFill>
                <a:latin typeface="Rockwell"/>
                <a:cs typeface="Rockwell"/>
              </a:rPr>
              <a:t>w</a:t>
            </a:r>
            <a:r>
              <a:rPr sz="1950" spc="225" baseline="256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950" spc="-37" baseline="25641" dirty="0">
                <a:solidFill>
                  <a:srgbClr val="595959"/>
                </a:solidFill>
                <a:latin typeface="Rockwell"/>
                <a:cs typeface="Rockwell"/>
              </a:rPr>
              <a:t>s</a:t>
            </a:r>
            <a:endParaRPr sz="1950" baseline="25641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undetermined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19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tag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endParaRPr sz="2000">
              <a:latin typeface="Rockwell"/>
              <a:cs typeface="Rockwel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7562" y="5206785"/>
            <a:ext cx="1004456" cy="9470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9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-10" dirty="0"/>
              <a:t>Example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98" y="1364987"/>
            <a:ext cx="7212965" cy="205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Using</a:t>
            </a:r>
            <a:r>
              <a:rPr sz="2000" spc="4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mapping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If</a:t>
            </a:r>
            <a:r>
              <a:rPr sz="2000" spc="4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64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Kbytes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size=4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=16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Mbyte?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Find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total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595959"/>
                </a:solidFill>
                <a:latin typeface="Rockwell"/>
                <a:cs typeface="Rockwell"/>
              </a:rPr>
              <a:t>memory,</a:t>
            </a:r>
            <a:r>
              <a:rPr sz="2000" spc="-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content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Sol</a:t>
            </a:r>
            <a:endParaRPr sz="2000">
              <a:latin typeface="Rockwell"/>
              <a:cs typeface="Rockwell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2000" spc="-50" dirty="0">
                <a:solidFill>
                  <a:srgbClr val="595959"/>
                </a:solidFill>
                <a:latin typeface="Wingdings"/>
                <a:cs typeface="Wingdings"/>
              </a:rPr>
              <a:t>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209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spc="-10" dirty="0"/>
              <a:t>Associative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/>
              <a:t>Mapping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/>
              <a:t>Pros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/>
              <a:t>&amp;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20" dirty="0"/>
              <a:t>Cons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98" y="2005694"/>
            <a:ext cx="7353934" cy="236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443230" indent="-228600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associative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mapping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there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flexibility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which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replace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new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read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into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cache.</a:t>
            </a:r>
            <a:endParaRPr sz="2000">
              <a:latin typeface="Rockwell"/>
              <a:cs typeface="Rockwell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sz="1500" dirty="0">
                <a:solidFill>
                  <a:srgbClr val="653265"/>
                </a:solidFill>
                <a:latin typeface="Wingdings"/>
                <a:cs typeface="Wingdings"/>
              </a:rPr>
              <a:t></a:t>
            </a:r>
            <a:r>
              <a:rPr sz="1500" spc="-95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Note:</a:t>
            </a:r>
            <a:r>
              <a:rPr sz="2000" spc="-1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Replacement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algorithms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designed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maximize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endParaRPr sz="2000">
              <a:latin typeface="Rockwell"/>
              <a:cs typeface="Rockwell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hit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ratio.</a:t>
            </a:r>
            <a:endParaRPr sz="2000">
              <a:latin typeface="Rockwell"/>
              <a:cs typeface="Rockwell"/>
            </a:endParaRPr>
          </a:p>
          <a:p>
            <a:pPr marL="241300" marR="5080" indent="-228600">
              <a:lnSpc>
                <a:spcPct val="100499"/>
              </a:lnSpc>
              <a:spcBef>
                <a:spcPts val="1980"/>
              </a:spcBef>
            </a:pPr>
            <a:r>
              <a:rPr sz="1500" dirty="0">
                <a:solidFill>
                  <a:srgbClr val="653265"/>
                </a:solidFill>
                <a:latin typeface="Wingdings"/>
                <a:cs typeface="Wingdings"/>
              </a:rPr>
              <a:t></a:t>
            </a:r>
            <a:r>
              <a:rPr sz="1500" spc="-55" dirty="0">
                <a:solidFill>
                  <a:srgbClr val="65326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Complex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circuitry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required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examine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tags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all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parallel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411" y="200603"/>
            <a:ext cx="286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976" y="432816"/>
            <a:ext cx="5745480" cy="101193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41050" y="551124"/>
            <a:ext cx="5169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Set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dirty="0"/>
              <a:t>Associative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10" dirty="0"/>
              <a:t>Mapping</a:t>
            </a:r>
          </a:p>
        </p:txBody>
      </p:sp>
      <p:sp>
        <p:nvSpPr>
          <p:cNvPr id="4" name="object 4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7398" y="2005707"/>
            <a:ext cx="7393940" cy="1500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Compromise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exhibits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strengths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both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direct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associative</a:t>
            </a:r>
            <a:r>
              <a:rPr sz="20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approaches</a:t>
            </a:r>
            <a:r>
              <a:rPr sz="20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while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reducing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their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disadvantages</a:t>
            </a:r>
            <a:endParaRPr sz="20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consists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several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sets,</a:t>
            </a:r>
            <a:r>
              <a:rPr sz="2000" spc="-1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which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consists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endParaRPr sz="2000">
              <a:latin typeface="Rockwell"/>
              <a:cs typeface="Rockwell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several</a:t>
            </a:r>
            <a:r>
              <a:rPr sz="20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endParaRPr sz="2000">
              <a:latin typeface="Rockwell"/>
              <a:cs typeface="Rockwel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556" y="3946714"/>
            <a:ext cx="7321539" cy="217944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79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Set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10" dirty="0"/>
              <a:t>Associative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/>
              <a:t>Mapping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398" y="1723454"/>
            <a:ext cx="2666365" cy="3938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24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r>
              <a:rPr sz="24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595959"/>
                </a:solidFill>
                <a:latin typeface="Rockwell"/>
                <a:cs typeface="Rockwell"/>
              </a:rPr>
              <a:t>maps</a:t>
            </a:r>
            <a:r>
              <a:rPr sz="2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9"/>
                </a:solidFill>
                <a:latin typeface="Rockwell"/>
                <a:cs typeface="Rockwell"/>
              </a:rPr>
              <a:t>into</a:t>
            </a:r>
            <a:r>
              <a:rPr sz="2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9"/>
                </a:solidFill>
                <a:latin typeface="Rockwell"/>
                <a:cs typeface="Rockwell"/>
              </a:rPr>
              <a:t>all</a:t>
            </a:r>
            <a:r>
              <a:rPr sz="2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2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4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Rockwell"/>
                <a:cs typeface="Rockwell"/>
              </a:rPr>
              <a:t>specific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595959"/>
                </a:solidFill>
                <a:latin typeface="Rockwell"/>
                <a:cs typeface="Rockwell"/>
              </a:rPr>
              <a:t>set</a:t>
            </a:r>
            <a:endParaRPr sz="2400">
              <a:latin typeface="Rockwell"/>
              <a:cs typeface="Rockwell"/>
            </a:endParaRPr>
          </a:p>
          <a:p>
            <a:pPr marL="241300" marR="163195" indent="-228600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-10" dirty="0">
                <a:solidFill>
                  <a:srgbClr val="595959"/>
                </a:solidFill>
                <a:latin typeface="Rockwell"/>
                <a:cs typeface="Rockwell"/>
              </a:rPr>
              <a:t>Set-associative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4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24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2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Rockwell"/>
                <a:cs typeface="Rockwell"/>
              </a:rPr>
              <a:t>Physically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595959"/>
                </a:solidFill>
                <a:latin typeface="Rockwell"/>
                <a:cs typeface="Rockwell"/>
              </a:rPr>
              <a:t>implemented</a:t>
            </a:r>
            <a:r>
              <a:rPr sz="2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2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Rockwell"/>
                <a:cs typeface="Rockwell"/>
              </a:rPr>
              <a:t>associative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Rockwell"/>
                <a:cs typeface="Rockwell"/>
              </a:rPr>
              <a:t>caches</a:t>
            </a:r>
            <a:endParaRPr sz="2400">
              <a:latin typeface="Rockwell"/>
              <a:cs typeface="Rockwel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9490" y="1700863"/>
            <a:ext cx="4536948" cy="44252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79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Set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10" dirty="0"/>
              <a:t>Associative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/>
              <a:t>Mapping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9046" y="1199764"/>
            <a:ext cx="7526020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8930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8930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:</a:t>
            </a:r>
            <a:r>
              <a:rPr sz="2000" spc="-1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64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Kbytes.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size:</a:t>
            </a:r>
            <a:r>
              <a:rPr sz="2000" spc="-1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4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organized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16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𝐾</a:t>
            </a:r>
            <a:r>
              <a:rPr sz="2000" spc="4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r>
              <a:rPr sz="2175" baseline="28735" dirty="0">
                <a:solidFill>
                  <a:srgbClr val="595959"/>
                </a:solidFill>
                <a:latin typeface="Cambria Math"/>
                <a:cs typeface="Cambria Math"/>
              </a:rPr>
              <a:t>14</a:t>
            </a:r>
            <a:r>
              <a:rPr sz="2175" spc="367" baseline="28735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4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each.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1989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Size:</a:t>
            </a:r>
            <a:r>
              <a:rPr sz="2000" spc="-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16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Mbytes,</a:t>
            </a:r>
            <a:r>
              <a:rPr sz="2000" spc="-1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byte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directly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addressable</a:t>
            </a:r>
            <a:endParaRPr sz="2000">
              <a:latin typeface="Rockwell"/>
              <a:cs typeface="Rockwell"/>
            </a:endParaRPr>
          </a:p>
          <a:p>
            <a:pPr marL="3302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24-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(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r>
              <a:rPr sz="2175" baseline="28735" dirty="0">
                <a:solidFill>
                  <a:srgbClr val="595959"/>
                </a:solidFill>
                <a:latin typeface="Cambria Math"/>
                <a:cs typeface="Cambria Math"/>
              </a:rPr>
              <a:t>24</a:t>
            </a:r>
            <a:r>
              <a:rPr sz="2175" spc="382" baseline="28735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16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Cambria Math"/>
                <a:cs typeface="Cambria Math"/>
              </a:rPr>
              <a:t>𝑀</a:t>
            </a: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).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20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memory:</a:t>
            </a:r>
            <a:r>
              <a:rPr sz="2000" spc="-1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(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r>
              <a:rPr sz="2175" baseline="28735" dirty="0">
                <a:solidFill>
                  <a:srgbClr val="595959"/>
                </a:solidFill>
                <a:latin typeface="Cambria Math"/>
                <a:cs typeface="Cambria Math"/>
              </a:rPr>
              <a:t>22</a:t>
            </a:r>
            <a:r>
              <a:rPr sz="2175" spc="457" baseline="28735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=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4M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)blocks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4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endParaRPr sz="2000">
              <a:latin typeface="Rockwell"/>
              <a:cs typeface="Rockwell"/>
            </a:endParaRPr>
          </a:p>
          <a:p>
            <a:pPr marL="329565" indent="-227965">
              <a:lnSpc>
                <a:spcPct val="100000"/>
              </a:lnSpc>
              <a:spcBef>
                <a:spcPts val="19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95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set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contain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then</a:t>
            </a:r>
            <a:endParaRPr sz="2000">
              <a:latin typeface="Rockwell"/>
              <a:cs typeface="Rockwell"/>
            </a:endParaRPr>
          </a:p>
          <a:p>
            <a:pPr marL="327660" indent="-226060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2766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#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set(v)=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r>
              <a:rPr sz="2175" baseline="28735" dirty="0">
                <a:solidFill>
                  <a:srgbClr val="595959"/>
                </a:solidFill>
                <a:latin typeface="Cambria Math"/>
                <a:cs typeface="Cambria Math"/>
              </a:rPr>
              <a:t>14</a:t>
            </a:r>
            <a:r>
              <a:rPr sz="2175" spc="397" baseline="28735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/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r>
              <a:rPr sz="2175" baseline="28735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r>
              <a:rPr sz="2175" spc="300" baseline="28735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r>
              <a:rPr sz="2175" baseline="28735" dirty="0">
                <a:solidFill>
                  <a:srgbClr val="595959"/>
                </a:solidFill>
                <a:latin typeface="Cambria Math"/>
                <a:cs typeface="Cambria Math"/>
              </a:rPr>
              <a:t>13</a:t>
            </a:r>
            <a:r>
              <a:rPr sz="2175" spc="427" baseline="28735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8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595959"/>
                </a:solidFill>
                <a:latin typeface="Rockwell"/>
                <a:cs typeface="Rockwell"/>
              </a:rPr>
              <a:t>K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7946" y="5417620"/>
            <a:ext cx="36830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tag=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(s-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d)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Wingdings"/>
                <a:cs typeface="Wingdings"/>
              </a:rPr>
              <a:t>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22-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13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595959"/>
                </a:solidFill>
                <a:latin typeface="Rockwell"/>
                <a:cs typeface="Rockwell"/>
              </a:rPr>
              <a:t>9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65681" y="5417620"/>
            <a:ext cx="6146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595959"/>
                </a:solidFill>
                <a:latin typeface="Rockwell"/>
                <a:cs typeface="Rockwell"/>
              </a:rPr>
              <a:t>word</a:t>
            </a:r>
            <a:endParaRPr sz="2000">
              <a:latin typeface="Rockwell"/>
              <a:cs typeface="Rockwel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88408" y="5686044"/>
            <a:ext cx="3528060" cy="721360"/>
            <a:chOff x="4788408" y="5686044"/>
            <a:chExt cx="3528060" cy="7213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408" y="5686044"/>
              <a:ext cx="3528059" cy="7208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860035" y="5733251"/>
              <a:ext cx="3384550" cy="576580"/>
            </a:xfrm>
            <a:custGeom>
              <a:avLst/>
              <a:gdLst/>
              <a:ahLst/>
              <a:cxnLst/>
              <a:rect l="l" t="t" r="r" b="b"/>
              <a:pathLst>
                <a:path w="3384550" h="576579">
                  <a:moveTo>
                    <a:pt x="0" y="96024"/>
                  </a:moveTo>
                  <a:lnTo>
                    <a:pt x="7535" y="58643"/>
                  </a:lnTo>
                  <a:lnTo>
                    <a:pt x="28094" y="28121"/>
                  </a:lnTo>
                  <a:lnTo>
                    <a:pt x="58610" y="7544"/>
                  </a:lnTo>
                  <a:lnTo>
                    <a:pt x="96011" y="0"/>
                  </a:lnTo>
                  <a:lnTo>
                    <a:pt x="3288426" y="0"/>
                  </a:lnTo>
                  <a:lnTo>
                    <a:pt x="3325763" y="7544"/>
                  </a:lnTo>
                  <a:lnTo>
                    <a:pt x="3356286" y="28121"/>
                  </a:lnTo>
                  <a:lnTo>
                    <a:pt x="3376881" y="58643"/>
                  </a:lnTo>
                  <a:lnTo>
                    <a:pt x="3384438" y="96024"/>
                  </a:lnTo>
                  <a:lnTo>
                    <a:pt x="3384438" y="480059"/>
                  </a:lnTo>
                  <a:lnTo>
                    <a:pt x="3376881" y="517429"/>
                  </a:lnTo>
                  <a:lnTo>
                    <a:pt x="3356286" y="547948"/>
                  </a:lnTo>
                  <a:lnTo>
                    <a:pt x="3325763" y="568526"/>
                  </a:lnTo>
                  <a:lnTo>
                    <a:pt x="3288426" y="576071"/>
                  </a:lnTo>
                  <a:lnTo>
                    <a:pt x="96011" y="576071"/>
                  </a:lnTo>
                  <a:lnTo>
                    <a:pt x="58610" y="568526"/>
                  </a:lnTo>
                  <a:lnTo>
                    <a:pt x="28094" y="547948"/>
                  </a:lnTo>
                  <a:lnTo>
                    <a:pt x="7535" y="517429"/>
                  </a:lnTo>
                  <a:lnTo>
                    <a:pt x="0" y="480059"/>
                  </a:lnTo>
                  <a:lnTo>
                    <a:pt x="0" y="96024"/>
                  </a:lnTo>
                  <a:close/>
                </a:path>
              </a:pathLst>
            </a:custGeom>
            <a:ln w="12700">
              <a:solidFill>
                <a:srgbClr val="642F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12180" y="5733251"/>
              <a:ext cx="1440180" cy="576580"/>
            </a:xfrm>
            <a:custGeom>
              <a:avLst/>
              <a:gdLst/>
              <a:ahLst/>
              <a:cxnLst/>
              <a:rect l="l" t="t" r="r" b="b"/>
              <a:pathLst>
                <a:path w="1440179" h="576579">
                  <a:moveTo>
                    <a:pt x="0" y="0"/>
                  </a:moveTo>
                  <a:lnTo>
                    <a:pt x="0" y="576071"/>
                  </a:lnTo>
                </a:path>
                <a:path w="1440179" h="576579">
                  <a:moveTo>
                    <a:pt x="1440179" y="0"/>
                  </a:moveTo>
                  <a:lnTo>
                    <a:pt x="1440179" y="576071"/>
                  </a:lnTo>
                </a:path>
              </a:pathLst>
            </a:custGeom>
            <a:ln w="25399">
              <a:solidFill>
                <a:srgbClr val="6532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34097" y="5343308"/>
            <a:ext cx="396875" cy="86042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tag</a:t>
            </a:r>
            <a:endParaRPr sz="2000">
              <a:latin typeface="Rockwell"/>
              <a:cs typeface="Rockwell"/>
            </a:endParaRPr>
          </a:p>
          <a:p>
            <a:pPr marL="106045">
              <a:lnSpc>
                <a:spcPct val="100000"/>
              </a:lnSpc>
              <a:spcBef>
                <a:spcPts val="700"/>
              </a:spcBef>
            </a:pPr>
            <a:r>
              <a:rPr sz="2400" spc="-50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3026" y="5339491"/>
            <a:ext cx="437515" cy="86868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spc="-25" dirty="0">
                <a:solidFill>
                  <a:srgbClr val="595959"/>
                </a:solidFill>
                <a:latin typeface="Rockwell"/>
                <a:cs typeface="Rockwell"/>
              </a:rPr>
              <a:t>set</a:t>
            </a:r>
            <a:endParaRPr sz="2000">
              <a:latin typeface="Rockwell"/>
              <a:cs typeface="Rockwell"/>
            </a:endParaRPr>
          </a:p>
          <a:p>
            <a:pPr marL="119380">
              <a:lnSpc>
                <a:spcPct val="100000"/>
              </a:lnSpc>
              <a:spcBef>
                <a:spcPts val="735"/>
              </a:spcBef>
            </a:pPr>
            <a:r>
              <a:rPr sz="2400" spc="-25" dirty="0">
                <a:latin typeface="Times New Roman"/>
                <a:cs typeface="Times New Roman"/>
              </a:rPr>
              <a:t>13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76513" y="581202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79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Set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10" dirty="0"/>
              <a:t>Associative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/>
              <a:t>Mapping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3898" y="2005694"/>
            <a:ext cx="7115175" cy="2629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165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041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0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three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fields:</a:t>
            </a:r>
            <a:r>
              <a:rPr sz="2000" spc="-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40" dirty="0">
                <a:solidFill>
                  <a:srgbClr val="595959"/>
                </a:solidFill>
                <a:latin typeface="Rockwell"/>
                <a:cs typeface="Rockwell"/>
              </a:rPr>
              <a:t>Tag,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Set,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1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Rockwell"/>
                <a:cs typeface="Rockwell"/>
              </a:rPr>
              <a:t>Word.</a:t>
            </a:r>
            <a:endParaRPr sz="2000">
              <a:latin typeface="Rockwell"/>
              <a:cs typeface="Rockwell"/>
            </a:endParaRPr>
          </a:p>
          <a:p>
            <a:pPr marL="304165" indent="-227965">
              <a:lnSpc>
                <a:spcPct val="100000"/>
              </a:lnSpc>
              <a:spcBef>
                <a:spcPts val="2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04165" algn="l"/>
              </a:tabLst>
            </a:pP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d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set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specify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one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𝑣</a:t>
            </a:r>
            <a:r>
              <a:rPr sz="2000" spc="25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𝟐</a:t>
            </a:r>
            <a:r>
              <a:rPr sz="2175" baseline="28735" dirty="0">
                <a:solidFill>
                  <a:srgbClr val="595959"/>
                </a:solidFill>
                <a:latin typeface="Cambria Math"/>
                <a:cs typeface="Cambria Math"/>
              </a:rPr>
              <a:t>𝒅</a:t>
            </a:r>
            <a:r>
              <a:rPr sz="2175" spc="262" baseline="28735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b="1" spc="-20" dirty="0">
                <a:solidFill>
                  <a:srgbClr val="595959"/>
                </a:solidFill>
                <a:latin typeface="Rockwell"/>
                <a:cs typeface="Rockwell"/>
              </a:rPr>
              <a:t>sets</a:t>
            </a:r>
            <a:endParaRPr sz="2000">
              <a:latin typeface="Rockwell"/>
              <a:cs typeface="Rockwell"/>
            </a:endParaRPr>
          </a:p>
          <a:p>
            <a:pPr marL="304165" indent="-227965">
              <a:lnSpc>
                <a:spcPct val="100000"/>
              </a:lnSpc>
              <a:spcBef>
                <a:spcPts val="1989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04165" algn="l"/>
              </a:tabLst>
            </a:pP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𝒔</a:t>
            </a:r>
            <a:r>
              <a:rPr sz="2000" spc="25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Tag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Set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fields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specify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one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Cambria Math"/>
                <a:cs typeface="Cambria Math"/>
              </a:rPr>
              <a:t>𝟐</a:t>
            </a:r>
            <a:r>
              <a:rPr sz="2175" spc="-37" baseline="28735" dirty="0">
                <a:solidFill>
                  <a:srgbClr val="595959"/>
                </a:solidFill>
                <a:latin typeface="Cambria Math"/>
                <a:cs typeface="Cambria Math"/>
              </a:rPr>
              <a:t>𝒔</a:t>
            </a:r>
            <a:endParaRPr sz="2175" baseline="28735">
              <a:latin typeface="Cambria Math"/>
              <a:cs typeface="Cambria Math"/>
            </a:endParaRPr>
          </a:p>
          <a:p>
            <a:pPr marL="304165">
              <a:lnSpc>
                <a:spcPct val="100000"/>
              </a:lnSpc>
            </a:pP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blocks</a:t>
            </a:r>
            <a:r>
              <a:rPr sz="20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Rockwell"/>
                <a:cs typeface="Rockwell"/>
              </a:rPr>
              <a:t>memory.</a:t>
            </a:r>
            <a:endParaRPr sz="2000">
              <a:latin typeface="Rockwell"/>
              <a:cs typeface="Rockwell"/>
            </a:endParaRPr>
          </a:p>
          <a:p>
            <a:pPr marL="304800" marR="212090" indent="-228600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304800" algn="l"/>
              </a:tabLst>
            </a:pP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sets(v)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can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calculate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dividing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into</a:t>
            </a:r>
            <a:r>
              <a:rPr sz="20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k(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595959"/>
                </a:solidFill>
                <a:latin typeface="Rockwell"/>
                <a:cs typeface="Rockwell"/>
              </a:rPr>
              <a:t>set)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30844" y="1043702"/>
            <a:ext cx="1226185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150" algn="ctr">
              <a:lnSpc>
                <a:spcPct val="100000"/>
              </a:lnSpc>
              <a:spcBef>
                <a:spcPts val="90"/>
              </a:spcBef>
            </a:pPr>
            <a:r>
              <a:rPr sz="1200" spc="-25" dirty="0">
                <a:latin typeface="Times New Roman"/>
                <a:cs typeface="Times New Roman"/>
              </a:rPr>
              <a:t>Set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42124" y="841455"/>
            <a:ext cx="107442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93758" y="495383"/>
            <a:ext cx="829310" cy="55308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705"/>
              </a:spcBef>
            </a:pPr>
            <a:r>
              <a:rPr sz="1350" b="1" spc="-10" dirty="0">
                <a:latin typeface="Times New Roman"/>
                <a:cs typeface="Times New Roman"/>
              </a:rPr>
              <a:t>Cache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  <a:tabLst>
                <a:tab pos="531495" algn="l"/>
              </a:tabLst>
            </a:pPr>
            <a:r>
              <a:rPr sz="1200" spc="-25" dirty="0">
                <a:latin typeface="Times New Roman"/>
                <a:cs typeface="Times New Roman"/>
              </a:rPr>
              <a:t>Tag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9210" y="1070805"/>
            <a:ext cx="536575" cy="178435"/>
          </a:xfrm>
          <a:prstGeom prst="rect">
            <a:avLst/>
          </a:prstGeom>
          <a:ln w="24697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45"/>
              </a:spcBef>
            </a:pPr>
            <a:r>
              <a:rPr sz="950" spc="-20" dirty="0">
                <a:latin typeface="Palatino Linotype"/>
                <a:cs typeface="Palatino Linotype"/>
              </a:rPr>
              <a:t>Word</a:t>
            </a:r>
            <a:endParaRPr sz="95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177" y="1070805"/>
            <a:ext cx="2144395" cy="178435"/>
          </a:xfrm>
          <a:custGeom>
            <a:avLst/>
            <a:gdLst/>
            <a:ahLst/>
            <a:cxnLst/>
            <a:rect l="l" t="t" r="r" b="b"/>
            <a:pathLst>
              <a:path w="2144395" h="178434">
                <a:moveTo>
                  <a:pt x="0" y="0"/>
                </a:moveTo>
                <a:lnTo>
                  <a:pt x="2144233" y="0"/>
                </a:lnTo>
                <a:lnTo>
                  <a:pt x="2144233" y="178437"/>
                </a:lnTo>
                <a:lnTo>
                  <a:pt x="0" y="178437"/>
                </a:lnTo>
                <a:lnTo>
                  <a:pt x="0" y="0"/>
                </a:lnTo>
                <a:close/>
              </a:path>
              <a:path w="2144395" h="178434">
                <a:moveTo>
                  <a:pt x="357319" y="0"/>
                </a:moveTo>
                <a:lnTo>
                  <a:pt x="357319" y="0"/>
                </a:lnTo>
                <a:lnTo>
                  <a:pt x="357319" y="178437"/>
                </a:lnTo>
              </a:path>
            </a:pathLst>
          </a:custGeom>
          <a:ln w="24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1177" y="1070805"/>
            <a:ext cx="357505" cy="178435"/>
          </a:xfrm>
          <a:prstGeom prst="rect">
            <a:avLst/>
          </a:prstGeom>
          <a:ln w="246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755">
              <a:lnSpc>
                <a:spcPts val="1320"/>
              </a:lnSpc>
            </a:pPr>
            <a:r>
              <a:rPr sz="1200" spc="-25" dirty="0">
                <a:latin typeface="Times New Roman"/>
                <a:cs typeface="Times New Roman"/>
              </a:rPr>
              <a:t>Tag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292822" y="3748265"/>
            <a:ext cx="1402715" cy="727075"/>
            <a:chOff x="1292822" y="3748265"/>
            <a:chExt cx="1402715" cy="727075"/>
          </a:xfrm>
        </p:grpSpPr>
        <p:sp>
          <p:nvSpPr>
            <p:cNvPr id="3" name="object 3"/>
            <p:cNvSpPr/>
            <p:nvPr/>
          </p:nvSpPr>
          <p:spPr>
            <a:xfrm>
              <a:off x="1299172" y="3754615"/>
              <a:ext cx="1343660" cy="714375"/>
            </a:xfrm>
            <a:custGeom>
              <a:avLst/>
              <a:gdLst/>
              <a:ahLst/>
              <a:cxnLst/>
              <a:rect l="l" t="t" r="r" b="b"/>
              <a:pathLst>
                <a:path w="1343660" h="714375">
                  <a:moveTo>
                    <a:pt x="0" y="181732"/>
                  </a:moveTo>
                  <a:lnTo>
                    <a:pt x="0" y="714074"/>
                  </a:lnTo>
                  <a:lnTo>
                    <a:pt x="1343299" y="714074"/>
                  </a:lnTo>
                  <a:lnTo>
                    <a:pt x="1343299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8703" y="3753733"/>
              <a:ext cx="106525" cy="14659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73525" y="3609765"/>
            <a:ext cx="690245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90"/>
              </a:spcBef>
            </a:pPr>
            <a:r>
              <a:rPr sz="1200" spc="-10" dirty="0">
                <a:latin typeface="Times New Roman"/>
                <a:cs typeface="Times New Roman"/>
              </a:rPr>
              <a:t>Compare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8794" y="1236859"/>
            <a:ext cx="3231515" cy="2706370"/>
            <a:chOff x="748794" y="1236859"/>
            <a:chExt cx="3231515" cy="2706370"/>
          </a:xfrm>
        </p:grpSpPr>
        <p:sp>
          <p:nvSpPr>
            <p:cNvPr id="11" name="object 11"/>
            <p:cNvSpPr/>
            <p:nvPr/>
          </p:nvSpPr>
          <p:spPr>
            <a:xfrm>
              <a:off x="761177" y="3573038"/>
              <a:ext cx="715010" cy="358140"/>
            </a:xfrm>
            <a:custGeom>
              <a:avLst/>
              <a:gdLst/>
              <a:ahLst/>
              <a:cxnLst/>
              <a:rect l="l" t="t" r="r" b="b"/>
              <a:pathLst>
                <a:path w="715010" h="358139">
                  <a:moveTo>
                    <a:pt x="0" y="0"/>
                  </a:moveTo>
                  <a:lnTo>
                    <a:pt x="714626" y="0"/>
                  </a:lnTo>
                  <a:lnTo>
                    <a:pt x="714626" y="357642"/>
                  </a:lnTo>
                  <a:lnTo>
                    <a:pt x="0" y="357642"/>
                  </a:lnTo>
                  <a:lnTo>
                    <a:pt x="0" y="0"/>
                  </a:lnTo>
                  <a:close/>
                </a:path>
              </a:pathLst>
            </a:custGeom>
            <a:ln w="246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9949" y="1249242"/>
              <a:ext cx="0" cy="2324100"/>
            </a:xfrm>
            <a:custGeom>
              <a:avLst/>
              <a:gdLst/>
              <a:ahLst/>
              <a:cxnLst/>
              <a:rect l="l" t="t" r="r" b="b"/>
              <a:pathLst>
                <a:path h="2324100">
                  <a:moveTo>
                    <a:pt x="0" y="0"/>
                  </a:moveTo>
                  <a:lnTo>
                    <a:pt x="0" y="0"/>
                  </a:lnTo>
                  <a:lnTo>
                    <a:pt x="0" y="2323796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7193" y="3427706"/>
              <a:ext cx="106799" cy="14532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47133" y="1248358"/>
              <a:ext cx="2226945" cy="2506345"/>
            </a:xfrm>
            <a:custGeom>
              <a:avLst/>
              <a:gdLst/>
              <a:ahLst/>
              <a:cxnLst/>
              <a:rect l="l" t="t" r="r" b="b"/>
              <a:pathLst>
                <a:path w="2226945" h="2506345">
                  <a:moveTo>
                    <a:pt x="0" y="0"/>
                  </a:moveTo>
                  <a:lnTo>
                    <a:pt x="0" y="2506257"/>
                  </a:lnTo>
                  <a:lnTo>
                    <a:pt x="2226371" y="250625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7939" y="3700971"/>
              <a:ext cx="145562" cy="1068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1925" y="3585079"/>
              <a:ext cx="190761" cy="1910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636806" y="124924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ln w="24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36806" y="1249242"/>
              <a:ext cx="0" cy="2324100"/>
            </a:xfrm>
            <a:custGeom>
              <a:avLst/>
              <a:gdLst/>
              <a:ahLst/>
              <a:cxnLst/>
              <a:rect l="l" t="t" r="r" b="b"/>
              <a:pathLst>
                <a:path h="2324100">
                  <a:moveTo>
                    <a:pt x="0" y="0"/>
                  </a:moveTo>
                  <a:lnTo>
                    <a:pt x="0" y="0"/>
                  </a:lnTo>
                  <a:lnTo>
                    <a:pt x="0" y="2323796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2784" y="3427706"/>
              <a:ext cx="107789" cy="14532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929574" y="177116"/>
            <a:ext cx="5733415" cy="5363210"/>
            <a:chOff x="929574" y="177116"/>
            <a:chExt cx="5733415" cy="5363210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1707" y="3030839"/>
              <a:ext cx="191011" cy="19099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831251" y="183466"/>
              <a:ext cx="4732020" cy="2856230"/>
            </a:xfrm>
            <a:custGeom>
              <a:avLst/>
              <a:gdLst/>
              <a:ahLst/>
              <a:cxnLst/>
              <a:rect l="l" t="t" r="r" b="b"/>
              <a:pathLst>
                <a:path w="4732020" h="2856230">
                  <a:moveTo>
                    <a:pt x="0" y="532445"/>
                  </a:moveTo>
                  <a:lnTo>
                    <a:pt x="0" y="0"/>
                  </a:lnTo>
                  <a:lnTo>
                    <a:pt x="4731557" y="0"/>
                  </a:lnTo>
                  <a:lnTo>
                    <a:pt x="4731557" y="285621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10052" y="2894102"/>
              <a:ext cx="106793" cy="14645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5924" y="3221285"/>
              <a:ext cx="5627370" cy="2312670"/>
            </a:xfrm>
            <a:custGeom>
              <a:avLst/>
              <a:gdLst/>
              <a:ahLst/>
              <a:cxnLst/>
              <a:rect l="l" t="t" r="r" b="b"/>
              <a:pathLst>
                <a:path w="5627370" h="2312670">
                  <a:moveTo>
                    <a:pt x="0" y="715061"/>
                  </a:moveTo>
                  <a:lnTo>
                    <a:pt x="0" y="2312579"/>
                  </a:lnTo>
                  <a:lnTo>
                    <a:pt x="5626884" y="2312579"/>
                  </a:lnTo>
                  <a:lnTo>
                    <a:pt x="5626884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0052" y="3221409"/>
              <a:ext cx="106793" cy="146457"/>
            </a:xfrm>
            <a:prstGeom prst="rect">
              <a:avLst/>
            </a:prstGeom>
          </p:spPr>
        </p:pic>
      </p:grpSp>
      <p:sp>
        <p:nvSpPr>
          <p:cNvPr id="48" name="object 48"/>
          <p:cNvSpPr/>
          <p:nvPr/>
        </p:nvSpPr>
        <p:spPr>
          <a:xfrm>
            <a:off x="2905410" y="87877"/>
            <a:ext cx="177800" cy="179070"/>
          </a:xfrm>
          <a:custGeom>
            <a:avLst/>
            <a:gdLst/>
            <a:ahLst/>
            <a:cxnLst/>
            <a:rect l="l" t="t" r="r" b="b"/>
            <a:pathLst>
              <a:path w="177800" h="179070">
                <a:moveTo>
                  <a:pt x="0" y="178833"/>
                </a:moveTo>
                <a:lnTo>
                  <a:pt x="0" y="178833"/>
                </a:lnTo>
                <a:lnTo>
                  <a:pt x="17753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746008" y="-6092"/>
            <a:ext cx="271145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i="1" spc="-25" dirty="0">
                <a:latin typeface="Times New Roman"/>
                <a:cs typeface="Times New Roman"/>
              </a:rPr>
              <a:t>s</a:t>
            </a:r>
            <a:r>
              <a:rPr sz="1200" spc="-25" dirty="0">
                <a:latin typeface="Times New Roman"/>
                <a:cs typeface="Times New Roman"/>
              </a:rPr>
              <a:t>+</a:t>
            </a:r>
            <a:r>
              <a:rPr sz="1200" i="1" spc="-25" dirty="0">
                <a:latin typeface="Times New Roman"/>
                <a:cs typeface="Times New Roman"/>
              </a:rPr>
              <a:t>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53252" y="567902"/>
            <a:ext cx="111252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dirty="0">
                <a:latin typeface="Times New Roman"/>
                <a:cs typeface="Times New Roman"/>
              </a:rPr>
              <a:t>Main</a:t>
            </a:r>
            <a:r>
              <a:rPr sz="1350" b="1" spc="50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Memory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61177" y="1517873"/>
            <a:ext cx="179070" cy="179070"/>
          </a:xfrm>
          <a:custGeom>
            <a:avLst/>
            <a:gdLst/>
            <a:ahLst/>
            <a:cxnLst/>
            <a:rect l="l" t="t" r="r" b="b"/>
            <a:pathLst>
              <a:path w="179069" h="179069">
                <a:moveTo>
                  <a:pt x="0" y="178833"/>
                </a:moveTo>
                <a:lnTo>
                  <a:pt x="0" y="178833"/>
                </a:lnTo>
                <a:lnTo>
                  <a:pt x="178499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15939" y="1418239"/>
            <a:ext cx="235585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i="1" spc="-10" dirty="0">
                <a:latin typeface="Times New Roman"/>
                <a:cs typeface="Times New Roman"/>
              </a:rPr>
              <a:t>s</a:t>
            </a:r>
            <a:r>
              <a:rPr sz="1200" spc="-10" dirty="0">
                <a:latin typeface="Times New Roman"/>
                <a:cs typeface="Times New Roman"/>
              </a:rPr>
              <a:t>–</a:t>
            </a:r>
            <a:r>
              <a:rPr sz="1200" i="1" spc="-50" dirty="0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654574" y="1517873"/>
            <a:ext cx="179070" cy="179070"/>
          </a:xfrm>
          <a:custGeom>
            <a:avLst/>
            <a:gdLst/>
            <a:ahLst/>
            <a:cxnLst/>
            <a:rect l="l" t="t" r="r" b="b"/>
            <a:pathLst>
              <a:path w="179069" h="179069">
                <a:moveTo>
                  <a:pt x="0" y="178833"/>
                </a:moveTo>
                <a:lnTo>
                  <a:pt x="0" y="178833"/>
                </a:lnTo>
                <a:lnTo>
                  <a:pt x="178569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594003" y="1431713"/>
            <a:ext cx="8890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200" i="1" spc="-50" dirty="0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48021" y="1517873"/>
            <a:ext cx="179070" cy="179070"/>
          </a:xfrm>
          <a:custGeom>
            <a:avLst/>
            <a:gdLst/>
            <a:ahLst/>
            <a:cxnLst/>
            <a:rect l="l" t="t" r="r" b="b"/>
            <a:pathLst>
              <a:path w="179069" h="179069">
                <a:moveTo>
                  <a:pt x="0" y="178833"/>
                </a:moveTo>
                <a:lnTo>
                  <a:pt x="0" y="178833"/>
                </a:lnTo>
                <a:lnTo>
                  <a:pt x="178569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481785" y="1431713"/>
            <a:ext cx="113664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200" i="1" spc="-50" dirty="0">
                <a:latin typeface="Times New Roman"/>
                <a:cs typeface="Times New Roman"/>
              </a:rPr>
              <a:t>w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4320841" y="1058456"/>
          <a:ext cx="1072514" cy="852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505"/>
                <a:gridCol w="715009"/>
              </a:tblGrid>
              <a:tr h="178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C5C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425" spc="-37" baseline="-17543" dirty="0">
                          <a:latin typeface="Times New Roman"/>
                          <a:cs typeface="Times New Roman"/>
                        </a:rPr>
                        <a:t>0</a:t>
                      </a:r>
                      <a:endParaRPr sz="1425" baseline="-17543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78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78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C5C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425" spc="-37" baseline="-17543" dirty="0">
                          <a:latin typeface="Times New Roman"/>
                          <a:cs typeface="Times New Roman"/>
                        </a:rPr>
                        <a:t>1</a:t>
                      </a:r>
                      <a:endParaRPr sz="1425" baseline="-17543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7843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BEBCC"/>
                    </a:solidFill>
                  </a:tcPr>
                </a:tc>
              </a:tr>
              <a:tr h="1384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3" name="object 73"/>
          <p:cNvSpPr txBox="1"/>
          <p:nvPr/>
        </p:nvSpPr>
        <p:spPr>
          <a:xfrm>
            <a:off x="5777682" y="1884653"/>
            <a:ext cx="285750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dirty="0">
                <a:latin typeface="Palatino Linotype"/>
                <a:cs typeface="Palatino Linotype"/>
              </a:rPr>
              <a:t>Set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spc="-50" dirty="0">
                <a:latin typeface="Palatino Linotype"/>
                <a:cs typeface="Palatino Linotype"/>
              </a:rPr>
              <a:t>0</a:t>
            </a:r>
            <a:endParaRPr sz="950">
              <a:latin typeface="Palatino Linotype"/>
              <a:cs typeface="Palatino Linotype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540581" y="2656712"/>
            <a:ext cx="179070" cy="179070"/>
          </a:xfrm>
          <a:custGeom>
            <a:avLst/>
            <a:gdLst/>
            <a:ahLst/>
            <a:cxnLst/>
            <a:rect l="l" t="t" r="r" b="b"/>
            <a:pathLst>
              <a:path w="179070" h="179069">
                <a:moveTo>
                  <a:pt x="0" y="178833"/>
                </a:moveTo>
                <a:lnTo>
                  <a:pt x="0" y="178833"/>
                </a:lnTo>
                <a:lnTo>
                  <a:pt x="178819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436330" y="2538062"/>
            <a:ext cx="235585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i="1" spc="-10" dirty="0">
                <a:latin typeface="Times New Roman"/>
                <a:cs typeface="Times New Roman"/>
              </a:rPr>
              <a:t>s</a:t>
            </a:r>
            <a:r>
              <a:rPr sz="1200" spc="-10" dirty="0">
                <a:latin typeface="Times New Roman"/>
                <a:cs typeface="Times New Roman"/>
              </a:rPr>
              <a:t>–</a:t>
            </a:r>
            <a:r>
              <a:rPr sz="1200" i="1" spc="-50" dirty="0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28508" y="1620042"/>
            <a:ext cx="0" cy="1386840"/>
          </a:xfrm>
          <a:custGeom>
            <a:avLst/>
            <a:gdLst/>
            <a:ahLst/>
            <a:cxnLst/>
            <a:rect l="l" t="t" r="r" b="b"/>
            <a:pathLst>
              <a:path h="1386839">
                <a:moveTo>
                  <a:pt x="0" y="0"/>
                </a:moveTo>
                <a:lnTo>
                  <a:pt x="0" y="1386535"/>
                </a:lnTo>
              </a:path>
            </a:pathLst>
          </a:custGeom>
          <a:ln w="2444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442838" y="1620042"/>
            <a:ext cx="0" cy="1386840"/>
          </a:xfrm>
          <a:custGeom>
            <a:avLst/>
            <a:gdLst/>
            <a:ahLst/>
            <a:cxnLst/>
            <a:rect l="l" t="t" r="r" b="b"/>
            <a:pathLst>
              <a:path h="1386839">
                <a:moveTo>
                  <a:pt x="0" y="0"/>
                </a:moveTo>
                <a:lnTo>
                  <a:pt x="0" y="1386535"/>
                </a:lnTo>
              </a:path>
            </a:pathLst>
          </a:custGeom>
          <a:ln w="25542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12659" y="3403914"/>
            <a:ext cx="25400" cy="125730"/>
          </a:xfrm>
          <a:custGeom>
            <a:avLst/>
            <a:gdLst/>
            <a:ahLst/>
            <a:cxnLst/>
            <a:rect l="l" t="t" r="r" b="b"/>
            <a:pathLst>
              <a:path w="25400" h="125729">
                <a:moveTo>
                  <a:pt x="24292" y="0"/>
                </a:moveTo>
                <a:lnTo>
                  <a:pt x="0" y="0"/>
                </a:lnTo>
                <a:lnTo>
                  <a:pt x="0" y="125669"/>
                </a:lnTo>
                <a:lnTo>
                  <a:pt x="25298" y="125669"/>
                </a:lnTo>
                <a:lnTo>
                  <a:pt x="242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712659" y="3655649"/>
            <a:ext cx="25400" cy="127000"/>
          </a:xfrm>
          <a:custGeom>
            <a:avLst/>
            <a:gdLst/>
            <a:ahLst/>
            <a:cxnLst/>
            <a:rect l="l" t="t" r="r" b="b"/>
            <a:pathLst>
              <a:path w="25400" h="127000">
                <a:moveTo>
                  <a:pt x="25298" y="0"/>
                </a:moveTo>
                <a:lnTo>
                  <a:pt x="0" y="883"/>
                </a:lnTo>
                <a:lnTo>
                  <a:pt x="883" y="126583"/>
                </a:lnTo>
                <a:lnTo>
                  <a:pt x="25298" y="126583"/>
                </a:lnTo>
                <a:lnTo>
                  <a:pt x="252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14031" y="3907789"/>
            <a:ext cx="25400" cy="127000"/>
          </a:xfrm>
          <a:custGeom>
            <a:avLst/>
            <a:gdLst/>
            <a:ahLst/>
            <a:cxnLst/>
            <a:rect l="l" t="t" r="r" b="b"/>
            <a:pathLst>
              <a:path w="25400" h="127000">
                <a:moveTo>
                  <a:pt x="24803" y="0"/>
                </a:moveTo>
                <a:lnTo>
                  <a:pt x="0" y="0"/>
                </a:lnTo>
                <a:lnTo>
                  <a:pt x="0" y="125730"/>
                </a:lnTo>
                <a:lnTo>
                  <a:pt x="508" y="125730"/>
                </a:lnTo>
                <a:lnTo>
                  <a:pt x="508" y="127000"/>
                </a:lnTo>
                <a:lnTo>
                  <a:pt x="17170" y="127000"/>
                </a:lnTo>
                <a:lnTo>
                  <a:pt x="17170" y="125730"/>
                </a:lnTo>
                <a:lnTo>
                  <a:pt x="24803" y="125730"/>
                </a:lnTo>
                <a:lnTo>
                  <a:pt x="248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714549" y="4160532"/>
            <a:ext cx="25400" cy="125730"/>
          </a:xfrm>
          <a:custGeom>
            <a:avLst/>
            <a:gdLst/>
            <a:ahLst/>
            <a:cxnLst/>
            <a:rect l="l" t="t" r="r" b="b"/>
            <a:pathLst>
              <a:path w="25400" h="125729">
                <a:moveTo>
                  <a:pt x="25298" y="0"/>
                </a:moveTo>
                <a:lnTo>
                  <a:pt x="0" y="0"/>
                </a:lnTo>
                <a:lnTo>
                  <a:pt x="0" y="125681"/>
                </a:lnTo>
                <a:lnTo>
                  <a:pt x="25298" y="125681"/>
                </a:lnTo>
                <a:lnTo>
                  <a:pt x="252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280428" y="4377141"/>
            <a:ext cx="806450" cy="151765"/>
          </a:xfrm>
          <a:prstGeom prst="rect">
            <a:avLst/>
          </a:prstGeom>
          <a:solidFill>
            <a:srgbClr val="FEFEFE"/>
          </a:solidFill>
        </p:spPr>
        <p:txBody>
          <a:bodyPr vert="horz" wrap="square" lIns="0" tIns="0" rIns="0" bIns="0" rtlCol="0">
            <a:spAutoFit/>
          </a:bodyPr>
          <a:lstStyle/>
          <a:p>
            <a:pPr marL="6985">
              <a:lnSpc>
                <a:spcPts val="1125"/>
              </a:lnSpc>
            </a:pPr>
            <a:r>
              <a:rPr sz="1200" dirty="0">
                <a:latin typeface="Times New Roman"/>
                <a:cs typeface="Times New Roman"/>
              </a:rPr>
              <a:t>(hit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cache)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321290" y="2050602"/>
            <a:ext cx="1097915" cy="2428875"/>
            <a:chOff x="4321290" y="2050602"/>
            <a:chExt cx="1097915" cy="2428875"/>
          </a:xfrm>
        </p:grpSpPr>
        <p:sp>
          <p:nvSpPr>
            <p:cNvPr id="60" name="object 60"/>
            <p:cNvSpPr/>
            <p:nvPr/>
          </p:nvSpPr>
          <p:spPr>
            <a:xfrm>
              <a:off x="4333646" y="2858109"/>
              <a:ext cx="357505" cy="179070"/>
            </a:xfrm>
            <a:custGeom>
              <a:avLst/>
              <a:gdLst/>
              <a:ahLst/>
              <a:cxnLst/>
              <a:rect l="l" t="t" r="r" b="b"/>
              <a:pathLst>
                <a:path w="357504" h="179069">
                  <a:moveTo>
                    <a:pt x="357286" y="0"/>
                  </a:moveTo>
                  <a:lnTo>
                    <a:pt x="0" y="0"/>
                  </a:lnTo>
                  <a:lnTo>
                    <a:pt x="0" y="178826"/>
                  </a:lnTo>
                  <a:lnTo>
                    <a:pt x="357286" y="178826"/>
                  </a:lnTo>
                  <a:lnTo>
                    <a:pt x="357286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333673" y="2858101"/>
              <a:ext cx="357505" cy="179070"/>
            </a:xfrm>
            <a:custGeom>
              <a:avLst/>
              <a:gdLst/>
              <a:ahLst/>
              <a:cxnLst/>
              <a:rect l="l" t="t" r="r" b="b"/>
              <a:pathLst>
                <a:path w="357504" h="179069">
                  <a:moveTo>
                    <a:pt x="0" y="0"/>
                  </a:moveTo>
                  <a:lnTo>
                    <a:pt x="357243" y="0"/>
                  </a:lnTo>
                  <a:lnTo>
                    <a:pt x="357243" y="178833"/>
                  </a:lnTo>
                  <a:lnTo>
                    <a:pt x="0" y="178833"/>
                  </a:lnTo>
                  <a:lnTo>
                    <a:pt x="0" y="0"/>
                  </a:lnTo>
                  <a:close/>
                </a:path>
              </a:pathLst>
            </a:custGeom>
            <a:ln w="246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333646" y="3573048"/>
              <a:ext cx="357505" cy="179070"/>
            </a:xfrm>
            <a:custGeom>
              <a:avLst/>
              <a:gdLst/>
              <a:ahLst/>
              <a:cxnLst/>
              <a:rect l="l" t="t" r="r" b="b"/>
              <a:pathLst>
                <a:path w="357504" h="179070">
                  <a:moveTo>
                    <a:pt x="357286" y="0"/>
                  </a:moveTo>
                  <a:lnTo>
                    <a:pt x="0" y="0"/>
                  </a:lnTo>
                  <a:lnTo>
                    <a:pt x="0" y="178826"/>
                  </a:lnTo>
                  <a:lnTo>
                    <a:pt x="357286" y="178826"/>
                  </a:lnTo>
                  <a:lnTo>
                    <a:pt x="357286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333673" y="3573038"/>
              <a:ext cx="357505" cy="179070"/>
            </a:xfrm>
            <a:custGeom>
              <a:avLst/>
              <a:gdLst/>
              <a:ahLst/>
              <a:cxnLst/>
              <a:rect l="l" t="t" r="r" b="b"/>
              <a:pathLst>
                <a:path w="357504" h="179070">
                  <a:moveTo>
                    <a:pt x="0" y="0"/>
                  </a:moveTo>
                  <a:lnTo>
                    <a:pt x="357243" y="0"/>
                  </a:lnTo>
                  <a:lnTo>
                    <a:pt x="357243" y="178833"/>
                  </a:lnTo>
                  <a:lnTo>
                    <a:pt x="0" y="178833"/>
                  </a:lnTo>
                  <a:lnTo>
                    <a:pt x="0" y="0"/>
                  </a:lnTo>
                  <a:close/>
                </a:path>
              </a:pathLst>
            </a:custGeom>
            <a:ln w="246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333646" y="2500701"/>
              <a:ext cx="357505" cy="179070"/>
            </a:xfrm>
            <a:custGeom>
              <a:avLst/>
              <a:gdLst/>
              <a:ahLst/>
              <a:cxnLst/>
              <a:rect l="l" t="t" r="r" b="b"/>
              <a:pathLst>
                <a:path w="357504" h="179069">
                  <a:moveTo>
                    <a:pt x="357286" y="0"/>
                  </a:moveTo>
                  <a:lnTo>
                    <a:pt x="0" y="0"/>
                  </a:lnTo>
                  <a:lnTo>
                    <a:pt x="0" y="178582"/>
                  </a:lnTo>
                  <a:lnTo>
                    <a:pt x="357286" y="178582"/>
                  </a:lnTo>
                  <a:lnTo>
                    <a:pt x="357286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333673" y="2500679"/>
              <a:ext cx="357505" cy="179070"/>
            </a:xfrm>
            <a:custGeom>
              <a:avLst/>
              <a:gdLst/>
              <a:ahLst/>
              <a:cxnLst/>
              <a:rect l="l" t="t" r="r" b="b"/>
              <a:pathLst>
                <a:path w="357504" h="179069">
                  <a:moveTo>
                    <a:pt x="0" y="0"/>
                  </a:moveTo>
                  <a:lnTo>
                    <a:pt x="357243" y="0"/>
                  </a:lnTo>
                  <a:lnTo>
                    <a:pt x="357243" y="178589"/>
                  </a:lnTo>
                  <a:lnTo>
                    <a:pt x="0" y="178589"/>
                  </a:lnTo>
                  <a:lnTo>
                    <a:pt x="0" y="0"/>
                  </a:lnTo>
                  <a:close/>
                </a:path>
              </a:pathLst>
            </a:custGeom>
            <a:ln w="246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33646" y="4288106"/>
              <a:ext cx="357505" cy="179070"/>
            </a:xfrm>
            <a:custGeom>
              <a:avLst/>
              <a:gdLst/>
              <a:ahLst/>
              <a:cxnLst/>
              <a:rect l="l" t="t" r="r" b="b"/>
              <a:pathLst>
                <a:path w="357504" h="179070">
                  <a:moveTo>
                    <a:pt x="357286" y="0"/>
                  </a:moveTo>
                  <a:lnTo>
                    <a:pt x="0" y="0"/>
                  </a:lnTo>
                  <a:lnTo>
                    <a:pt x="0" y="178701"/>
                  </a:lnTo>
                  <a:lnTo>
                    <a:pt x="357286" y="178701"/>
                  </a:lnTo>
                  <a:lnTo>
                    <a:pt x="357286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333673" y="4288094"/>
              <a:ext cx="357505" cy="179070"/>
            </a:xfrm>
            <a:custGeom>
              <a:avLst/>
              <a:gdLst/>
              <a:ahLst/>
              <a:cxnLst/>
              <a:rect l="l" t="t" r="r" b="b"/>
              <a:pathLst>
                <a:path w="357504" h="179070">
                  <a:moveTo>
                    <a:pt x="0" y="0"/>
                  </a:moveTo>
                  <a:lnTo>
                    <a:pt x="357243" y="0"/>
                  </a:lnTo>
                  <a:lnTo>
                    <a:pt x="357243" y="178702"/>
                  </a:lnTo>
                  <a:lnTo>
                    <a:pt x="0" y="178702"/>
                  </a:lnTo>
                  <a:lnTo>
                    <a:pt x="0" y="0"/>
                  </a:lnTo>
                  <a:close/>
                </a:path>
              </a:pathLst>
            </a:custGeom>
            <a:ln w="246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678705" y="2050605"/>
              <a:ext cx="740410" cy="378460"/>
            </a:xfrm>
            <a:custGeom>
              <a:avLst/>
              <a:gdLst/>
              <a:ahLst/>
              <a:cxnLst/>
              <a:rect l="l" t="t" r="r" b="b"/>
              <a:pathLst>
                <a:path w="740410" h="378460">
                  <a:moveTo>
                    <a:pt x="25692" y="252260"/>
                  </a:moveTo>
                  <a:lnTo>
                    <a:pt x="0" y="252260"/>
                  </a:lnTo>
                  <a:lnTo>
                    <a:pt x="0" y="378193"/>
                  </a:lnTo>
                  <a:lnTo>
                    <a:pt x="25692" y="378193"/>
                  </a:lnTo>
                  <a:lnTo>
                    <a:pt x="25692" y="252260"/>
                  </a:lnTo>
                  <a:close/>
                </a:path>
                <a:path w="740410" h="378460">
                  <a:moveTo>
                    <a:pt x="25692" y="0"/>
                  </a:moveTo>
                  <a:lnTo>
                    <a:pt x="0" y="0"/>
                  </a:lnTo>
                  <a:lnTo>
                    <a:pt x="0" y="126580"/>
                  </a:lnTo>
                  <a:lnTo>
                    <a:pt x="25692" y="126580"/>
                  </a:lnTo>
                  <a:lnTo>
                    <a:pt x="25692" y="0"/>
                  </a:lnTo>
                  <a:close/>
                </a:path>
                <a:path w="740410" h="378460">
                  <a:moveTo>
                    <a:pt x="740295" y="252260"/>
                  </a:moveTo>
                  <a:lnTo>
                    <a:pt x="714629" y="252260"/>
                  </a:lnTo>
                  <a:lnTo>
                    <a:pt x="714629" y="378193"/>
                  </a:lnTo>
                  <a:lnTo>
                    <a:pt x="740295" y="378193"/>
                  </a:lnTo>
                  <a:lnTo>
                    <a:pt x="740295" y="252260"/>
                  </a:lnTo>
                  <a:close/>
                </a:path>
                <a:path w="740410" h="378460">
                  <a:moveTo>
                    <a:pt x="740295" y="0"/>
                  </a:moveTo>
                  <a:lnTo>
                    <a:pt x="714629" y="0"/>
                  </a:lnTo>
                  <a:lnTo>
                    <a:pt x="714629" y="126580"/>
                  </a:lnTo>
                  <a:lnTo>
                    <a:pt x="740295" y="126580"/>
                  </a:lnTo>
                  <a:lnTo>
                    <a:pt x="7402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4690916" y="2500679"/>
            <a:ext cx="715010" cy="357505"/>
          </a:xfrm>
          <a:prstGeom prst="rect">
            <a:avLst/>
          </a:prstGeom>
          <a:solidFill>
            <a:srgbClr val="CBEBCC"/>
          </a:solidFill>
          <a:ln w="24696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680"/>
              </a:spcBef>
            </a:pPr>
            <a:r>
              <a:rPr sz="1800" baseline="13888" dirty="0">
                <a:latin typeface="Times New Roman"/>
                <a:cs typeface="Times New Roman"/>
              </a:rPr>
              <a:t>F</a:t>
            </a:r>
            <a:r>
              <a:rPr sz="950" i="1" dirty="0">
                <a:latin typeface="Times New Roman"/>
                <a:cs typeface="Times New Roman"/>
              </a:rPr>
              <a:t>k</a:t>
            </a:r>
            <a:r>
              <a:rPr sz="950" dirty="0">
                <a:latin typeface="Times New Roman"/>
                <a:cs typeface="Times New Roman"/>
              </a:rPr>
              <a:t>–</a:t>
            </a:r>
            <a:r>
              <a:rPr sz="950" spc="-50" dirty="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690916" y="2858101"/>
            <a:ext cx="715010" cy="360680"/>
          </a:xfrm>
          <a:prstGeom prst="rect">
            <a:avLst/>
          </a:prstGeom>
          <a:solidFill>
            <a:srgbClr val="CBEBCC"/>
          </a:solidFill>
          <a:ln w="24696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31750" algn="ctr">
              <a:lnSpc>
                <a:spcPct val="100000"/>
              </a:lnSpc>
              <a:spcBef>
                <a:spcPts val="400"/>
              </a:spcBef>
            </a:pPr>
            <a:r>
              <a:rPr sz="1200" spc="-25" dirty="0">
                <a:latin typeface="Times New Roman"/>
                <a:cs typeface="Times New Roman"/>
              </a:rPr>
              <a:t>F</a:t>
            </a:r>
            <a:r>
              <a:rPr sz="1425" i="1" spc="-37" baseline="-17543" dirty="0">
                <a:latin typeface="Times New Roman"/>
                <a:cs typeface="Times New Roman"/>
              </a:rPr>
              <a:t>k</a:t>
            </a:r>
            <a:endParaRPr sz="1425" baseline="-17543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650273" y="3030585"/>
            <a:ext cx="1084580" cy="191770"/>
            <a:chOff x="6650273" y="3030585"/>
            <a:chExt cx="1084580" cy="191770"/>
          </a:xfrm>
        </p:grpSpPr>
        <p:sp>
          <p:nvSpPr>
            <p:cNvPr id="52" name="object 52"/>
            <p:cNvSpPr/>
            <p:nvPr/>
          </p:nvSpPr>
          <p:spPr>
            <a:xfrm>
              <a:off x="6656623" y="3126580"/>
              <a:ext cx="1071880" cy="0"/>
            </a:xfrm>
            <a:custGeom>
              <a:avLst/>
              <a:gdLst/>
              <a:ahLst/>
              <a:cxnLst/>
              <a:rect l="l" t="t" r="r" b="b"/>
              <a:pathLst>
                <a:path w="1071879">
                  <a:moveTo>
                    <a:pt x="0" y="0"/>
                  </a:moveTo>
                  <a:lnTo>
                    <a:pt x="0" y="0"/>
                  </a:lnTo>
                  <a:lnTo>
                    <a:pt x="1071882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82940" y="3072935"/>
              <a:ext cx="145562" cy="10680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102651" y="3036935"/>
              <a:ext cx="179070" cy="179070"/>
            </a:xfrm>
            <a:custGeom>
              <a:avLst/>
              <a:gdLst/>
              <a:ahLst/>
              <a:cxnLst/>
              <a:rect l="l" t="t" r="r" b="b"/>
              <a:pathLst>
                <a:path w="179070" h="179069">
                  <a:moveTo>
                    <a:pt x="0" y="178802"/>
                  </a:moveTo>
                  <a:lnTo>
                    <a:pt x="0" y="178802"/>
                  </a:lnTo>
                  <a:lnTo>
                    <a:pt x="178819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921861" y="2897599"/>
            <a:ext cx="269875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i="1" spc="-25" dirty="0">
                <a:latin typeface="Times New Roman"/>
                <a:cs typeface="Times New Roman"/>
              </a:rPr>
              <a:t>s</a:t>
            </a:r>
            <a:r>
              <a:rPr sz="1200" spc="-25" dirty="0">
                <a:latin typeface="Times New Roman"/>
                <a:cs typeface="Times New Roman"/>
              </a:rPr>
              <a:t>+</a:t>
            </a:r>
            <a:r>
              <a:rPr sz="1200" i="1" spc="-25" dirty="0">
                <a:latin typeface="Times New Roman"/>
                <a:cs typeface="Times New Roman"/>
              </a:rPr>
              <a:t>w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690916" y="3573038"/>
            <a:ext cx="715010" cy="358140"/>
          </a:xfrm>
          <a:prstGeom prst="rect">
            <a:avLst/>
          </a:prstGeom>
          <a:solidFill>
            <a:srgbClr val="CBEBCC"/>
          </a:solidFill>
          <a:ln w="24696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675"/>
              </a:spcBef>
            </a:pPr>
            <a:r>
              <a:rPr sz="1800" spc="-30" baseline="13888" dirty="0">
                <a:latin typeface="Times New Roman"/>
                <a:cs typeface="Times New Roman"/>
              </a:rPr>
              <a:t>F</a:t>
            </a:r>
            <a:r>
              <a:rPr sz="950" i="1" spc="-20" dirty="0">
                <a:latin typeface="Times New Roman"/>
                <a:cs typeface="Times New Roman"/>
              </a:rPr>
              <a:t>k</a:t>
            </a:r>
            <a:r>
              <a:rPr sz="950" spc="-20" dirty="0">
                <a:latin typeface="Times New Roman"/>
                <a:cs typeface="Times New Roman"/>
              </a:rPr>
              <a:t>+</a:t>
            </a:r>
            <a:r>
              <a:rPr sz="950" i="1" spc="-20" dirty="0"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841154" y="3659835"/>
            <a:ext cx="285750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dirty="0">
                <a:latin typeface="Palatino Linotype"/>
                <a:cs typeface="Palatino Linotype"/>
              </a:rPr>
              <a:t>Set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spc="-50" dirty="0">
                <a:latin typeface="Palatino Linotype"/>
                <a:cs typeface="Palatino Linotype"/>
              </a:rPr>
              <a:t>1</a:t>
            </a:r>
            <a:endParaRPr sz="950">
              <a:latin typeface="Palatino Linotype"/>
              <a:cs typeface="Palatino Linotype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690916" y="4288094"/>
            <a:ext cx="715010" cy="358140"/>
          </a:xfrm>
          <a:prstGeom prst="rect">
            <a:avLst/>
          </a:prstGeom>
          <a:solidFill>
            <a:srgbClr val="CBEBCC"/>
          </a:solidFill>
          <a:ln w="24696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685"/>
              </a:spcBef>
            </a:pPr>
            <a:r>
              <a:rPr sz="1800" baseline="13888" dirty="0">
                <a:latin typeface="Times New Roman"/>
                <a:cs typeface="Times New Roman"/>
              </a:rPr>
              <a:t>F</a:t>
            </a:r>
            <a:r>
              <a:rPr sz="950" dirty="0">
                <a:latin typeface="Times New Roman"/>
                <a:cs typeface="Times New Roman"/>
              </a:rPr>
              <a:t>2</a:t>
            </a:r>
            <a:r>
              <a:rPr sz="950" i="1" dirty="0">
                <a:latin typeface="Times New Roman"/>
                <a:cs typeface="Times New Roman"/>
              </a:rPr>
              <a:t>k</a:t>
            </a:r>
            <a:r>
              <a:rPr sz="950" dirty="0">
                <a:latin typeface="Times New Roman"/>
                <a:cs typeface="Times New Roman"/>
              </a:rPr>
              <a:t>–</a:t>
            </a:r>
            <a:r>
              <a:rPr sz="950" spc="-50" dirty="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740388" y="670461"/>
            <a:ext cx="5869305" cy="4932045"/>
            <a:chOff x="740388" y="670461"/>
            <a:chExt cx="5869305" cy="4932045"/>
          </a:xfrm>
        </p:grpSpPr>
        <p:sp>
          <p:nvSpPr>
            <p:cNvPr id="76" name="object 76"/>
            <p:cNvSpPr/>
            <p:nvPr/>
          </p:nvSpPr>
          <p:spPr>
            <a:xfrm>
              <a:off x="935924" y="2773973"/>
              <a:ext cx="3484879" cy="799465"/>
            </a:xfrm>
            <a:custGeom>
              <a:avLst/>
              <a:gdLst/>
              <a:ahLst/>
              <a:cxnLst/>
              <a:rect l="l" t="t" r="r" b="b"/>
              <a:pathLst>
                <a:path w="3484879" h="799464">
                  <a:moveTo>
                    <a:pt x="3484613" y="84128"/>
                  </a:moveTo>
                  <a:lnTo>
                    <a:pt x="3484613" y="0"/>
                  </a:lnTo>
                  <a:lnTo>
                    <a:pt x="0" y="0"/>
                  </a:lnTo>
                  <a:lnTo>
                    <a:pt x="0" y="799065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2217" y="3426426"/>
              <a:ext cx="107729" cy="14660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032521" y="3124690"/>
              <a:ext cx="3388360" cy="448945"/>
            </a:xfrm>
            <a:custGeom>
              <a:avLst/>
              <a:gdLst/>
              <a:ahLst/>
              <a:cxnLst/>
              <a:rect l="l" t="t" r="r" b="b"/>
              <a:pathLst>
                <a:path w="3388360" h="448945">
                  <a:moveTo>
                    <a:pt x="3388016" y="448348"/>
                  </a:moveTo>
                  <a:lnTo>
                    <a:pt x="3388016" y="0"/>
                  </a:lnTo>
                  <a:lnTo>
                    <a:pt x="0" y="0"/>
                  </a:lnTo>
                  <a:lnTo>
                    <a:pt x="0" y="44834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9429" y="3426426"/>
              <a:ext cx="106802" cy="146609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1384196" y="3221285"/>
              <a:ext cx="3036570" cy="1066165"/>
            </a:xfrm>
            <a:custGeom>
              <a:avLst/>
              <a:gdLst/>
              <a:ahLst/>
              <a:cxnLst/>
              <a:rect l="l" t="t" r="r" b="b"/>
              <a:pathLst>
                <a:path w="3036570" h="1066164">
                  <a:moveTo>
                    <a:pt x="3036341" y="1065797"/>
                  </a:moveTo>
                  <a:lnTo>
                    <a:pt x="3036341" y="884452"/>
                  </a:lnTo>
                  <a:lnTo>
                    <a:pt x="265724" y="884452"/>
                  </a:lnTo>
                  <a:lnTo>
                    <a:pt x="265724" y="0"/>
                  </a:lnTo>
                  <a:lnTo>
                    <a:pt x="0" y="0"/>
                  </a:lnTo>
                  <a:lnTo>
                    <a:pt x="0" y="351753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30177" y="3426426"/>
              <a:ext cx="106799" cy="14660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4678705" y="3227984"/>
              <a:ext cx="740410" cy="1060450"/>
            </a:xfrm>
            <a:custGeom>
              <a:avLst/>
              <a:gdLst/>
              <a:ahLst/>
              <a:cxnLst/>
              <a:rect l="l" t="t" r="r" b="b"/>
              <a:pathLst>
                <a:path w="740410" h="1060450">
                  <a:moveTo>
                    <a:pt x="25692" y="967562"/>
                  </a:moveTo>
                  <a:lnTo>
                    <a:pt x="0" y="967562"/>
                  </a:lnTo>
                  <a:lnTo>
                    <a:pt x="0" y="1060132"/>
                  </a:lnTo>
                  <a:lnTo>
                    <a:pt x="25692" y="1060132"/>
                  </a:lnTo>
                  <a:lnTo>
                    <a:pt x="25692" y="967562"/>
                  </a:lnTo>
                  <a:close/>
                </a:path>
                <a:path w="740410" h="1060450">
                  <a:moveTo>
                    <a:pt x="25692" y="714933"/>
                  </a:moveTo>
                  <a:lnTo>
                    <a:pt x="0" y="714933"/>
                  </a:lnTo>
                  <a:lnTo>
                    <a:pt x="0" y="841870"/>
                  </a:lnTo>
                  <a:lnTo>
                    <a:pt x="25692" y="841870"/>
                  </a:lnTo>
                  <a:lnTo>
                    <a:pt x="25692" y="714933"/>
                  </a:lnTo>
                  <a:close/>
                </a:path>
                <a:path w="740410" h="1060450">
                  <a:moveTo>
                    <a:pt x="25692" y="252501"/>
                  </a:moveTo>
                  <a:lnTo>
                    <a:pt x="0" y="252501"/>
                  </a:lnTo>
                  <a:lnTo>
                    <a:pt x="0" y="345071"/>
                  </a:lnTo>
                  <a:lnTo>
                    <a:pt x="25692" y="345071"/>
                  </a:lnTo>
                  <a:lnTo>
                    <a:pt x="25692" y="252501"/>
                  </a:lnTo>
                  <a:close/>
                </a:path>
                <a:path w="740410" h="1060450">
                  <a:moveTo>
                    <a:pt x="25692" y="0"/>
                  </a:moveTo>
                  <a:lnTo>
                    <a:pt x="0" y="0"/>
                  </a:lnTo>
                  <a:lnTo>
                    <a:pt x="0" y="126834"/>
                  </a:lnTo>
                  <a:lnTo>
                    <a:pt x="25692" y="126834"/>
                  </a:lnTo>
                  <a:lnTo>
                    <a:pt x="25692" y="0"/>
                  </a:lnTo>
                  <a:close/>
                </a:path>
                <a:path w="740410" h="1060450">
                  <a:moveTo>
                    <a:pt x="740295" y="967562"/>
                  </a:moveTo>
                  <a:lnTo>
                    <a:pt x="714629" y="967562"/>
                  </a:lnTo>
                  <a:lnTo>
                    <a:pt x="714629" y="1060132"/>
                  </a:lnTo>
                  <a:lnTo>
                    <a:pt x="740295" y="1060132"/>
                  </a:lnTo>
                  <a:lnTo>
                    <a:pt x="740295" y="967562"/>
                  </a:lnTo>
                  <a:close/>
                </a:path>
                <a:path w="740410" h="1060450">
                  <a:moveTo>
                    <a:pt x="740295" y="714933"/>
                  </a:moveTo>
                  <a:lnTo>
                    <a:pt x="714629" y="714933"/>
                  </a:lnTo>
                  <a:lnTo>
                    <a:pt x="714629" y="841870"/>
                  </a:lnTo>
                  <a:lnTo>
                    <a:pt x="740295" y="841870"/>
                  </a:lnTo>
                  <a:lnTo>
                    <a:pt x="740295" y="714933"/>
                  </a:lnTo>
                  <a:close/>
                </a:path>
                <a:path w="740410" h="1060450">
                  <a:moveTo>
                    <a:pt x="740295" y="252501"/>
                  </a:moveTo>
                  <a:lnTo>
                    <a:pt x="714629" y="252501"/>
                  </a:lnTo>
                  <a:lnTo>
                    <a:pt x="714629" y="345071"/>
                  </a:lnTo>
                  <a:lnTo>
                    <a:pt x="740295" y="345071"/>
                  </a:lnTo>
                  <a:lnTo>
                    <a:pt x="740295" y="252501"/>
                  </a:lnTo>
                  <a:close/>
                </a:path>
                <a:path w="740410" h="1060450">
                  <a:moveTo>
                    <a:pt x="740295" y="0"/>
                  </a:moveTo>
                  <a:lnTo>
                    <a:pt x="714629" y="0"/>
                  </a:lnTo>
                  <a:lnTo>
                    <a:pt x="714629" y="126834"/>
                  </a:lnTo>
                  <a:lnTo>
                    <a:pt x="740295" y="126834"/>
                  </a:lnTo>
                  <a:lnTo>
                    <a:pt x="7402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726590" y="3663080"/>
              <a:ext cx="1607185" cy="0"/>
            </a:xfrm>
            <a:custGeom>
              <a:avLst/>
              <a:gdLst/>
              <a:ahLst/>
              <a:cxnLst/>
              <a:rect l="l" t="t" r="r" b="b"/>
              <a:pathLst>
                <a:path w="1607185">
                  <a:moveTo>
                    <a:pt x="0" y="0"/>
                  </a:moveTo>
                  <a:lnTo>
                    <a:pt x="0" y="0"/>
                  </a:lnTo>
                  <a:lnTo>
                    <a:pt x="1607082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88352" y="3609039"/>
              <a:ext cx="146202" cy="106801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4678705" y="4657864"/>
              <a:ext cx="740410" cy="715010"/>
            </a:xfrm>
            <a:custGeom>
              <a:avLst/>
              <a:gdLst/>
              <a:ahLst/>
              <a:cxnLst/>
              <a:rect l="l" t="t" r="r" b="b"/>
              <a:pathLst>
                <a:path w="740410" h="715010">
                  <a:moveTo>
                    <a:pt x="25692" y="505256"/>
                  </a:moveTo>
                  <a:lnTo>
                    <a:pt x="0" y="505256"/>
                  </a:lnTo>
                  <a:lnTo>
                    <a:pt x="0" y="630910"/>
                  </a:lnTo>
                  <a:lnTo>
                    <a:pt x="25692" y="630910"/>
                  </a:lnTo>
                  <a:lnTo>
                    <a:pt x="25692" y="505256"/>
                  </a:lnTo>
                  <a:close/>
                </a:path>
                <a:path w="740410" h="715010">
                  <a:moveTo>
                    <a:pt x="25692" y="252628"/>
                  </a:moveTo>
                  <a:lnTo>
                    <a:pt x="0" y="252628"/>
                  </a:lnTo>
                  <a:lnTo>
                    <a:pt x="0" y="378307"/>
                  </a:lnTo>
                  <a:lnTo>
                    <a:pt x="25692" y="378307"/>
                  </a:lnTo>
                  <a:lnTo>
                    <a:pt x="25692" y="252628"/>
                  </a:lnTo>
                  <a:close/>
                </a:path>
                <a:path w="740410" h="715010">
                  <a:moveTo>
                    <a:pt x="25692" y="0"/>
                  </a:moveTo>
                  <a:lnTo>
                    <a:pt x="0" y="0"/>
                  </a:lnTo>
                  <a:lnTo>
                    <a:pt x="0" y="126923"/>
                  </a:lnTo>
                  <a:lnTo>
                    <a:pt x="25692" y="126923"/>
                  </a:lnTo>
                  <a:lnTo>
                    <a:pt x="25692" y="0"/>
                  </a:lnTo>
                  <a:close/>
                </a:path>
                <a:path w="740410" h="715010">
                  <a:moveTo>
                    <a:pt x="151358" y="689673"/>
                  </a:moveTo>
                  <a:lnTo>
                    <a:pt x="25692" y="689673"/>
                  </a:lnTo>
                  <a:lnTo>
                    <a:pt x="25692" y="714997"/>
                  </a:lnTo>
                  <a:lnTo>
                    <a:pt x="151358" y="714997"/>
                  </a:lnTo>
                  <a:lnTo>
                    <a:pt x="151358" y="689673"/>
                  </a:lnTo>
                  <a:close/>
                </a:path>
                <a:path w="740410" h="715010">
                  <a:moveTo>
                    <a:pt x="403580" y="689673"/>
                  </a:moveTo>
                  <a:lnTo>
                    <a:pt x="277037" y="689673"/>
                  </a:lnTo>
                  <a:lnTo>
                    <a:pt x="277037" y="714997"/>
                  </a:lnTo>
                  <a:lnTo>
                    <a:pt x="403580" y="714997"/>
                  </a:lnTo>
                  <a:lnTo>
                    <a:pt x="403580" y="689673"/>
                  </a:lnTo>
                  <a:close/>
                </a:path>
                <a:path w="740410" h="715010">
                  <a:moveTo>
                    <a:pt x="655320" y="689673"/>
                  </a:moveTo>
                  <a:lnTo>
                    <a:pt x="529653" y="689673"/>
                  </a:lnTo>
                  <a:lnTo>
                    <a:pt x="529653" y="714997"/>
                  </a:lnTo>
                  <a:lnTo>
                    <a:pt x="655320" y="714997"/>
                  </a:lnTo>
                  <a:lnTo>
                    <a:pt x="655320" y="689673"/>
                  </a:lnTo>
                  <a:close/>
                </a:path>
                <a:path w="740410" h="715010">
                  <a:moveTo>
                    <a:pt x="740295" y="505256"/>
                  </a:moveTo>
                  <a:lnTo>
                    <a:pt x="714629" y="505256"/>
                  </a:lnTo>
                  <a:lnTo>
                    <a:pt x="714629" y="630910"/>
                  </a:lnTo>
                  <a:lnTo>
                    <a:pt x="740295" y="630910"/>
                  </a:lnTo>
                  <a:lnTo>
                    <a:pt x="740295" y="505256"/>
                  </a:lnTo>
                  <a:close/>
                </a:path>
                <a:path w="740410" h="715010">
                  <a:moveTo>
                    <a:pt x="740295" y="252628"/>
                  </a:moveTo>
                  <a:lnTo>
                    <a:pt x="714629" y="252628"/>
                  </a:lnTo>
                  <a:lnTo>
                    <a:pt x="714629" y="378307"/>
                  </a:lnTo>
                  <a:lnTo>
                    <a:pt x="740295" y="378307"/>
                  </a:lnTo>
                  <a:lnTo>
                    <a:pt x="740295" y="252628"/>
                  </a:lnTo>
                  <a:close/>
                </a:path>
                <a:path w="740410" h="715010">
                  <a:moveTo>
                    <a:pt x="740295" y="0"/>
                  </a:moveTo>
                  <a:lnTo>
                    <a:pt x="714629" y="0"/>
                  </a:lnTo>
                  <a:lnTo>
                    <a:pt x="714629" y="126923"/>
                  </a:lnTo>
                  <a:lnTo>
                    <a:pt x="740295" y="126923"/>
                  </a:lnTo>
                  <a:lnTo>
                    <a:pt x="7402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52737" y="682809"/>
              <a:ext cx="4978400" cy="3978275"/>
            </a:xfrm>
            <a:custGeom>
              <a:avLst/>
              <a:gdLst/>
              <a:ahLst/>
              <a:cxnLst/>
              <a:rect l="l" t="t" r="r" b="b"/>
              <a:pathLst>
                <a:path w="4978400" h="3978275">
                  <a:moveTo>
                    <a:pt x="2149768" y="268478"/>
                  </a:moveTo>
                  <a:lnTo>
                    <a:pt x="2147691" y="243010"/>
                  </a:lnTo>
                  <a:lnTo>
                    <a:pt x="2141605" y="220862"/>
                  </a:lnTo>
                  <a:lnTo>
                    <a:pt x="2118273" y="185778"/>
                  </a:lnTo>
                  <a:lnTo>
                    <a:pt x="2081504" y="161720"/>
                  </a:lnTo>
                  <a:lnTo>
                    <a:pt x="2033033" y="147182"/>
                  </a:lnTo>
                  <a:lnTo>
                    <a:pt x="1974594" y="140659"/>
                  </a:lnTo>
                  <a:lnTo>
                    <a:pt x="1942177" y="139933"/>
                  </a:lnTo>
                  <a:lnTo>
                    <a:pt x="1907919" y="140645"/>
                  </a:lnTo>
                  <a:lnTo>
                    <a:pt x="1834743" y="145635"/>
                  </a:lnTo>
                  <a:lnTo>
                    <a:pt x="1796259" y="149536"/>
                  </a:lnTo>
                  <a:lnTo>
                    <a:pt x="1756800" y="154123"/>
                  </a:lnTo>
                  <a:lnTo>
                    <a:pt x="1716582" y="159208"/>
                  </a:lnTo>
                  <a:lnTo>
                    <a:pt x="1675822" y="164604"/>
                  </a:lnTo>
                  <a:lnTo>
                    <a:pt x="1634737" y="170121"/>
                  </a:lnTo>
                  <a:lnTo>
                    <a:pt x="1593544" y="175571"/>
                  </a:lnTo>
                  <a:lnTo>
                    <a:pt x="1552460" y="180767"/>
                  </a:lnTo>
                  <a:lnTo>
                    <a:pt x="1511700" y="185521"/>
                  </a:lnTo>
                  <a:lnTo>
                    <a:pt x="1471482" y="189643"/>
                  </a:lnTo>
                  <a:lnTo>
                    <a:pt x="1432023" y="192946"/>
                  </a:lnTo>
                  <a:lnTo>
                    <a:pt x="1393539" y="195241"/>
                  </a:lnTo>
                  <a:lnTo>
                    <a:pt x="1356246" y="196341"/>
                  </a:lnTo>
                  <a:lnTo>
                    <a:pt x="1320363" y="196058"/>
                  </a:lnTo>
                  <a:lnTo>
                    <a:pt x="1253688" y="190586"/>
                  </a:lnTo>
                  <a:lnTo>
                    <a:pt x="1195249" y="177321"/>
                  </a:lnTo>
                  <a:lnTo>
                    <a:pt x="1146778" y="154757"/>
                  </a:lnTo>
                  <a:lnTo>
                    <a:pt x="1110009" y="121388"/>
                  </a:lnTo>
                  <a:lnTo>
                    <a:pt x="1086677" y="75710"/>
                  </a:lnTo>
                  <a:lnTo>
                    <a:pt x="1078514" y="16216"/>
                  </a:lnTo>
                  <a:lnTo>
                    <a:pt x="1070955" y="0"/>
                  </a:lnTo>
                  <a:lnTo>
                    <a:pt x="1062795" y="59523"/>
                  </a:lnTo>
                  <a:lnTo>
                    <a:pt x="1039469" y="105224"/>
                  </a:lnTo>
                  <a:lnTo>
                    <a:pt x="1002710" y="138607"/>
                  </a:lnTo>
                  <a:lnTo>
                    <a:pt x="954253" y="161179"/>
                  </a:lnTo>
                  <a:lnTo>
                    <a:pt x="895830" y="174445"/>
                  </a:lnTo>
                  <a:lnTo>
                    <a:pt x="829174" y="179911"/>
                  </a:lnTo>
                  <a:lnTo>
                    <a:pt x="793300" y="180189"/>
                  </a:lnTo>
                  <a:lnTo>
                    <a:pt x="756018" y="179081"/>
                  </a:lnTo>
                  <a:lnTo>
                    <a:pt x="717545" y="176777"/>
                  </a:lnTo>
                  <a:lnTo>
                    <a:pt x="678096" y="173463"/>
                  </a:lnTo>
                  <a:lnTo>
                    <a:pt x="637890" y="169328"/>
                  </a:lnTo>
                  <a:lnTo>
                    <a:pt x="597141" y="164561"/>
                  </a:lnTo>
                  <a:lnTo>
                    <a:pt x="556068" y="159349"/>
                  </a:lnTo>
                  <a:lnTo>
                    <a:pt x="514886" y="153880"/>
                  </a:lnTo>
                  <a:lnTo>
                    <a:pt x="473813" y="148344"/>
                  </a:lnTo>
                  <a:lnTo>
                    <a:pt x="433065" y="142928"/>
                  </a:lnTo>
                  <a:lnTo>
                    <a:pt x="392858" y="137820"/>
                  </a:lnTo>
                  <a:lnTo>
                    <a:pt x="353410" y="133209"/>
                  </a:lnTo>
                  <a:lnTo>
                    <a:pt x="314937" y="129282"/>
                  </a:lnTo>
                  <a:lnTo>
                    <a:pt x="241781" y="124235"/>
                  </a:lnTo>
                  <a:lnTo>
                    <a:pt x="207532" y="123492"/>
                  </a:lnTo>
                  <a:lnTo>
                    <a:pt x="175125" y="124186"/>
                  </a:lnTo>
                  <a:lnTo>
                    <a:pt x="116702" y="130639"/>
                  </a:lnTo>
                  <a:lnTo>
                    <a:pt x="68244" y="145101"/>
                  </a:lnTo>
                  <a:lnTo>
                    <a:pt x="31486" y="169076"/>
                  </a:lnTo>
                  <a:lnTo>
                    <a:pt x="8160" y="204071"/>
                  </a:lnTo>
                  <a:lnTo>
                    <a:pt x="2076" y="226172"/>
                  </a:lnTo>
                  <a:lnTo>
                    <a:pt x="0" y="251591"/>
                  </a:lnTo>
                </a:path>
                <a:path w="4978400" h="3978275">
                  <a:moveTo>
                    <a:pt x="3494924" y="2178066"/>
                  </a:moveTo>
                  <a:lnTo>
                    <a:pt x="3467485" y="2180088"/>
                  </a:lnTo>
                  <a:lnTo>
                    <a:pt x="3443926" y="2186002"/>
                  </a:lnTo>
                  <a:lnTo>
                    <a:pt x="3407487" y="2208591"/>
                  </a:lnTo>
                  <a:lnTo>
                    <a:pt x="3383693" y="2244000"/>
                  </a:lnTo>
                  <a:lnTo>
                    <a:pt x="3370631" y="2290398"/>
                  </a:lnTo>
                  <a:lnTo>
                    <a:pt x="3366386" y="2345954"/>
                  </a:lnTo>
                  <a:lnTo>
                    <a:pt x="3366972" y="2376593"/>
                  </a:lnTo>
                  <a:lnTo>
                    <a:pt x="3372363" y="2442451"/>
                  </a:lnTo>
                  <a:lnTo>
                    <a:pt x="3381787" y="2512888"/>
                  </a:lnTo>
                  <a:lnTo>
                    <a:pt x="3393329" y="2586072"/>
                  </a:lnTo>
                  <a:lnTo>
                    <a:pt x="3399296" y="2623122"/>
                  </a:lnTo>
                  <a:lnTo>
                    <a:pt x="3405075" y="2660172"/>
                  </a:lnTo>
                  <a:lnTo>
                    <a:pt x="3415111" y="2733356"/>
                  </a:lnTo>
                  <a:lnTo>
                    <a:pt x="3421524" y="2803792"/>
                  </a:lnTo>
                  <a:lnTo>
                    <a:pt x="3422772" y="2837408"/>
                  </a:lnTo>
                  <a:lnTo>
                    <a:pt x="3422398" y="2869650"/>
                  </a:lnTo>
                  <a:lnTo>
                    <a:pt x="3415820" y="2929098"/>
                  </a:lnTo>
                  <a:lnTo>
                    <a:pt x="3399876" y="2980304"/>
                  </a:lnTo>
                  <a:lnTo>
                    <a:pt x="3372652" y="3021437"/>
                  </a:lnTo>
                  <a:lnTo>
                    <a:pt x="3332234" y="3050664"/>
                  </a:lnTo>
                  <a:lnTo>
                    <a:pt x="3276707" y="3066156"/>
                  </a:lnTo>
                  <a:lnTo>
                    <a:pt x="3242681" y="3068178"/>
                  </a:lnTo>
                  <a:lnTo>
                    <a:pt x="3226435" y="3074732"/>
                  </a:lnTo>
                  <a:lnTo>
                    <a:pt x="3290240" y="3082667"/>
                  </a:lnTo>
                  <a:lnTo>
                    <a:pt x="3337983" y="3105252"/>
                  </a:lnTo>
                  <a:lnTo>
                    <a:pt x="3371575" y="3140655"/>
                  </a:lnTo>
                  <a:lnTo>
                    <a:pt x="3392930" y="3187046"/>
                  </a:lnTo>
                  <a:lnTo>
                    <a:pt x="3403960" y="3242593"/>
                  </a:lnTo>
                  <a:lnTo>
                    <a:pt x="3406578" y="3305464"/>
                  </a:lnTo>
                  <a:lnTo>
                    <a:pt x="3405330" y="3339075"/>
                  </a:lnTo>
                  <a:lnTo>
                    <a:pt x="3398916" y="3409500"/>
                  </a:lnTo>
                  <a:lnTo>
                    <a:pt x="3388872" y="3482672"/>
                  </a:lnTo>
                  <a:lnTo>
                    <a:pt x="3377109" y="3556760"/>
                  </a:lnTo>
                  <a:lnTo>
                    <a:pt x="3371181" y="3593575"/>
                  </a:lnTo>
                  <a:lnTo>
                    <a:pt x="3360428" y="3665603"/>
                  </a:lnTo>
                  <a:lnTo>
                    <a:pt x="3352738" y="3733968"/>
                  </a:lnTo>
                  <a:lnTo>
                    <a:pt x="3350024" y="3796840"/>
                  </a:lnTo>
                  <a:lnTo>
                    <a:pt x="3351131" y="3825643"/>
                  </a:lnTo>
                  <a:lnTo>
                    <a:pt x="3359467" y="3876841"/>
                  </a:lnTo>
                  <a:lnTo>
                    <a:pt x="3377562" y="3917967"/>
                  </a:lnTo>
                  <a:lnTo>
                    <a:pt x="3407326" y="3947190"/>
                  </a:lnTo>
                  <a:lnTo>
                    <a:pt x="3450674" y="3962679"/>
                  </a:lnTo>
                  <a:lnTo>
                    <a:pt x="3478039" y="3964701"/>
                  </a:lnTo>
                </a:path>
                <a:path w="4978400" h="3978275">
                  <a:moveTo>
                    <a:pt x="4709722" y="400096"/>
                  </a:moveTo>
                  <a:lnTo>
                    <a:pt x="4737088" y="402118"/>
                  </a:lnTo>
                  <a:lnTo>
                    <a:pt x="4760580" y="408033"/>
                  </a:lnTo>
                  <a:lnTo>
                    <a:pt x="4796894" y="430621"/>
                  </a:lnTo>
                  <a:lnTo>
                    <a:pt x="4820578" y="466030"/>
                  </a:lnTo>
                  <a:lnTo>
                    <a:pt x="4833543" y="512428"/>
                  </a:lnTo>
                  <a:lnTo>
                    <a:pt x="4837704" y="567984"/>
                  </a:lnTo>
                  <a:lnTo>
                    <a:pt x="4837080" y="598624"/>
                  </a:lnTo>
                  <a:lnTo>
                    <a:pt x="4831621" y="664482"/>
                  </a:lnTo>
                  <a:lnTo>
                    <a:pt x="4822141" y="734918"/>
                  </a:lnTo>
                  <a:lnTo>
                    <a:pt x="4810552" y="808102"/>
                  </a:lnTo>
                  <a:lnTo>
                    <a:pt x="4804564" y="845152"/>
                  </a:lnTo>
                  <a:lnTo>
                    <a:pt x="4798767" y="882202"/>
                  </a:lnTo>
                  <a:lnTo>
                    <a:pt x="4788701" y="955386"/>
                  </a:lnTo>
                  <a:lnTo>
                    <a:pt x="4782266" y="1025823"/>
                  </a:lnTo>
                  <a:lnTo>
                    <a:pt x="4781008" y="1059439"/>
                  </a:lnTo>
                  <a:lnTo>
                    <a:pt x="4781376" y="1091681"/>
                  </a:lnTo>
                  <a:lnTo>
                    <a:pt x="4787943" y="1151128"/>
                  </a:lnTo>
                  <a:lnTo>
                    <a:pt x="4803881" y="1202334"/>
                  </a:lnTo>
                  <a:lnTo>
                    <a:pt x="4831103" y="1243467"/>
                  </a:lnTo>
                  <a:lnTo>
                    <a:pt x="4871522" y="1272695"/>
                  </a:lnTo>
                  <a:lnTo>
                    <a:pt x="4927052" y="1288186"/>
                  </a:lnTo>
                  <a:lnTo>
                    <a:pt x="4961081" y="1290209"/>
                  </a:lnTo>
                  <a:lnTo>
                    <a:pt x="4978210" y="1296762"/>
                  </a:lnTo>
                  <a:lnTo>
                    <a:pt x="4914402" y="1304699"/>
                  </a:lnTo>
                  <a:lnTo>
                    <a:pt x="4866642" y="1327287"/>
                  </a:lnTo>
                  <a:lnTo>
                    <a:pt x="4833018" y="1362696"/>
                  </a:lnTo>
                  <a:lnTo>
                    <a:pt x="4811620" y="1409094"/>
                  </a:lnTo>
                  <a:lnTo>
                    <a:pt x="4800537" y="1464650"/>
                  </a:lnTo>
                  <a:lnTo>
                    <a:pt x="4797859" y="1527532"/>
                  </a:lnTo>
                  <a:lnTo>
                    <a:pt x="4799074" y="1561148"/>
                  </a:lnTo>
                  <a:lnTo>
                    <a:pt x="4805419" y="1631584"/>
                  </a:lnTo>
                  <a:lnTo>
                    <a:pt x="4815392" y="1704768"/>
                  </a:lnTo>
                  <a:lnTo>
                    <a:pt x="4827081" y="1778868"/>
                  </a:lnTo>
                  <a:lnTo>
                    <a:pt x="4832972" y="1815689"/>
                  </a:lnTo>
                  <a:lnTo>
                    <a:pt x="4843653" y="1887728"/>
                  </a:lnTo>
                  <a:lnTo>
                    <a:pt x="4851274" y="1956105"/>
                  </a:lnTo>
                  <a:lnTo>
                    <a:pt x="4853923" y="2018986"/>
                  </a:lnTo>
                  <a:lnTo>
                    <a:pt x="4852786" y="2047795"/>
                  </a:lnTo>
                  <a:lnTo>
                    <a:pt x="4844396" y="2099000"/>
                  </a:lnTo>
                  <a:lnTo>
                    <a:pt x="4826257" y="2140133"/>
                  </a:lnTo>
                  <a:lnTo>
                    <a:pt x="4796460" y="2169361"/>
                  </a:lnTo>
                  <a:lnTo>
                    <a:pt x="4753093" y="2184852"/>
                  </a:lnTo>
                  <a:lnTo>
                    <a:pt x="4725723" y="2186875"/>
                  </a:lnTo>
                </a:path>
                <a:path w="4978400" h="3978275">
                  <a:moveTo>
                    <a:pt x="4709722" y="2192392"/>
                  </a:moveTo>
                  <a:lnTo>
                    <a:pt x="4737088" y="2194411"/>
                  </a:lnTo>
                  <a:lnTo>
                    <a:pt x="4760580" y="2200317"/>
                  </a:lnTo>
                  <a:lnTo>
                    <a:pt x="4796894" y="2222874"/>
                  </a:lnTo>
                  <a:lnTo>
                    <a:pt x="4820578" y="2258233"/>
                  </a:lnTo>
                  <a:lnTo>
                    <a:pt x="4833543" y="2304566"/>
                  </a:lnTo>
                  <a:lnTo>
                    <a:pt x="4837704" y="2360044"/>
                  </a:lnTo>
                  <a:lnTo>
                    <a:pt x="4837080" y="2390641"/>
                  </a:lnTo>
                  <a:lnTo>
                    <a:pt x="4831621" y="2456406"/>
                  </a:lnTo>
                  <a:lnTo>
                    <a:pt x="4822141" y="2526744"/>
                  </a:lnTo>
                  <a:lnTo>
                    <a:pt x="4810552" y="2599825"/>
                  </a:lnTo>
                  <a:lnTo>
                    <a:pt x="4804564" y="2636823"/>
                  </a:lnTo>
                  <a:lnTo>
                    <a:pt x="4798767" y="2673821"/>
                  </a:lnTo>
                  <a:lnTo>
                    <a:pt x="4788701" y="2746902"/>
                  </a:lnTo>
                  <a:lnTo>
                    <a:pt x="4782266" y="2817240"/>
                  </a:lnTo>
                  <a:lnTo>
                    <a:pt x="4781008" y="2850809"/>
                  </a:lnTo>
                  <a:lnTo>
                    <a:pt x="4781376" y="2883006"/>
                  </a:lnTo>
                  <a:lnTo>
                    <a:pt x="4787943" y="2942370"/>
                  </a:lnTo>
                  <a:lnTo>
                    <a:pt x="4803881" y="2993504"/>
                  </a:lnTo>
                  <a:lnTo>
                    <a:pt x="4831103" y="3034579"/>
                  </a:lnTo>
                  <a:lnTo>
                    <a:pt x="4871522" y="3063765"/>
                  </a:lnTo>
                  <a:lnTo>
                    <a:pt x="4927052" y="3079235"/>
                  </a:lnTo>
                  <a:lnTo>
                    <a:pt x="4961081" y="3081255"/>
                  </a:lnTo>
                  <a:lnTo>
                    <a:pt x="4978210" y="3088204"/>
                  </a:lnTo>
                  <a:lnTo>
                    <a:pt x="4914402" y="3096137"/>
                  </a:lnTo>
                  <a:lnTo>
                    <a:pt x="4866642" y="3118716"/>
                  </a:lnTo>
                  <a:lnTo>
                    <a:pt x="4833018" y="3154110"/>
                  </a:lnTo>
                  <a:lnTo>
                    <a:pt x="4811620" y="3200488"/>
                  </a:lnTo>
                  <a:lnTo>
                    <a:pt x="4800537" y="3256019"/>
                  </a:lnTo>
                  <a:lnTo>
                    <a:pt x="4797859" y="3318874"/>
                  </a:lnTo>
                  <a:lnTo>
                    <a:pt x="4799074" y="3352475"/>
                  </a:lnTo>
                  <a:lnTo>
                    <a:pt x="4805419" y="3422881"/>
                  </a:lnTo>
                  <a:lnTo>
                    <a:pt x="4815392" y="3496033"/>
                  </a:lnTo>
                  <a:lnTo>
                    <a:pt x="4827081" y="3570101"/>
                  </a:lnTo>
                  <a:lnTo>
                    <a:pt x="4832972" y="3606906"/>
                  </a:lnTo>
                  <a:lnTo>
                    <a:pt x="4843653" y="3678914"/>
                  </a:lnTo>
                  <a:lnTo>
                    <a:pt x="4851274" y="3747260"/>
                  </a:lnTo>
                  <a:lnTo>
                    <a:pt x="4853923" y="3810115"/>
                  </a:lnTo>
                  <a:lnTo>
                    <a:pt x="4852786" y="3838910"/>
                  </a:lnTo>
                  <a:lnTo>
                    <a:pt x="4844396" y="3890094"/>
                  </a:lnTo>
                  <a:lnTo>
                    <a:pt x="4826257" y="3931209"/>
                  </a:lnTo>
                  <a:lnTo>
                    <a:pt x="4796460" y="3960424"/>
                  </a:lnTo>
                  <a:lnTo>
                    <a:pt x="4753093" y="3975908"/>
                  </a:lnTo>
                  <a:lnTo>
                    <a:pt x="4725723" y="3977930"/>
                  </a:lnTo>
                </a:path>
              </a:pathLst>
            </a:custGeom>
            <a:ln w="246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28529" y="2327544"/>
              <a:ext cx="66354" cy="67238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28529" y="2104369"/>
              <a:ext cx="66354" cy="66263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28529" y="3450244"/>
              <a:ext cx="66354" cy="67147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28529" y="3265779"/>
              <a:ext cx="66354" cy="66233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28529" y="4166067"/>
              <a:ext cx="66354" cy="66379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28529" y="3980700"/>
              <a:ext cx="66354" cy="66364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1102550" y="3315766"/>
              <a:ext cx="202565" cy="35560"/>
            </a:xfrm>
            <a:custGeom>
              <a:avLst/>
              <a:gdLst/>
              <a:ahLst/>
              <a:cxnLst/>
              <a:rect l="l" t="t" r="r" b="b"/>
              <a:pathLst>
                <a:path w="202565" h="35560">
                  <a:moveTo>
                    <a:pt x="34696" y="7810"/>
                  </a:moveTo>
                  <a:lnTo>
                    <a:pt x="27178" y="0"/>
                  </a:lnTo>
                  <a:lnTo>
                    <a:pt x="17805" y="0"/>
                  </a:lnTo>
                  <a:lnTo>
                    <a:pt x="10668" y="1384"/>
                  </a:lnTo>
                  <a:lnTo>
                    <a:pt x="5029" y="5194"/>
                  </a:lnTo>
                  <a:lnTo>
                    <a:pt x="1333" y="10947"/>
                  </a:lnTo>
                  <a:lnTo>
                    <a:pt x="0" y="18135"/>
                  </a:lnTo>
                  <a:lnTo>
                    <a:pt x="0" y="27559"/>
                  </a:lnTo>
                  <a:lnTo>
                    <a:pt x="7493" y="35001"/>
                  </a:lnTo>
                  <a:lnTo>
                    <a:pt x="27178" y="35001"/>
                  </a:lnTo>
                  <a:lnTo>
                    <a:pt x="34696" y="27559"/>
                  </a:lnTo>
                  <a:lnTo>
                    <a:pt x="34696" y="18135"/>
                  </a:lnTo>
                  <a:lnTo>
                    <a:pt x="34696" y="7810"/>
                  </a:lnTo>
                  <a:close/>
                </a:path>
                <a:path w="202565" h="35560">
                  <a:moveTo>
                    <a:pt x="119100" y="18135"/>
                  </a:moveTo>
                  <a:lnTo>
                    <a:pt x="117716" y="10947"/>
                  </a:lnTo>
                  <a:lnTo>
                    <a:pt x="113893" y="5194"/>
                  </a:lnTo>
                  <a:lnTo>
                    <a:pt x="108140" y="1384"/>
                  </a:lnTo>
                  <a:lnTo>
                    <a:pt x="100965" y="0"/>
                  </a:lnTo>
                  <a:lnTo>
                    <a:pt x="91579" y="0"/>
                  </a:lnTo>
                  <a:lnTo>
                    <a:pt x="84074" y="7810"/>
                  </a:lnTo>
                  <a:lnTo>
                    <a:pt x="84074" y="27559"/>
                  </a:lnTo>
                  <a:lnTo>
                    <a:pt x="91579" y="35001"/>
                  </a:lnTo>
                  <a:lnTo>
                    <a:pt x="111277" y="35001"/>
                  </a:lnTo>
                  <a:lnTo>
                    <a:pt x="119100" y="27559"/>
                  </a:lnTo>
                  <a:lnTo>
                    <a:pt x="119100" y="18135"/>
                  </a:lnTo>
                  <a:close/>
                </a:path>
                <a:path w="202565" h="35560">
                  <a:moveTo>
                    <a:pt x="202247" y="7810"/>
                  </a:moveTo>
                  <a:lnTo>
                    <a:pt x="194741" y="0"/>
                  </a:lnTo>
                  <a:lnTo>
                    <a:pt x="185051" y="0"/>
                  </a:lnTo>
                  <a:lnTo>
                    <a:pt x="177927" y="1384"/>
                  </a:lnTo>
                  <a:lnTo>
                    <a:pt x="172275" y="5194"/>
                  </a:lnTo>
                  <a:lnTo>
                    <a:pt x="168567" y="10947"/>
                  </a:lnTo>
                  <a:lnTo>
                    <a:pt x="167233" y="18135"/>
                  </a:lnTo>
                  <a:lnTo>
                    <a:pt x="167233" y="27559"/>
                  </a:lnTo>
                  <a:lnTo>
                    <a:pt x="174752" y="35001"/>
                  </a:lnTo>
                  <a:lnTo>
                    <a:pt x="194741" y="35001"/>
                  </a:lnTo>
                  <a:lnTo>
                    <a:pt x="202247" y="27559"/>
                  </a:lnTo>
                  <a:lnTo>
                    <a:pt x="202247" y="18135"/>
                  </a:lnTo>
                  <a:lnTo>
                    <a:pt x="202247" y="7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602800" y="3095611"/>
              <a:ext cx="3999229" cy="619760"/>
            </a:xfrm>
            <a:custGeom>
              <a:avLst/>
              <a:gdLst/>
              <a:ahLst/>
              <a:cxnLst/>
              <a:rect l="l" t="t" r="r" b="b"/>
              <a:pathLst>
                <a:path w="3999229" h="619760">
                  <a:moveTo>
                    <a:pt x="0" y="546558"/>
                  </a:moveTo>
                  <a:lnTo>
                    <a:pt x="0" y="546558"/>
                  </a:lnTo>
                  <a:lnTo>
                    <a:pt x="71783" y="619347"/>
                  </a:lnTo>
                </a:path>
                <a:path w="3999229" h="619760">
                  <a:moveTo>
                    <a:pt x="71783" y="546558"/>
                  </a:moveTo>
                  <a:lnTo>
                    <a:pt x="71783" y="546558"/>
                  </a:lnTo>
                  <a:lnTo>
                    <a:pt x="0" y="619347"/>
                  </a:lnTo>
                </a:path>
                <a:path w="3999229" h="619760">
                  <a:moveTo>
                    <a:pt x="3926908" y="0"/>
                  </a:moveTo>
                  <a:lnTo>
                    <a:pt x="3926908" y="0"/>
                  </a:lnTo>
                  <a:lnTo>
                    <a:pt x="3998807" y="72911"/>
                  </a:lnTo>
                </a:path>
                <a:path w="3999229" h="619760">
                  <a:moveTo>
                    <a:pt x="3998807" y="0"/>
                  </a:moveTo>
                  <a:lnTo>
                    <a:pt x="3998807" y="0"/>
                  </a:lnTo>
                  <a:lnTo>
                    <a:pt x="3926908" y="72911"/>
                  </a:lnTo>
                </a:path>
              </a:pathLst>
            </a:custGeom>
            <a:ln w="150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889046" y="5450704"/>
              <a:ext cx="920115" cy="151765"/>
            </a:xfrm>
            <a:custGeom>
              <a:avLst/>
              <a:gdLst/>
              <a:ahLst/>
              <a:cxnLst/>
              <a:rect l="l" t="t" r="r" b="b"/>
              <a:pathLst>
                <a:path w="920114" h="151764">
                  <a:moveTo>
                    <a:pt x="919648" y="0"/>
                  </a:moveTo>
                  <a:lnTo>
                    <a:pt x="0" y="0"/>
                  </a:lnTo>
                  <a:lnTo>
                    <a:pt x="0" y="151327"/>
                  </a:lnTo>
                  <a:lnTo>
                    <a:pt x="919648" y="151327"/>
                  </a:lnTo>
                  <a:lnTo>
                    <a:pt x="91964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7728508" y="1249242"/>
            <a:ext cx="714375" cy="358140"/>
          </a:xfrm>
          <a:prstGeom prst="rect">
            <a:avLst/>
          </a:prstGeom>
          <a:solidFill>
            <a:srgbClr val="CBEBCC"/>
          </a:solidFill>
          <a:ln w="24696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36830" algn="ctr">
              <a:lnSpc>
                <a:spcPct val="100000"/>
              </a:lnSpc>
              <a:spcBef>
                <a:spcPts val="380"/>
              </a:spcBef>
            </a:pPr>
            <a:r>
              <a:rPr sz="1200" spc="-25" dirty="0">
                <a:latin typeface="Times New Roman"/>
                <a:cs typeface="Times New Roman"/>
              </a:rPr>
              <a:t>B</a:t>
            </a:r>
            <a:r>
              <a:rPr sz="1425" spc="-37" baseline="-17543" dirty="0">
                <a:latin typeface="Times New Roman"/>
                <a:cs typeface="Times New Roman"/>
              </a:rPr>
              <a:t>1</a:t>
            </a:r>
            <a:endParaRPr sz="1425" baseline="-17543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728508" y="891971"/>
            <a:ext cx="714375" cy="357505"/>
          </a:xfrm>
          <a:prstGeom prst="rect">
            <a:avLst/>
          </a:prstGeom>
          <a:solidFill>
            <a:srgbClr val="CBEBCC"/>
          </a:solidFill>
          <a:ln w="24696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6830" algn="ctr">
              <a:lnSpc>
                <a:spcPct val="100000"/>
              </a:lnSpc>
              <a:spcBef>
                <a:spcPts val="390"/>
              </a:spcBef>
            </a:pPr>
            <a:r>
              <a:rPr sz="1200" spc="-25" dirty="0">
                <a:latin typeface="Times New Roman"/>
                <a:cs typeface="Times New Roman"/>
              </a:rPr>
              <a:t>B</a:t>
            </a:r>
            <a:r>
              <a:rPr sz="1425" spc="-37" baseline="-17543" dirty="0">
                <a:latin typeface="Times New Roman"/>
                <a:cs typeface="Times New Roman"/>
              </a:rPr>
              <a:t>0</a:t>
            </a:r>
            <a:endParaRPr sz="1425" baseline="-17543">
              <a:latin typeface="Times New Roman"/>
              <a:cs typeface="Times New Roman"/>
            </a:endParaRPr>
          </a:p>
        </p:txBody>
      </p:sp>
      <p:pic>
        <p:nvPicPr>
          <p:cNvPr id="102" name="object 10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028529" y="1881103"/>
            <a:ext cx="66354" cy="66233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062355" y="2062703"/>
            <a:ext cx="65989" cy="66354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062355" y="2285969"/>
            <a:ext cx="65989" cy="66263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062355" y="2510150"/>
            <a:ext cx="65989" cy="66233"/>
          </a:xfrm>
          <a:prstGeom prst="rect">
            <a:avLst/>
          </a:prstGeom>
        </p:spPr>
      </p:pic>
      <p:sp>
        <p:nvSpPr>
          <p:cNvPr id="98" name="object 98"/>
          <p:cNvSpPr txBox="1"/>
          <p:nvPr/>
        </p:nvSpPr>
        <p:spPr>
          <a:xfrm>
            <a:off x="7728508" y="3036935"/>
            <a:ext cx="714375" cy="358140"/>
          </a:xfrm>
          <a:prstGeom prst="rect">
            <a:avLst/>
          </a:prstGeom>
          <a:solidFill>
            <a:srgbClr val="CBEBCC"/>
          </a:solidFill>
          <a:ln w="24696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35560" algn="ctr">
              <a:lnSpc>
                <a:spcPct val="100000"/>
              </a:lnSpc>
              <a:spcBef>
                <a:spcPts val="375"/>
              </a:spcBef>
            </a:pPr>
            <a:r>
              <a:rPr sz="1200" spc="-25" dirty="0">
                <a:latin typeface="Times New Roman"/>
                <a:cs typeface="Times New Roman"/>
              </a:rPr>
              <a:t>B</a:t>
            </a:r>
            <a:r>
              <a:rPr sz="1425" i="1" spc="-37" baseline="-17543" dirty="0">
                <a:latin typeface="Times New Roman"/>
                <a:cs typeface="Times New Roman"/>
              </a:rPr>
              <a:t>j</a:t>
            </a:r>
            <a:endParaRPr sz="1425" baseline="-17543">
              <a:latin typeface="Times New Roman"/>
              <a:cs typeface="Times New Roman"/>
            </a:endParaRPr>
          </a:p>
        </p:txBody>
      </p:sp>
      <p:pic>
        <p:nvPicPr>
          <p:cNvPr id="101" name="object 10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062355" y="3744437"/>
            <a:ext cx="65989" cy="66242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062355" y="3966722"/>
            <a:ext cx="65989" cy="66233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062355" y="4190762"/>
            <a:ext cx="65989" cy="66364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7715402" y="4412147"/>
            <a:ext cx="25400" cy="127000"/>
          </a:xfrm>
          <a:custGeom>
            <a:avLst/>
            <a:gdLst/>
            <a:ahLst/>
            <a:cxnLst/>
            <a:rect l="l" t="t" r="r" b="b"/>
            <a:pathLst>
              <a:path w="25400" h="127000">
                <a:moveTo>
                  <a:pt x="25328" y="0"/>
                </a:moveTo>
                <a:lnTo>
                  <a:pt x="0" y="1011"/>
                </a:lnTo>
                <a:lnTo>
                  <a:pt x="0" y="126574"/>
                </a:lnTo>
                <a:lnTo>
                  <a:pt x="25328" y="126574"/>
                </a:lnTo>
                <a:lnTo>
                  <a:pt x="253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440506" y="3453018"/>
            <a:ext cx="0" cy="1135380"/>
          </a:xfrm>
          <a:custGeom>
            <a:avLst/>
            <a:gdLst/>
            <a:ahLst/>
            <a:cxnLst/>
            <a:rect l="l" t="t" r="r" b="b"/>
            <a:pathLst>
              <a:path h="1135379">
                <a:moveTo>
                  <a:pt x="0" y="0"/>
                </a:moveTo>
                <a:lnTo>
                  <a:pt x="0" y="1134816"/>
                </a:lnTo>
              </a:path>
            </a:pathLst>
          </a:custGeom>
          <a:ln w="28437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1366813" y="4484459"/>
            <a:ext cx="690245" cy="3276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dirty="0">
                <a:latin typeface="Times New Roman"/>
                <a:cs typeface="Times New Roman"/>
              </a:rPr>
              <a:t>1</a:t>
            </a:r>
            <a:r>
              <a:rPr sz="950" spc="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if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match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950" dirty="0">
                <a:latin typeface="Times New Roman"/>
                <a:cs typeface="Times New Roman"/>
              </a:rPr>
              <a:t>0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if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match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745394" y="4635434"/>
            <a:ext cx="126364" cy="25400"/>
          </a:xfrm>
          <a:custGeom>
            <a:avLst/>
            <a:gdLst/>
            <a:ahLst/>
            <a:cxnLst/>
            <a:rect l="l" t="t" r="r" b="b"/>
            <a:pathLst>
              <a:path w="126365" h="25400">
                <a:moveTo>
                  <a:pt x="126065" y="0"/>
                </a:moveTo>
                <a:lnTo>
                  <a:pt x="0" y="0"/>
                </a:lnTo>
                <a:lnTo>
                  <a:pt x="0" y="25313"/>
                </a:lnTo>
                <a:lnTo>
                  <a:pt x="126065" y="25313"/>
                </a:lnTo>
                <a:lnTo>
                  <a:pt x="1260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98013" y="4635434"/>
            <a:ext cx="125730" cy="25400"/>
          </a:xfrm>
          <a:custGeom>
            <a:avLst/>
            <a:gdLst/>
            <a:ahLst/>
            <a:cxnLst/>
            <a:rect l="l" t="t" r="r" b="b"/>
            <a:pathLst>
              <a:path w="125729" h="25400">
                <a:moveTo>
                  <a:pt x="125669" y="0"/>
                </a:moveTo>
                <a:lnTo>
                  <a:pt x="0" y="0"/>
                </a:lnTo>
                <a:lnTo>
                  <a:pt x="0" y="25313"/>
                </a:lnTo>
                <a:lnTo>
                  <a:pt x="125669" y="25313"/>
                </a:lnTo>
                <a:lnTo>
                  <a:pt x="1256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249351" y="4635434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27000" h="25400">
                <a:moveTo>
                  <a:pt x="126949" y="0"/>
                </a:moveTo>
                <a:lnTo>
                  <a:pt x="0" y="0"/>
                </a:lnTo>
                <a:lnTo>
                  <a:pt x="0" y="25313"/>
                </a:lnTo>
                <a:lnTo>
                  <a:pt x="126949" y="25313"/>
                </a:lnTo>
                <a:lnTo>
                  <a:pt x="1269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1031080" y="5190096"/>
            <a:ext cx="690245" cy="3276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06045" indent="-93345">
              <a:lnSpc>
                <a:spcPct val="100000"/>
              </a:lnSpc>
              <a:spcBef>
                <a:spcPts val="140"/>
              </a:spcBef>
              <a:buAutoNum type="arabicPlain"/>
              <a:tabLst>
                <a:tab pos="106045" algn="l"/>
              </a:tabLst>
            </a:pPr>
            <a:r>
              <a:rPr sz="950" dirty="0">
                <a:latin typeface="Times New Roman"/>
                <a:cs typeface="Times New Roman"/>
              </a:rPr>
              <a:t>if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match</a:t>
            </a:r>
            <a:endParaRPr sz="950">
              <a:latin typeface="Times New Roman"/>
              <a:cs typeface="Times New Roman"/>
            </a:endParaRPr>
          </a:p>
          <a:p>
            <a:pPr marL="106045" indent="-93345">
              <a:lnSpc>
                <a:spcPct val="100000"/>
              </a:lnSpc>
              <a:spcBef>
                <a:spcPts val="50"/>
              </a:spcBef>
              <a:buAutoNum type="arabicPlain"/>
              <a:tabLst>
                <a:tab pos="106045" algn="l"/>
              </a:tabLst>
            </a:pPr>
            <a:r>
              <a:rPr sz="950" dirty="0">
                <a:latin typeface="Times New Roman"/>
                <a:cs typeface="Times New Roman"/>
              </a:rPr>
              <a:t>if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match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882014" y="5397990"/>
            <a:ext cx="93599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(miss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cache)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82765" y="6027928"/>
            <a:ext cx="111506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b="1" dirty="0">
                <a:latin typeface="Times New Roman"/>
                <a:cs typeface="Times New Roman"/>
              </a:rPr>
              <a:t>Figure</a:t>
            </a:r>
            <a:r>
              <a:rPr sz="1750" b="1" spc="45" dirty="0">
                <a:latin typeface="Times New Roman"/>
                <a:cs typeface="Times New Roman"/>
              </a:rPr>
              <a:t> </a:t>
            </a:r>
            <a:r>
              <a:rPr sz="1750" b="1" spc="-20" dirty="0">
                <a:latin typeface="Times New Roman"/>
                <a:cs typeface="Times New Roman"/>
              </a:rPr>
              <a:t>4.14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49425" y="6027928"/>
            <a:ext cx="414655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b="1" i="1" dirty="0">
                <a:latin typeface="Times New Roman"/>
                <a:cs typeface="Times New Roman"/>
              </a:rPr>
              <a:t>k</a:t>
            </a:r>
            <a:r>
              <a:rPr sz="1750" b="1" dirty="0">
                <a:latin typeface="Times New Roman"/>
                <a:cs typeface="Times New Roman"/>
              </a:rPr>
              <a:t>-Way</a:t>
            </a:r>
            <a:r>
              <a:rPr sz="1750" b="1" spc="5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Set</a:t>
            </a:r>
            <a:r>
              <a:rPr sz="1750" b="1" spc="5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Associative</a:t>
            </a:r>
            <a:r>
              <a:rPr sz="1750" b="1" spc="6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Cache</a:t>
            </a:r>
            <a:r>
              <a:rPr sz="1750" b="1" spc="55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Organization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203" rIns="0" bIns="0" rtlCol="0">
            <a:spAutoFit/>
          </a:bodyPr>
          <a:lstStyle/>
          <a:p>
            <a:pPr marL="191770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6572" y="1291585"/>
            <a:ext cx="623506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Figure</a:t>
            </a:r>
            <a:r>
              <a:rPr sz="2400" spc="10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4.14</a:t>
            </a:r>
            <a:r>
              <a:rPr sz="2400" spc="1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illustrates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cache</a:t>
            </a:r>
            <a:r>
              <a:rPr sz="2400" spc="1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logic.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fully</a:t>
            </a:r>
            <a:r>
              <a:rPr sz="2400" b="1" spc="1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associativ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mapping,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tag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2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quite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2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26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compared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tag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cache.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k-</a:t>
            </a:r>
            <a:r>
              <a:rPr sz="2400" b="1" i="1" dirty="0">
                <a:latin typeface="Times New Roman"/>
                <a:cs typeface="Times New Roman"/>
              </a:rPr>
              <a:t>way</a:t>
            </a:r>
            <a:r>
              <a:rPr sz="2400" b="1" i="1" spc="254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set-</a:t>
            </a:r>
            <a:r>
              <a:rPr sz="2400" b="1" i="1" dirty="0">
                <a:latin typeface="Times New Roman"/>
                <a:cs typeface="Times New Roman"/>
              </a:rPr>
              <a:t>associative</a:t>
            </a:r>
            <a:r>
              <a:rPr sz="2400" b="1" i="1" spc="26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mapping,</a:t>
            </a:r>
            <a:r>
              <a:rPr sz="2400" i="1" spc="2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26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tag</a:t>
            </a:r>
            <a:r>
              <a:rPr sz="2400" i="1" spc="25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in</a:t>
            </a:r>
            <a:r>
              <a:rPr sz="2400" i="1" spc="250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a </a:t>
            </a:r>
            <a:r>
              <a:rPr sz="2400" i="1" dirty="0">
                <a:latin typeface="Times New Roman"/>
                <a:cs typeface="Times New Roman"/>
              </a:rPr>
              <a:t>memory</a:t>
            </a:r>
            <a:r>
              <a:rPr sz="2400" i="1" spc="125" dirty="0">
                <a:latin typeface="Times New Roman"/>
                <a:cs typeface="Times New Roman"/>
              </a:rPr>
              <a:t>  </a:t>
            </a:r>
            <a:r>
              <a:rPr sz="2400" i="1" dirty="0">
                <a:latin typeface="Times New Roman"/>
                <a:cs typeface="Times New Roman"/>
              </a:rPr>
              <a:t>address</a:t>
            </a:r>
            <a:r>
              <a:rPr sz="2400" i="1" spc="130" dirty="0">
                <a:latin typeface="Times New Roman"/>
                <a:cs typeface="Times New Roman"/>
              </a:rPr>
              <a:t>  </a:t>
            </a:r>
            <a:r>
              <a:rPr sz="2400" i="1" dirty="0">
                <a:latin typeface="Times New Roman"/>
                <a:cs typeface="Times New Roman"/>
              </a:rPr>
              <a:t>is</a:t>
            </a:r>
            <a:r>
              <a:rPr sz="2400" i="1" spc="1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much</a:t>
            </a:r>
            <a:r>
              <a:rPr sz="2400" spc="1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smaller</a:t>
            </a:r>
            <a:r>
              <a:rPr sz="2400" spc="1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25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only </a:t>
            </a:r>
            <a:r>
              <a:rPr sz="2400" dirty="0">
                <a:latin typeface="Times New Roman"/>
                <a:cs typeface="Times New Roman"/>
              </a:rPr>
              <a:t>compared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 tags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within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 single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06324" y="282580"/>
            <a:ext cx="7853680" cy="1600200"/>
            <a:chOff x="306324" y="282580"/>
            <a:chExt cx="7853680" cy="1600200"/>
          </a:xfrm>
        </p:grpSpPr>
        <p:sp>
          <p:nvSpPr>
            <p:cNvPr id="4" name="object 4"/>
            <p:cNvSpPr/>
            <p:nvPr/>
          </p:nvSpPr>
          <p:spPr>
            <a:xfrm>
              <a:off x="8068177" y="282580"/>
              <a:ext cx="91440" cy="1600200"/>
            </a:xfrm>
            <a:custGeom>
              <a:avLst/>
              <a:gdLst/>
              <a:ahLst/>
              <a:cxnLst/>
              <a:rect l="l" t="t" r="r" b="b"/>
              <a:pathLst>
                <a:path w="91440" h="1600200">
                  <a:moveTo>
                    <a:pt x="91439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91439" y="1600199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656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" y="382524"/>
              <a:ext cx="7847076" cy="101193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87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Set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/>
              <a:t>Associative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/>
              <a:t>Mapping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0" dirty="0"/>
              <a:t>Summary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7746" y="1553713"/>
            <a:ext cx="5925820" cy="4431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1465" indent="-227965">
              <a:lnSpc>
                <a:spcPct val="100000"/>
              </a:lnSpc>
              <a:spcBef>
                <a:spcPts val="95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91465" algn="l"/>
              </a:tabLst>
            </a:pP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Address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length</a:t>
            </a:r>
            <a:r>
              <a:rPr sz="19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(s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+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w)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endParaRPr sz="1900">
              <a:latin typeface="Rockwell"/>
              <a:cs typeface="Rockwell"/>
            </a:endParaRPr>
          </a:p>
          <a:p>
            <a:pPr marL="291465" indent="-227965">
              <a:lnSpc>
                <a:spcPct val="100000"/>
              </a:lnSpc>
              <a:spcBef>
                <a:spcPts val="1775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91465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595959"/>
                </a:solidFill>
                <a:latin typeface="Rockwell"/>
                <a:cs typeface="Rockwell"/>
              </a:rPr>
              <a:t>addressable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units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875" baseline="26666" dirty="0">
                <a:solidFill>
                  <a:srgbClr val="595959"/>
                </a:solidFill>
                <a:latin typeface="Rockwell"/>
                <a:cs typeface="Rockwell"/>
              </a:rPr>
              <a:t>s+w</a:t>
            </a:r>
            <a:r>
              <a:rPr sz="1875" spc="-60" baseline="266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endParaRPr sz="1900">
              <a:latin typeface="Rockwell"/>
              <a:cs typeface="Rockwell"/>
            </a:endParaRPr>
          </a:p>
          <a:p>
            <a:pPr marL="291465" indent="-227965">
              <a:lnSpc>
                <a:spcPct val="100000"/>
              </a:lnSpc>
              <a:spcBef>
                <a:spcPts val="1764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91465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875" baseline="26666" dirty="0">
                <a:solidFill>
                  <a:srgbClr val="595959"/>
                </a:solidFill>
                <a:latin typeface="Rockwell"/>
                <a:cs typeface="Rockwell"/>
              </a:rPr>
              <a:t>w</a:t>
            </a:r>
            <a:r>
              <a:rPr sz="1875" spc="195" baseline="266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endParaRPr sz="1900">
              <a:latin typeface="Rockwell"/>
              <a:cs typeface="Rockwell"/>
            </a:endParaRPr>
          </a:p>
          <a:p>
            <a:pPr marL="291465" indent="-227965">
              <a:lnSpc>
                <a:spcPct val="100000"/>
              </a:lnSpc>
              <a:spcBef>
                <a:spcPts val="1780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91465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9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blocks</a:t>
            </a:r>
            <a:r>
              <a:rPr sz="19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875" spc="-15" baseline="26666" dirty="0">
                <a:solidFill>
                  <a:srgbClr val="595959"/>
                </a:solidFill>
                <a:latin typeface="Rockwell"/>
                <a:cs typeface="Rockwell"/>
              </a:rPr>
              <a:t>s+w/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875" spc="-15" baseline="26666" dirty="0">
                <a:solidFill>
                  <a:srgbClr val="595959"/>
                </a:solidFill>
                <a:latin typeface="Rockwell"/>
                <a:cs typeface="Rockwell"/>
              </a:rPr>
              <a:t>w=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875" spc="-15" baseline="26666" dirty="0">
                <a:solidFill>
                  <a:srgbClr val="595959"/>
                </a:solidFill>
                <a:latin typeface="Rockwell"/>
                <a:cs typeface="Rockwell"/>
              </a:rPr>
              <a:t>s</a:t>
            </a:r>
            <a:endParaRPr sz="1875" baseline="26666">
              <a:latin typeface="Rockwell"/>
              <a:cs typeface="Rockwell"/>
            </a:endParaRPr>
          </a:p>
          <a:p>
            <a:pPr marL="291465" indent="-227965">
              <a:lnSpc>
                <a:spcPct val="100000"/>
              </a:lnSpc>
              <a:spcBef>
                <a:spcPts val="1775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91465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set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50" dirty="0">
                <a:solidFill>
                  <a:srgbClr val="595959"/>
                </a:solidFill>
                <a:latin typeface="Rockwell"/>
                <a:cs typeface="Rockwell"/>
              </a:rPr>
              <a:t>k</a:t>
            </a:r>
            <a:endParaRPr sz="1900">
              <a:latin typeface="Rockwell"/>
              <a:cs typeface="Rockwell"/>
            </a:endParaRPr>
          </a:p>
          <a:p>
            <a:pPr marL="291465" indent="-227965">
              <a:lnSpc>
                <a:spcPct val="100000"/>
              </a:lnSpc>
              <a:spcBef>
                <a:spcPts val="1764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91465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sets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v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875" spc="-37" baseline="26666" dirty="0">
                <a:solidFill>
                  <a:srgbClr val="595959"/>
                </a:solidFill>
                <a:latin typeface="Rockwell"/>
                <a:cs typeface="Rockwell"/>
              </a:rPr>
              <a:t>d</a:t>
            </a:r>
            <a:endParaRPr sz="1875" baseline="26666">
              <a:latin typeface="Rockwell"/>
              <a:cs typeface="Rockwell"/>
            </a:endParaRPr>
          </a:p>
          <a:p>
            <a:pPr marL="291465" indent="-227965">
              <a:lnSpc>
                <a:spcPct val="100000"/>
              </a:lnSpc>
              <a:spcBef>
                <a:spcPts val="1775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91465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lines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m=kv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k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*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875" spc="-37" baseline="26666" dirty="0">
                <a:solidFill>
                  <a:srgbClr val="595959"/>
                </a:solidFill>
                <a:latin typeface="Rockwell"/>
                <a:cs typeface="Rockwell"/>
              </a:rPr>
              <a:t>d</a:t>
            </a:r>
            <a:endParaRPr sz="1875" baseline="26666">
              <a:latin typeface="Rockwell"/>
              <a:cs typeface="Rockwell"/>
            </a:endParaRPr>
          </a:p>
          <a:p>
            <a:pPr marL="291465" indent="-227965">
              <a:lnSpc>
                <a:spcPct val="100000"/>
              </a:lnSpc>
              <a:spcBef>
                <a:spcPts val="1780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91465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i="1" dirty="0">
                <a:solidFill>
                  <a:srgbClr val="595959"/>
                </a:solidFill>
                <a:latin typeface="Rockwell"/>
                <a:cs typeface="Rockwell"/>
              </a:rPr>
              <a:t>k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i="1" dirty="0">
                <a:solidFill>
                  <a:srgbClr val="595959"/>
                </a:solidFill>
                <a:latin typeface="Rockwell"/>
                <a:cs typeface="Rockwell"/>
              </a:rPr>
              <a:t>*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i="1" dirty="0">
                <a:solidFill>
                  <a:srgbClr val="595959"/>
                </a:solidFill>
                <a:latin typeface="Rockwell"/>
                <a:cs typeface="Rockwell"/>
              </a:rPr>
              <a:t>2</a:t>
            </a:r>
            <a:r>
              <a:rPr sz="1875" baseline="26666" dirty="0">
                <a:solidFill>
                  <a:srgbClr val="595959"/>
                </a:solidFill>
                <a:latin typeface="Rockwell"/>
                <a:cs typeface="Rockwell"/>
              </a:rPr>
              <a:t>d+w</a:t>
            </a:r>
            <a:r>
              <a:rPr sz="1875" spc="202" baseline="266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595959"/>
                </a:solidFill>
                <a:latin typeface="Rockwell"/>
                <a:cs typeface="Rockwell"/>
              </a:rPr>
              <a:t>words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595959"/>
                </a:solidFill>
                <a:latin typeface="Rockwell"/>
                <a:cs typeface="Rockwell"/>
              </a:rPr>
              <a:t>bytes</a:t>
            </a:r>
            <a:endParaRPr sz="1900">
              <a:latin typeface="Rockwell"/>
              <a:cs typeface="Rockwell"/>
            </a:endParaRPr>
          </a:p>
          <a:p>
            <a:pPr marL="291465" indent="-227965">
              <a:lnSpc>
                <a:spcPct val="100000"/>
              </a:lnSpc>
              <a:spcBef>
                <a:spcPts val="1765"/>
              </a:spcBef>
              <a:buClr>
                <a:srgbClr val="653265"/>
              </a:buClr>
              <a:buSzPct val="73684"/>
              <a:buFont typeface="Wingdings"/>
              <a:buChar char=""/>
              <a:tabLst>
                <a:tab pos="291465" algn="l"/>
              </a:tabLst>
            </a:pP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tag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=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(s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–</a:t>
            </a:r>
            <a:r>
              <a:rPr sz="1900" spc="-1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900" dirty="0">
                <a:solidFill>
                  <a:srgbClr val="595959"/>
                </a:solidFill>
                <a:latin typeface="Rockwell"/>
                <a:cs typeface="Rockwell"/>
              </a:rPr>
              <a:t>d)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595959"/>
                </a:solidFill>
                <a:latin typeface="Rockwell"/>
                <a:cs typeface="Rockwell"/>
              </a:rPr>
              <a:t>bits</a:t>
            </a:r>
            <a:endParaRPr sz="1900">
              <a:latin typeface="Rockwell"/>
              <a:cs typeface="Rockwel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7562" y="5206785"/>
            <a:ext cx="1004456" cy="94705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179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Set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10" dirty="0"/>
              <a:t>Associative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/>
              <a:t>Mapping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28670" rIns="0" bIns="0" rtlCol="0">
            <a:spAutoFit/>
          </a:bodyPr>
          <a:lstStyle/>
          <a:p>
            <a:pPr marL="240665" marR="6985" indent="-228600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  <a:tab pos="3530600" algn="l"/>
              </a:tabLst>
            </a:pPr>
            <a:r>
              <a:rPr dirty="0"/>
              <a:t>In</a:t>
            </a:r>
            <a:r>
              <a:rPr spc="25" dirty="0">
                <a:latin typeface="Times New Roman"/>
                <a:cs typeface="Times New Roman"/>
              </a:rPr>
              <a:t>  </a:t>
            </a:r>
            <a:r>
              <a:rPr dirty="0"/>
              <a:t>the</a:t>
            </a:r>
            <a:r>
              <a:rPr spc="30" dirty="0">
                <a:latin typeface="Times New Roman"/>
                <a:cs typeface="Times New Roman"/>
              </a:rPr>
              <a:t>  </a:t>
            </a:r>
            <a:r>
              <a:rPr dirty="0"/>
              <a:t>extreme</a:t>
            </a:r>
            <a:r>
              <a:rPr spc="30" dirty="0">
                <a:latin typeface="Times New Roman"/>
                <a:cs typeface="Times New Roman"/>
              </a:rPr>
              <a:t>  </a:t>
            </a:r>
            <a:r>
              <a:rPr dirty="0"/>
              <a:t>case</a:t>
            </a:r>
            <a:r>
              <a:rPr spc="30" dirty="0">
                <a:latin typeface="Times New Roman"/>
                <a:cs typeface="Times New Roman"/>
              </a:rPr>
              <a:t>  </a:t>
            </a:r>
            <a:r>
              <a:rPr dirty="0"/>
              <a:t>of</a:t>
            </a:r>
            <a:r>
              <a:rPr spc="30" dirty="0">
                <a:latin typeface="Times New Roman"/>
                <a:cs typeface="Times New Roman"/>
              </a:rPr>
              <a:t>  </a:t>
            </a:r>
            <a:r>
              <a:rPr spc="-50" dirty="0">
                <a:latin typeface="Cambria Math"/>
                <a:cs typeface="Cambria Math"/>
              </a:rPr>
              <a:t>𝑣</a:t>
            </a:r>
            <a:r>
              <a:rPr dirty="0">
                <a:latin typeface="Cambria Math"/>
                <a:cs typeface="Cambria Math"/>
              </a:rPr>
              <a:t>	</a:t>
            </a:r>
            <a:r>
              <a:rPr dirty="0"/>
              <a:t>=</a:t>
            </a:r>
            <a:r>
              <a:rPr spc="40" dirty="0">
                <a:latin typeface="Times New Roman"/>
                <a:cs typeface="Times New Roman"/>
              </a:rPr>
              <a:t>  </a:t>
            </a:r>
            <a:r>
              <a:rPr dirty="0">
                <a:latin typeface="Cambria Math"/>
                <a:cs typeface="Cambria Math"/>
              </a:rPr>
              <a:t>𝑚</a:t>
            </a:r>
            <a:r>
              <a:rPr dirty="0"/>
              <a:t>,</a:t>
            </a:r>
            <a:r>
              <a:rPr spc="450" dirty="0">
                <a:latin typeface="Times New Roman"/>
                <a:cs typeface="Times New Roman"/>
              </a:rPr>
              <a:t> </a:t>
            </a:r>
            <a:r>
              <a:rPr dirty="0">
                <a:latin typeface="Cambria Math"/>
                <a:cs typeface="Cambria Math"/>
              </a:rPr>
              <a:t>𝑘</a:t>
            </a:r>
            <a:r>
              <a:rPr spc="95" dirty="0">
                <a:latin typeface="Cambria Math"/>
                <a:cs typeface="Cambria Math"/>
              </a:rPr>
              <a:t>  </a:t>
            </a:r>
            <a:r>
              <a:rPr dirty="0"/>
              <a:t>=</a:t>
            </a:r>
            <a:r>
              <a:rPr spc="50" dirty="0">
                <a:latin typeface="Times New Roman"/>
                <a:cs typeface="Times New Roman"/>
              </a:rPr>
              <a:t>  </a:t>
            </a:r>
            <a:r>
              <a:rPr dirty="0"/>
              <a:t>1,</a:t>
            </a:r>
            <a:r>
              <a:rPr spc="45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50" dirty="0">
                <a:latin typeface="Times New Roman"/>
                <a:cs typeface="Times New Roman"/>
              </a:rPr>
              <a:t>  </a:t>
            </a:r>
            <a:r>
              <a:rPr spc="-10" dirty="0"/>
              <a:t>set-associative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technique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dirty="0"/>
              <a:t>reduces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/>
              <a:t>to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10" dirty="0"/>
              <a:t>direct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10" dirty="0"/>
              <a:t>mapping</a:t>
            </a: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dirty="0"/>
              <a:t>for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Cambria Math"/>
                <a:cs typeface="Cambria Math"/>
              </a:rPr>
              <a:t>𝑣</a:t>
            </a:r>
            <a:r>
              <a:rPr spc="60" dirty="0">
                <a:latin typeface="Cambria Math"/>
                <a:cs typeface="Cambria Math"/>
              </a:rPr>
              <a:t> </a:t>
            </a:r>
            <a:r>
              <a:rPr dirty="0"/>
              <a:t>=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0" dirty="0"/>
              <a:t>1,</a:t>
            </a:r>
            <a:r>
              <a:rPr spc="-160" dirty="0">
                <a:latin typeface="Times New Roman"/>
                <a:cs typeface="Times New Roman"/>
              </a:rPr>
              <a:t> </a:t>
            </a:r>
            <a:r>
              <a:rPr dirty="0">
                <a:latin typeface="Cambria Math"/>
                <a:cs typeface="Cambria Math"/>
              </a:rPr>
              <a:t>𝑘</a:t>
            </a:r>
            <a:r>
              <a:rPr spc="55" dirty="0">
                <a:latin typeface="Cambria Math"/>
                <a:cs typeface="Cambria Math"/>
              </a:rPr>
              <a:t> </a:t>
            </a:r>
            <a:r>
              <a:rPr dirty="0"/>
              <a:t>=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ambria Math"/>
                <a:cs typeface="Cambria Math"/>
              </a:rPr>
              <a:t>𝑚</a:t>
            </a:r>
            <a:r>
              <a:rPr spc="-10" dirty="0"/>
              <a:t>,</a:t>
            </a:r>
            <a:r>
              <a:rPr spc="-165" dirty="0">
                <a:latin typeface="Times New Roman"/>
                <a:cs typeface="Times New Roman"/>
              </a:rPr>
              <a:t> </a:t>
            </a:r>
            <a:r>
              <a:rPr dirty="0"/>
              <a:t>it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10" dirty="0"/>
              <a:t>reduces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/>
              <a:t>to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10" dirty="0"/>
              <a:t>associative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/>
              <a:t>mapping.</a:t>
            </a:r>
          </a:p>
          <a:p>
            <a:pPr marL="240665" indent="-227965">
              <a:lnSpc>
                <a:spcPct val="100000"/>
              </a:lnSpc>
              <a:spcBef>
                <a:spcPts val="201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dirty="0"/>
              <a:t>The</a:t>
            </a:r>
            <a:r>
              <a:rPr spc="415" dirty="0">
                <a:latin typeface="Times New Roman"/>
                <a:cs typeface="Times New Roman"/>
              </a:rPr>
              <a:t> </a:t>
            </a:r>
            <a:r>
              <a:rPr dirty="0"/>
              <a:t>use</a:t>
            </a:r>
            <a:r>
              <a:rPr spc="409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425" dirty="0">
                <a:latin typeface="Times New Roman"/>
                <a:cs typeface="Times New Roman"/>
              </a:rPr>
              <a:t> </a:t>
            </a:r>
            <a:r>
              <a:rPr dirty="0"/>
              <a:t>two</a:t>
            </a:r>
            <a:r>
              <a:rPr spc="409" dirty="0">
                <a:latin typeface="Times New Roman"/>
                <a:cs typeface="Times New Roman"/>
              </a:rPr>
              <a:t> </a:t>
            </a:r>
            <a:r>
              <a:rPr dirty="0"/>
              <a:t>lines</a:t>
            </a:r>
            <a:r>
              <a:rPr spc="415" dirty="0">
                <a:latin typeface="Times New Roman"/>
                <a:cs typeface="Times New Roman"/>
              </a:rPr>
              <a:t> </a:t>
            </a:r>
            <a:r>
              <a:rPr dirty="0"/>
              <a:t>per</a:t>
            </a:r>
            <a:r>
              <a:rPr spc="409" dirty="0">
                <a:latin typeface="Times New Roman"/>
                <a:cs typeface="Times New Roman"/>
              </a:rPr>
              <a:t> </a:t>
            </a:r>
            <a:r>
              <a:rPr dirty="0"/>
              <a:t>set</a:t>
            </a:r>
            <a:r>
              <a:rPr spc="405" dirty="0">
                <a:latin typeface="Times New Roman"/>
                <a:cs typeface="Times New Roman"/>
              </a:rPr>
              <a:t> </a:t>
            </a:r>
            <a:r>
              <a:rPr dirty="0"/>
              <a:t>(</a:t>
            </a:r>
            <a:r>
              <a:rPr dirty="0">
                <a:latin typeface="Cambria Math"/>
                <a:cs typeface="Cambria Math"/>
              </a:rPr>
              <a:t>𝑣</a:t>
            </a:r>
            <a:r>
              <a:rPr spc="459" dirty="0">
                <a:latin typeface="Cambria Math"/>
                <a:cs typeface="Cambria Math"/>
              </a:rPr>
              <a:t> </a:t>
            </a:r>
            <a:r>
              <a:rPr dirty="0"/>
              <a:t>=</a:t>
            </a:r>
            <a:r>
              <a:rPr spc="415" dirty="0">
                <a:latin typeface="Times New Roman"/>
                <a:cs typeface="Times New Roman"/>
              </a:rPr>
              <a:t> </a:t>
            </a:r>
            <a:r>
              <a:rPr dirty="0"/>
              <a:t>m/2,</a:t>
            </a:r>
            <a:r>
              <a:rPr spc="260" dirty="0">
                <a:latin typeface="Times New Roman"/>
                <a:cs typeface="Times New Roman"/>
              </a:rPr>
              <a:t> </a:t>
            </a:r>
            <a:r>
              <a:rPr dirty="0"/>
              <a:t>k</a:t>
            </a:r>
            <a:r>
              <a:rPr spc="420" dirty="0">
                <a:latin typeface="Times New Roman"/>
                <a:cs typeface="Times New Roman"/>
              </a:rPr>
              <a:t> </a:t>
            </a:r>
            <a:r>
              <a:rPr dirty="0"/>
              <a:t>=</a:t>
            </a:r>
            <a:r>
              <a:rPr spc="405" dirty="0">
                <a:latin typeface="Times New Roman"/>
                <a:cs typeface="Times New Roman"/>
              </a:rPr>
              <a:t> </a:t>
            </a:r>
            <a:r>
              <a:rPr dirty="0"/>
              <a:t>2)</a:t>
            </a:r>
            <a:r>
              <a:rPr spc="409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40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420" dirty="0">
                <a:latin typeface="Times New Roman"/>
                <a:cs typeface="Times New Roman"/>
              </a:rPr>
              <a:t> </a:t>
            </a:r>
            <a:r>
              <a:rPr spc="-20" dirty="0"/>
              <a:t>most</a:t>
            </a:r>
          </a:p>
          <a:p>
            <a:pPr marL="240665">
              <a:lnSpc>
                <a:spcPct val="100000"/>
              </a:lnSpc>
            </a:pPr>
            <a:r>
              <a:rPr dirty="0"/>
              <a:t>common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/>
              <a:t>set-associative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10" dirty="0"/>
              <a:t>organization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76" y="432816"/>
            <a:ext cx="5803392" cy="101193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85011" y="551124"/>
            <a:ext cx="58400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820" algn="l"/>
              </a:tabLst>
            </a:pPr>
            <a:r>
              <a:rPr sz="5400" b="1" spc="-75" baseline="42438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baseline="42438" dirty="0">
                <a:solidFill>
                  <a:srgbClr val="B86FB8"/>
                </a:solidFill>
                <a:latin typeface="Times New Roman"/>
                <a:cs typeface="Times New Roman"/>
              </a:rPr>
              <a:t>	</a:t>
            </a:r>
            <a:r>
              <a:rPr sz="3600" dirty="0"/>
              <a:t>Replacement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10" dirty="0"/>
              <a:t>Algorithms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7009851" y="230246"/>
            <a:ext cx="1843405" cy="1714500"/>
            <a:chOff x="7009851" y="230246"/>
            <a:chExt cx="1843405" cy="1714500"/>
          </a:xfrm>
        </p:grpSpPr>
        <p:sp>
          <p:nvSpPr>
            <p:cNvPr id="3" name="object 3"/>
            <p:cNvSpPr/>
            <p:nvPr/>
          </p:nvSpPr>
          <p:spPr>
            <a:xfrm>
              <a:off x="8746747" y="282580"/>
              <a:ext cx="106045" cy="1600200"/>
            </a:xfrm>
            <a:custGeom>
              <a:avLst/>
              <a:gdLst/>
              <a:ahLst/>
              <a:cxnLst/>
              <a:rect l="l" t="t" r="r" b="b"/>
              <a:pathLst>
                <a:path w="106045" h="1600200">
                  <a:moveTo>
                    <a:pt x="0" y="1600199"/>
                  </a:moveTo>
                  <a:lnTo>
                    <a:pt x="105905" y="1600199"/>
                  </a:lnTo>
                  <a:lnTo>
                    <a:pt x="105905" y="0"/>
                  </a:lnTo>
                  <a:lnTo>
                    <a:pt x="0" y="0"/>
                  </a:lnTo>
                  <a:lnTo>
                    <a:pt x="0" y="1600199"/>
                  </a:lnTo>
                  <a:close/>
                </a:path>
              </a:pathLst>
            </a:custGeom>
            <a:solidFill>
              <a:srgbClr val="653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09851" y="230246"/>
              <a:ext cx="1736896" cy="17144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3483" rIns="0" bIns="0" rtlCol="0">
            <a:spAutoFit/>
          </a:bodyPr>
          <a:lstStyle/>
          <a:p>
            <a:pPr marL="274320" marR="60325" indent="-227965">
              <a:lnSpc>
                <a:spcPct val="100000"/>
              </a:lnSpc>
              <a:spcBef>
                <a:spcPts val="1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76225" algn="l"/>
              </a:tabLst>
            </a:pPr>
            <a:r>
              <a:rPr dirty="0"/>
              <a:t>Once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/>
              <a:t>cache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/>
              <a:t>has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/>
              <a:t>been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/>
              <a:t>filled,</a:t>
            </a:r>
            <a:r>
              <a:rPr spc="-165" dirty="0">
                <a:latin typeface="Times New Roman"/>
                <a:cs typeface="Times New Roman"/>
              </a:rPr>
              <a:t> </a:t>
            </a:r>
            <a:r>
              <a:rPr dirty="0"/>
              <a:t>when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new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block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10" dirty="0"/>
              <a:t>brought</a:t>
            </a:r>
            <a:r>
              <a:rPr spc="-10" dirty="0">
                <a:latin typeface="Times New Roman"/>
                <a:cs typeface="Times New Roman"/>
              </a:rPr>
              <a:t> 	</a:t>
            </a:r>
            <a:r>
              <a:rPr dirty="0"/>
              <a:t>into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/>
              <a:t>cache,</a:t>
            </a:r>
            <a:r>
              <a:rPr spc="-185" dirty="0">
                <a:latin typeface="Times New Roman"/>
                <a:cs typeface="Times New Roman"/>
              </a:rPr>
              <a:t> </a:t>
            </a:r>
            <a:r>
              <a:rPr dirty="0"/>
              <a:t>one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existing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blocks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/>
              <a:t>must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be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/>
              <a:t>replaced</a:t>
            </a:r>
          </a:p>
          <a:p>
            <a:pPr marL="274320" marR="466725" indent="-227965">
              <a:lnSpc>
                <a:spcPct val="100000"/>
              </a:lnSpc>
              <a:spcBef>
                <a:spcPts val="200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76225" algn="l"/>
              </a:tabLst>
            </a:pPr>
            <a:r>
              <a:rPr spc="-30" dirty="0"/>
              <a:t>For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0" dirty="0"/>
              <a:t>direct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dirty="0"/>
              <a:t>mapping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dirty="0"/>
              <a:t>there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/>
              <a:t>only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/>
              <a:t>one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/>
              <a:t>possible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dirty="0"/>
              <a:t>line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/>
              <a:t>for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25" dirty="0"/>
              <a:t>any</a:t>
            </a:r>
            <a:r>
              <a:rPr spc="-25" dirty="0">
                <a:latin typeface="Times New Roman"/>
                <a:cs typeface="Times New Roman"/>
              </a:rPr>
              <a:t> 	</a:t>
            </a:r>
            <a:r>
              <a:rPr dirty="0"/>
              <a:t>particular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/>
              <a:t>block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no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choice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0" dirty="0"/>
              <a:t>possible</a:t>
            </a:r>
          </a:p>
          <a:p>
            <a:pPr marL="274320" marR="1165860" indent="-227965">
              <a:lnSpc>
                <a:spcPct val="100000"/>
              </a:lnSpc>
              <a:spcBef>
                <a:spcPts val="1989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76225" algn="l"/>
              </a:tabLst>
            </a:pPr>
            <a:r>
              <a:rPr spc="-30" dirty="0"/>
              <a:t>For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/>
              <a:t>associative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/>
              <a:t>set-associative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/>
              <a:t>techniques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50" dirty="0"/>
              <a:t>a</a:t>
            </a:r>
            <a:r>
              <a:rPr spc="-50" dirty="0">
                <a:latin typeface="Times New Roman"/>
                <a:cs typeface="Times New Roman"/>
              </a:rPr>
              <a:t> 	</a:t>
            </a:r>
            <a:r>
              <a:rPr spc="-10" dirty="0"/>
              <a:t>replacement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/>
              <a:t>algorithm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/>
              <a:t>needed</a:t>
            </a:r>
          </a:p>
          <a:p>
            <a:pPr marL="274320" marR="5080" indent="-227965">
              <a:lnSpc>
                <a:spcPct val="100000"/>
              </a:lnSpc>
              <a:spcBef>
                <a:spcPts val="201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76225" algn="l"/>
              </a:tabLst>
            </a:pPr>
            <a:r>
              <a:rPr spc="-20" dirty="0"/>
              <a:t>To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10" dirty="0"/>
              <a:t>achieve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/>
              <a:t>high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/>
              <a:t>speed,</a:t>
            </a:r>
            <a:r>
              <a:rPr spc="-170" dirty="0">
                <a:latin typeface="Times New Roman"/>
                <a:cs typeface="Times New Roman"/>
              </a:rPr>
              <a:t> </a:t>
            </a:r>
            <a:r>
              <a:rPr dirty="0"/>
              <a:t>an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/>
              <a:t>algorithm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/>
              <a:t>must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/>
              <a:t>be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/>
              <a:t>implemented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25" dirty="0"/>
              <a:t>in</a:t>
            </a:r>
            <a:r>
              <a:rPr spc="-25" dirty="0">
                <a:latin typeface="Times New Roman"/>
                <a:cs typeface="Times New Roman"/>
              </a:rPr>
              <a:t> 	</a:t>
            </a:r>
            <a:r>
              <a:rPr spc="-10" dirty="0"/>
              <a:t>hardware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7711" y="278327"/>
            <a:ext cx="72097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215" marR="17780" indent="-552450">
              <a:lnSpc>
                <a:spcPct val="100000"/>
              </a:lnSpc>
              <a:spcBef>
                <a:spcPts val="100"/>
              </a:spcBef>
              <a:tabLst>
                <a:tab pos="577215" algn="l"/>
              </a:tabLst>
            </a:pPr>
            <a:r>
              <a:rPr sz="5400" b="1" spc="-75" baseline="9259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baseline="9259" dirty="0">
                <a:solidFill>
                  <a:srgbClr val="B86FB8"/>
                </a:solidFill>
                <a:latin typeface="Times New Roman"/>
                <a:cs typeface="Times New Roman"/>
              </a:rPr>
              <a:t>	</a:t>
            </a:r>
            <a:r>
              <a:rPr sz="3600" dirty="0">
                <a:solidFill>
                  <a:srgbClr val="656598"/>
                </a:solidFill>
              </a:rPr>
              <a:t>The</a:t>
            </a:r>
            <a:r>
              <a:rPr sz="3600" spc="-10" dirty="0">
                <a:solidFill>
                  <a:srgbClr val="656598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656598"/>
                </a:solidFill>
              </a:rPr>
              <a:t>most</a:t>
            </a:r>
            <a:r>
              <a:rPr sz="3600" spc="10" dirty="0">
                <a:solidFill>
                  <a:srgbClr val="656598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656598"/>
                </a:solidFill>
              </a:rPr>
              <a:t>common</a:t>
            </a:r>
            <a:r>
              <a:rPr sz="3600" spc="-15" dirty="0">
                <a:solidFill>
                  <a:srgbClr val="656598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656598"/>
                </a:solidFill>
              </a:rPr>
              <a:t>replacement</a:t>
            </a:r>
            <a:r>
              <a:rPr sz="3600" spc="-20" dirty="0">
                <a:solidFill>
                  <a:srgbClr val="656598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656598"/>
                </a:solidFill>
              </a:rPr>
              <a:t>algorithms</a:t>
            </a:r>
            <a:r>
              <a:rPr sz="3600" spc="-85" dirty="0">
                <a:solidFill>
                  <a:srgbClr val="656598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656598"/>
                </a:solidFill>
              </a:rPr>
              <a:t>are: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8546" y="1567364"/>
            <a:ext cx="7644130" cy="44462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Least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recently</a:t>
            </a:r>
            <a:r>
              <a:rPr sz="20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(LRU)</a:t>
            </a:r>
            <a:endParaRPr sz="20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39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Most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effective</a:t>
            </a:r>
            <a:endParaRPr sz="1800">
              <a:latin typeface="Rockwell"/>
              <a:cs typeface="Rockwell"/>
            </a:endParaRPr>
          </a:p>
          <a:p>
            <a:pPr marL="469900" marR="5080" lvl="1" indent="-228600">
              <a:lnSpc>
                <a:spcPts val="1939"/>
              </a:lnSpc>
              <a:spcBef>
                <a:spcPts val="63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Replace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set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has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been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ckwell"/>
                <a:cs typeface="Rockwell"/>
              </a:rPr>
              <a:t>longest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ckwell"/>
                <a:cs typeface="Rockwell"/>
              </a:rPr>
              <a:t>no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ckwell"/>
                <a:cs typeface="Rockwell"/>
              </a:rPr>
              <a:t>reference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endParaRPr sz="1800">
              <a:latin typeface="Rockwell"/>
              <a:cs typeface="Rockwell"/>
            </a:endParaRPr>
          </a:p>
          <a:p>
            <a:pPr marL="469900" marR="111125" lvl="1" indent="-228600">
              <a:lnSpc>
                <a:spcPts val="1939"/>
              </a:lnSpc>
              <a:spcBef>
                <a:spcPts val="60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Because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its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simplicity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implementation,</a:t>
            </a:r>
            <a:r>
              <a:rPr sz="1800" spc="-1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LRU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most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popular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replacement</a:t>
            </a:r>
            <a:r>
              <a:rPr sz="1800" spc="-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algorithm</a:t>
            </a:r>
            <a:endParaRPr sz="18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73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First-in-first-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out</a:t>
            </a:r>
            <a:r>
              <a:rPr sz="2000" spc="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(FIFO)</a:t>
            </a:r>
            <a:endParaRPr sz="20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39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Replace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set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has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been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longest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38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Easily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implemented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round-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robin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ckwell"/>
                <a:cs typeface="Rockwell"/>
              </a:rPr>
              <a:t>circular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595959"/>
                </a:solidFill>
                <a:latin typeface="Rockwell"/>
                <a:cs typeface="Rockwell"/>
              </a:rPr>
              <a:t>buffer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Rockwell"/>
                <a:cs typeface="Rockwell"/>
              </a:rPr>
              <a:t>technique</a:t>
            </a:r>
            <a:endParaRPr sz="18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75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Least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frequently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used</a:t>
            </a:r>
            <a:r>
              <a:rPr sz="20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(LFU)</a:t>
            </a:r>
            <a:endParaRPr sz="2000">
              <a:latin typeface="Rockwell"/>
              <a:cs typeface="Rockwell"/>
            </a:endParaRPr>
          </a:p>
          <a:p>
            <a:pPr marL="469900" marR="781685" lvl="1" indent="-228600">
              <a:lnSpc>
                <a:spcPts val="1939"/>
              </a:lnSpc>
              <a:spcBef>
                <a:spcPts val="64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Replace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set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has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experienced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Rockwell"/>
                <a:cs typeface="Rockwell"/>
              </a:rPr>
              <a:t>fewest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Rockwell"/>
                <a:cs typeface="Rockwell"/>
              </a:rPr>
              <a:t>references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359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Could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implemented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by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associating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counter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each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2176" y="204215"/>
            <a:ext cx="3179064" cy="1011935"/>
          </a:xfrm>
          <a:prstGeom prst="rect">
            <a:avLst/>
          </a:prstGeom>
        </p:spPr>
      </p:pic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xfrm>
            <a:off x="3203577" y="322523"/>
            <a:ext cx="26035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Write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spc="-10" dirty="0"/>
              <a:t>Policy</a:t>
            </a:r>
          </a:p>
        </p:txBody>
      </p:sp>
      <p:sp>
        <p:nvSpPr>
          <p:cNvPr id="2" name="object 2"/>
          <p:cNvSpPr/>
          <p:nvPr/>
        </p:nvSpPr>
        <p:spPr>
          <a:xfrm>
            <a:off x="8166872" y="282603"/>
            <a:ext cx="685800" cy="302260"/>
          </a:xfrm>
          <a:custGeom>
            <a:avLst/>
            <a:gdLst/>
            <a:ahLst/>
            <a:cxnLst/>
            <a:rect l="l" t="t" r="r" b="b"/>
            <a:pathLst>
              <a:path w="685800" h="302259">
                <a:moveTo>
                  <a:pt x="685799" y="0"/>
                </a:moveTo>
                <a:lnTo>
                  <a:pt x="0" y="0"/>
                </a:lnTo>
                <a:lnTo>
                  <a:pt x="0" y="302216"/>
                </a:lnTo>
                <a:lnTo>
                  <a:pt x="685799" y="302216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98120" y="1450847"/>
            <a:ext cx="4366260" cy="1243965"/>
            <a:chOff x="198120" y="1450847"/>
            <a:chExt cx="4366260" cy="12439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984" y="1472183"/>
              <a:ext cx="4189476" cy="11536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8120" y="1450847"/>
              <a:ext cx="4366260" cy="12435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564" y="1516379"/>
              <a:ext cx="4052316" cy="10149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3767" y="1517507"/>
              <a:ext cx="4048760" cy="1012190"/>
            </a:xfrm>
            <a:custGeom>
              <a:avLst/>
              <a:gdLst/>
              <a:ahLst/>
              <a:cxnLst/>
              <a:rect l="l" t="t" r="r" b="b"/>
              <a:pathLst>
                <a:path w="4048760" h="1012189">
                  <a:moveTo>
                    <a:pt x="0" y="101224"/>
                  </a:moveTo>
                  <a:lnTo>
                    <a:pt x="7951" y="61837"/>
                  </a:lnTo>
                  <a:lnTo>
                    <a:pt x="29638" y="29660"/>
                  </a:lnTo>
                  <a:lnTo>
                    <a:pt x="61806" y="7959"/>
                  </a:lnTo>
                  <a:lnTo>
                    <a:pt x="101202" y="0"/>
                  </a:lnTo>
                  <a:lnTo>
                    <a:pt x="3947120" y="0"/>
                  </a:lnTo>
                  <a:lnTo>
                    <a:pt x="3986506" y="7959"/>
                  </a:lnTo>
                  <a:lnTo>
                    <a:pt x="4018683" y="29660"/>
                  </a:lnTo>
                  <a:lnTo>
                    <a:pt x="4040384" y="61837"/>
                  </a:lnTo>
                  <a:lnTo>
                    <a:pt x="4048344" y="101224"/>
                  </a:lnTo>
                  <a:lnTo>
                    <a:pt x="4048344" y="910864"/>
                  </a:lnTo>
                  <a:lnTo>
                    <a:pt x="4040384" y="950250"/>
                  </a:lnTo>
                  <a:lnTo>
                    <a:pt x="4018683" y="982427"/>
                  </a:lnTo>
                  <a:lnTo>
                    <a:pt x="3986506" y="1004128"/>
                  </a:lnTo>
                  <a:lnTo>
                    <a:pt x="3947120" y="1012088"/>
                  </a:lnTo>
                  <a:lnTo>
                    <a:pt x="101202" y="1012088"/>
                  </a:lnTo>
                  <a:lnTo>
                    <a:pt x="61806" y="1004128"/>
                  </a:lnTo>
                  <a:lnTo>
                    <a:pt x="29638" y="982427"/>
                  </a:lnTo>
                  <a:lnTo>
                    <a:pt x="7951" y="950250"/>
                  </a:lnTo>
                  <a:lnTo>
                    <a:pt x="0" y="910864"/>
                  </a:lnTo>
                  <a:lnTo>
                    <a:pt x="0" y="101224"/>
                  </a:lnTo>
                  <a:close/>
                </a:path>
              </a:pathLst>
            </a:custGeom>
            <a:ln w="9524">
              <a:solidFill>
                <a:srgbClr val="9898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08531" y="1542664"/>
            <a:ext cx="3879850" cy="9099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-1905" algn="ctr">
              <a:lnSpc>
                <a:spcPct val="88200"/>
              </a:lnSpc>
              <a:spcBef>
                <a:spcPts val="395"/>
              </a:spcBef>
            </a:pP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When</a:t>
            </a:r>
            <a:r>
              <a:rPr sz="21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1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block</a:t>
            </a:r>
            <a:r>
              <a:rPr sz="21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that</a:t>
            </a:r>
            <a:r>
              <a:rPr sz="21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is</a:t>
            </a:r>
            <a:r>
              <a:rPr sz="21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resident</a:t>
            </a:r>
            <a:r>
              <a:rPr sz="21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Rockwell"/>
                <a:cs typeface="Rockwell"/>
              </a:rPr>
              <a:t>in</a:t>
            </a:r>
            <a:r>
              <a:rPr sz="21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the</a:t>
            </a:r>
            <a:r>
              <a:rPr sz="21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cache</a:t>
            </a:r>
            <a:r>
              <a:rPr sz="21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is</a:t>
            </a:r>
            <a:r>
              <a:rPr sz="21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to</a:t>
            </a:r>
            <a:r>
              <a:rPr sz="21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be</a:t>
            </a:r>
            <a:r>
              <a:rPr sz="21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replaced</a:t>
            </a:r>
            <a:r>
              <a:rPr sz="21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there</a:t>
            </a:r>
            <a:r>
              <a:rPr sz="21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are</a:t>
            </a:r>
            <a:r>
              <a:rPr sz="21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two</a:t>
            </a:r>
            <a:r>
              <a:rPr sz="21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cases</a:t>
            </a:r>
            <a:r>
              <a:rPr sz="21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to</a:t>
            </a:r>
            <a:r>
              <a:rPr sz="21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consider:</a:t>
            </a:r>
            <a:endParaRPr sz="2100">
              <a:latin typeface="Rockwell"/>
              <a:cs typeface="Rockwel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69179" y="1472183"/>
            <a:ext cx="4188460" cy="1153795"/>
            <a:chOff x="4869179" y="1472183"/>
            <a:chExt cx="4188460" cy="115379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69179" y="1472183"/>
              <a:ext cx="4187952" cy="115366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7403" y="1592579"/>
              <a:ext cx="3718559" cy="9616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37759" y="1516379"/>
              <a:ext cx="4050791" cy="101498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38918" y="1517507"/>
              <a:ext cx="4048760" cy="1012190"/>
            </a:xfrm>
            <a:custGeom>
              <a:avLst/>
              <a:gdLst/>
              <a:ahLst/>
              <a:cxnLst/>
              <a:rect l="l" t="t" r="r" b="b"/>
              <a:pathLst>
                <a:path w="4048759" h="1012189">
                  <a:moveTo>
                    <a:pt x="0" y="101224"/>
                  </a:moveTo>
                  <a:lnTo>
                    <a:pt x="7935" y="61837"/>
                  </a:lnTo>
                  <a:lnTo>
                    <a:pt x="29584" y="29660"/>
                  </a:lnTo>
                  <a:lnTo>
                    <a:pt x="61709" y="7959"/>
                  </a:lnTo>
                  <a:lnTo>
                    <a:pt x="101071" y="0"/>
                  </a:lnTo>
                  <a:lnTo>
                    <a:pt x="3947007" y="0"/>
                  </a:lnTo>
                  <a:lnTo>
                    <a:pt x="3986406" y="7959"/>
                  </a:lnTo>
                  <a:lnTo>
                    <a:pt x="4018582" y="29660"/>
                  </a:lnTo>
                  <a:lnTo>
                    <a:pt x="4040276" y="61837"/>
                  </a:lnTo>
                  <a:lnTo>
                    <a:pt x="4048231" y="101224"/>
                  </a:lnTo>
                  <a:lnTo>
                    <a:pt x="4048231" y="910864"/>
                  </a:lnTo>
                  <a:lnTo>
                    <a:pt x="4040276" y="950250"/>
                  </a:lnTo>
                  <a:lnTo>
                    <a:pt x="4018582" y="982427"/>
                  </a:lnTo>
                  <a:lnTo>
                    <a:pt x="3986406" y="1004128"/>
                  </a:lnTo>
                  <a:lnTo>
                    <a:pt x="3947007" y="1012088"/>
                  </a:lnTo>
                  <a:lnTo>
                    <a:pt x="101071" y="1012088"/>
                  </a:lnTo>
                  <a:lnTo>
                    <a:pt x="61709" y="1004128"/>
                  </a:lnTo>
                  <a:lnTo>
                    <a:pt x="29584" y="982427"/>
                  </a:lnTo>
                  <a:lnTo>
                    <a:pt x="7935" y="950250"/>
                  </a:lnTo>
                  <a:lnTo>
                    <a:pt x="0" y="910864"/>
                  </a:lnTo>
                  <a:lnTo>
                    <a:pt x="0" y="101224"/>
                  </a:lnTo>
                  <a:close/>
                </a:path>
              </a:pathLst>
            </a:custGeom>
            <a:ln w="9524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47466" y="1683761"/>
            <a:ext cx="3231515" cy="6273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786765" marR="5080" indent="-774700">
              <a:lnSpc>
                <a:spcPts val="2220"/>
              </a:lnSpc>
              <a:spcBef>
                <a:spcPts val="425"/>
              </a:spcBef>
            </a:pP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There</a:t>
            </a:r>
            <a:r>
              <a:rPr sz="21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are</a:t>
            </a:r>
            <a:r>
              <a:rPr sz="21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two</a:t>
            </a:r>
            <a:r>
              <a:rPr sz="21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problems</a:t>
            </a:r>
            <a:r>
              <a:rPr sz="21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Rockwell"/>
                <a:cs typeface="Rockwell"/>
              </a:rPr>
              <a:t>to</a:t>
            </a:r>
            <a:r>
              <a:rPr sz="21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FFFFFF"/>
                </a:solidFill>
                <a:latin typeface="Rockwell"/>
                <a:cs typeface="Rockwell"/>
              </a:rPr>
              <a:t>contend</a:t>
            </a:r>
            <a:r>
              <a:rPr sz="21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Rockwell"/>
                <a:cs typeface="Rockwell"/>
              </a:rPr>
              <a:t>with:</a:t>
            </a:r>
            <a:endParaRPr sz="2100">
              <a:latin typeface="Rockwell"/>
              <a:cs typeface="Rockwell"/>
            </a:endParaRPr>
          </a:p>
        </p:txBody>
      </p:sp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59329" y="2618110"/>
            <a:ext cx="177164" cy="17714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74519" y="2618110"/>
            <a:ext cx="177027" cy="17714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17417" y="2877423"/>
            <a:ext cx="4061460" cy="1024890"/>
            <a:chOff x="317417" y="2877423"/>
            <a:chExt cx="4061460" cy="1024890"/>
          </a:xfrm>
        </p:grpSpPr>
        <p:sp>
          <p:nvSpPr>
            <p:cNvPr id="11" name="object 11"/>
            <p:cNvSpPr/>
            <p:nvPr/>
          </p:nvSpPr>
          <p:spPr>
            <a:xfrm>
              <a:off x="323767" y="2883773"/>
              <a:ext cx="4048760" cy="1012190"/>
            </a:xfrm>
            <a:custGeom>
              <a:avLst/>
              <a:gdLst/>
              <a:ahLst/>
              <a:cxnLst/>
              <a:rect l="l" t="t" r="r" b="b"/>
              <a:pathLst>
                <a:path w="4048760" h="1012189">
                  <a:moveTo>
                    <a:pt x="3947120" y="0"/>
                  </a:moveTo>
                  <a:lnTo>
                    <a:pt x="101202" y="0"/>
                  </a:lnTo>
                  <a:lnTo>
                    <a:pt x="61806" y="7959"/>
                  </a:lnTo>
                  <a:lnTo>
                    <a:pt x="29638" y="29660"/>
                  </a:lnTo>
                  <a:lnTo>
                    <a:pt x="7951" y="61837"/>
                  </a:lnTo>
                  <a:lnTo>
                    <a:pt x="0" y="101224"/>
                  </a:lnTo>
                  <a:lnTo>
                    <a:pt x="0" y="910986"/>
                  </a:lnTo>
                  <a:lnTo>
                    <a:pt x="7951" y="950355"/>
                  </a:lnTo>
                  <a:lnTo>
                    <a:pt x="29638" y="982487"/>
                  </a:lnTo>
                  <a:lnTo>
                    <a:pt x="61806" y="1004143"/>
                  </a:lnTo>
                  <a:lnTo>
                    <a:pt x="101202" y="1012082"/>
                  </a:lnTo>
                  <a:lnTo>
                    <a:pt x="3947120" y="1012082"/>
                  </a:lnTo>
                  <a:lnTo>
                    <a:pt x="3986506" y="1004143"/>
                  </a:lnTo>
                  <a:lnTo>
                    <a:pt x="4018683" y="982487"/>
                  </a:lnTo>
                  <a:lnTo>
                    <a:pt x="4040384" y="950355"/>
                  </a:lnTo>
                  <a:lnTo>
                    <a:pt x="4048344" y="910986"/>
                  </a:lnTo>
                  <a:lnTo>
                    <a:pt x="4048344" y="101224"/>
                  </a:lnTo>
                  <a:lnTo>
                    <a:pt x="4040384" y="61837"/>
                  </a:lnTo>
                  <a:lnTo>
                    <a:pt x="4018683" y="29660"/>
                  </a:lnTo>
                  <a:lnTo>
                    <a:pt x="3986506" y="7959"/>
                  </a:lnTo>
                  <a:lnTo>
                    <a:pt x="3947120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3767" y="2883773"/>
              <a:ext cx="4048760" cy="1012190"/>
            </a:xfrm>
            <a:custGeom>
              <a:avLst/>
              <a:gdLst/>
              <a:ahLst/>
              <a:cxnLst/>
              <a:rect l="l" t="t" r="r" b="b"/>
              <a:pathLst>
                <a:path w="4048760" h="1012189">
                  <a:moveTo>
                    <a:pt x="0" y="101224"/>
                  </a:moveTo>
                  <a:lnTo>
                    <a:pt x="7951" y="61837"/>
                  </a:lnTo>
                  <a:lnTo>
                    <a:pt x="29638" y="29660"/>
                  </a:lnTo>
                  <a:lnTo>
                    <a:pt x="61806" y="7959"/>
                  </a:lnTo>
                  <a:lnTo>
                    <a:pt x="101202" y="0"/>
                  </a:lnTo>
                  <a:lnTo>
                    <a:pt x="3947120" y="0"/>
                  </a:lnTo>
                  <a:lnTo>
                    <a:pt x="3986506" y="7959"/>
                  </a:lnTo>
                  <a:lnTo>
                    <a:pt x="4018683" y="29660"/>
                  </a:lnTo>
                  <a:lnTo>
                    <a:pt x="4040384" y="61837"/>
                  </a:lnTo>
                  <a:lnTo>
                    <a:pt x="4048344" y="101224"/>
                  </a:lnTo>
                  <a:lnTo>
                    <a:pt x="4048344" y="910986"/>
                  </a:lnTo>
                  <a:lnTo>
                    <a:pt x="4040384" y="950355"/>
                  </a:lnTo>
                  <a:lnTo>
                    <a:pt x="4018683" y="982487"/>
                  </a:lnTo>
                  <a:lnTo>
                    <a:pt x="3986506" y="1004143"/>
                  </a:lnTo>
                  <a:lnTo>
                    <a:pt x="3947120" y="1012082"/>
                  </a:lnTo>
                  <a:lnTo>
                    <a:pt x="101202" y="1012082"/>
                  </a:lnTo>
                  <a:lnTo>
                    <a:pt x="61806" y="1004143"/>
                  </a:lnTo>
                  <a:lnTo>
                    <a:pt x="29638" y="982487"/>
                  </a:lnTo>
                  <a:lnTo>
                    <a:pt x="7951" y="950355"/>
                  </a:lnTo>
                  <a:lnTo>
                    <a:pt x="0" y="910986"/>
                  </a:lnTo>
                  <a:lnTo>
                    <a:pt x="0" y="101224"/>
                  </a:lnTo>
                  <a:close/>
                </a:path>
              </a:pathLst>
            </a:custGeom>
            <a:ln w="12700">
              <a:solidFill>
                <a:srgbClr val="9898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0614" y="2913377"/>
            <a:ext cx="3893185" cy="9137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635" algn="ctr">
              <a:lnSpc>
                <a:spcPts val="1689"/>
              </a:lnSpc>
              <a:spcBef>
                <a:spcPts val="345"/>
              </a:spcBef>
            </a:pPr>
            <a:r>
              <a:rPr sz="1600" dirty="0">
                <a:latin typeface="Rockwell"/>
                <a:cs typeface="Rockwell"/>
              </a:rPr>
              <a:t>If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old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block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cache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has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not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Rockwell"/>
                <a:cs typeface="Rockwell"/>
              </a:rPr>
              <a:t>been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altered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then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it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may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be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overwritten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with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Rockwell"/>
                <a:cs typeface="Rockwell"/>
              </a:rPr>
              <a:t>a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new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block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without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first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writing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out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Rockwell"/>
                <a:cs typeface="Rockwell"/>
              </a:rPr>
              <a:t>old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block</a:t>
            </a:r>
            <a:endParaRPr sz="1600">
              <a:latin typeface="Rockwell"/>
              <a:cs typeface="Rockwel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32568" y="2877423"/>
            <a:ext cx="4061460" cy="1024890"/>
            <a:chOff x="4932568" y="2877423"/>
            <a:chExt cx="4061460" cy="1024890"/>
          </a:xfrm>
        </p:grpSpPr>
        <p:sp>
          <p:nvSpPr>
            <p:cNvPr id="27" name="object 27"/>
            <p:cNvSpPr/>
            <p:nvPr/>
          </p:nvSpPr>
          <p:spPr>
            <a:xfrm>
              <a:off x="4938918" y="2883773"/>
              <a:ext cx="4048760" cy="1012190"/>
            </a:xfrm>
            <a:custGeom>
              <a:avLst/>
              <a:gdLst/>
              <a:ahLst/>
              <a:cxnLst/>
              <a:rect l="l" t="t" r="r" b="b"/>
              <a:pathLst>
                <a:path w="4048759" h="1012189">
                  <a:moveTo>
                    <a:pt x="3947007" y="0"/>
                  </a:moveTo>
                  <a:lnTo>
                    <a:pt x="101071" y="0"/>
                  </a:lnTo>
                  <a:lnTo>
                    <a:pt x="61709" y="7959"/>
                  </a:lnTo>
                  <a:lnTo>
                    <a:pt x="29584" y="29660"/>
                  </a:lnTo>
                  <a:lnTo>
                    <a:pt x="7935" y="61837"/>
                  </a:lnTo>
                  <a:lnTo>
                    <a:pt x="0" y="101224"/>
                  </a:lnTo>
                  <a:lnTo>
                    <a:pt x="0" y="910986"/>
                  </a:lnTo>
                  <a:lnTo>
                    <a:pt x="7935" y="950355"/>
                  </a:lnTo>
                  <a:lnTo>
                    <a:pt x="29584" y="982487"/>
                  </a:lnTo>
                  <a:lnTo>
                    <a:pt x="61709" y="1004143"/>
                  </a:lnTo>
                  <a:lnTo>
                    <a:pt x="101071" y="1012082"/>
                  </a:lnTo>
                  <a:lnTo>
                    <a:pt x="3947007" y="1012082"/>
                  </a:lnTo>
                  <a:lnTo>
                    <a:pt x="3986406" y="1004143"/>
                  </a:lnTo>
                  <a:lnTo>
                    <a:pt x="4018582" y="982487"/>
                  </a:lnTo>
                  <a:lnTo>
                    <a:pt x="4040276" y="950355"/>
                  </a:lnTo>
                  <a:lnTo>
                    <a:pt x="4048231" y="910986"/>
                  </a:lnTo>
                  <a:lnTo>
                    <a:pt x="4048231" y="101224"/>
                  </a:lnTo>
                  <a:lnTo>
                    <a:pt x="4040276" y="61837"/>
                  </a:lnTo>
                  <a:lnTo>
                    <a:pt x="4018582" y="29660"/>
                  </a:lnTo>
                  <a:lnTo>
                    <a:pt x="3986406" y="7959"/>
                  </a:lnTo>
                  <a:lnTo>
                    <a:pt x="3947007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38918" y="2883773"/>
              <a:ext cx="4048760" cy="1012190"/>
            </a:xfrm>
            <a:custGeom>
              <a:avLst/>
              <a:gdLst/>
              <a:ahLst/>
              <a:cxnLst/>
              <a:rect l="l" t="t" r="r" b="b"/>
              <a:pathLst>
                <a:path w="4048759" h="1012189">
                  <a:moveTo>
                    <a:pt x="0" y="101224"/>
                  </a:moveTo>
                  <a:lnTo>
                    <a:pt x="7935" y="61837"/>
                  </a:lnTo>
                  <a:lnTo>
                    <a:pt x="29584" y="29660"/>
                  </a:lnTo>
                  <a:lnTo>
                    <a:pt x="61709" y="7959"/>
                  </a:lnTo>
                  <a:lnTo>
                    <a:pt x="101071" y="0"/>
                  </a:lnTo>
                  <a:lnTo>
                    <a:pt x="3947007" y="0"/>
                  </a:lnTo>
                  <a:lnTo>
                    <a:pt x="3986406" y="7959"/>
                  </a:lnTo>
                  <a:lnTo>
                    <a:pt x="4018582" y="29660"/>
                  </a:lnTo>
                  <a:lnTo>
                    <a:pt x="4040276" y="61837"/>
                  </a:lnTo>
                  <a:lnTo>
                    <a:pt x="4048231" y="101224"/>
                  </a:lnTo>
                  <a:lnTo>
                    <a:pt x="4048231" y="910986"/>
                  </a:lnTo>
                  <a:lnTo>
                    <a:pt x="4040276" y="950355"/>
                  </a:lnTo>
                  <a:lnTo>
                    <a:pt x="4018582" y="982487"/>
                  </a:lnTo>
                  <a:lnTo>
                    <a:pt x="3986406" y="1004143"/>
                  </a:lnTo>
                  <a:lnTo>
                    <a:pt x="3947007" y="1012082"/>
                  </a:lnTo>
                  <a:lnTo>
                    <a:pt x="101071" y="1012082"/>
                  </a:lnTo>
                  <a:lnTo>
                    <a:pt x="61709" y="1004143"/>
                  </a:lnTo>
                  <a:lnTo>
                    <a:pt x="29584" y="982487"/>
                  </a:lnTo>
                  <a:lnTo>
                    <a:pt x="7935" y="950355"/>
                  </a:lnTo>
                  <a:lnTo>
                    <a:pt x="0" y="910986"/>
                  </a:lnTo>
                  <a:lnTo>
                    <a:pt x="0" y="101224"/>
                  </a:lnTo>
                  <a:close/>
                </a:path>
              </a:pathLst>
            </a:custGeom>
            <a:ln w="12700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022600" y="3127956"/>
            <a:ext cx="3880485" cy="483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05"/>
              </a:lnSpc>
              <a:spcBef>
                <a:spcPts val="95"/>
              </a:spcBef>
            </a:pPr>
            <a:r>
              <a:rPr sz="1600" dirty="0">
                <a:latin typeface="Rockwell"/>
                <a:cs typeface="Rockwell"/>
              </a:rPr>
              <a:t>More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than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one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device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may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have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access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Rockwell"/>
                <a:cs typeface="Rockwell"/>
              </a:rPr>
              <a:t>to</a:t>
            </a:r>
            <a:endParaRPr sz="1600">
              <a:latin typeface="Rockwell"/>
              <a:cs typeface="Rockwell"/>
            </a:endParaRPr>
          </a:p>
          <a:p>
            <a:pPr marL="1905" algn="ctr">
              <a:lnSpc>
                <a:spcPts val="1805"/>
              </a:lnSpc>
            </a:pPr>
            <a:r>
              <a:rPr sz="1600" dirty="0">
                <a:latin typeface="Rockwell"/>
                <a:cs typeface="Rockwell"/>
              </a:rPr>
              <a:t>main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memory</a:t>
            </a:r>
            <a:endParaRPr sz="1600">
              <a:latin typeface="Rockwell"/>
              <a:cs typeface="Rockwel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59329" y="3984497"/>
            <a:ext cx="177164" cy="17703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74519" y="3984497"/>
            <a:ext cx="177027" cy="177033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17417" y="4243836"/>
            <a:ext cx="4061460" cy="1842770"/>
            <a:chOff x="317417" y="4243836"/>
            <a:chExt cx="4061460" cy="1842770"/>
          </a:xfrm>
        </p:grpSpPr>
        <p:sp>
          <p:nvSpPr>
            <p:cNvPr id="16" name="object 16"/>
            <p:cNvSpPr/>
            <p:nvPr/>
          </p:nvSpPr>
          <p:spPr>
            <a:xfrm>
              <a:off x="323767" y="4250186"/>
              <a:ext cx="4048760" cy="1830070"/>
            </a:xfrm>
            <a:custGeom>
              <a:avLst/>
              <a:gdLst/>
              <a:ahLst/>
              <a:cxnLst/>
              <a:rect l="l" t="t" r="r" b="b"/>
              <a:pathLst>
                <a:path w="4048760" h="1830070">
                  <a:moveTo>
                    <a:pt x="3865342" y="0"/>
                  </a:moveTo>
                  <a:lnTo>
                    <a:pt x="182986" y="0"/>
                  </a:lnTo>
                  <a:lnTo>
                    <a:pt x="134342" y="6535"/>
                  </a:lnTo>
                  <a:lnTo>
                    <a:pt x="90630" y="24981"/>
                  </a:lnTo>
                  <a:lnTo>
                    <a:pt x="53596" y="53592"/>
                  </a:lnTo>
                  <a:lnTo>
                    <a:pt x="24983" y="90628"/>
                  </a:lnTo>
                  <a:lnTo>
                    <a:pt x="6536" y="134344"/>
                  </a:lnTo>
                  <a:lnTo>
                    <a:pt x="0" y="182998"/>
                  </a:lnTo>
                  <a:lnTo>
                    <a:pt x="0" y="1646861"/>
                  </a:lnTo>
                  <a:lnTo>
                    <a:pt x="6536" y="1695501"/>
                  </a:lnTo>
                  <a:lnTo>
                    <a:pt x="24983" y="1739209"/>
                  </a:lnTo>
                  <a:lnTo>
                    <a:pt x="53596" y="1776241"/>
                  </a:lnTo>
                  <a:lnTo>
                    <a:pt x="90630" y="1804853"/>
                  </a:lnTo>
                  <a:lnTo>
                    <a:pt x="134342" y="1823299"/>
                  </a:lnTo>
                  <a:lnTo>
                    <a:pt x="182986" y="1829836"/>
                  </a:lnTo>
                  <a:lnTo>
                    <a:pt x="3865342" y="1829836"/>
                  </a:lnTo>
                  <a:lnTo>
                    <a:pt x="3913992" y="1823299"/>
                  </a:lnTo>
                  <a:lnTo>
                    <a:pt x="3957708" y="1804853"/>
                  </a:lnTo>
                  <a:lnTo>
                    <a:pt x="3994745" y="1776241"/>
                  </a:lnTo>
                  <a:lnTo>
                    <a:pt x="4023359" y="1739209"/>
                  </a:lnTo>
                  <a:lnTo>
                    <a:pt x="4041807" y="1695501"/>
                  </a:lnTo>
                  <a:lnTo>
                    <a:pt x="4048344" y="1646861"/>
                  </a:lnTo>
                  <a:lnTo>
                    <a:pt x="4048344" y="182998"/>
                  </a:lnTo>
                  <a:lnTo>
                    <a:pt x="4041807" y="134344"/>
                  </a:lnTo>
                  <a:lnTo>
                    <a:pt x="4023359" y="90628"/>
                  </a:lnTo>
                  <a:lnTo>
                    <a:pt x="3994745" y="53592"/>
                  </a:lnTo>
                  <a:lnTo>
                    <a:pt x="3957708" y="24981"/>
                  </a:lnTo>
                  <a:lnTo>
                    <a:pt x="3913992" y="6535"/>
                  </a:lnTo>
                  <a:lnTo>
                    <a:pt x="3865342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3767" y="4250186"/>
              <a:ext cx="4048760" cy="1830070"/>
            </a:xfrm>
            <a:custGeom>
              <a:avLst/>
              <a:gdLst/>
              <a:ahLst/>
              <a:cxnLst/>
              <a:rect l="l" t="t" r="r" b="b"/>
              <a:pathLst>
                <a:path w="4048760" h="1830070">
                  <a:moveTo>
                    <a:pt x="0" y="182998"/>
                  </a:moveTo>
                  <a:lnTo>
                    <a:pt x="6536" y="134344"/>
                  </a:lnTo>
                  <a:lnTo>
                    <a:pt x="24983" y="90628"/>
                  </a:lnTo>
                  <a:lnTo>
                    <a:pt x="53596" y="53592"/>
                  </a:lnTo>
                  <a:lnTo>
                    <a:pt x="90630" y="24981"/>
                  </a:lnTo>
                  <a:lnTo>
                    <a:pt x="134342" y="6535"/>
                  </a:lnTo>
                  <a:lnTo>
                    <a:pt x="182986" y="0"/>
                  </a:lnTo>
                  <a:lnTo>
                    <a:pt x="3865342" y="0"/>
                  </a:lnTo>
                  <a:lnTo>
                    <a:pt x="3913992" y="6535"/>
                  </a:lnTo>
                  <a:lnTo>
                    <a:pt x="3957708" y="24981"/>
                  </a:lnTo>
                  <a:lnTo>
                    <a:pt x="3994745" y="53592"/>
                  </a:lnTo>
                  <a:lnTo>
                    <a:pt x="4023359" y="90628"/>
                  </a:lnTo>
                  <a:lnTo>
                    <a:pt x="4041807" y="134344"/>
                  </a:lnTo>
                  <a:lnTo>
                    <a:pt x="4048344" y="182998"/>
                  </a:lnTo>
                  <a:lnTo>
                    <a:pt x="4048344" y="1646861"/>
                  </a:lnTo>
                  <a:lnTo>
                    <a:pt x="4041807" y="1695501"/>
                  </a:lnTo>
                  <a:lnTo>
                    <a:pt x="4023359" y="1739209"/>
                  </a:lnTo>
                  <a:lnTo>
                    <a:pt x="3994745" y="1776241"/>
                  </a:lnTo>
                  <a:lnTo>
                    <a:pt x="3957708" y="1804853"/>
                  </a:lnTo>
                  <a:lnTo>
                    <a:pt x="3913992" y="1823299"/>
                  </a:lnTo>
                  <a:lnTo>
                    <a:pt x="3865342" y="1829836"/>
                  </a:lnTo>
                  <a:lnTo>
                    <a:pt x="182986" y="1829836"/>
                  </a:lnTo>
                  <a:lnTo>
                    <a:pt x="134342" y="1823299"/>
                  </a:lnTo>
                  <a:lnTo>
                    <a:pt x="90630" y="1804853"/>
                  </a:lnTo>
                  <a:lnTo>
                    <a:pt x="53596" y="1776241"/>
                  </a:lnTo>
                  <a:lnTo>
                    <a:pt x="24983" y="1739209"/>
                  </a:lnTo>
                  <a:lnTo>
                    <a:pt x="6536" y="1695501"/>
                  </a:lnTo>
                  <a:lnTo>
                    <a:pt x="0" y="1646861"/>
                  </a:lnTo>
                  <a:lnTo>
                    <a:pt x="0" y="182998"/>
                  </a:lnTo>
                  <a:close/>
                </a:path>
              </a:pathLst>
            </a:custGeom>
            <a:ln w="12700">
              <a:solidFill>
                <a:srgbClr val="9898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1076" y="4473903"/>
            <a:ext cx="3740785" cy="13436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1905" algn="ctr">
              <a:lnSpc>
                <a:spcPts val="1689"/>
              </a:lnSpc>
              <a:spcBef>
                <a:spcPts val="345"/>
              </a:spcBef>
            </a:pPr>
            <a:r>
              <a:rPr sz="1600" dirty="0">
                <a:latin typeface="Rockwell"/>
                <a:cs typeface="Rockwell"/>
              </a:rPr>
              <a:t>If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at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least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one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write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operation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has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Rockwell"/>
                <a:cs typeface="Rockwell"/>
              </a:rPr>
              <a:t>been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performed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on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Rockwell"/>
                <a:cs typeface="Rockwell"/>
              </a:rPr>
              <a:t>word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in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that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line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Rockwell"/>
                <a:cs typeface="Rockwell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cache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then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main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memory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must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Rockwell"/>
                <a:cs typeface="Rockwell"/>
              </a:rPr>
              <a:t>be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updated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by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writing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line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cache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Rockwell"/>
                <a:cs typeface="Rockwell"/>
              </a:rPr>
              <a:t>out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block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memory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before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bringing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new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block</a:t>
            </a:r>
            <a:endParaRPr sz="1600">
              <a:latin typeface="Rockwell"/>
              <a:cs typeface="Rockwel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53263" y="4243836"/>
            <a:ext cx="4019550" cy="1748155"/>
            <a:chOff x="4953263" y="4243836"/>
            <a:chExt cx="4019550" cy="1748155"/>
          </a:xfrm>
        </p:grpSpPr>
        <p:sp>
          <p:nvSpPr>
            <p:cNvPr id="32" name="object 32"/>
            <p:cNvSpPr/>
            <p:nvPr/>
          </p:nvSpPr>
          <p:spPr>
            <a:xfrm>
              <a:off x="4959613" y="4250186"/>
              <a:ext cx="4006850" cy="1735455"/>
            </a:xfrm>
            <a:custGeom>
              <a:avLst/>
              <a:gdLst/>
              <a:ahLst/>
              <a:cxnLst/>
              <a:rect l="l" t="t" r="r" b="b"/>
              <a:pathLst>
                <a:path w="4006850" h="1735454">
                  <a:moveTo>
                    <a:pt x="3833225" y="0"/>
                  </a:moveTo>
                  <a:lnTo>
                    <a:pt x="173614" y="0"/>
                  </a:lnTo>
                  <a:lnTo>
                    <a:pt x="127458" y="6191"/>
                  </a:lnTo>
                  <a:lnTo>
                    <a:pt x="85985" y="23667"/>
                  </a:lnTo>
                  <a:lnTo>
                    <a:pt x="50848" y="50781"/>
                  </a:lnTo>
                  <a:lnTo>
                    <a:pt x="23702" y="85885"/>
                  </a:lnTo>
                  <a:lnTo>
                    <a:pt x="6201" y="127331"/>
                  </a:lnTo>
                  <a:lnTo>
                    <a:pt x="0" y="173473"/>
                  </a:lnTo>
                  <a:lnTo>
                    <a:pt x="0" y="1561612"/>
                  </a:lnTo>
                  <a:lnTo>
                    <a:pt x="6201" y="1607740"/>
                  </a:lnTo>
                  <a:lnTo>
                    <a:pt x="23702" y="1649190"/>
                  </a:lnTo>
                  <a:lnTo>
                    <a:pt x="50848" y="1684309"/>
                  </a:lnTo>
                  <a:lnTo>
                    <a:pt x="85985" y="1711441"/>
                  </a:lnTo>
                  <a:lnTo>
                    <a:pt x="127458" y="1728933"/>
                  </a:lnTo>
                  <a:lnTo>
                    <a:pt x="173614" y="1735131"/>
                  </a:lnTo>
                  <a:lnTo>
                    <a:pt x="3833225" y="1735131"/>
                  </a:lnTo>
                  <a:lnTo>
                    <a:pt x="3879372" y="1728933"/>
                  </a:lnTo>
                  <a:lnTo>
                    <a:pt x="3920822" y="1711441"/>
                  </a:lnTo>
                  <a:lnTo>
                    <a:pt x="3955930" y="1684309"/>
                  </a:lnTo>
                  <a:lnTo>
                    <a:pt x="3983047" y="1649190"/>
                  </a:lnTo>
                  <a:lnTo>
                    <a:pt x="4000525" y="1607740"/>
                  </a:lnTo>
                  <a:lnTo>
                    <a:pt x="4006717" y="1561612"/>
                  </a:lnTo>
                  <a:lnTo>
                    <a:pt x="4006717" y="173473"/>
                  </a:lnTo>
                  <a:lnTo>
                    <a:pt x="4000525" y="127331"/>
                  </a:lnTo>
                  <a:lnTo>
                    <a:pt x="3983047" y="85885"/>
                  </a:lnTo>
                  <a:lnTo>
                    <a:pt x="3955930" y="50781"/>
                  </a:lnTo>
                  <a:lnTo>
                    <a:pt x="3920822" y="23667"/>
                  </a:lnTo>
                  <a:lnTo>
                    <a:pt x="3879372" y="6191"/>
                  </a:lnTo>
                  <a:lnTo>
                    <a:pt x="3833225" y="0"/>
                  </a:lnTo>
                  <a:close/>
                </a:path>
              </a:pathLst>
            </a:custGeom>
            <a:solidFill>
              <a:srgbClr val="D2C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59613" y="4250186"/>
              <a:ext cx="4006850" cy="1735455"/>
            </a:xfrm>
            <a:custGeom>
              <a:avLst/>
              <a:gdLst/>
              <a:ahLst/>
              <a:cxnLst/>
              <a:rect l="l" t="t" r="r" b="b"/>
              <a:pathLst>
                <a:path w="4006850" h="1735454">
                  <a:moveTo>
                    <a:pt x="0" y="173473"/>
                  </a:moveTo>
                  <a:lnTo>
                    <a:pt x="6201" y="127331"/>
                  </a:lnTo>
                  <a:lnTo>
                    <a:pt x="23702" y="85885"/>
                  </a:lnTo>
                  <a:lnTo>
                    <a:pt x="50848" y="50781"/>
                  </a:lnTo>
                  <a:lnTo>
                    <a:pt x="85985" y="23667"/>
                  </a:lnTo>
                  <a:lnTo>
                    <a:pt x="127458" y="6191"/>
                  </a:lnTo>
                  <a:lnTo>
                    <a:pt x="173614" y="0"/>
                  </a:lnTo>
                  <a:lnTo>
                    <a:pt x="3833225" y="0"/>
                  </a:lnTo>
                  <a:lnTo>
                    <a:pt x="3879372" y="6191"/>
                  </a:lnTo>
                  <a:lnTo>
                    <a:pt x="3920822" y="23667"/>
                  </a:lnTo>
                  <a:lnTo>
                    <a:pt x="3955930" y="50781"/>
                  </a:lnTo>
                  <a:lnTo>
                    <a:pt x="3983047" y="85885"/>
                  </a:lnTo>
                  <a:lnTo>
                    <a:pt x="4000525" y="127331"/>
                  </a:lnTo>
                  <a:lnTo>
                    <a:pt x="4006717" y="173473"/>
                  </a:lnTo>
                  <a:lnTo>
                    <a:pt x="4006717" y="1561612"/>
                  </a:lnTo>
                  <a:lnTo>
                    <a:pt x="4000525" y="1607740"/>
                  </a:lnTo>
                  <a:lnTo>
                    <a:pt x="3983047" y="1649190"/>
                  </a:lnTo>
                  <a:lnTo>
                    <a:pt x="3955930" y="1684309"/>
                  </a:lnTo>
                  <a:lnTo>
                    <a:pt x="3920822" y="1711441"/>
                  </a:lnTo>
                  <a:lnTo>
                    <a:pt x="3879372" y="1728933"/>
                  </a:lnTo>
                  <a:lnTo>
                    <a:pt x="3833225" y="1735131"/>
                  </a:lnTo>
                  <a:lnTo>
                    <a:pt x="173614" y="1735131"/>
                  </a:lnTo>
                  <a:lnTo>
                    <a:pt x="127458" y="1728933"/>
                  </a:lnTo>
                  <a:lnTo>
                    <a:pt x="85985" y="1711441"/>
                  </a:lnTo>
                  <a:lnTo>
                    <a:pt x="50848" y="1684309"/>
                  </a:lnTo>
                  <a:lnTo>
                    <a:pt x="23702" y="1649190"/>
                  </a:lnTo>
                  <a:lnTo>
                    <a:pt x="6201" y="1607740"/>
                  </a:lnTo>
                  <a:lnTo>
                    <a:pt x="0" y="1561612"/>
                  </a:lnTo>
                  <a:lnTo>
                    <a:pt x="0" y="173473"/>
                  </a:lnTo>
                  <a:close/>
                </a:path>
              </a:pathLst>
            </a:custGeom>
            <a:ln w="12700">
              <a:solidFill>
                <a:srgbClr val="656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038728" y="4426710"/>
            <a:ext cx="3848100" cy="134366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065" marR="5080" indent="1905" algn="ctr">
              <a:lnSpc>
                <a:spcPct val="88200"/>
              </a:lnSpc>
              <a:spcBef>
                <a:spcPts val="320"/>
              </a:spcBef>
            </a:pPr>
            <a:r>
              <a:rPr sz="1600" dirty="0">
                <a:latin typeface="Rockwell"/>
                <a:cs typeface="Rockwell"/>
              </a:rPr>
              <a:t>A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more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complex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problem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occurs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Rockwell"/>
                <a:cs typeface="Rockwell"/>
              </a:rPr>
              <a:t>when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multiple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processors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are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attached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to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Rockwell"/>
                <a:cs typeface="Rockwell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same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bus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each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processor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has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its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Rockwell"/>
                <a:cs typeface="Rockwell"/>
              </a:rPr>
              <a:t>own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local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cache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-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if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Rockwell"/>
                <a:cs typeface="Rockwell"/>
              </a:rPr>
              <a:t>word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altered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Rockwell"/>
                <a:cs typeface="Rockwell"/>
              </a:rPr>
              <a:t>one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cache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it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could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conceivably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invalidate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Rockwell"/>
                <a:cs typeface="Rockwell"/>
              </a:rPr>
              <a:t>a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Rockwell"/>
                <a:cs typeface="Rockwell"/>
              </a:rPr>
              <a:t>word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in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Rockwell"/>
                <a:cs typeface="Rockwell"/>
              </a:rPr>
              <a:t>other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Rockwell"/>
                <a:cs typeface="Rockwell"/>
              </a:rPr>
              <a:t>caches</a:t>
            </a:r>
            <a:endParaRPr sz="1600">
              <a:latin typeface="Rockwell"/>
              <a:cs typeface="Rockwel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306324" y="382524"/>
            <a:ext cx="5611495" cy="1560830"/>
            <a:chOff x="306324" y="382524"/>
            <a:chExt cx="5611495" cy="15608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" y="382524"/>
              <a:ext cx="3659124" cy="10119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5124" y="931164"/>
              <a:ext cx="3782567" cy="1011936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7711" y="501848"/>
            <a:ext cx="54286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b="1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r>
              <a:rPr sz="5400" b="1" spc="-60" baseline="36265" dirty="0">
                <a:solidFill>
                  <a:srgbClr val="B86FB8"/>
                </a:solidFill>
                <a:latin typeface="Times New Roman"/>
                <a:cs typeface="Times New Roman"/>
              </a:rPr>
              <a:t> </a:t>
            </a:r>
            <a:r>
              <a:rPr sz="3600" dirty="0"/>
              <a:t>Write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spc="-10" dirty="0"/>
              <a:t>Through</a:t>
            </a:r>
            <a:endParaRPr sz="3600">
              <a:latin typeface="Times New Roman"/>
              <a:cs typeface="Times New Roman"/>
            </a:endParaRPr>
          </a:p>
          <a:p>
            <a:pPr marL="2221230">
              <a:lnSpc>
                <a:spcPct val="100000"/>
              </a:lnSpc>
            </a:pPr>
            <a:r>
              <a:rPr spc="-30" dirty="0">
                <a:solidFill>
                  <a:srgbClr val="656598"/>
                </a:solidFill>
              </a:rPr>
              <a:t>and</a:t>
            </a:r>
            <a:r>
              <a:rPr spc="-265" dirty="0">
                <a:solidFill>
                  <a:srgbClr val="656598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656598"/>
                </a:solidFill>
              </a:rPr>
              <a:t>Write</a:t>
            </a:r>
            <a:r>
              <a:rPr spc="45" dirty="0">
                <a:solidFill>
                  <a:srgbClr val="656598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656598"/>
                </a:solidFill>
              </a:rPr>
              <a:t>Back</a:t>
            </a:r>
          </a:p>
        </p:txBody>
      </p:sp>
      <p:sp>
        <p:nvSpPr>
          <p:cNvPr id="3" name="object 3"/>
          <p:cNvSpPr/>
          <p:nvPr/>
        </p:nvSpPr>
        <p:spPr>
          <a:xfrm>
            <a:off x="8068178" y="282580"/>
            <a:ext cx="91440" cy="1600200"/>
          </a:xfrm>
          <a:custGeom>
            <a:avLst/>
            <a:gdLst/>
            <a:ahLst/>
            <a:cxnLst/>
            <a:rect l="l" t="t" r="r" b="b"/>
            <a:pathLst>
              <a:path w="91440" h="1600200">
                <a:moveTo>
                  <a:pt x="91439" y="0"/>
                </a:moveTo>
                <a:lnTo>
                  <a:pt x="0" y="0"/>
                </a:lnTo>
                <a:lnTo>
                  <a:pt x="0" y="1600199"/>
                </a:lnTo>
                <a:lnTo>
                  <a:pt x="91439" y="1600199"/>
                </a:lnTo>
                <a:lnTo>
                  <a:pt x="91439" y="0"/>
                </a:lnTo>
                <a:close/>
              </a:path>
            </a:pathLst>
          </a:custGeom>
          <a:solidFill>
            <a:srgbClr val="6565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10550" y="282580"/>
            <a:ext cx="642620" cy="1600200"/>
          </a:xfrm>
          <a:custGeom>
            <a:avLst/>
            <a:gdLst/>
            <a:ahLst/>
            <a:cxnLst/>
            <a:rect l="l" t="t" r="r" b="b"/>
            <a:pathLst>
              <a:path w="642620" h="1600200">
                <a:moveTo>
                  <a:pt x="642103" y="0"/>
                </a:moveTo>
                <a:lnTo>
                  <a:pt x="0" y="0"/>
                </a:lnTo>
                <a:lnTo>
                  <a:pt x="0" y="1600199"/>
                </a:lnTo>
                <a:lnTo>
                  <a:pt x="642103" y="1600199"/>
                </a:lnTo>
                <a:lnTo>
                  <a:pt x="642103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7398" y="1919914"/>
            <a:ext cx="7874634" cy="416623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4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Write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Rockwell"/>
                <a:cs typeface="Rockwell"/>
              </a:rPr>
              <a:t>through</a:t>
            </a:r>
            <a:endParaRPr sz="20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39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Simplest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technique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38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All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write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operations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made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well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as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ts val="2055"/>
              </a:lnSpc>
              <a:spcBef>
                <a:spcPts val="384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disadvantage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this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technique</a:t>
            </a:r>
            <a:r>
              <a:rPr sz="18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that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generates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substantial</a:t>
            </a:r>
            <a:endParaRPr sz="1800">
              <a:latin typeface="Rockwell"/>
              <a:cs typeface="Rockwell"/>
            </a:endParaRPr>
          </a:p>
          <a:p>
            <a:pPr marL="469900">
              <a:lnSpc>
                <a:spcPts val="2055"/>
              </a:lnSpc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traffic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may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create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bottleneck</a:t>
            </a:r>
            <a:endParaRPr sz="18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175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solidFill>
                  <a:srgbClr val="595959"/>
                </a:solidFill>
                <a:latin typeface="Rockwell"/>
                <a:cs typeface="Rockwell"/>
              </a:rPr>
              <a:t>Write</a:t>
            </a:r>
            <a:r>
              <a:rPr sz="20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Rockwell"/>
                <a:cs typeface="Rockwell"/>
              </a:rPr>
              <a:t>back</a:t>
            </a:r>
            <a:endParaRPr sz="20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39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Minimizes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writes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38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Updates</a:t>
            </a:r>
            <a:r>
              <a:rPr sz="18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are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made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only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in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endParaRPr sz="1800">
              <a:latin typeface="Rockwell"/>
              <a:cs typeface="Rockwell"/>
            </a:endParaRPr>
          </a:p>
          <a:p>
            <a:pPr marL="469900" marR="136525" lvl="1" indent="-228600">
              <a:lnSpc>
                <a:spcPts val="1939"/>
              </a:lnSpc>
              <a:spcBef>
                <a:spcPts val="63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update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occurs,</a:t>
            </a:r>
            <a:r>
              <a:rPr sz="1800" spc="-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dirty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bit,</a:t>
            </a:r>
            <a:r>
              <a:rPr sz="1800" spc="-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or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use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bit,</a:t>
            </a:r>
            <a:r>
              <a:rPr sz="1800" spc="-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associated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set.</a:t>
            </a:r>
            <a:r>
              <a:rPr sz="1800" spc="-2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Then,</a:t>
            </a:r>
            <a:r>
              <a:rPr sz="1800" spc="-1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when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replaced,</a:t>
            </a:r>
            <a:r>
              <a:rPr sz="1800" spc="-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it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written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back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if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only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if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dirty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bit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set</a:t>
            </a:r>
            <a:endParaRPr sz="1800">
              <a:latin typeface="Rockwell"/>
              <a:cs typeface="Rockwell"/>
            </a:endParaRPr>
          </a:p>
          <a:p>
            <a:pPr marL="469265" lvl="1" indent="-227965">
              <a:lnSpc>
                <a:spcPts val="2050"/>
              </a:lnSpc>
              <a:spcBef>
                <a:spcPts val="365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The</a:t>
            </a:r>
            <a:r>
              <a:rPr sz="1800" spc="-4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problem</a:t>
            </a:r>
            <a:r>
              <a:rPr sz="1800" spc="-2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with</a:t>
            </a:r>
            <a:r>
              <a:rPr sz="1800" spc="-3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write</a:t>
            </a:r>
            <a:r>
              <a:rPr sz="1800" spc="-4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back</a:t>
            </a:r>
            <a:r>
              <a:rPr sz="1800" spc="-3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is</a:t>
            </a:r>
            <a:r>
              <a:rPr sz="1800" spc="-15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“cache</a:t>
            </a:r>
            <a:r>
              <a:rPr sz="1800" spc="-30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coherent”</a:t>
            </a:r>
            <a:r>
              <a:rPr sz="1800" spc="-13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different</a:t>
            </a:r>
            <a:r>
              <a:rPr sz="1800" spc="-3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copies</a:t>
            </a:r>
            <a:r>
              <a:rPr sz="1800" spc="-15" dirty="0">
                <a:solidFill>
                  <a:srgbClr val="595959"/>
                </a:solidFill>
                <a:latin typeface="Rockwell"/>
                <a:cs typeface="Rockwel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Rockwell"/>
                <a:cs typeface="Rockwell"/>
              </a:rPr>
              <a:t>for</a:t>
            </a:r>
            <a:endParaRPr sz="1800">
              <a:latin typeface="Rockwell"/>
              <a:cs typeface="Rockwell"/>
            </a:endParaRPr>
          </a:p>
          <a:p>
            <a:pPr marL="469900">
              <a:lnSpc>
                <a:spcPts val="2050"/>
              </a:lnSpc>
            </a:pP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block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between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and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Rockwell"/>
                <a:cs typeface="Rockwell"/>
              </a:rPr>
              <a:t>main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endParaRPr sz="1800">
              <a:latin typeface="Rockwell"/>
              <a:cs typeface="Rockwel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411" y="200603"/>
            <a:ext cx="286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B86FB8"/>
                </a:solidFill>
                <a:latin typeface="Times New Roman"/>
                <a:cs typeface="Times New Roman"/>
              </a:rPr>
              <a:t>+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1050" y="241751"/>
            <a:ext cx="2461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Summary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533400" y="1219178"/>
            <a:ext cx="3657600" cy="1098550"/>
          </a:xfrm>
          <a:prstGeom prst="rect">
            <a:avLst/>
          </a:prstGeom>
          <a:solidFill>
            <a:srgbClr val="656598"/>
          </a:solidFill>
        </p:spPr>
        <p:txBody>
          <a:bodyPr vert="horz" wrap="square" lIns="0" tIns="276860" rIns="0" bIns="0" rtlCol="0">
            <a:spAutoFit/>
          </a:bodyPr>
          <a:lstStyle/>
          <a:p>
            <a:pPr marL="898525">
              <a:lnSpc>
                <a:spcPct val="100000"/>
              </a:lnSpc>
              <a:spcBef>
                <a:spcPts val="2180"/>
              </a:spcBef>
            </a:pPr>
            <a:r>
              <a:rPr sz="3200" dirty="0">
                <a:solidFill>
                  <a:srgbClr val="FFFFFF"/>
                </a:solidFill>
                <a:latin typeface="Rockwell"/>
                <a:cs typeface="Rockwell"/>
              </a:rPr>
              <a:t>Chapter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Rockwell"/>
                <a:cs typeface="Rockwell"/>
              </a:rPr>
              <a:t>4</a:t>
            </a:r>
            <a:endParaRPr sz="3200">
              <a:latin typeface="Rockwell"/>
              <a:cs typeface="Rockwel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3400" y="228591"/>
            <a:ext cx="3657600" cy="1708150"/>
          </a:xfrm>
          <a:prstGeom prst="rect">
            <a:avLst/>
          </a:prstGeom>
          <a:solidFill>
            <a:srgbClr val="A2A2C2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800">
              <a:latin typeface="Times New Roman"/>
              <a:cs typeface="Times New Roman"/>
            </a:endParaRPr>
          </a:p>
          <a:p>
            <a:pPr marL="1137920" marR="1130935" indent="164465">
              <a:lnSpc>
                <a:spcPct val="100000"/>
              </a:lnSpc>
            </a:pPr>
            <a:r>
              <a:rPr sz="2800" spc="-10" dirty="0">
                <a:solidFill>
                  <a:srgbClr val="2B132C"/>
                </a:solidFill>
                <a:latin typeface="Rockwell"/>
                <a:cs typeface="Rockwell"/>
              </a:rPr>
              <a:t>Cache</a:t>
            </a:r>
            <a:r>
              <a:rPr sz="2800" spc="-10" dirty="0">
                <a:solidFill>
                  <a:srgbClr val="2B132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B132C"/>
                </a:solidFill>
                <a:latin typeface="Rockwell"/>
                <a:cs typeface="Rockwell"/>
              </a:rPr>
              <a:t>Memory</a:t>
            </a:r>
            <a:endParaRPr sz="2800">
              <a:latin typeface="Rockwell"/>
              <a:cs typeface="Rockwel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166872" y="282580"/>
            <a:ext cx="685800" cy="1600200"/>
          </a:xfrm>
          <a:custGeom>
            <a:avLst/>
            <a:gdLst/>
            <a:ahLst/>
            <a:cxnLst/>
            <a:rect l="l" t="t" r="r" b="b"/>
            <a:pathLst>
              <a:path w="685800" h="1600200">
                <a:moveTo>
                  <a:pt x="685799" y="0"/>
                </a:moveTo>
                <a:lnTo>
                  <a:pt x="0" y="0"/>
                </a:lnTo>
                <a:lnTo>
                  <a:pt x="0" y="1600199"/>
                </a:lnTo>
                <a:lnTo>
                  <a:pt x="685799" y="1600199"/>
                </a:lnTo>
                <a:lnTo>
                  <a:pt x="685799" y="0"/>
                </a:lnTo>
                <a:close/>
              </a:path>
            </a:pathLst>
          </a:custGeom>
          <a:solidFill>
            <a:srgbClr val="6532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dirty="0"/>
              <a:t>Computer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0" dirty="0"/>
              <a:t>memory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system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/>
              <a:t>overview</a:t>
            </a:r>
          </a:p>
          <a:p>
            <a:pPr marL="228600" marR="207010" lvl="1" indent="-228600" algn="r">
              <a:lnSpc>
                <a:spcPct val="100000"/>
              </a:lnSpc>
              <a:spcBef>
                <a:spcPts val="61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228600" algn="l"/>
              </a:tabLst>
            </a:pPr>
            <a:r>
              <a:rPr sz="2200" dirty="0">
                <a:solidFill>
                  <a:srgbClr val="595959"/>
                </a:solidFill>
                <a:latin typeface="Rockwell"/>
                <a:cs typeface="Rockwell"/>
              </a:rPr>
              <a:t>Characteristics</a:t>
            </a:r>
            <a:r>
              <a:rPr sz="2200" spc="-1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endParaRPr sz="2200">
              <a:latin typeface="Rockwell"/>
              <a:cs typeface="Rockwell"/>
            </a:endParaRPr>
          </a:p>
          <a:p>
            <a:pPr marR="257175" algn="r">
              <a:lnSpc>
                <a:spcPct val="100000"/>
              </a:lnSpc>
            </a:pPr>
            <a:r>
              <a:rPr sz="2200" dirty="0"/>
              <a:t>Memory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/>
              <a:t>Systems</a:t>
            </a:r>
            <a:endParaRPr sz="22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2200" dirty="0">
                <a:solidFill>
                  <a:srgbClr val="595959"/>
                </a:solidFill>
                <a:latin typeface="Rockwell"/>
                <a:cs typeface="Rockwell"/>
              </a:rPr>
              <a:t>Memory</a:t>
            </a:r>
            <a:r>
              <a:rPr sz="22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595959"/>
                </a:solidFill>
                <a:latin typeface="Rockwell"/>
                <a:cs typeface="Rockwell"/>
              </a:rPr>
              <a:t>Hierarchy</a:t>
            </a:r>
            <a:endParaRPr sz="2200">
              <a:latin typeface="Rockwell"/>
              <a:cs typeface="Rockwell"/>
            </a:endParaRPr>
          </a:p>
          <a:p>
            <a:pPr marL="240665" indent="-227965">
              <a:lnSpc>
                <a:spcPct val="100000"/>
              </a:lnSpc>
              <a:spcBef>
                <a:spcPts val="595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dirty="0"/>
              <a:t>Cache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0" dirty="0"/>
              <a:t>memory</a:t>
            </a:r>
          </a:p>
          <a:p>
            <a:pPr marL="241300">
              <a:lnSpc>
                <a:spcPct val="100000"/>
              </a:lnSpc>
            </a:pPr>
            <a:r>
              <a:rPr spc="-10" dirty="0"/>
              <a:t>principles</a:t>
            </a:r>
          </a:p>
          <a:p>
            <a:pPr marL="240665" marR="409575" indent="-228600">
              <a:lnSpc>
                <a:spcPct val="100000"/>
              </a:lnSpc>
              <a:spcBef>
                <a:spcPts val="6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dirty="0"/>
              <a:t>Pentium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/>
              <a:t>4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10" dirty="0"/>
              <a:t>cache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10" dirty="0"/>
              <a:t>organization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816610" indent="-228600">
              <a:lnSpc>
                <a:spcPct val="100000"/>
              </a:lnSpc>
              <a:spcBef>
                <a:spcPts val="100"/>
              </a:spcBef>
              <a:buClr>
                <a:srgbClr val="653265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dirty="0"/>
              <a:t>Elements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20" dirty="0"/>
              <a:t>cache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/>
              <a:t>design</a:t>
            </a:r>
          </a:p>
          <a:p>
            <a:pPr marL="469265" lvl="1" indent="-227965">
              <a:lnSpc>
                <a:spcPct val="100000"/>
              </a:lnSpc>
              <a:spcBef>
                <a:spcPts val="61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22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2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595959"/>
                </a:solidFill>
                <a:latin typeface="Rockwell"/>
                <a:cs typeface="Rockwell"/>
              </a:rPr>
              <a:t>addresses</a:t>
            </a:r>
            <a:endParaRPr sz="22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2200" dirty="0">
                <a:solidFill>
                  <a:srgbClr val="595959"/>
                </a:solidFill>
                <a:latin typeface="Rockwell"/>
                <a:cs typeface="Rockwell"/>
              </a:rPr>
              <a:t>Cache</a:t>
            </a:r>
            <a:r>
              <a:rPr sz="22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endParaRPr sz="22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2200" dirty="0">
                <a:solidFill>
                  <a:srgbClr val="595959"/>
                </a:solidFill>
                <a:latin typeface="Rockwell"/>
                <a:cs typeface="Rockwell"/>
              </a:rPr>
              <a:t>Mapping</a:t>
            </a:r>
            <a:r>
              <a:rPr sz="22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595959"/>
                </a:solidFill>
                <a:latin typeface="Rockwell"/>
                <a:cs typeface="Rockwell"/>
              </a:rPr>
              <a:t>function</a:t>
            </a:r>
            <a:endParaRPr sz="22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2200" dirty="0">
                <a:solidFill>
                  <a:srgbClr val="595959"/>
                </a:solidFill>
                <a:latin typeface="Rockwell"/>
                <a:cs typeface="Rockwell"/>
              </a:rPr>
              <a:t>Replacement</a:t>
            </a:r>
            <a:r>
              <a:rPr sz="2200" spc="-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595959"/>
                </a:solidFill>
                <a:latin typeface="Rockwell"/>
                <a:cs typeface="Rockwell"/>
              </a:rPr>
              <a:t>algorithms</a:t>
            </a:r>
            <a:endParaRPr sz="22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2200" dirty="0">
                <a:solidFill>
                  <a:srgbClr val="595959"/>
                </a:solidFill>
                <a:latin typeface="Rockwell"/>
                <a:cs typeface="Rockwell"/>
              </a:rPr>
              <a:t>Write</a:t>
            </a:r>
            <a:r>
              <a:rPr sz="22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595959"/>
                </a:solidFill>
                <a:latin typeface="Rockwell"/>
                <a:cs typeface="Rockwell"/>
              </a:rPr>
              <a:t>policy</a:t>
            </a:r>
            <a:endParaRPr sz="22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2200" dirty="0">
                <a:solidFill>
                  <a:srgbClr val="595959"/>
                </a:solidFill>
                <a:latin typeface="Rockwell"/>
                <a:cs typeface="Rockwell"/>
              </a:rPr>
              <a:t>Line</a:t>
            </a:r>
            <a:r>
              <a:rPr sz="22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595959"/>
                </a:solidFill>
                <a:latin typeface="Rockwell"/>
                <a:cs typeface="Rockwell"/>
              </a:rPr>
              <a:t>size</a:t>
            </a:r>
            <a:endParaRPr sz="2200">
              <a:latin typeface="Rockwell"/>
              <a:cs typeface="Rockwell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6F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2200" dirty="0">
                <a:solidFill>
                  <a:srgbClr val="595959"/>
                </a:solidFill>
                <a:latin typeface="Rockwell"/>
                <a:cs typeface="Rockwell"/>
              </a:rPr>
              <a:t>Number</a:t>
            </a:r>
            <a:r>
              <a:rPr sz="22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595959"/>
                </a:solidFill>
                <a:latin typeface="Rockwell"/>
                <a:cs typeface="Rockwell"/>
              </a:rPr>
              <a:t>of</a:t>
            </a:r>
            <a:r>
              <a:rPr sz="22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595959"/>
                </a:solidFill>
                <a:latin typeface="Rockwell"/>
                <a:cs typeface="Rockwell"/>
              </a:rPr>
              <a:t>caches</a:t>
            </a:r>
            <a:endParaRPr sz="2200">
              <a:latin typeface="Rockwell"/>
              <a:cs typeface="Rockwel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995">
              <a:lnSpc>
                <a:spcPts val="1305"/>
              </a:lnSpc>
            </a:pP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2016</a:t>
            </a:r>
            <a:r>
              <a:rPr spc="-15" dirty="0"/>
              <a:t> </a:t>
            </a:r>
            <a:r>
              <a:rPr dirty="0"/>
              <a:t>Pearson</a:t>
            </a:r>
            <a:r>
              <a:rPr spc="-40" dirty="0"/>
              <a:t> </a:t>
            </a:r>
            <a:r>
              <a:rPr dirty="0"/>
              <a:t>Education,</a:t>
            </a:r>
            <a:r>
              <a:rPr spc="-40" dirty="0"/>
              <a:t> </a:t>
            </a:r>
            <a:r>
              <a:rPr dirty="0"/>
              <a:t>Inc.,</a:t>
            </a:r>
            <a:r>
              <a:rPr spc="5" dirty="0"/>
              <a:t> </a:t>
            </a:r>
            <a:r>
              <a:rPr dirty="0"/>
              <a:t>Hoboken, NJ.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rights</a:t>
            </a:r>
            <a:r>
              <a:rPr spc="-25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8234</Words>
  <Application>Microsoft Office PowerPoint</Application>
  <PresentationFormat>On-screen Show (4:3)</PresentationFormat>
  <Paragraphs>1571</Paragraphs>
  <Slides>103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4" baseType="lpstr">
      <vt:lpstr>Office Theme</vt:lpstr>
      <vt:lpstr>+</vt:lpstr>
      <vt:lpstr>+ Computer Components</vt:lpstr>
      <vt:lpstr>PowerPoint Presentation</vt:lpstr>
      <vt:lpstr>Software</vt:lpstr>
      <vt:lpstr>PowerPoint Presentation</vt:lpstr>
      <vt:lpstr>PowerPoint Presentation</vt:lpstr>
      <vt:lpstr>Fetch Cycle</vt:lpstr>
      <vt:lpstr>+ Fetch Cycle</vt:lpstr>
      <vt:lpstr>Action Categories</vt:lpstr>
      <vt:lpstr>PowerPoint Presentation</vt:lpstr>
      <vt:lpstr>PowerPoint Presentation</vt:lpstr>
      <vt:lpstr>+ Interrupt</vt:lpstr>
      <vt:lpstr>+ Type of interrupt</vt:lpstr>
      <vt:lpstr>Generated by some condition that occurs as a result of an instruction execution, such as arithmetic overflow, division by zero, attempt to execute an illegal machine instruction, or reference outside a user's allowed memory space.</vt:lpstr>
      <vt:lpstr>PowerPoint Presentation</vt:lpstr>
      <vt:lpstr>User Program</vt:lpstr>
      <vt:lpstr>Fetch Cycle</vt:lpstr>
      <vt:lpstr>PowerPoint Presentation</vt:lpstr>
      <vt:lpstr>PowerPoint Presentation</vt:lpstr>
      <vt:lpstr>PowerPoint Presentation</vt:lpstr>
      <vt:lpstr>Multiple Interrupts</vt:lpstr>
      <vt:lpstr>PowerPoint Presentation</vt:lpstr>
      <vt:lpstr>PowerPoint Presentation</vt:lpstr>
      <vt:lpstr>+ I/O Function</vt:lpstr>
      <vt:lpstr>PowerPoint Presentation</vt:lpstr>
      <vt:lpstr>The interconnection structure must support the following types of transfers:</vt:lpstr>
      <vt:lpstr>PowerPoint Presentation</vt:lpstr>
      <vt:lpstr>Data Bus</vt:lpstr>
      <vt:lpstr>Address Bus</vt:lpstr>
      <vt:lpstr>Memory</vt:lpstr>
      <vt:lpstr>Point-to-Point Interconnect</vt:lpstr>
      <vt:lpstr>+Quick Path Interconnect</vt:lpstr>
      <vt:lpstr>PowerPoint Presentation</vt:lpstr>
      <vt:lpstr>Packets</vt:lpstr>
      <vt:lpstr>PowerPoint Presentation</vt:lpstr>
      <vt:lpstr>PowerPoint Presentation</vt:lpstr>
      <vt:lpstr>+ QPI Link Layer</vt:lpstr>
      <vt:lpstr>QPI Routing and Protocol Layers</vt:lpstr>
      <vt:lpstr>+ Peripheral Component Interconnect (PCI)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+ The TL supports four address spaces:</vt:lpstr>
      <vt:lpstr>Table 3.2 PCIe TLP Transaction Types</vt:lpstr>
      <vt:lpstr>PowerPoint Presentation</vt:lpstr>
      <vt:lpstr>Summary</vt:lpstr>
      <vt:lpstr>+</vt:lpstr>
      <vt:lpstr>PowerPoint Presentation</vt:lpstr>
      <vt:lpstr>PowerPoint Presentation</vt:lpstr>
      <vt:lpstr>Characteristics of Memory Systems</vt:lpstr>
      <vt:lpstr>+ Method of Accessing Units of Data</vt:lpstr>
      <vt:lpstr>+ Method of Accessing Units of Data</vt:lpstr>
      <vt:lpstr>+ Method of Accessing Units of Data</vt:lpstr>
      <vt:lpstr>+ Block Diagram of Associative</vt:lpstr>
      <vt:lpstr>+ Associative example</vt:lpstr>
      <vt:lpstr>Method of Accessing Units of Data</vt:lpstr>
      <vt:lpstr>Capacity and Performance:</vt:lpstr>
      <vt:lpstr>Memory</vt:lpstr>
      <vt:lpstr>+ Semiconductor memory</vt:lpstr>
      <vt:lpstr>+ Memory Hierarchy</vt:lpstr>
      <vt:lpstr>PowerPoint Presentation</vt:lpstr>
      <vt:lpstr>+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+ Cache organization</vt:lpstr>
      <vt:lpstr>Write Policy</vt:lpstr>
      <vt:lpstr>+ Cache Addresses Virtual Memory</vt:lpstr>
      <vt:lpstr>PowerPoint Presentation</vt:lpstr>
      <vt:lpstr>+ Logical and physical caches</vt:lpstr>
      <vt:lpstr>+ Cache size</vt:lpstr>
      <vt:lpstr>Mapping Function</vt:lpstr>
      <vt:lpstr>PowerPoint Presentation</vt:lpstr>
      <vt:lpstr>+ Example</vt:lpstr>
      <vt:lpstr>+ Direct Mapping</vt:lpstr>
      <vt:lpstr>+ Direct Mapping Summary</vt:lpstr>
      <vt:lpstr>PowerPoint Presentation</vt:lpstr>
      <vt:lpstr>PowerPoint Presentation</vt:lpstr>
      <vt:lpstr>Advantage and disadvantage Direct mapping</vt:lpstr>
      <vt:lpstr>+ Fully associative mapping</vt:lpstr>
      <vt:lpstr>+ Associative mapping</vt:lpstr>
      <vt:lpstr>+ Associative mapping</vt:lpstr>
      <vt:lpstr>PowerPoint Presentation</vt:lpstr>
      <vt:lpstr>+ Associative Mapping Summary</vt:lpstr>
      <vt:lpstr>+ Example</vt:lpstr>
      <vt:lpstr>+ Associative Mapping Pros &amp; Cons</vt:lpstr>
      <vt:lpstr>Set Associative Mapping</vt:lpstr>
      <vt:lpstr>+ Set Associative Mapping</vt:lpstr>
      <vt:lpstr>+ Set Associative Mapping</vt:lpstr>
      <vt:lpstr>+ Set Associative Mapping</vt:lpstr>
      <vt:lpstr>PowerPoint Presentation</vt:lpstr>
      <vt:lpstr>PowerPoint Presentation</vt:lpstr>
      <vt:lpstr>+ Set Associative Mapping Summary</vt:lpstr>
      <vt:lpstr>+ Set Associative Mapping</vt:lpstr>
      <vt:lpstr>+ Replacement Algorithms</vt:lpstr>
      <vt:lpstr>+ The most common replacement algorithms are:</vt:lpstr>
      <vt:lpstr>Write Policy</vt:lpstr>
      <vt:lpstr>+ Write Through and Write Back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+</dc:title>
  <dc:creator>user</dc:creator>
  <cp:lastModifiedBy>user</cp:lastModifiedBy>
  <cp:revision>3</cp:revision>
  <dcterms:created xsi:type="dcterms:W3CDTF">2026-10-11T19:00:33Z</dcterms:created>
  <dcterms:modified xsi:type="dcterms:W3CDTF">2026-10-11T19:12:33Z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2023-09-02T00:00:00Z</vt:filetime>
  </property>
  <property fmtid="{D5CDD505-2E9C-101B-9397-08002B2CF9AE}" pid="4" name="Creator">
    <vt:lpwstr>Online2PDF.com</vt:lpwstr>
  </property>
  <property fmtid="{D5CDD505-2E9C-101B-9397-08002B2CF9AE}" pid="5" name="LastSaved">
    <vt:filetime>2026-10-11T00:00:00Z</vt:filetime>
  </property>
  <property fmtid="{D5CDD505-2E9C-101B-9397-08002B2CF9AE}" pid="6" name="Producer">
    <vt:lpwstr>iLovePDF</vt:lpwstr>
  </property>
</Properties>
</file>